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notesMaster" Target="notesMasters/notesMaster1.xml"/><Relationship Id="rId408" Type="http://schemas.openxmlformats.org/officeDocument/2006/relationships/presProps" Target="presProps.xml"/><Relationship Id="rId409" Type="http://schemas.openxmlformats.org/officeDocument/2006/relationships/viewProps" Target="viewProps.xml"/><Relationship Id="rId410" Type="http://schemas.openxmlformats.org/officeDocument/2006/relationships/theme" Target="theme/theme1.xml"/><Relationship Id="rId4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الشدة حرفان مكتوبان حرفاً واحداً: الأول ساكن (بسكون المصحف «ۡ»)، والثاني متحرك. نضغطهما معاً فنكتب الحرف مرة واحدة وفوقه شدة «ّ»، ونقرؤه حرفين: نقف عليه أولاً ثم ننطلق بالحركة.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لا تكون الشدة في أول الكلمة، لأن أول الحرفين ساكن، ولا نبدأ بساكن أبداً. لا بد من حرف متحرك قبل الشدة.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الطريقة الصحيحة: حرف متحرك أولاً، ثم الحرفان اللذان يصنعان الشدة. وتنوين الفتح بعده ألف لا تُقرأ.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شدة مع تنوين: الحرف المشدد في آخر الكلمة، أول الحرفين ساكن والثاني عليه التنوين (حركة + نون ساكنة).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2" name="C2 M1 mark"/>
          <p:cNvSpPr txBox="1"/>
          <p:nvPr/>
        </p:nvSpPr>
        <p:spPr>
          <a:xfrm>
            <a:off x="6720840" y="161945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273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5600" dirty="0"/>
          </a:p>
        </p:txBody>
      </p:sp>
      <p:sp>
        <p:nvSpPr>
          <p:cNvPr id="25" name="C5 M2 mark"/>
          <p:cNvSpPr txBox="1"/>
          <p:nvPr/>
        </p:nvSpPr>
        <p:spPr>
          <a:xfrm>
            <a:off x="4343400" y="162739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5600" dirty="0"/>
          </a:p>
        </p:txBody>
      </p:sp>
      <p:sp>
        <p:nvSpPr>
          <p:cNvPr id="26" name="C6 H shaddah bar"/>
          <p:cNvSpPr/>
          <p:nvPr/>
        </p:nvSpPr>
        <p:spPr>
          <a:xfrm>
            <a:off x="4480560" y="1472184"/>
            <a:ext cx="3840480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R result"/>
          <p:cNvSpPr txBox="1"/>
          <p:nvPr/>
        </p:nvSpPr>
        <p:spPr>
          <a:xfrm>
            <a:off x="685800" y="161558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بًّ</a:t>
            </a:r>
            <a:endParaRPr lang="ar-SA" sz="8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852"/>
          </a:solidFill>
          <a:ln w="12700">
            <a:solidFill>
              <a:srgbClr val="E05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Panel 1"/>
          <p:cNvSpPr/>
          <p:nvPr/>
        </p:nvSpPr>
        <p:spPr>
          <a:xfrm>
            <a:off x="512064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E0313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120640" y="1204101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بًّ</a:t>
            </a:r>
            <a:endParaRPr lang="ar-SA" sz="8800" dirty="0"/>
          </a:p>
        </p:txBody>
      </p:sp>
      <p:sp>
        <p:nvSpPr>
          <p:cNvPr id="17" name="C2 X wrong"/>
          <p:cNvSpPr/>
          <p:nvPr/>
        </p:nvSpPr>
        <p:spPr>
          <a:xfrm>
            <a:off x="6355080" y="3429000"/>
            <a:ext cx="640080" cy="640080"/>
          </a:xfrm>
          <a:prstGeom prst="mathMultiply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Panel 2"/>
          <p:cNvSpPr/>
          <p:nvPr/>
        </p:nvSpPr>
        <p:spPr>
          <a:xfrm>
            <a:off x="914400" y="1143000"/>
            <a:ext cx="3108960" cy="210312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0">
            <a:solidFill>
              <a:srgbClr val="2F9E44"/>
            </a:solidFill>
            <a:prstDash val="solid"/>
          </a:ln>
        </p:spPr>
      </p:sp>
      <p:sp>
        <p:nvSpPr>
          <p:cNvPr id="19" name="C3 W2 word"/>
          <p:cNvSpPr txBox="1"/>
          <p:nvPr/>
        </p:nvSpPr>
        <p:spPr>
          <a:xfrm>
            <a:off x="914400" y="1183426"/>
            <a:ext cx="3108960" cy="2103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رَبًّا</a:t>
            </a:r>
            <a:endParaRPr lang="ar-SA" sz="8800" dirty="0"/>
          </a:p>
        </p:txBody>
      </p:sp>
      <p:sp>
        <p:nvSpPr>
          <p:cNvPr id="20" name="C4 V tick a"/>
          <p:cNvSpPr/>
          <p:nvPr/>
        </p:nvSpPr>
        <p:spPr>
          <a:xfrm>
            <a:off x="2194560" y="3703320"/>
            <a:ext cx="201168" cy="274320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  <p:sp>
        <p:nvSpPr>
          <p:cNvPr id="21" name="C4 V tick b"/>
          <p:cNvSpPr/>
          <p:nvPr/>
        </p:nvSpPr>
        <p:spPr>
          <a:xfrm flipV="1">
            <a:off x="2395728" y="3447288"/>
            <a:ext cx="384048" cy="530352"/>
          </a:xfrm>
          <a:prstGeom prst="line">
            <a:avLst/>
          </a:prstGeom>
          <a:noFill/>
          <a:ln w="152400">
            <a:solidFill>
              <a:srgbClr val="2F9E44"/>
            </a:solidFill>
            <a:prstDash val="solid"/>
          </a:ln>
        </p:spPr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رَبًّا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أَبًّا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C7934"/>
          </a:solidFill>
          <a:ln w="12700">
            <a:solidFill>
              <a:srgbClr val="5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تَبًّا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ثَبًّا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5EED"/>
          </a:solidFill>
          <a:ln w="12700">
            <a:solidFill>
              <a:srgbClr val="B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جَبًّا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FE052"/>
          </a:solidFill>
          <a:ln w="12700">
            <a:solidFill>
              <a:srgbClr val="6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70DB"/>
          </a:solidFill>
          <a:ln w="12700">
            <a:solidFill>
              <a:srgbClr val="9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حَبًّا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ED1"/>
          </a:solidFill>
          <a:ln w="12700">
            <a:solidFill>
              <a:srgbClr val="475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خَبًّا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4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89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دَبًّا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58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أَتًّا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7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بَتًّا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ثَتًّا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96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جَتًّا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حَتًّا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خَتًّا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31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تً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38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دَتًّا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763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أَثًّا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ثً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5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بَثًّا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6"/>
          </a:solidFill>
          <a:ln w="12700">
            <a:solidFill>
              <a:srgbClr val="E052B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ثً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تَثًّا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79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جَثًّا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ثً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حَثًّا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52B"/>
          </a:solidFill>
          <a:ln w="12700">
            <a:solidFill>
              <a:srgbClr val="643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ثً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4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خَثًّا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7492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66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8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دَثًّا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1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أَجًّا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بَجًّا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6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تَجًّا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6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ثَجًّا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642B"/>
          </a:solidFill>
          <a:ln w="12700">
            <a:solidFill>
              <a:srgbClr val="2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6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حَجًّا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6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خَجًّا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D"/>
          </a:solidFill>
          <a:ln w="12700">
            <a:solidFill>
              <a:srgbClr val="ED5E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6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دَجًّا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أَحًّا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47D1"/>
          </a:solidFill>
          <a:ln w="12700">
            <a:solidFill>
              <a:srgbClr val="B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بَحًّا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تَحًّا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ثَحًّا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6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جَحًّا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خَحًّا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052E0"/>
          </a:solidFill>
          <a:ln w="12700">
            <a:solidFill>
              <a:srgbClr val="A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6DB70"/>
          </a:solidFill>
          <a:ln w="12700">
            <a:solidFill>
              <a:srgbClr val="D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89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1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71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دَحًّا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أَخًّا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خً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2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بَخًّا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9"/>
          </a:solidFill>
          <a:ln w="12700">
            <a:solidFill>
              <a:srgbClr val="7934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خً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306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تَخًّا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06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ثَخًّا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خً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44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جَخًّا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6"/>
          </a:solidFill>
          <a:ln w="12700">
            <a:solidFill>
              <a:srgbClr val="70DBC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خً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06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حَخًّا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31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3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34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دَخًّا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دً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أَدًّا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دً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65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بَدًّا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09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تَدًّا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دً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909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ثَدًّا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دً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95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جَدًّا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47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09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حَدًّا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دۡ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دً</a:t>
            </a:r>
            <a:endParaRPr lang="ar-SA" sz="3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909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خَدًّا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0"/>
          </a:solidFill>
          <a:ln w="12700">
            <a:solidFill>
              <a:srgbClr val="2B64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ذً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51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أَذًّا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ذً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65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بَذًّا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F5E"/>
          </a:solidFill>
          <a:ln w="12700">
            <a:solidFill>
              <a:srgbClr val="EDB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ذً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51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تَذًّا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EE0"/>
          </a:solidFill>
          <a:ln w="12700">
            <a:solidFill>
              <a:srgbClr val="526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ذً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51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ثَذًّا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D"/>
          </a:solidFill>
          <a:ln w="12700">
            <a:solidFill>
              <a:srgbClr val="D147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ذً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84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جَذًّا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ذً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51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حَذًّا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ذً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51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خَذًّا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90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81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ذً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51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دَذًّا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أَرًّا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6"/>
          </a:solidFill>
          <a:ln w="12700">
            <a:solidFill>
              <a:srgbClr val="70DB7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5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بَرًّا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5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تَرًّا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ثَرًّا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5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جَرًّا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5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حَرًّا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96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22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22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3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25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خَرًّا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5E052"/>
          </a:solidFill>
          <a:ln w="12700">
            <a:solidFill>
              <a:srgbClr val="B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C"/>
          </a:solidFill>
          <a:ln w="12700">
            <a:solidFill>
              <a:srgbClr val="8547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5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دَرًّا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66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94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ذَرًّا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595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أَزًّا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80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بَزًّا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تَزًّا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1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ثَزًّا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E47"/>
          </a:solidFill>
          <a:ln w="12700">
            <a:solidFill>
              <a:srgbClr val="857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جَزًّا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4"/>
          </a:solidFill>
          <a:ln w="12700">
            <a:solidFill>
              <a:srgbClr val="D147C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2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حَزًّا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6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8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خَزًّا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3479"/>
          </a:solidFill>
          <a:ln w="12700">
            <a:solidFill>
              <a:srgbClr val="5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6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8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دَزًّا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6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50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ذَزًّا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CED5E"/>
          </a:solidFill>
          <a:ln w="12700">
            <a:solidFill>
              <a:srgbClr val="8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20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زً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06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رَزًّا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أَسًّا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C47"/>
          </a:solidFill>
          <a:ln w="12700">
            <a:solidFill>
              <a:srgbClr val="D1B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36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بَسًّا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93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تَسًّا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752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ثَسًّا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75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جَسًّا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693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حَسًّا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152"/>
          </a:solidFill>
          <a:ln w="12700">
            <a:solidFill>
              <a:srgbClr val="E0A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693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خَسًّا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D"/>
          </a:solidFill>
          <a:ln w="12700">
            <a:solidFill>
              <a:srgbClr val="64D8B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93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دَسًّا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93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ذَسًّا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475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رَسًّا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26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16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75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زَسًّا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338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19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أَشًّا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52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608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بَشًّا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064D8"/>
          </a:solidFill>
          <a:ln w="12700">
            <a:solidFill>
              <a:srgbClr val="A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9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تَشًّا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28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19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ثَشًّا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647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جَشًّا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9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حَشًّا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7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20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519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خَشًّا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C70"/>
          </a:solidFill>
          <a:ln w="12700">
            <a:solidFill>
              <a:srgbClr val="DBA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519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دَشًّا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364"/>
          </a:solidFill>
          <a:ln w="12700">
            <a:solidFill>
              <a:srgbClr val="D88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547"/>
          </a:solidFill>
          <a:ln w="12700">
            <a:solidFill>
              <a:srgbClr val="D15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29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9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ذَشًّا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7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007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5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رَشًّا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7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5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35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زَشًّا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74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64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شۡ</a:t>
            </a:r>
            <a:endParaRPr lang="ar-SA" sz="2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683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شً</a:t>
            </a:r>
            <a:endParaRPr lang="ar-SA" sz="2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7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19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سَشًّا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F"/>
          </a:solidFill>
          <a:ln w="12700">
            <a:solidFill>
              <a:srgbClr val="5EED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أَصًّا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D"/>
          </a:solidFill>
          <a:ln w="12700">
            <a:solidFill>
              <a:srgbClr val="E052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00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بَصًّا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6"/>
          </a:solidFill>
          <a:ln w="12700">
            <a:solidFill>
              <a:srgbClr val="64D86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D147"/>
          </a:solidFill>
          <a:ln w="12700">
            <a:solidFill>
              <a:srgbClr val="5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57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تَصًّا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752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ثَصًّا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62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جَصًّا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01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حَصًّا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013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خَصًّا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57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دَصًّا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FD8"/>
          </a:solidFill>
          <a:ln w="12700">
            <a:solidFill>
              <a:srgbClr val="647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57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ذَصًّا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338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رَصًّا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5"/>
          </a:solidFill>
          <a:ln w="12700">
            <a:solidFill>
              <a:srgbClr val="3479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38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زَصًّا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88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سَصًّا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85E"/>
          </a:solidFill>
          <a:ln w="12700">
            <a:solidFill>
              <a:srgbClr val="ED7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174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194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صً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88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شَصًّا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5E0"/>
          </a:solidFill>
          <a:ln w="12700">
            <a:solidFill>
              <a:srgbClr val="52B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367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أَضًّا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C"/>
          </a:solidFill>
          <a:ln w="12700">
            <a:solidFill>
              <a:srgbClr val="D8649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3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77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بَضًّا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42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تَضًّا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38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ثَضًّا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397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جَضًّا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3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حَضًّا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94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خَضًّا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D864"/>
          </a:solidFill>
          <a:ln w="12700">
            <a:solidFill>
              <a:srgbClr val="B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D147"/>
          </a:solidFill>
          <a:ln w="12700">
            <a:solidFill>
              <a:srgbClr val="C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دَضًّا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8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4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8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ذَضًّا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8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8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8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125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رَضًّا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25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زَضًّا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CED"/>
          </a:solidFill>
          <a:ln w="12700">
            <a:solidFill>
              <a:srgbClr val="5E8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52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سَضًّا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07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85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شَضًّا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D"/>
          </a:solidFill>
          <a:ln w="12700">
            <a:solidFill>
              <a:srgbClr val="47D1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8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027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8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4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ضۡ</a:t>
            </a:r>
            <a:endParaRPr lang="ar-SA" sz="28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8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663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ضً</a:t>
            </a:r>
            <a:endParaRPr lang="ar-SA" sz="28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8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044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صَضًّا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أَطًّا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962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بَطًّا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تَطًّا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ثَطًّا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1"/>
          </a:solidFill>
          <a:ln w="12700">
            <a:solidFill>
              <a:srgbClr val="52E0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97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جَطًّا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64D8"/>
          </a:solidFill>
          <a:ln w="12700">
            <a:solidFill>
              <a:srgbClr val="B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47D1"/>
          </a:solidFill>
          <a:ln w="12700">
            <a:solidFill>
              <a:srgbClr val="9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حَطًّا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خَطًّا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دَطًّا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ذَطًّا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ED5E"/>
          </a:solidFill>
          <a:ln w="12700">
            <a:solidFill>
              <a:srgbClr val="D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70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رَطًّا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70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زَطًّا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064"/>
          </a:solidFill>
          <a:ln w="12700">
            <a:solidFill>
              <a:srgbClr val="D8A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سَطًّا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شَطًّا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صَطًّا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309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80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ضَطًّا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أَظًّا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A52"/>
          </a:solidFill>
          <a:ln w="12700">
            <a:solidFill>
              <a:srgbClr val="E05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C"/>
          </a:solidFill>
          <a:ln w="12700">
            <a:solidFill>
              <a:srgbClr val="70DB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962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بَظًّا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3"/>
          </a:solidFill>
          <a:ln w="12700">
            <a:solidFill>
              <a:srgbClr val="64D8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6"/>
          </a:solidFill>
          <a:ln w="12700">
            <a:solidFill>
              <a:srgbClr val="47D1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تَظًّا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ثَظًّا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97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جَظًّا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حَظًّا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5EED"/>
          </a:solidFill>
          <a:ln w="12700">
            <a:solidFill>
              <a:srgbClr val="C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خَظًّا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CE052"/>
          </a:solidFill>
          <a:ln w="12700">
            <a:solidFill>
              <a:srgbClr val="6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270DB"/>
          </a:solidFill>
          <a:ln w="12700">
            <a:solidFill>
              <a:srgbClr val="9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دَظًّا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64D8"/>
          </a:solidFill>
          <a:ln w="12700">
            <a:solidFill>
              <a:srgbClr val="6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CD1"/>
          </a:solidFill>
          <a:ln w="12700">
            <a:solidFill>
              <a:srgbClr val="475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ذَظًّا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70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رَظًّا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1445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C79"/>
          </a:solidFill>
          <a:ln w="12700">
            <a:solidFill>
              <a:srgbClr val="346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70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زَظًّا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سَظًّا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شَظًّا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صَظًّا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ضَظًّا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86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23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ظً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طَظًّا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38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أَعًّا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40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بَعًّا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9"/>
          </a:solidFill>
          <a:ln w="12700">
            <a:solidFill>
              <a:srgbClr val="5EED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تَعًّا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4"/>
          </a:solidFill>
          <a:ln w="12700">
            <a:solidFill>
              <a:srgbClr val="E052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ثَعًّا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62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جَعًّا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حَعًّا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خَعًّا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138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دَعًّا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138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ذَعًّا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7E052"/>
          </a:solidFill>
          <a:ln w="12700">
            <a:solidFill>
              <a:srgbClr val="D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5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رَعًّا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3D1"/>
          </a:solidFill>
          <a:ln w="12700">
            <a:solidFill>
              <a:srgbClr val="47C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56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زَعًّا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871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سَعًّا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3"/>
          </a:solidFill>
          <a:ln w="12700">
            <a:solidFill>
              <a:srgbClr val="34795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871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شَعًّا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871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صَعًّا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B"/>
          </a:solidFill>
          <a:ln w="12700">
            <a:solidFill>
              <a:srgbClr val="ED5E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871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ضَعًّا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طَعًّا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47D1"/>
          </a:solidFill>
          <a:ln w="12700">
            <a:solidFill>
              <a:srgbClr val="B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67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90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40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ظَعًّا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4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56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أَغًّا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9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27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بَغًّا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8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89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تَغًّا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EED5E"/>
          </a:solidFill>
          <a:ln w="12700">
            <a:solidFill>
              <a:srgbClr val="A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57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89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ثَغًّا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52E0"/>
          </a:solidFill>
          <a:ln w="12700">
            <a:solidFill>
              <a:srgbClr val="A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4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جَغًّا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8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89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حَغًّا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68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89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خَغًّا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5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522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دَغًّا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70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522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ذَغًّا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2ED"/>
          </a:solidFill>
          <a:ln w="12700">
            <a:solidFill>
              <a:srgbClr val="5ED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4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59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رَغًّا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8"/>
          </a:solidFill>
          <a:ln w="12700">
            <a:solidFill>
              <a:srgbClr val="70DB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4785"/>
          </a:solidFill>
          <a:ln w="12700">
            <a:solidFill>
              <a:srgbClr val="5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30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359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زَغًّا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9"/>
          </a:solidFill>
          <a:ln w="12700">
            <a:solidFill>
              <a:srgbClr val="47D17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09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15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سَغًّا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15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شَغًّا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7934"/>
          </a:solidFill>
          <a:ln w="12700">
            <a:solidFill>
              <a:srgbClr val="4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15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صَغًّا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73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15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ضَغًّا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89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طَغًّا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B"/>
          </a:solidFill>
          <a:ln w="12700">
            <a:solidFill>
              <a:srgbClr val="52E0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D"/>
          </a:solidFill>
          <a:ln w="12700">
            <a:solidFill>
              <a:srgbClr val="8547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6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89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ظَغًّا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64D8"/>
          </a:solidFill>
          <a:ln w="12700">
            <a:solidFill>
              <a:srgbClr val="8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41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97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غۡ</a:t>
            </a:r>
            <a:endParaRPr lang="ar-SA" sz="3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1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غً</a:t>
            </a:r>
            <a:endParaRPr lang="ar-SA" sz="3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89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عَغًّا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F6CB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3958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70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أَفًّا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14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24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بَفًّا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45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تَفًّا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48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ثَفًّا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62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جَفًّا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764"/>
          </a:solidFill>
          <a:ln w="12700">
            <a:solidFill>
              <a:srgbClr val="D86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حَفًّا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8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خَفًّا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4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668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دَفًّا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56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68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ذَفًّا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E"/>
          </a:solidFill>
          <a:ln w="12700">
            <a:solidFill>
              <a:srgbClr val="5EED9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65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3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رَفًّا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F"/>
          </a:solidFill>
          <a:ln w="12700">
            <a:solidFill>
              <a:srgbClr val="E052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8"/>
          </a:solidFill>
          <a:ln w="12700">
            <a:solidFill>
              <a:srgbClr val="70DB7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37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3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زَفًّا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D147"/>
          </a:solidFill>
          <a:ln w="12700">
            <a:solidFill>
              <a:srgbClr val="7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32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سَفًّا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5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32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شَفًّا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634"/>
          </a:solidFill>
          <a:ln w="12700">
            <a:solidFill>
              <a:srgbClr val="797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2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00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2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32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80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32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ضَفًّا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5EED"/>
          </a:solidFill>
          <a:ln w="12700">
            <a:solidFill>
              <a:srgbClr val="7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2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2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طَفًّا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E052"/>
          </a:solidFill>
          <a:ln w="12700">
            <a:solidFill>
              <a:srgbClr val="B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3DB"/>
          </a:solidFill>
          <a:ln w="12700">
            <a:solidFill>
              <a:srgbClr val="708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2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5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2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ظَفًّا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FD1"/>
          </a:solidFill>
          <a:ln w="12700">
            <a:solidFill>
              <a:srgbClr val="479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2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62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2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عَفًّا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2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34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2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90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فۡ</a:t>
            </a:r>
            <a:endParaRPr lang="ar-SA" sz="2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2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168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فً</a:t>
            </a:r>
            <a:endParaRPr lang="ar-SA" sz="2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غَفًّا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481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70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أَقًّا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24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بَقًّا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6"/>
          </a:solidFill>
          <a:ln w="12700">
            <a:solidFill>
              <a:srgbClr val="ED5E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653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تَقًّا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6E0"/>
          </a:solidFill>
          <a:ln w="12700">
            <a:solidFill>
              <a:srgbClr val="52D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87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ثَقًّا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62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جَقًّا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30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حَقًّا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141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خَقًّا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6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68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دَقًّا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C3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668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ذَقًّا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52E0"/>
          </a:solidFill>
          <a:ln w="12700">
            <a:solidFill>
              <a:srgbClr val="C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03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3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رَقًّا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6E3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14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32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زَقًّا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65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32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سَقًّا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499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32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شَقًّا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50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32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صَقًّا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DED"/>
          </a:solidFill>
          <a:ln w="12700">
            <a:solidFill>
              <a:srgbClr val="5EA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2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60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329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ضَقًّا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2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طَقًّا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F"/>
          </a:solidFill>
          <a:ln w="12700">
            <a:solidFill>
              <a:srgbClr val="64D8B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C"/>
          </a:solidFill>
          <a:ln w="12700">
            <a:solidFill>
              <a:srgbClr val="47D1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94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ظَقًّا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2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99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عَقًّا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642B"/>
          </a:solidFill>
          <a:ln w="12700">
            <a:solidFill>
              <a:srgbClr val="4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2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10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غَقًّا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2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5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قۡ</a:t>
            </a:r>
            <a:endParaRPr lang="ar-SA" sz="3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2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12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قً</a:t>
            </a:r>
            <a:endParaRPr lang="ar-SA" sz="32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0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2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476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فَقًّا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أَكًّا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0"/>
          </a:solidFill>
          <a:ln w="12700">
            <a:solidFill>
              <a:srgbClr val="52E08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839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بَكًّا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C9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47D1"/>
          </a:solidFill>
          <a:ln w="12700">
            <a:solidFill>
              <a:srgbClr val="7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تَكًّا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ثَكًّا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857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جَكًّا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حَكًّا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خَكًّا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E70"/>
          </a:solidFill>
          <a:ln w="12700">
            <a:solidFill>
              <a:srgbClr val="DBA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69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دَكًّا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9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ذَكًّا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85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رَكًّا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85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زَكًّا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6E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9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سَكًّا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69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شَكًّا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69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صَكًّا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D7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693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ضَكًّا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طَكًّا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ظَكًّا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عَكًّا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F5EED"/>
          </a:solidFill>
          <a:ln w="12700">
            <a:solidFill>
              <a:srgbClr val="9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غَكًّا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EE052"/>
          </a:solidFill>
          <a:ln w="12700">
            <a:solidFill>
              <a:srgbClr val="8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فَكًّا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3E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20084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77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قَكًّا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452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أَلًّا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5"/>
          </a:solidFill>
          <a:ln w="12700">
            <a:solidFill>
              <a:srgbClr val="2B644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962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بَلًّا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تَلًّا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ثَلًّا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9799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جَلًّا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E"/>
          </a:solidFill>
          <a:ln w="12700">
            <a:solidFill>
              <a:srgbClr val="D147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حَلًّا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خَلًّا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دَلًّا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6C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ذَلًّا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ED5E"/>
          </a:solidFill>
          <a:ln w="12700">
            <a:solidFill>
              <a:srgbClr val="6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70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رَلًّا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5"/>
          </a:solidFill>
          <a:ln w="12700">
            <a:solidFill>
              <a:srgbClr val="E052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70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زَلًّا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سَلًّا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شَلًّا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صَلًّا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134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ضَلًّا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طَلًّا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ظَلًّا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3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عَلًّا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غَلًّا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3B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فَلًّا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3D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قَلًّا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C"/>
          </a:solidFill>
          <a:ln w="12700">
            <a:solidFill>
              <a:srgbClr val="ED5EA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57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لً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8928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كَلًّا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147"/>
          </a:solidFill>
          <a:ln w="12700">
            <a:solidFill>
              <a:srgbClr val="856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أَمًّا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99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30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بَمًّا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61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تَمًّا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05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684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ثَمًّا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6C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56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جَمًّا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652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حَمًّا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152E0"/>
          </a:solidFill>
          <a:ln w="12700">
            <a:solidFill>
              <a:srgbClr val="8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0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خَمًّا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364"/>
          </a:solidFill>
          <a:ln w="12700">
            <a:solidFill>
              <a:srgbClr val="D8A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B47"/>
          </a:solidFill>
          <a:ln w="12700">
            <a:solidFill>
              <a:srgbClr val="D17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دَمًّا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37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ذَمًّا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4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36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رَمًّا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90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36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زَمًّا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7"/>
          </a:solidFill>
          <a:ln w="12700">
            <a:solidFill>
              <a:srgbClr val="5EEDE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99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سَمًّا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45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شَمًّا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C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6"/>
          </a:solidFill>
          <a:ln w="12700">
            <a:solidFill>
              <a:srgbClr val="64D8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صَمًّا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99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2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233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ضَمًّا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طَمًّا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ظَمًّا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36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عَمًّا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470DB"/>
          </a:solidFill>
          <a:ln w="12700">
            <a:solidFill>
              <a:srgbClr val="9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85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غَمًّا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64D8"/>
          </a:solidFill>
          <a:ln w="12700">
            <a:solidFill>
              <a:srgbClr val="6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68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3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فَمًّا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5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14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6337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قَمًّا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5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49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528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كَمًّا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D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5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76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مۡ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5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80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مً</a:t>
            </a:r>
            <a:endParaRPr lang="ar-SA" sz="35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740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لَمًّا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05E"/>
          </a:solidFill>
          <a:ln w="12700">
            <a:solidFill>
              <a:srgbClr val="EDA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538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458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أَنًّا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DE0"/>
          </a:solidFill>
          <a:ln w="12700">
            <a:solidFill>
              <a:srgbClr val="528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1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075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بَنًّا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6C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C"/>
          </a:solidFill>
          <a:ln w="12700">
            <a:solidFill>
              <a:srgbClr val="D864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B"/>
          </a:solidFill>
          <a:ln w="12700">
            <a:solidFill>
              <a:srgbClr val="D147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8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تَنًّا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96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ثَنًّا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1416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096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جَنًّا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حَنًّا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1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خَنًّا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8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38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دَنًّا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F0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D864"/>
          </a:solidFill>
          <a:ln w="12700">
            <a:solidFill>
              <a:srgbClr val="9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23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384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ذَنًّا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86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246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رَنًّا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298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2460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زَنًّا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21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0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سَنًّا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D2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4ED"/>
          </a:solidFill>
          <a:ln w="12700">
            <a:solidFill>
              <a:srgbClr val="5E6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4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00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شَنًّا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E052"/>
          </a:solidFill>
          <a:ln w="12700">
            <a:solidFill>
              <a:srgbClr val="D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11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00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صَنًّا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3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6D8"/>
          </a:solidFill>
          <a:ln w="12700">
            <a:solidFill>
              <a:srgbClr val="64B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0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ضَنًّا</a:t>
            </a:r>
            <a:endParaRPr lang="ar-SA" sz="7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طَنًّا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20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ظَنًّا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3D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57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عَنًّا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4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293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غَنًّا</a:t>
            </a:r>
            <a:endParaRPr lang="ar-SA" sz="7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1445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9"/>
          </a:solidFill>
          <a:ln w="12700">
            <a:solidFill>
              <a:srgbClr val="52E0C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5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فَنًّا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3"/>
          </a:solidFill>
          <a:ln w="12700">
            <a:solidFill>
              <a:srgbClr val="D864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قَنًّا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41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كَنًّا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67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075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لَنًّا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0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4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438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565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مَنًّا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BED5E"/>
          </a:solidFill>
          <a:ln w="12700">
            <a:solidFill>
              <a:srgbClr val="A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193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أَهًّا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بَهًّا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6D7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E47"/>
          </a:solidFill>
          <a:ln w="12700">
            <a:solidFill>
              <a:srgbClr val="D19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تَهًّا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ثَهًّا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جَهًّا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E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حَهًّا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209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8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09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8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خَهًّا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252"/>
          </a:solidFill>
          <a:ln w="12700">
            <a:solidFill>
              <a:srgbClr val="E08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A"/>
          </a:solidFill>
          <a:ln w="12700">
            <a:solidFill>
              <a:srgbClr val="70DBC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929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دَهًّا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929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ذَهًّا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866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رَهًّا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45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866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زَهًّا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سَهًّا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5EED"/>
          </a:solidFill>
          <a:ln w="12700">
            <a:solidFill>
              <a:srgbClr val="E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32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90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5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90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5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شَهًّا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53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53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2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03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7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03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7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صَهًّا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3C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36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784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4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784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4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ضَهًّا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طَهًّا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ظَهًّا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E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53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عَهًّا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2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6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796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6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غَهًّا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125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فَهًّا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6C3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4938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قَهًّا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9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881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كَهًّا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لَهًّا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مَهًّا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9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941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هۡ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9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15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هً</a:t>
            </a:r>
            <a:endParaRPr lang="ar-SA" sz="39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167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9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542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نَهًّا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C"/>
          </a:solidFill>
          <a:ln w="12700">
            <a:solidFill>
              <a:srgbClr val="E052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A"/>
          </a:solidFill>
          <a:ln w="12700">
            <a:solidFill>
              <a:srgbClr val="70DB7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70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أَوًّا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AD147"/>
          </a:solidFill>
          <a:ln w="12700">
            <a:solidFill>
              <a:srgbClr val="7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0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بَوًّا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تَوًّا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54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537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ثَوًّا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C3F6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جَوًّا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5EED"/>
          </a:solidFill>
          <a:ln w="12700">
            <a:solidFill>
              <a:srgbClr val="7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521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حَوًّا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1DB"/>
          </a:solidFill>
          <a:ln w="12700">
            <a:solidFill>
              <a:srgbClr val="708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8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061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8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89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38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خَوًّا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3F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91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93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دَوًّا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104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ذَوًّا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737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193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رَوًّا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250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93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زَوًّا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3"/>
          </a:solidFill>
          <a:ln w="12700">
            <a:solidFill>
              <a:srgbClr val="ED5E6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689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سَوًّا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2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34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35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2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شَوًّا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53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7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53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0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900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00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7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00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37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7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صَوًّا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4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47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4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050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34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ضَوًّا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283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طَوًّا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6C3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00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283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ظَوًّا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32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عَوًّا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52E0"/>
          </a:solidFill>
          <a:ln w="12700">
            <a:solidFill>
              <a:srgbClr val="C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6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27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6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019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36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0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6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20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غَوًّا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139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فَوًّا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40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19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قَوًّا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894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40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كَوًّا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DC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85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لَوًّا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40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435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40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مَوًّا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40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59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40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نَوًّا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F"/>
          </a:solidFill>
          <a:ln w="12700">
            <a:solidFill>
              <a:srgbClr val="47D1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40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656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وۡ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40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958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وً</a:t>
            </a:r>
            <a:endParaRPr lang="ar-SA" sz="40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40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19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هَوًّا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509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91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أَيًّا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بَيًّا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3E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تَيًّا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ثَيًّا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جَيًّا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C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حَيًّا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خَيًّا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دَيًّا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6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ذَيًّا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95E"/>
          </a:solidFill>
          <a:ln w="12700">
            <a:solidFill>
              <a:srgbClr val="EDE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6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رَيًّا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070"/>
          </a:solidFill>
          <a:ln w="12700">
            <a:solidFill>
              <a:srgbClr val="DBB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6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زَيًّا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6C3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سَيًّا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شَيًّا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صَيًّا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6EA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ضَيًّا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طَيًّا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ظَيًّا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D6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عَيًّا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غَيًّا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فَيًّا</a:t>
            </a:r>
            <a:endParaRPr lang="ar-SA" sz="6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3F6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قَيًّا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3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كَيًّا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3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BE052"/>
          </a:solidFill>
          <a:ln w="12700">
            <a:solidFill>
              <a:srgbClr val="8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A70DB"/>
          </a:solidFill>
          <a:ln w="12700">
            <a:solidFill>
              <a:srgbClr val="7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664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30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لَيًّا</a:t>
            </a:r>
            <a:endParaRPr lang="ar-SA" sz="6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3E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BD8"/>
          </a:solidFill>
          <a:ln w="12700">
            <a:solidFill>
              <a:srgbClr val="647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9D1"/>
          </a:solidFill>
          <a:ln w="12700">
            <a:solidFill>
              <a:srgbClr val="477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6335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مَيًّا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2307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نَيًّا</a:t>
            </a:r>
            <a:endParaRPr lang="ar-SA" sz="6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7"/>
          </a:solidFill>
          <a:ln w="12700">
            <a:solidFill>
              <a:srgbClr val="3479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6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7931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هَيًّا</a:t>
            </a:r>
            <a:endParaRPr lang="ar-SA" sz="6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D1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9AA0B5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853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يۡ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8495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يً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9AA0B5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5" name="C11 B silent"/>
          <p:cNvSpPr/>
          <p:nvPr/>
        </p:nvSpPr>
        <p:spPr>
          <a:xfrm>
            <a:off x="3575304" y="1517904"/>
            <a:ext cx="347472" cy="347472"/>
          </a:xfrm>
          <a:prstGeom prst="noSmoking">
            <a:avLst/>
          </a:prstGeom>
          <a:solidFill>
            <a:srgbClr val="9AA0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C12 H shaddah bar"/>
          <p:cNvSpPr/>
          <p:nvPr/>
        </p:nvSpPr>
        <p:spPr>
          <a:xfrm>
            <a:off x="4764024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7676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وَيًّا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E5E"/>
          </a:solidFill>
          <a:ln w="12700">
            <a:solidFill>
              <a:srgbClr val="ED7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08607" y="896112"/>
            <a:ext cx="14896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08607" y="896112"/>
            <a:ext cx="14896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حُبًّا</a:t>
            </a:r>
            <a:endParaRPr lang="ar-SA" sz="5100" dirty="0"/>
          </a:p>
        </p:txBody>
      </p:sp>
      <p:sp>
        <p:nvSpPr>
          <p:cNvPr id="20" name="C2 W2 pill"/>
          <p:cNvSpPr/>
          <p:nvPr/>
        </p:nvSpPr>
        <p:spPr>
          <a:xfrm>
            <a:off x="2845760" y="896112"/>
            <a:ext cx="16428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C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845760" y="896112"/>
            <a:ext cx="16428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جَمًّا</a:t>
            </a:r>
            <a:endParaRPr lang="ar-SA" sz="51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180398" y="2834640"/>
            <a:ext cx="2783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180398" y="2834640"/>
            <a:ext cx="2783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حُبًّا جَمًّا</a:t>
            </a:r>
            <a:endParaRPr lang="ar-SA" sz="5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FE0"/>
          </a:solidFill>
          <a:ln w="12700">
            <a:solidFill>
              <a:srgbClr val="52A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1"/>
          </a:solidFill>
          <a:ln w="12700">
            <a:solidFill>
              <a:srgbClr val="DB70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A8547"/>
          </a:solidFill>
          <a:ln w="12700">
            <a:solidFill>
              <a:srgbClr val="7A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32020" y="896112"/>
            <a:ext cx="1289672" cy="1371600"/>
          </a:xfrm>
          <a:prstGeom prst="roundRect">
            <a:avLst>
              <a:gd name="adj" fmla="val 28361"/>
            </a:avLst>
          </a:prstGeom>
          <a:solidFill>
            <a:srgbClr val="FFFFFF"/>
          </a:solidFill>
          <a:ln w="76200">
            <a:solidFill>
              <a:srgbClr val="368A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32020" y="896112"/>
            <a:ext cx="12896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دَكًّا</a:t>
            </a:r>
            <a:endParaRPr lang="ar-SA" sz="3800" dirty="0"/>
          </a:p>
        </p:txBody>
      </p:sp>
      <p:sp>
        <p:nvSpPr>
          <p:cNvPr id="17" name="C2 W2 pill"/>
          <p:cNvSpPr/>
          <p:nvPr/>
        </p:nvSpPr>
        <p:spPr>
          <a:xfrm>
            <a:off x="3122308" y="896112"/>
            <a:ext cx="1289672" cy="1371600"/>
          </a:xfrm>
          <a:prstGeom prst="roundRect">
            <a:avLst>
              <a:gd name="adj" fmla="val 28361"/>
            </a:avLst>
          </a:prstGeom>
          <a:solidFill>
            <a:srgbClr val="FFFFFF"/>
          </a:solidFill>
          <a:ln w="76200">
            <a:solidFill>
              <a:srgbClr val="E2368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122308" y="896112"/>
            <a:ext cx="12896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دَكًّا</a:t>
            </a:r>
            <a:endParaRPr lang="ar-SA" sz="3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481458" y="2834640"/>
            <a:ext cx="218108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481458" y="2834640"/>
            <a:ext cx="218108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دَكًّا دَكًّا</a:t>
            </a:r>
            <a:endParaRPr lang="ar-SA" sz="3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F6C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8"/>
          </a:solidFill>
          <a:ln w="12700">
            <a:solidFill>
              <a:srgbClr val="D8649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C"/>
          </a:solidFill>
          <a:ln w="12700">
            <a:solidFill>
              <a:srgbClr val="D147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32020" y="896112"/>
            <a:ext cx="1608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32020" y="896112"/>
            <a:ext cx="1608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صَفًّا</a:t>
            </a:r>
            <a:endParaRPr lang="ar-SA" sz="4200" dirty="0"/>
          </a:p>
        </p:txBody>
      </p:sp>
      <p:sp>
        <p:nvSpPr>
          <p:cNvPr id="12" name="C2 W2 pill"/>
          <p:cNvSpPr/>
          <p:nvPr/>
        </p:nvSpPr>
        <p:spPr>
          <a:xfrm>
            <a:off x="2803246" y="896112"/>
            <a:ext cx="16087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803246" y="896112"/>
            <a:ext cx="16087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صَفًّا</a:t>
            </a:r>
            <a:endParaRPr lang="ar-SA" sz="42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74683" y="2834640"/>
            <a:ext cx="279463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74683" y="2834640"/>
            <a:ext cx="279463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صَفًّا صَفًّا</a:t>
            </a:r>
            <a:endParaRPr lang="ar-SA" sz="4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405</Slides>
  <Notes>405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405</vt:i4>
      </vt:variant>
    </vt:vector>
  </HeadingPairs>
  <TitlesOfParts>
    <vt:vector size="40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tanween Shaddah-Tanween-1-fathatan</dc:title>
  <dc:subject>PptxGenJS Presentation</dc:subject>
  <dc:creator>PptxGenJS</dc:creator>
  <cp:lastModifiedBy>PptxGenJS</cp:lastModifiedBy>
  <cp:revision>1</cp:revision>
  <dcterms:created xsi:type="dcterms:W3CDTF">2026-10-21T19:04:27Z</dcterms:created>
  <dcterms:modified xsi:type="dcterms:W3CDTF">2026-10-21T19:04:27Z</dcterms:modified>
</cp:coreProperties>
</file>