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notesMaster" Target="notesMasters/notesMaster1.xml"/><Relationship Id="rId115" Type="http://schemas.openxmlformats.org/officeDocument/2006/relationships/presProps" Target="presProps.xml"/><Relationship Id="rId116" Type="http://schemas.openxmlformats.org/officeDocument/2006/relationships/viewProps" Target="viewProps.xml"/><Relationship Id="rId117" Type="http://schemas.openxmlformats.org/officeDocument/2006/relationships/theme" Target="theme/theme1.xml"/><Relationship Id="rId1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الشدة حرفان مكتوبان حرفاً واحداً: الأول ساكن (بسكون المصحف «ۡ»)، والثاني متحرك. نضغطهما معاً فنكتب الحرف مرة واحدة وفوقه شدة «ّ»، ونقرؤه حرفين: نقف عليه أولاً ثم ننطلق بالحركة.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تكون الشدة في أول الكلمة، لأن أول الحرفين ساكن، ولا نبدأ بساكن أبداً. لا بد من حرف متحرك قبل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الطريقة الصحيحة: حرف متحرك أولاً، ثم الحرفان اللذان يصنعان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TrSnd" Type="http://schemas.openxmlformats.org/officeDocument/2006/relationships/audio" Target="../media/bubbles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TrSnd" Type="http://schemas.openxmlformats.org/officeDocument/2006/relationships/audio" Target="../media/sparkle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TrSnd" Type="http://schemas.openxmlformats.org/officeDocument/2006/relationships/audio" Target="../media/marimba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TrSnd" Type="http://schemas.openxmlformats.org/officeDocument/2006/relationships/audio" Target="../media/harp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TrSnd" Type="http://schemas.openxmlformats.org/officeDocument/2006/relationships/audio" Target="../media/chime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TrSnd" Type="http://schemas.openxmlformats.org/officeDocument/2006/relationships/audio" Target="../media/whoosh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TrSnd" Type="http://schemas.openxmlformats.org/officeDocument/2006/relationships/audio" Target="../media/bubbles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TrSnd" Type="http://schemas.openxmlformats.org/officeDocument/2006/relationships/audio" Target="../media/sparkle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TrSnd" Type="http://schemas.openxmlformats.org/officeDocument/2006/relationships/audio" Target="../media/marimba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TrSnd" Type="http://schemas.openxmlformats.org/officeDocument/2006/relationships/audio" Target="../media/harp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TrSnd" Type="http://schemas.openxmlformats.org/officeDocument/2006/relationships/audio" Target="../media/chime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TrSnd" Type="http://schemas.openxmlformats.org/officeDocument/2006/relationships/audio" Target="../media/whoosh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TrSnd" Type="http://schemas.openxmlformats.org/officeDocument/2006/relationships/audio" Target="../media/bubbles.wav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34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8642B"/>
          </a:solidFill>
          <a:ln w="12700">
            <a:solidFill>
              <a:srgbClr val="48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57934"/>
          </a:solidFill>
          <a:ln w="12700">
            <a:solidFill>
              <a:srgbClr val="35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44947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44947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5600" dirty="0"/>
          </a:p>
        </p:txBody>
      </p:sp>
      <p:sp>
        <p:nvSpPr>
          <p:cNvPr id="20" name="C6 H shaddah bar"/>
          <p:cNvSpPr/>
          <p:nvPr/>
        </p:nvSpPr>
        <p:spPr>
          <a:xfrm>
            <a:off x="4480560" y="1472184"/>
            <a:ext cx="384048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R result"/>
          <p:cNvSpPr txBox="1"/>
          <p:nvPr/>
        </p:nvSpPr>
        <p:spPr>
          <a:xfrm>
            <a:off x="685800" y="156005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بِّ</a:t>
            </a:r>
            <a:endParaRPr lang="ar-SA" sz="94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E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120640" y="1148755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بِّ</a:t>
            </a:r>
            <a:endParaRPr lang="ar-SA" sz="9700" dirty="0"/>
          </a:p>
        </p:txBody>
      </p:sp>
      <p:sp>
        <p:nvSpPr>
          <p:cNvPr id="12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4" name="C3 W2 word"/>
          <p:cNvSpPr txBox="1"/>
          <p:nvPr/>
        </p:nvSpPr>
        <p:spPr>
          <a:xfrm>
            <a:off x="914400" y="1148755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تَبِّ</a:t>
            </a:r>
            <a:endParaRPr lang="ar-SA" sz="9700" dirty="0"/>
          </a:p>
        </p:txBody>
      </p:sp>
      <p:sp>
        <p:nvSpPr>
          <p:cNvPr id="15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16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5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C5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C"/>
          </a:solidFill>
          <a:ln w="12700">
            <a:solidFill>
              <a:srgbClr val="ED5EC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9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509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تَبِّ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5"/>
          </a:solidFill>
          <a:ln w="12700">
            <a:solidFill>
              <a:srgbClr val="52E08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C70DB"/>
          </a:solidFill>
          <a:ln w="12700">
            <a:solidFill>
              <a:srgbClr val="CC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347"/>
          </a:solidFill>
          <a:ln w="12700">
            <a:solidFill>
              <a:srgbClr val="8553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3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13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98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98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737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عَأۡإِ</a:t>
            </a:r>
            <a:endParaRPr lang="ar-SA" sz="6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664D8"/>
          </a:solidFill>
          <a:ln w="12700">
            <a:solidFill>
              <a:srgbClr val="A6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F47D1"/>
          </a:solidFill>
          <a:ln w="12700">
            <a:solidFill>
              <a:srgbClr val="7F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59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59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09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عَبِّ</a:t>
            </a:r>
            <a:endParaRPr lang="ar-SA" sz="8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D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00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7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200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تِ</a:t>
            </a:r>
            <a:endParaRPr lang="ar-SA" sz="37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109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عَتِّ</a:t>
            </a:r>
            <a:endParaRPr lang="ar-SA" sz="8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4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764"/>
          </a:solidFill>
          <a:ln w="12700">
            <a:solidFill>
              <a:srgbClr val="2B57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679"/>
          </a:solidFill>
          <a:ln w="12700">
            <a:solidFill>
              <a:srgbClr val="3446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221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221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3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552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عَثِّ</a:t>
            </a:r>
            <a:endParaRPr lang="ar-SA" sz="8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C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708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عَجِّ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B5E"/>
          </a:solidFill>
          <a:ln w="12700">
            <a:solidFill>
              <a:srgbClr val="EDEB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حِ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708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عَحِّ</a:t>
            </a:r>
            <a:endParaRPr lang="ar-SA" sz="7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152E0"/>
          </a:solidFill>
          <a:ln w="12700">
            <a:solidFill>
              <a:srgbClr val="61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A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170"/>
          </a:solidFill>
          <a:ln w="12700">
            <a:solidFill>
              <a:srgbClr val="DBB1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B8547"/>
          </a:solidFill>
          <a:ln w="12700">
            <a:solidFill>
              <a:srgbClr val="4B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242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242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35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6217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عَخِّ</a:t>
            </a:r>
            <a:endParaRPr lang="ar-SA" sz="6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C5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964"/>
          </a:solidFill>
          <a:ln w="12700">
            <a:solidFill>
              <a:srgbClr val="D889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C47"/>
          </a:solidFill>
          <a:ln w="12700">
            <a:solidFill>
              <a:srgbClr val="D15C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12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12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679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679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9887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عَدِّ</a:t>
            </a:r>
            <a:endParaRPr lang="ar-SA" sz="93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F7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09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42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09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309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309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ذِ</a:t>
            </a:r>
            <a:endParaRPr lang="ar-SA" sz="42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801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عَذِّ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32B64"/>
          </a:solidFill>
          <a:ln w="12700">
            <a:solidFill>
              <a:srgbClr val="63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8"/>
          </a:solidFill>
          <a:ln w="12700">
            <a:solidFill>
              <a:srgbClr val="79345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012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012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6771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6771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4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048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عَرِّ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E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9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9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54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54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عَزِّ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7"/>
          </a:solidFill>
          <a:ln w="12700">
            <a:solidFill>
              <a:srgbClr val="5EEDC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26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4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26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412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412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سِ</a:t>
            </a:r>
            <a:endParaRPr lang="ar-SA" sz="34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9349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عَسِّ</a:t>
            </a:r>
            <a:endParaRPr lang="ar-SA" sz="8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431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6"/>
          </a:solidFill>
          <a:ln w="12700">
            <a:solidFill>
              <a:srgbClr val="E0526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1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7"/>
          </a:solidFill>
          <a:ln w="12700">
            <a:solidFill>
              <a:srgbClr val="70DB9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A85"/>
          </a:solidFill>
          <a:ln w="12700">
            <a:solidFill>
              <a:srgbClr val="475A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326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1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326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02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02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31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405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عَشِّ</a:t>
            </a:r>
            <a:endParaRPr lang="ar-SA" sz="6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D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C"/>
          </a:solidFill>
          <a:ln w="12700">
            <a:solidFill>
              <a:srgbClr val="64D86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5D147"/>
          </a:solidFill>
          <a:ln w="12700">
            <a:solidFill>
              <a:srgbClr val="55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6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6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34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34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174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عَصِّ</a:t>
            </a:r>
            <a:endParaRPr lang="ar-SA" sz="83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C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305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305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752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752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ضِ</a:t>
            </a:r>
            <a:endParaRPr lang="ar-SA" sz="32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135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عَضِّ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43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52B"/>
          </a:solidFill>
          <a:ln w="12700">
            <a:solidFill>
              <a:srgbClr val="6455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97934"/>
          </a:solidFill>
          <a:ln w="12700">
            <a:solidFill>
              <a:srgbClr val="69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59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159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594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594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39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96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عَطِّ</a:t>
            </a:r>
            <a:endParaRPr lang="ar-SA" sz="7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5F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21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21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62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62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96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عَظِّ</a:t>
            </a:r>
            <a:endParaRPr lang="ar-SA" sz="7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45EED"/>
          </a:solidFill>
          <a:ln w="12700">
            <a:solidFill>
              <a:srgbClr val="A4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00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00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3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أَعِّبَ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3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9E052"/>
          </a:solidFill>
          <a:ln w="12700">
            <a:solidFill>
              <a:srgbClr val="89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C70DB"/>
          </a:solidFill>
          <a:ln w="12700">
            <a:solidFill>
              <a:srgbClr val="7C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9"/>
          </a:solidFill>
          <a:ln w="12700">
            <a:solidFill>
              <a:srgbClr val="85476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00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00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3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3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5590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بَعِّتَ</a:t>
            </a:r>
            <a:endParaRPr lang="ar-SA" sz="73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5E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9D8"/>
          </a:solidFill>
          <a:ln w="12700">
            <a:solidFill>
              <a:srgbClr val="6479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7D1"/>
          </a:solidFill>
          <a:ln w="12700">
            <a:solidFill>
              <a:srgbClr val="477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6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6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00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00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6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3403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تَعِّثَ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C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00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00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3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ثَعِّجَ</a:t>
            </a:r>
            <a:endParaRPr lang="ar-SA" sz="61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7"/>
          </a:solidFill>
          <a:ln w="12700">
            <a:solidFill>
              <a:srgbClr val="2B6447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8"/>
          </a:solidFill>
          <a:ln w="12700">
            <a:solidFill>
              <a:srgbClr val="34797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00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00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3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6705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جَعِّحَ</a:t>
            </a:r>
            <a:endParaRPr lang="ar-SA" sz="63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D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00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00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705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حَعِّخَ</a:t>
            </a:r>
            <a:endParaRPr lang="ar-SA" sz="6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E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05E"/>
          </a:solidFill>
          <a:ln w="12700">
            <a:solidFill>
              <a:srgbClr val="ED80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7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7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00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00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7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3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3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5097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خَعِّدَ</a:t>
            </a:r>
            <a:endParaRPr lang="ar-SA" sz="84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4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DE0"/>
          </a:solidFill>
          <a:ln w="12700">
            <a:solidFill>
              <a:srgbClr val="52AD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A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F"/>
          </a:solidFill>
          <a:ln w="12700">
            <a:solidFill>
              <a:srgbClr val="DB707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98547"/>
          </a:solidFill>
          <a:ln w="12700">
            <a:solidFill>
              <a:srgbClr val="79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00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00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20010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3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20010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3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7735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دَعِّذَ</a:t>
            </a:r>
            <a:endParaRPr lang="ar-SA" sz="8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C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6"/>
          </a:solidFill>
          <a:ln w="12700">
            <a:solidFill>
              <a:srgbClr val="D8649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A"/>
          </a:solidFill>
          <a:ln w="12700">
            <a:solidFill>
              <a:srgbClr val="D1479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010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010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00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00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882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882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567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ذَعِّرَ</a:t>
            </a:r>
            <a:endParaRPr lang="ar-SA" sz="67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882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882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00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00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306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3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306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3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567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رَعِّزَ</a:t>
            </a:r>
            <a:endParaRPr lang="ar-SA" sz="67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2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82B64"/>
          </a:solidFill>
          <a:ln w="12700">
            <a:solidFill>
              <a:srgbClr val="38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73479"/>
          </a:solidFill>
          <a:ln w="12700">
            <a:solidFill>
              <a:srgbClr val="67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306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306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A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A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00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00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A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84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3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84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3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5443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زَعِّسَ</a:t>
            </a:r>
            <a:endParaRPr lang="ar-SA" sz="59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C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4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4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00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00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4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4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313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سَعِّشَ</a:t>
            </a:r>
            <a:endParaRPr lang="ar-SA" sz="5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5F7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0ED5E"/>
          </a:solidFill>
          <a:ln w="12700">
            <a:solidFill>
              <a:srgbClr val="60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4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4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00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00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931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3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931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3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3153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شَعِّصَ</a:t>
            </a:r>
            <a:endParaRPr lang="ar-SA" sz="5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3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0"/>
          </a:solidFill>
          <a:ln w="12700">
            <a:solidFill>
              <a:srgbClr val="E052D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ADB70"/>
          </a:solidFill>
          <a:ln w="12700">
            <a:solidFill>
              <a:srgbClr val="9A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81"/>
          </a:solidFill>
          <a:ln w="12700">
            <a:solidFill>
              <a:srgbClr val="47858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931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931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00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00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354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3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354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3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318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صَعِّضَ</a:t>
            </a:r>
            <a:endParaRPr lang="ar-SA" sz="5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3D864"/>
          </a:solidFill>
          <a:ln w="12700">
            <a:solidFill>
              <a:srgbClr val="B3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CD147"/>
          </a:solidFill>
          <a:ln w="12700">
            <a:solidFill>
              <a:srgbClr val="BC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54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354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3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3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00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00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3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2257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ضَعِّطَ</a:t>
            </a:r>
            <a:endParaRPr lang="ar-SA" sz="63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5E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4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4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00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00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4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3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3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2798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طَعِّظَ</a:t>
            </a:r>
            <a:endParaRPr lang="ar-SA" sz="6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431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C"/>
          </a:solidFill>
          <a:ln w="12700">
            <a:solidFill>
              <a:srgbClr val="642B2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634"/>
          </a:solidFill>
          <a:ln w="12700">
            <a:solidFill>
              <a:srgbClr val="7956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00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00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3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3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513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ظَعِّأَ</a:t>
            </a:r>
            <a:endParaRPr lang="ar-SA" sz="69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D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17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17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660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أَعِّ</a:t>
            </a:r>
            <a:endParaRPr lang="ar-SA" sz="6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4ED"/>
          </a:solidFill>
          <a:ln w="12700">
            <a:solidFill>
              <a:srgbClr val="5E84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17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17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68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بَعِّ</a:t>
            </a:r>
            <a:endParaRPr lang="ar-SA" sz="7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432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D52"/>
          </a:solidFill>
          <a:ln w="12700">
            <a:solidFill>
              <a:srgbClr val="E0CD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D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4DB"/>
          </a:solidFill>
          <a:ln w="12700">
            <a:solidFill>
              <a:srgbClr val="70B4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24785"/>
          </a:solidFill>
          <a:ln w="12700">
            <a:solidFill>
              <a:srgbClr val="72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17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17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68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تَعِّ</a:t>
            </a:r>
            <a:endParaRPr lang="ar-SA" sz="7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5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0D8"/>
          </a:solidFill>
          <a:ln w="12700">
            <a:solidFill>
              <a:srgbClr val="64D0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4"/>
          </a:solidFill>
          <a:ln w="12700">
            <a:solidFill>
              <a:srgbClr val="47D1C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17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17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961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ثَعِّ</a:t>
            </a:r>
            <a:endParaRPr lang="ar-SA" sz="7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17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17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68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جَعِّ</a:t>
            </a:r>
            <a:endParaRPr lang="ar-SA" sz="73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3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A642B"/>
          </a:solidFill>
          <a:ln w="12700">
            <a:solidFill>
              <a:srgbClr val="3A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5"/>
          </a:solidFill>
          <a:ln w="12700">
            <a:solidFill>
              <a:srgbClr val="34794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17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17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68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حَعِّ</a:t>
            </a:r>
            <a:endParaRPr lang="ar-SA" sz="73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5D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17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17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68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خَعِّ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C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7"/>
          </a:solidFill>
          <a:ln w="12700">
            <a:solidFill>
              <a:srgbClr val="ED5EA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17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17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1130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دَعِّ</a:t>
            </a:r>
            <a:endParaRPr lang="ar-SA" sz="69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443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9"/>
          </a:solidFill>
          <a:ln w="12700">
            <a:solidFill>
              <a:srgbClr val="52E0A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7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F"/>
          </a:solidFill>
          <a:ln w="12700">
            <a:solidFill>
              <a:srgbClr val="DB70C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347"/>
          </a:solidFill>
          <a:ln w="12700">
            <a:solidFill>
              <a:srgbClr val="8563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8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48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17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17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1130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ذَعِّ</a:t>
            </a:r>
            <a:endParaRPr lang="ar-SA" sz="6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D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464D8"/>
          </a:solidFill>
          <a:ln w="12700">
            <a:solidFill>
              <a:srgbClr val="C4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247D1"/>
          </a:solidFill>
          <a:ln w="12700">
            <a:solidFill>
              <a:srgbClr val="A2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84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84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17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17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1130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رَعِّ</a:t>
            </a:r>
            <a:endParaRPr lang="ar-SA" sz="69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E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672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672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17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17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1130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زَعِّ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4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864"/>
          </a:solidFill>
          <a:ln w="12700">
            <a:solidFill>
              <a:srgbClr val="2B48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579"/>
          </a:solidFill>
          <a:ln w="12700">
            <a:solidFill>
              <a:srgbClr val="3435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38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138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17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17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68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سَعِّ</a:t>
            </a:r>
            <a:endParaRPr lang="ar-SA" sz="73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C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9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89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17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17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68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شَعِّ</a:t>
            </a:r>
            <a:endParaRPr lang="ar-SA" sz="73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D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BED5E"/>
          </a:solidFill>
          <a:ln w="12700">
            <a:solidFill>
              <a:srgbClr val="CB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240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240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17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17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68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صَعِّ</a:t>
            </a:r>
            <a:endParaRPr lang="ar-SA" sz="73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41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652E0"/>
          </a:solidFill>
          <a:ln w="12700">
            <a:solidFill>
              <a:srgbClr val="86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4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D70"/>
          </a:solidFill>
          <a:ln w="12700">
            <a:solidFill>
              <a:srgbClr val="DBCD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4"/>
          </a:solidFill>
          <a:ln w="12700">
            <a:solidFill>
              <a:srgbClr val="47855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72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72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17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17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68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ضَعِّ</a:t>
            </a:r>
            <a:endParaRPr lang="ar-SA" sz="73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C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764"/>
          </a:solidFill>
          <a:ln w="12700">
            <a:solidFill>
              <a:srgbClr val="D8A7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F47"/>
          </a:solidFill>
          <a:ln w="12700">
            <a:solidFill>
              <a:srgbClr val="D17F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17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17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68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طَعِّ</a:t>
            </a:r>
            <a:endParaRPr lang="ar-SA" sz="73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5F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17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17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68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ظَعِّ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3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6"/>
          </a:solidFill>
          <a:ln w="12700">
            <a:solidFill>
              <a:srgbClr val="642B5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6"/>
          </a:solidFill>
          <a:ln w="12700">
            <a:solidFill>
              <a:srgbClr val="79344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65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65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98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98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737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غَأۡإِ</a:t>
            </a:r>
            <a:endParaRPr lang="ar-SA" sz="6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59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59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09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غَبِّ</a:t>
            </a:r>
            <a:endParaRPr lang="ar-SA" sz="8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5E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C"/>
          </a:solidFill>
          <a:ln w="12700">
            <a:solidFill>
              <a:srgbClr val="5EEDE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67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7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67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تِ</a:t>
            </a:r>
            <a:endParaRPr lang="ar-SA" sz="37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109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غَتِّ</a:t>
            </a:r>
            <a:endParaRPr lang="ar-SA" sz="89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43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252"/>
          </a:solidFill>
          <a:ln w="12700">
            <a:solidFill>
              <a:srgbClr val="E062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B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2"/>
          </a:solidFill>
          <a:ln w="12700">
            <a:solidFill>
              <a:srgbClr val="70DBB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B85"/>
          </a:solidFill>
          <a:ln w="12700">
            <a:solidFill>
              <a:srgbClr val="474B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68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68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3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552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غَثِّ</a:t>
            </a:r>
            <a:endParaRPr lang="ar-SA" sz="8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A"/>
          </a:solidFill>
          <a:ln w="12700">
            <a:solidFill>
              <a:srgbClr val="64D88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D"/>
          </a:solidFill>
          <a:ln w="12700">
            <a:solidFill>
              <a:srgbClr val="47D15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67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67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708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غَجِّ</a:t>
            </a:r>
            <a:endParaRPr lang="ar-SA" sz="73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667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667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حِ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708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غَحِّ</a:t>
            </a:r>
            <a:endParaRPr lang="ar-SA" sz="73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432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632B"/>
          </a:solidFill>
          <a:ln w="12700">
            <a:solidFill>
              <a:srgbClr val="6463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77934"/>
          </a:solidFill>
          <a:ln w="12700">
            <a:solidFill>
              <a:srgbClr val="57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35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6217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غَخِّ</a:t>
            </a:r>
            <a:endParaRPr lang="ar-SA" sz="64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5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35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35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1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1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791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791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9887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غَدِّ</a:t>
            </a:r>
            <a:endParaRPr lang="ar-SA" sz="9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C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85EED"/>
          </a:solidFill>
          <a:ln w="12700">
            <a:solidFill>
              <a:srgbClr val="C8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635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42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635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4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309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309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ذِ</a:t>
            </a:r>
            <a:endParaRPr lang="ar-SA" sz="42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801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غَذِّ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3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5E052"/>
          </a:solidFill>
          <a:ln w="12700">
            <a:solidFill>
              <a:srgbClr val="65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770DB"/>
          </a:solidFill>
          <a:ln w="12700">
            <a:solidFill>
              <a:srgbClr val="97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A"/>
          </a:solidFill>
          <a:ln w="12700">
            <a:solidFill>
              <a:srgbClr val="85475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635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42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635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4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34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2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34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6962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2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6962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42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26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غَرِّ</a:t>
            </a:r>
            <a:endParaRPr lang="ar-SA" sz="8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5D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D64D8"/>
          </a:solidFill>
          <a:ln w="12700">
            <a:solidFill>
              <a:srgbClr val="6D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4D1"/>
          </a:solidFill>
          <a:ln w="12700">
            <a:solidFill>
              <a:srgbClr val="4754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35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35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54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54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غَزِّ</a:t>
            </a:r>
            <a:endParaRPr lang="ar-SA" sz="73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C5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699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699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412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412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سِ</a:t>
            </a:r>
            <a:endParaRPr lang="ar-SA" sz="34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26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غَسِّ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44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5"/>
          </a:solidFill>
          <a:ln w="12700">
            <a:solidFill>
              <a:srgbClr val="2B645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979"/>
          </a:solidFill>
          <a:ln w="12700">
            <a:solidFill>
              <a:srgbClr val="3469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72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1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72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02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02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31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405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غَشِّ</a:t>
            </a:r>
            <a:endParaRPr lang="ar-SA" sz="69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E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99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99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34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34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26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غَصِّ</a:t>
            </a:r>
            <a:endParaRPr lang="ar-SA" sz="8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E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55E"/>
          </a:solidFill>
          <a:ln w="12700">
            <a:solidFill>
              <a:srgbClr val="EDA5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71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2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71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752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752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ضِ</a:t>
            </a:r>
            <a:endParaRPr lang="ar-SA" sz="32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135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غَضِّ</a:t>
            </a:r>
            <a:endParaRPr lang="ar-SA" sz="7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43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8E0"/>
          </a:solidFill>
          <a:ln w="12700">
            <a:solidFill>
              <a:srgbClr val="5288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8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D70"/>
          </a:solidFill>
          <a:ln w="12700">
            <a:solidFill>
              <a:srgbClr val="DB7D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98547"/>
          </a:solidFill>
          <a:ln w="12700">
            <a:solidFill>
              <a:srgbClr val="69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659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9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659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594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594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39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96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غَطِّ</a:t>
            </a:r>
            <a:endParaRPr lang="ar-SA" sz="7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7C5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8"/>
          </a:solidFill>
          <a:ln w="12700">
            <a:solidFill>
              <a:srgbClr val="D8647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6"/>
          </a:solidFill>
          <a:ln w="12700">
            <a:solidFill>
              <a:srgbClr val="D1477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8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8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62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62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96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غَظِّ</a:t>
            </a:r>
            <a:endParaRPr lang="ar-SA" sz="7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D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667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667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17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17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68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غَعِّ</a:t>
            </a:r>
            <a:endParaRPr lang="ar-SA" sz="73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72B64"/>
          </a:solidFill>
          <a:ln w="12700">
            <a:solidFill>
              <a:srgbClr val="47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9"/>
          </a:solidFill>
          <a:ln w="12700">
            <a:solidFill>
              <a:srgbClr val="79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42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0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2042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0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D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D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486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486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30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D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995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0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995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0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357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أَغِّبَ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7D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95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95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A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A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486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486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3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A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48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648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0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3570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بَغِّتَ</a:t>
            </a:r>
            <a:endParaRPr lang="ar-SA" sz="64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C5F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1"/>
          </a:solidFill>
          <a:ln w="12700">
            <a:solidFill>
              <a:srgbClr val="5EED8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648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0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648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0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486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486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30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857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0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857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0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1995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تَغِّثَ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3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C"/>
          </a:solidFill>
          <a:ln w="12700">
            <a:solidFill>
              <a:srgbClr val="E052A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EDB70"/>
          </a:solidFill>
          <a:ln w="12700">
            <a:solidFill>
              <a:srgbClr val="7E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885"/>
          </a:solidFill>
          <a:ln w="12700">
            <a:solidFill>
              <a:srgbClr val="4778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857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0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857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0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486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486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30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783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0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783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0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4980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ثَغِّجَ</a:t>
            </a:r>
            <a:endParaRPr lang="ar-SA" sz="5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E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5D864"/>
          </a:solidFill>
          <a:ln w="12700">
            <a:solidFill>
              <a:srgbClr val="95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9D147"/>
          </a:solidFill>
          <a:ln w="12700">
            <a:solidFill>
              <a:srgbClr val="99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83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783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486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486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3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783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783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0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4980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جَغِّحَ</a:t>
            </a:r>
            <a:endParaRPr lang="ar-SA" sz="56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C5E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783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0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783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0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486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486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30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168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0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168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0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4980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حَغِّخَ</a:t>
            </a:r>
            <a:endParaRPr lang="ar-SA" sz="5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43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92B"/>
          </a:solidFill>
          <a:ln w="12700">
            <a:solidFill>
              <a:srgbClr val="6439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834"/>
          </a:solidFill>
          <a:ln w="12700">
            <a:solidFill>
              <a:srgbClr val="7968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168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0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168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0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486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486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30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585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0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585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0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2709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خَغِّدَ</a:t>
            </a:r>
            <a:endParaRPr lang="ar-SA" sz="7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C5F7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85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85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486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486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3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97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97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0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3427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دَغِّذَ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D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5FED"/>
          </a:solidFill>
          <a:ln w="12700">
            <a:solidFill>
              <a:srgbClr val="5E5F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97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0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97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0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486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486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30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945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0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945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0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1851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ذَغِّرَ</a:t>
            </a:r>
            <a:endParaRPr lang="ar-SA" sz="6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433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FE052"/>
          </a:solidFill>
          <a:ln w="12700">
            <a:solidFill>
              <a:srgbClr val="CF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3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9DB"/>
          </a:solidFill>
          <a:ln w="12700">
            <a:solidFill>
              <a:srgbClr val="7099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24785"/>
          </a:solidFill>
          <a:ln w="12700">
            <a:solidFill>
              <a:srgbClr val="82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945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0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945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0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486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486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30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330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0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330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0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1851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رَغِّزَ</a:t>
            </a:r>
            <a:endParaRPr lang="ar-SA" sz="6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C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2D8"/>
          </a:solidFill>
          <a:ln w="12700">
            <a:solidFill>
              <a:srgbClr val="64B2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BD1"/>
          </a:solidFill>
          <a:ln w="12700">
            <a:solidFill>
              <a:srgbClr val="47BB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30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330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486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486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3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909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909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0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1851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زَغِّسَ</a:t>
            </a:r>
            <a:endParaRPr lang="ar-SA" sz="6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7C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909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0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909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0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486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486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30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503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0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503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0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0314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سَغِّشَ</a:t>
            </a:r>
            <a:endParaRPr lang="ar-SA" sz="5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2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B"/>
          </a:solidFill>
          <a:ln w="12700">
            <a:solidFill>
              <a:srgbClr val="2B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6"/>
          </a:solidFill>
          <a:ln w="12700">
            <a:solidFill>
              <a:srgbClr val="34795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03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0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503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0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486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486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30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98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0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98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0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0079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شَغِّصَ</a:t>
            </a:r>
            <a:endParaRPr lang="ar-SA" sz="5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C5D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8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8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B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B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486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486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3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B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373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373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0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9727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صَغِّضَ</a:t>
            </a:r>
            <a:endParaRPr lang="ar-SA" sz="5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7C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83"/>
          </a:solidFill>
          <a:ln w="12700">
            <a:solidFill>
              <a:srgbClr val="ED5E8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373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0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373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0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C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C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486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486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30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C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96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0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96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0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0338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ضَغِّطَ</a:t>
            </a:r>
            <a:endParaRPr lang="ar-SA" sz="63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1443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CE"/>
          </a:solidFill>
          <a:ln w="12700">
            <a:solidFill>
              <a:srgbClr val="52E0C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D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4"/>
          </a:solidFill>
          <a:ln w="12700">
            <a:solidFill>
              <a:srgbClr val="DB70B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247"/>
          </a:solidFill>
          <a:ln w="12700">
            <a:solidFill>
              <a:srgbClr val="8572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96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0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96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0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486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486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30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96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0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96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0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1392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طَغِّظَ</a:t>
            </a:r>
            <a:endParaRPr lang="ar-SA" sz="6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E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F"/>
          </a:solidFill>
          <a:ln w="12700">
            <a:solidFill>
              <a:srgbClr val="D864C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547D1"/>
          </a:solidFill>
          <a:ln w="12700">
            <a:solidFill>
              <a:srgbClr val="C5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6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96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486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486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3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941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941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0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4980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ظَغِّعَ</a:t>
            </a:r>
            <a:endParaRPr lang="ar-SA" sz="56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7F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941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0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941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0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2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2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486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486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30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2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2042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0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2042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0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513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عَغِّأَ</a:t>
            </a:r>
            <a:endParaRPr lang="ar-SA" sz="69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143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964"/>
          </a:solidFill>
          <a:ln w="12700">
            <a:solidFill>
              <a:srgbClr val="2B39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53479"/>
          </a:solidFill>
          <a:ln w="12700">
            <a:solidFill>
              <a:srgbClr val="45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972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972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711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711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35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935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أَغِّ</a:t>
            </a:r>
            <a:endParaRPr lang="ar-SA" sz="61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7C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05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305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711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711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601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بَغِّ</a:t>
            </a:r>
            <a:endParaRPr lang="ar-SA" sz="64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C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6ED5E"/>
          </a:solidFill>
          <a:ln w="12700">
            <a:solidFill>
              <a:srgbClr val="A6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6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06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711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711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35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601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تَغِّ</a:t>
            </a:r>
            <a:endParaRPr lang="ar-SA" sz="6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1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A52E0"/>
          </a:solidFill>
          <a:ln w="12700">
            <a:solidFill>
              <a:srgbClr val="AA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EDB70"/>
          </a:solidFill>
          <a:ln w="12700">
            <a:solidFill>
              <a:srgbClr val="CE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3"/>
          </a:solidFill>
          <a:ln w="12700">
            <a:solidFill>
              <a:srgbClr val="47856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311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311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711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711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35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601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ثَغِّ</a:t>
            </a:r>
            <a:endParaRPr lang="ar-SA" sz="6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7D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464"/>
          </a:solidFill>
          <a:ln w="12700">
            <a:solidFill>
              <a:srgbClr val="D8C4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347"/>
          </a:solidFill>
          <a:ln w="12700">
            <a:solidFill>
              <a:srgbClr val="D1A3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711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711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601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جَغِّ</a:t>
            </a:r>
            <a:endParaRPr lang="ar-SA" sz="6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C5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711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711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35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601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حَغِّ</a:t>
            </a:r>
            <a:endParaRPr lang="ar-SA" sz="6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4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8"/>
          </a:solidFill>
          <a:ln w="12700">
            <a:solidFill>
              <a:srgbClr val="642B4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4"/>
          </a:solidFill>
          <a:ln w="12700">
            <a:solidFill>
              <a:srgbClr val="7934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711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711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35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601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خَغِّ</a:t>
            </a:r>
            <a:endParaRPr lang="ar-SA" sz="6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E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9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9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711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711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935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دَغِّ</a:t>
            </a:r>
            <a:endParaRPr lang="ar-SA" sz="6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C5D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AED"/>
          </a:solidFill>
          <a:ln w="12700">
            <a:solidFill>
              <a:srgbClr val="5ECA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42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442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711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711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35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935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ذَغِّ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4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8752"/>
          </a:solidFill>
          <a:ln w="12700">
            <a:solidFill>
              <a:srgbClr val="E087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5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E"/>
          </a:solidFill>
          <a:ln w="12700">
            <a:solidFill>
              <a:srgbClr val="70DBC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44785"/>
          </a:solidFill>
          <a:ln w="12700">
            <a:solidFill>
              <a:srgbClr val="54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247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247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711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711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35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935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رَغِّ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C5F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7"/>
          </a:solidFill>
          <a:ln w="12700">
            <a:solidFill>
              <a:srgbClr val="64D8A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0"/>
          </a:solidFill>
          <a:ln w="12700">
            <a:solidFill>
              <a:srgbClr val="47D18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95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95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711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711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935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زَغِّ</a:t>
            </a:r>
            <a:endParaRPr lang="ar-SA" sz="61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D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04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204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711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711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35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601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سَغِّ</a:t>
            </a:r>
            <a:endParaRPr lang="ar-SA" sz="6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433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6642B"/>
          </a:solidFill>
          <a:ln w="12700">
            <a:solidFill>
              <a:srgbClr val="56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67934"/>
          </a:solidFill>
          <a:ln w="12700">
            <a:solidFill>
              <a:srgbClr val="46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89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89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711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711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35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601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شَغِّ</a:t>
            </a:r>
            <a:endParaRPr lang="ar-SA" sz="6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C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9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9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711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711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601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صَغِّ</a:t>
            </a:r>
            <a:endParaRPr lang="ar-SA" sz="64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7C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ED"/>
          </a:solidFill>
          <a:ln w="12700">
            <a:solidFill>
              <a:srgbClr val="ED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747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747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711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711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35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601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ضَغِّ</a:t>
            </a:r>
            <a:endParaRPr lang="ar-SA" sz="6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2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3"/>
          </a:solidFill>
          <a:ln w="12700">
            <a:solidFill>
              <a:srgbClr val="52E06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370DB"/>
          </a:solidFill>
          <a:ln w="12700">
            <a:solidFill>
              <a:srgbClr val="B3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4A"/>
          </a:solidFill>
          <a:ln w="12700">
            <a:solidFill>
              <a:srgbClr val="85474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3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43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711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711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35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601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طَغِّ</a:t>
            </a:r>
            <a:endParaRPr lang="ar-SA" sz="6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C5C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A64D8"/>
          </a:solidFill>
          <a:ln w="12700">
            <a:solidFill>
              <a:srgbClr val="8A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E47D1"/>
          </a:solidFill>
          <a:ln w="12700">
            <a:solidFill>
              <a:srgbClr val="5E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3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3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711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711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601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ظَغِّ</a:t>
            </a:r>
            <a:endParaRPr lang="ar-SA" sz="6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7C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42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242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711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711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35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601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عَغِّ</a:t>
            </a:r>
            <a:endParaRPr lang="ar-SA" sz="6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144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64"/>
          </a:solidFill>
          <a:ln w="12700">
            <a:solidFill>
              <a:srgbClr val="2B64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779"/>
          </a:solidFill>
          <a:ln w="12700">
            <a:solidFill>
              <a:srgbClr val="3457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5214254" y="896112"/>
            <a:ext cx="158776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C6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5214254" y="896112"/>
            <a:ext cx="158776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رَبِّ</a:t>
            </a:r>
            <a:endParaRPr lang="ar-SA" sz="4700" dirty="0"/>
          </a:p>
        </p:txBody>
      </p:sp>
      <p:sp>
        <p:nvSpPr>
          <p:cNvPr id="14" name="C2 W2 pill"/>
          <p:cNvSpPr/>
          <p:nvPr/>
        </p:nvSpPr>
        <p:spPr>
          <a:xfrm>
            <a:off x="2341985" y="896112"/>
            <a:ext cx="255222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C6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341985" y="896112"/>
            <a:ext cx="255222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ٱلۡعَٰلَمِينَ</a:t>
            </a:r>
            <a:endParaRPr lang="ar-SA" sz="47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4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705474" y="2834640"/>
            <a:ext cx="373305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705474" y="2834640"/>
            <a:ext cx="373305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رَبِّ ٱلۡعَٰلَمِينَ</a:t>
            </a:r>
            <a:endParaRPr lang="ar-SA" sz="48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E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696303" y="896112"/>
            <a:ext cx="181406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94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696303" y="896112"/>
            <a:ext cx="181406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فَصَلِّ</a:t>
            </a:r>
            <a:endParaRPr lang="ar-SA" sz="4000" dirty="0"/>
          </a:p>
        </p:txBody>
      </p:sp>
      <p:sp>
        <p:nvSpPr>
          <p:cNvPr id="12" name="C2 W2 pill"/>
          <p:cNvSpPr/>
          <p:nvPr/>
        </p:nvSpPr>
        <p:spPr>
          <a:xfrm>
            <a:off x="2633630" y="896112"/>
            <a:ext cx="174263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4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633630" y="896112"/>
            <a:ext cx="174263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لِرَبِّكَ</a:t>
            </a:r>
            <a:endParaRPr lang="ar-SA" sz="40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3032780" y="2834640"/>
            <a:ext cx="307844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3032780" y="2834640"/>
            <a:ext cx="307844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فَصَلِّ لِرَبِّكَ</a:t>
            </a:r>
            <a:endParaRPr lang="ar-SA" sz="4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C95E"/>
          </a:solidFill>
          <a:ln w="12700">
            <a:solidFill>
              <a:srgbClr val="EDC9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6677519" y="896112"/>
            <a:ext cx="15558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2E236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6677519" y="896112"/>
            <a:ext cx="15558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</a:t>
            </a:r>
            <a:endParaRPr lang="ar-SA" sz="5300" dirty="0"/>
          </a:p>
        </p:txBody>
      </p:sp>
      <p:sp>
        <p:nvSpPr>
          <p:cNvPr id="20" name="C2 W2 pill"/>
          <p:cNvSpPr/>
          <p:nvPr/>
        </p:nvSpPr>
        <p:spPr>
          <a:xfrm>
            <a:off x="4672783" y="896112"/>
            <a:ext cx="168469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62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4672783" y="896112"/>
            <a:ext cx="168469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شَرِّ</a:t>
            </a:r>
            <a:endParaRPr lang="ar-SA" sz="5300" dirty="0"/>
          </a:p>
        </p:txBody>
      </p:sp>
      <p:sp>
        <p:nvSpPr>
          <p:cNvPr id="22" name="C3 W3 pill"/>
          <p:cNvSpPr/>
          <p:nvPr/>
        </p:nvSpPr>
        <p:spPr>
          <a:xfrm>
            <a:off x="3119535" y="896112"/>
            <a:ext cx="1233208" cy="1371600"/>
          </a:xfrm>
          <a:prstGeom prst="roundRect">
            <a:avLst>
              <a:gd name="adj" fmla="val 29659"/>
            </a:avLst>
          </a:prstGeom>
          <a:solidFill>
            <a:srgbClr val="FFFFFF"/>
          </a:solidFill>
          <a:ln w="76200">
            <a:solidFill>
              <a:srgbClr val="E23662"/>
            </a:solidFill>
            <a:prstDash val="solid"/>
          </a:ln>
        </p:spPr>
      </p:sp>
      <p:sp>
        <p:nvSpPr>
          <p:cNvPr id="23" name="C3 W3 word"/>
          <p:cNvSpPr txBox="1"/>
          <p:nvPr/>
        </p:nvSpPr>
        <p:spPr>
          <a:xfrm>
            <a:off x="3119535" y="896112"/>
            <a:ext cx="123320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مَا</a:t>
            </a:r>
            <a:endParaRPr lang="ar-SA" sz="5300" dirty="0"/>
          </a:p>
        </p:txBody>
      </p:sp>
      <p:sp>
        <p:nvSpPr>
          <p:cNvPr id="24" name="C4 W4 pill"/>
          <p:cNvSpPr/>
          <p:nvPr/>
        </p:nvSpPr>
        <p:spPr>
          <a:xfrm>
            <a:off x="910662" y="896112"/>
            <a:ext cx="188883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2E236"/>
            </a:solidFill>
            <a:prstDash val="solid"/>
          </a:ln>
        </p:spPr>
      </p:sp>
      <p:sp>
        <p:nvSpPr>
          <p:cNvPr id="25" name="C4 W4 word"/>
          <p:cNvSpPr txBox="1"/>
          <p:nvPr/>
        </p:nvSpPr>
        <p:spPr>
          <a:xfrm>
            <a:off x="910662" y="896112"/>
            <a:ext cx="188883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خَلَقَ</a:t>
            </a:r>
            <a:endParaRPr lang="ar-SA" sz="5300" dirty="0"/>
          </a:p>
        </p:txBody>
      </p:sp>
      <p:sp>
        <p:nvSpPr>
          <p:cNvPr id="26" name="C5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9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S panel"/>
          <p:cNvSpPr/>
          <p:nvPr/>
        </p:nvSpPr>
        <p:spPr>
          <a:xfrm>
            <a:off x="2010070" y="2834640"/>
            <a:ext cx="512385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C5 S sentence"/>
          <p:cNvSpPr txBox="1"/>
          <p:nvPr/>
        </p:nvSpPr>
        <p:spPr>
          <a:xfrm>
            <a:off x="2010070" y="2834640"/>
            <a:ext cx="512385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 شَرِّ مَا خَلَقَ</a:t>
            </a:r>
            <a:endParaRPr lang="ar-SA" sz="5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143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64E0"/>
          </a:solidFill>
          <a:ln w="12700">
            <a:solidFill>
              <a:srgbClr val="5264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2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870"/>
          </a:solidFill>
          <a:ln w="12700">
            <a:solidFill>
              <a:srgbClr val="DB98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98547"/>
          </a:solidFill>
          <a:ln w="12700">
            <a:solidFill>
              <a:srgbClr val="5985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6960030" y="896112"/>
            <a:ext cx="171144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D36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6960030" y="896112"/>
            <a:ext cx="171144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قُلۡ</a:t>
            </a:r>
            <a:endParaRPr lang="ar-SA" sz="4300" dirty="0"/>
          </a:p>
        </p:txBody>
      </p:sp>
      <p:sp>
        <p:nvSpPr>
          <p:cNvPr id="17" name="C2 W2 pill"/>
          <p:cNvSpPr/>
          <p:nvPr/>
        </p:nvSpPr>
        <p:spPr>
          <a:xfrm>
            <a:off x="4887580" y="896112"/>
            <a:ext cx="175240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D36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4887580" y="896112"/>
            <a:ext cx="175240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أَعُوذُ</a:t>
            </a:r>
            <a:endParaRPr lang="ar-SA" sz="4300" dirty="0"/>
          </a:p>
        </p:txBody>
      </p:sp>
      <p:sp>
        <p:nvSpPr>
          <p:cNvPr id="19" name="C3 W3 pill"/>
          <p:cNvSpPr/>
          <p:nvPr/>
        </p:nvSpPr>
        <p:spPr>
          <a:xfrm>
            <a:off x="2855150" y="896112"/>
            <a:ext cx="171239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3D"/>
            </a:solidFill>
            <a:prstDash val="solid"/>
          </a:ln>
        </p:spPr>
      </p:sp>
      <p:sp>
        <p:nvSpPr>
          <p:cNvPr id="20" name="C3 W3 word"/>
          <p:cNvSpPr txBox="1"/>
          <p:nvPr/>
        </p:nvSpPr>
        <p:spPr>
          <a:xfrm>
            <a:off x="2855150" y="896112"/>
            <a:ext cx="171239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بِرَبِّ</a:t>
            </a:r>
            <a:endParaRPr lang="ar-SA" sz="4300" dirty="0"/>
          </a:p>
        </p:txBody>
      </p:sp>
      <p:sp>
        <p:nvSpPr>
          <p:cNvPr id="21" name="C4 W4 pill"/>
          <p:cNvSpPr/>
          <p:nvPr/>
        </p:nvSpPr>
        <p:spPr>
          <a:xfrm>
            <a:off x="472529" y="896112"/>
            <a:ext cx="20625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D36E2"/>
            </a:solidFill>
            <a:prstDash val="solid"/>
          </a:ln>
        </p:spPr>
      </p:sp>
      <p:sp>
        <p:nvSpPr>
          <p:cNvPr id="22" name="C4 W4 word"/>
          <p:cNvSpPr txBox="1"/>
          <p:nvPr/>
        </p:nvSpPr>
        <p:spPr>
          <a:xfrm>
            <a:off x="472529" y="896112"/>
            <a:ext cx="20625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ٱلنَّاسِ</a:t>
            </a:r>
            <a:endParaRPr lang="ar-SA" sz="4300" dirty="0"/>
          </a:p>
        </p:txBody>
      </p:sp>
      <p:sp>
        <p:nvSpPr>
          <p:cNvPr id="23" name="C5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S panel"/>
          <p:cNvSpPr/>
          <p:nvPr/>
        </p:nvSpPr>
        <p:spPr>
          <a:xfrm>
            <a:off x="1703639" y="2834640"/>
            <a:ext cx="573672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5" name="C5 S sentence"/>
          <p:cNvSpPr txBox="1"/>
          <p:nvPr/>
        </p:nvSpPr>
        <p:spPr>
          <a:xfrm>
            <a:off x="1703639" y="2834640"/>
            <a:ext cx="573672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قُلۡ أَعُوذُ بِرَبِّ ٱلنَّاسِ</a:t>
            </a:r>
            <a:endParaRPr lang="ar-SA" sz="4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112</Slides>
  <Notes>112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112</vt:i4>
      </vt:variant>
    </vt:vector>
  </HeadingPairs>
  <TitlesOfParts>
    <vt:vector size="1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kasra 10-ain-ghain</dc:title>
  <dc:subject>PptxGenJS Presentation</dc:subject>
  <dc:creator>PptxGenJS</dc:creator>
  <cp:lastModifiedBy>PptxGenJS</cp:lastModifiedBy>
  <cp:revision>1</cp:revision>
  <dcterms:created xsi:type="dcterms:W3CDTF">2026-10-21T19:04:14Z</dcterms:created>
  <dcterms:modified xsi:type="dcterms:W3CDTF">2026-10-21T19:04:14Z</dcterms:modified>
</cp:coreProperties>
</file>