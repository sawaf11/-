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notesMaster" Target="notesMasters/notesMaster1.xml"/><Relationship Id="rId91" Type="http://schemas.openxmlformats.org/officeDocument/2006/relationships/presProps" Target="presProps.xml"/><Relationship Id="rId92" Type="http://schemas.openxmlformats.org/officeDocument/2006/relationships/viewProps" Target="viewProps.xml"/><Relationship Id="rId93" Type="http://schemas.openxmlformats.org/officeDocument/2006/relationships/theme" Target="theme/theme1.xml"/><Relationship Id="rId9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الشدة حرفان مكتوبان حرفاً واحداً: الأول ساكن (بسكون المصحف «ۡ»)، والثاني متحرك. نضغطهما معاً فنكتب الحرف مرة واحدة وفوقه شدة «ّ»، ونقرؤه حرفين: نقف عليه أولاً ثم ننطلق بالحركة.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تكون الشدة في أول الكلمة، لأن أول الحرفين ساكن، ولا نبدأ بساكن أبداً. لا بد من حرف متحرك قبل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الطريقة الصحيحة: حرف متحرك أولاً، ثم الحرفان اللذان يصنعان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C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F"/>
          </a:solidFill>
          <a:ln w="12700">
            <a:solidFill>
              <a:srgbClr val="D8648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1"/>
          </a:solidFill>
          <a:ln w="12700">
            <a:solidFill>
              <a:srgbClr val="D1479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44947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44947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5600" dirty="0"/>
          </a:p>
        </p:txBody>
      </p:sp>
      <p:sp>
        <p:nvSpPr>
          <p:cNvPr id="18" name="C6 H shaddah bar"/>
          <p:cNvSpPr/>
          <p:nvPr/>
        </p:nvSpPr>
        <p:spPr>
          <a:xfrm>
            <a:off x="4480560" y="1472184"/>
            <a:ext cx="384048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8 R result"/>
          <p:cNvSpPr txBox="1"/>
          <p:nvPr/>
        </p:nvSpPr>
        <p:spPr>
          <a:xfrm>
            <a:off x="685800" y="156005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بِّ</a:t>
            </a:r>
            <a:endParaRPr lang="ar-SA" sz="94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5120640" y="1148755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بِّ</a:t>
            </a:r>
            <a:endParaRPr lang="ar-SA" sz="9700" dirty="0"/>
          </a:p>
        </p:txBody>
      </p:sp>
      <p:sp>
        <p:nvSpPr>
          <p:cNvPr id="13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5" name="C3 W2 word"/>
          <p:cNvSpPr txBox="1"/>
          <p:nvPr/>
        </p:nvSpPr>
        <p:spPr>
          <a:xfrm>
            <a:off x="914400" y="1148755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تَبِّ</a:t>
            </a:r>
            <a:endParaRPr lang="ar-SA" sz="9700" dirty="0"/>
          </a:p>
        </p:txBody>
      </p:sp>
      <p:sp>
        <p:nvSpPr>
          <p:cNvPr id="16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17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 animBg="1"/>
      <p:bldP spid="16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C2B64"/>
          </a:solidFill>
          <a:ln w="12700">
            <a:solidFill>
              <a:srgbClr val="3C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C3479"/>
          </a:solidFill>
          <a:ln w="12700">
            <a:solidFill>
              <a:srgbClr val="6C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9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509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تَبِّ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C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01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01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737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صَأۡإِ</a:t>
            </a:r>
            <a:endParaRPr lang="ar-SA" sz="6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F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6"/>
          </a:solidFill>
          <a:ln w="12700">
            <a:solidFill>
              <a:srgbClr val="5EED6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9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9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5078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صَبِّ</a:t>
            </a:r>
            <a:endParaRPr lang="ar-SA" sz="8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7"/>
          </a:solidFill>
          <a:ln w="12700">
            <a:solidFill>
              <a:srgbClr val="E052C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3DB70"/>
          </a:solidFill>
          <a:ln w="12700">
            <a:solidFill>
              <a:srgbClr val="93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485"/>
          </a:solidFill>
          <a:ln w="12700">
            <a:solidFill>
              <a:srgbClr val="4784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59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7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259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</a:t>
            </a:r>
            <a:endParaRPr lang="ar-SA" sz="37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979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صَتِّ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CD864"/>
          </a:solidFill>
          <a:ln w="12700">
            <a:solidFill>
              <a:srgbClr val="AC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3D147"/>
          </a:solidFill>
          <a:ln w="12700">
            <a:solidFill>
              <a:srgbClr val="B3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7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7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552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صَثِّ</a:t>
            </a:r>
            <a:endParaRPr lang="ar-SA" sz="8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E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4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4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صَجِّ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31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E2B"/>
          </a:solidFill>
          <a:ln w="12700">
            <a:solidFill>
              <a:srgbClr val="642E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A34"/>
          </a:solidFill>
          <a:ln w="12700">
            <a:solidFill>
              <a:srgbClr val="795A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4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24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صَحِّ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9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9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6217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صَخِّ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BED"/>
          </a:solidFill>
          <a:ln w="12700">
            <a:solidFill>
              <a:srgbClr val="5E7B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3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1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4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07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3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807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763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3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763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43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9887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صَدِّ</a:t>
            </a:r>
            <a:endParaRPr lang="ar-SA" sz="93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32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652"/>
          </a:solidFill>
          <a:ln w="12700">
            <a:solidFill>
              <a:srgbClr val="E0D6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7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EDB"/>
          </a:solidFill>
          <a:ln w="12700">
            <a:solidFill>
              <a:srgbClr val="70AE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64785"/>
          </a:solidFill>
          <a:ln w="12700">
            <a:solidFill>
              <a:srgbClr val="76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63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163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3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3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ذِ</a:t>
            </a:r>
            <a:endParaRPr lang="ar-SA" sz="4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801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صَذِّ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9D8"/>
          </a:solidFill>
          <a:ln w="12700">
            <a:solidFill>
              <a:srgbClr val="64C9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D"/>
          </a:solidFill>
          <a:ln w="12700">
            <a:solidFill>
              <a:srgbClr val="47D1C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3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26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3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26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91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3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91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43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048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صَرِّ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C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63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163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54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54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42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صَزِّ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6642B"/>
          </a:solidFill>
          <a:ln w="12700">
            <a:solidFill>
              <a:srgbClr val="36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9"/>
          </a:solidFill>
          <a:ln w="12700">
            <a:solidFill>
              <a:srgbClr val="34794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</a:t>
            </a:r>
            <a:endParaRPr lang="ar-SA" sz="34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0020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صَسِّ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D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75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1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375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31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405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صَشِّ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C5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E"/>
          </a:solidFill>
          <a:ln w="12700">
            <a:solidFill>
              <a:srgbClr val="ED5E9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3958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29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203958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2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1815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1815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29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014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29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014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29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أَصِّبَ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4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2"/>
          </a:solidFill>
          <a:ln w="12700">
            <a:solidFill>
              <a:srgbClr val="52E0B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0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8"/>
          </a:solidFill>
          <a:ln w="12700">
            <a:solidFill>
              <a:srgbClr val="DB70C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747"/>
          </a:solidFill>
          <a:ln w="12700">
            <a:solidFill>
              <a:srgbClr val="8567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014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29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014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2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1815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1815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29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45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29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645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29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3657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بَصِّتَ</a:t>
            </a:r>
            <a:endParaRPr lang="ar-SA" sz="6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D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B64D8"/>
          </a:solidFill>
          <a:ln w="12700">
            <a:solidFill>
              <a:srgbClr val="CB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A47D1"/>
          </a:solidFill>
          <a:ln w="12700">
            <a:solidFill>
              <a:srgbClr val="AA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45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45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1815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1815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848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848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9972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تَصِّثَ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E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848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2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848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2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5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5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1815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1815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2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5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29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29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ثَصِّجَ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4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464"/>
          </a:solidFill>
          <a:ln w="12700">
            <a:solidFill>
              <a:srgbClr val="2B44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83479"/>
          </a:solidFill>
          <a:ln w="12700">
            <a:solidFill>
              <a:srgbClr val="38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29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2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1815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1815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29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29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29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65109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جَصِّحَ</a:t>
            </a:r>
            <a:endParaRPr lang="ar-SA" sz="65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C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1815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1815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18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18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5109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حَصِّخَ</a:t>
            </a:r>
            <a:endParaRPr lang="ar-SA" sz="65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D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2ED5E"/>
          </a:solidFill>
          <a:ln w="12700">
            <a:solidFill>
              <a:srgbClr val="C2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18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29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18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2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1815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1815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29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584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29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584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29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1337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خَصِّدَ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1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F52E0"/>
          </a:solidFill>
          <a:ln w="12700">
            <a:solidFill>
              <a:srgbClr val="8F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B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470"/>
          </a:solidFill>
          <a:ln w="12700">
            <a:solidFill>
              <a:srgbClr val="DBD4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7"/>
          </a:solidFill>
          <a:ln w="12700">
            <a:solidFill>
              <a:srgbClr val="47855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584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29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584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2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C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C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1815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1815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29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C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956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29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956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29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3918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دَصِّذَ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D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E64"/>
          </a:solidFill>
          <a:ln w="12700">
            <a:solidFill>
              <a:srgbClr val="D8AE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847"/>
          </a:solidFill>
          <a:ln w="12700">
            <a:solidFill>
              <a:srgbClr val="D188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56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956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1815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1815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6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6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ذَصِّرَ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5F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96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2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96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2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1815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1815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2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337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29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337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29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107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رَصِّزَ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3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3"/>
          </a:solidFill>
          <a:ln w="12700">
            <a:solidFill>
              <a:srgbClr val="642B5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2"/>
          </a:solidFill>
          <a:ln w="12700">
            <a:solidFill>
              <a:srgbClr val="79344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337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29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337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2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1815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1815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29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29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1750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زَصِّسَ</a:t>
            </a:r>
            <a:endParaRPr lang="ar-SA" sz="53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1815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1815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505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505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2721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سَصِّشَ</a:t>
            </a:r>
            <a:endParaRPr lang="ar-SA" sz="4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5E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5ED"/>
          </a:solidFill>
          <a:ln w="12700">
            <a:solidFill>
              <a:srgbClr val="5EE5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505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9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505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2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6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174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2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6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1815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1815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29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6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203958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29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203958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29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4388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شَصِّأَ</a:t>
            </a:r>
            <a:endParaRPr lang="ar-SA" sz="68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43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B52"/>
          </a:solidFill>
          <a:ln w="12700">
            <a:solidFill>
              <a:srgbClr val="E06B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1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9"/>
          </a:solidFill>
          <a:ln w="12700">
            <a:solidFill>
              <a:srgbClr val="70DBB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84785"/>
          </a:solidFill>
          <a:ln w="12700">
            <a:solidFill>
              <a:srgbClr val="48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944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4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944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34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أَصِّ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1"/>
          </a:solidFill>
          <a:ln w="12700">
            <a:solidFill>
              <a:srgbClr val="64D89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6"/>
          </a:solidFill>
          <a:ln w="12700">
            <a:solidFill>
              <a:srgbClr val="47D1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24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324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174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بَصِّ</a:t>
            </a:r>
            <a:endParaRPr lang="ar-SA" sz="83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D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6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06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34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174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تَصِّ</a:t>
            </a:r>
            <a:endParaRPr lang="ar-SA" sz="8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432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1642B"/>
          </a:solidFill>
          <a:ln w="12700">
            <a:solidFill>
              <a:srgbClr val="61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37934"/>
          </a:solidFill>
          <a:ln w="12700">
            <a:solidFill>
              <a:srgbClr val="53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30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30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34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647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ثَصِّ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174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جَصِّ</a:t>
            </a:r>
            <a:endParaRPr lang="ar-SA" sz="83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C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15EED"/>
          </a:solidFill>
          <a:ln w="12700">
            <a:solidFill>
              <a:srgbClr val="D1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4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34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174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حَصِّ</a:t>
            </a:r>
            <a:endParaRPr lang="ar-SA" sz="8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CE052"/>
          </a:solidFill>
          <a:ln w="12700">
            <a:solidFill>
              <a:srgbClr val="5C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E70DB"/>
          </a:solidFill>
          <a:ln w="12700">
            <a:solidFill>
              <a:srgbClr val="9E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6"/>
          </a:solidFill>
          <a:ln w="12700">
            <a:solidFill>
              <a:srgbClr val="854756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52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4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52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34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174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خَصِّ</a:t>
            </a:r>
            <a:endParaRPr lang="ar-SA" sz="8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5D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464D8"/>
          </a:solidFill>
          <a:ln w="12700">
            <a:solidFill>
              <a:srgbClr val="74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4BD1"/>
          </a:solidFill>
          <a:ln w="12700">
            <a:solidFill>
              <a:srgbClr val="474B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9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174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دَصِّ</a:t>
            </a:r>
            <a:endParaRPr lang="ar-SA" sz="83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C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34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361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ذَصِّ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44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9"/>
          </a:solidFill>
          <a:ln w="12700">
            <a:solidFill>
              <a:srgbClr val="2B645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479"/>
          </a:solidFill>
          <a:ln w="12700">
            <a:solidFill>
              <a:srgbClr val="346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6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26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34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174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رَصِّ</a:t>
            </a:r>
            <a:endParaRPr lang="ar-SA" sz="8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0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70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174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زَصِّ</a:t>
            </a:r>
            <a:endParaRPr lang="ar-SA" sz="8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E5E"/>
          </a:solidFill>
          <a:ln w="12700">
            <a:solidFill>
              <a:srgbClr val="EDAE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34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198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سَصِّ</a:t>
            </a:r>
            <a:endParaRPr lang="ar-SA" sz="7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43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FE0"/>
          </a:solidFill>
          <a:ln w="12700">
            <a:solidFill>
              <a:srgbClr val="527F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F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470"/>
          </a:solidFill>
          <a:ln w="12700">
            <a:solidFill>
              <a:srgbClr val="DB84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58547"/>
          </a:solidFill>
          <a:ln w="12700">
            <a:solidFill>
              <a:srgbClr val="65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00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4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900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34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295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شَصِّ</a:t>
            </a:r>
            <a:endParaRPr lang="ar-SA" sz="7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C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1"/>
          </a:solidFill>
          <a:ln w="12700">
            <a:solidFill>
              <a:srgbClr val="D8647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E"/>
          </a:solidFill>
          <a:ln w="12700">
            <a:solidFill>
              <a:srgbClr val="D1476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737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ضَأۡإِ</a:t>
            </a:r>
            <a:endParaRPr lang="ar-SA" sz="6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D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721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721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9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5078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ضَبِّ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B2B64"/>
          </a:solidFill>
          <a:ln w="12700">
            <a:solidFill>
              <a:srgbClr val="4B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6"/>
          </a:solidFill>
          <a:ln w="12700">
            <a:solidFill>
              <a:srgbClr val="79347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734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7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734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</a:t>
            </a:r>
            <a:endParaRPr lang="ar-SA" sz="37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979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ضَتِّ</a:t>
            </a:r>
            <a:endParaRPr lang="ar-SA" sz="8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D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40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740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552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ضَثِّ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5F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A"/>
          </a:solidFill>
          <a:ln w="12700">
            <a:solidFill>
              <a:srgbClr val="5EED8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72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72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ضَجِّ</a:t>
            </a:r>
            <a:endParaRPr lang="ar-SA" sz="7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4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3"/>
          </a:solidFill>
          <a:ln w="12700">
            <a:solidFill>
              <a:srgbClr val="E052A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8DB70"/>
          </a:solidFill>
          <a:ln w="12700">
            <a:solidFill>
              <a:srgbClr val="78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485"/>
          </a:solidFill>
          <a:ln w="12700">
            <a:solidFill>
              <a:srgbClr val="4774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72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72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ضَحِّ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ED864"/>
          </a:solidFill>
          <a:ln w="12700">
            <a:solidFill>
              <a:srgbClr val="8E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0D147"/>
          </a:solidFill>
          <a:ln w="12700">
            <a:solidFill>
              <a:srgbClr val="90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47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747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6217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ضَخِّ</a:t>
            </a:r>
            <a:endParaRPr lang="ar-SA" sz="6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5D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847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847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9887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ضَدِّ</a:t>
            </a:r>
            <a:endParaRPr lang="ar-SA" sz="93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431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C2B"/>
          </a:solidFill>
          <a:ln w="12700">
            <a:solidFill>
              <a:srgbClr val="643C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C34"/>
          </a:solidFill>
          <a:ln w="12700">
            <a:solidFill>
              <a:srgbClr val="796C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3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33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34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34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ذِ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801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ضَذِّ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5F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7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7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058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058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048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ضَرِّ</a:t>
            </a:r>
            <a:endParaRPr lang="ar-SA" sz="8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D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65EED"/>
          </a:solidFill>
          <a:ln w="12700">
            <a:solidFill>
              <a:srgbClr val="66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84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884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612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612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ضَزِّ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433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6E052"/>
          </a:solidFill>
          <a:ln w="12700">
            <a:solidFill>
              <a:srgbClr val="C6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D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2DB"/>
          </a:solidFill>
          <a:ln w="12700">
            <a:solidFill>
              <a:srgbClr val="7092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4"/>
          </a:solidFill>
          <a:ln w="12700">
            <a:solidFill>
              <a:srgbClr val="85478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753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4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753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</a:t>
            </a:r>
            <a:endParaRPr lang="ar-SA" sz="34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0020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ضَسِّ</a:t>
            </a:r>
            <a:endParaRPr lang="ar-SA" sz="75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BD8"/>
          </a:solidFill>
          <a:ln w="12700">
            <a:solidFill>
              <a:srgbClr val="64AB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2D1"/>
          </a:solidFill>
          <a:ln w="12700">
            <a:solidFill>
              <a:srgbClr val="47B2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7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1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77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31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405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ضَشِّ</a:t>
            </a:r>
            <a:endParaRPr lang="ar-SA" sz="69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C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753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753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34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2123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ضَصِّ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2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E"/>
          </a:solidFill>
          <a:ln w="12700">
            <a:solidFill>
              <a:srgbClr val="2B642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B"/>
          </a:solidFill>
          <a:ln w="12700">
            <a:solidFill>
              <a:srgbClr val="34795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367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28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20367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28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49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49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</a:t>
            </a:r>
            <a:endParaRPr lang="ar-SA" sz="28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03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28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03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28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أَضِّبَ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5C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03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28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03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28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49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49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</a:t>
            </a:r>
            <a:endParaRPr lang="ar-SA" sz="28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4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28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64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28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161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بَضِّتَ</a:t>
            </a:r>
            <a:endParaRPr lang="ar-SA" sz="6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C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A"/>
          </a:solidFill>
          <a:ln w="12700">
            <a:solidFill>
              <a:srgbClr val="ED5E7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64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28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64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28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49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49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</a:t>
            </a:r>
            <a:endParaRPr lang="ar-SA" sz="28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838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28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838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28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7796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تَضِّثَ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44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7"/>
          </a:solidFill>
          <a:ln w="12700">
            <a:solidFill>
              <a:srgbClr val="52E0D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6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D"/>
          </a:solidFill>
          <a:ln w="12700">
            <a:solidFill>
              <a:srgbClr val="DB70A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647"/>
          </a:solidFill>
          <a:ln w="12700">
            <a:solidFill>
              <a:srgbClr val="8576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838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28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838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28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49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49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</a:t>
            </a:r>
            <a:endParaRPr lang="ar-SA" sz="28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83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28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83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28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3482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ثَضِّجَ</a:t>
            </a:r>
            <a:endParaRPr lang="ar-SA" sz="57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E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8"/>
          </a:solidFill>
          <a:ln w="12700">
            <a:solidFill>
              <a:srgbClr val="D864C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E47D1"/>
          </a:solidFill>
          <a:ln w="12700">
            <a:solidFill>
              <a:srgbClr val="CE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3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28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3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28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49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49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</a:t>
            </a:r>
            <a:endParaRPr lang="ar-SA" sz="28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83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28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83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28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3482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جَضِّحَ</a:t>
            </a:r>
            <a:endParaRPr lang="ar-SA" sz="57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83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28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83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28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49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49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</a:t>
            </a:r>
            <a:endParaRPr lang="ar-SA" sz="28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194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28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194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28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3482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حَضِّخَ</a:t>
            </a:r>
            <a:endParaRPr lang="ar-SA" sz="57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43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664"/>
          </a:solidFill>
          <a:ln w="12700">
            <a:solidFill>
              <a:srgbClr val="2B36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93479"/>
          </a:solidFill>
          <a:ln w="12700">
            <a:solidFill>
              <a:srgbClr val="49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194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28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194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28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49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49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</a:t>
            </a:r>
            <a:endParaRPr lang="ar-SA" sz="28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584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28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584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28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B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0315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خَضِّدَ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C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84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28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84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28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49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49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</a:t>
            </a:r>
            <a:endParaRPr lang="ar-SA" sz="28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943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28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943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28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1263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دَضِّذَ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DED5E"/>
          </a:solidFill>
          <a:ln w="12700">
            <a:solidFill>
              <a:srgbClr val="9D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943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28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943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28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49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49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</a:t>
            </a:r>
            <a:endParaRPr lang="ar-SA" sz="28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986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28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986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28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9456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ذَضِّرَ</a:t>
            </a:r>
            <a:endParaRPr lang="ar-SA" sz="6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352E0"/>
          </a:solidFill>
          <a:ln w="12700">
            <a:solidFill>
              <a:srgbClr val="B3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8DB70"/>
          </a:solidFill>
          <a:ln w="12700">
            <a:solidFill>
              <a:srgbClr val="C8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7"/>
          </a:solidFill>
          <a:ln w="12700">
            <a:solidFill>
              <a:srgbClr val="47856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986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28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986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28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49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49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</a:t>
            </a:r>
            <a:endParaRPr lang="ar-SA" sz="28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345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28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345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28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9456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رَضِّزَ</a:t>
            </a:r>
            <a:endParaRPr lang="ar-SA" sz="6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D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C64"/>
          </a:solidFill>
          <a:ln w="12700">
            <a:solidFill>
              <a:srgbClr val="D8CC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B47"/>
          </a:solidFill>
          <a:ln w="12700">
            <a:solidFill>
              <a:srgbClr val="D1AB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45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28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45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28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49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49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</a:t>
            </a:r>
            <a:endParaRPr lang="ar-SA" sz="28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52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8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52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28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8548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زَضِّسَ</a:t>
            </a:r>
            <a:endParaRPr lang="ar-SA" sz="53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C5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952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8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952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28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49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49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</a:t>
            </a:r>
            <a:endParaRPr lang="ar-SA" sz="28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507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8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507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28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8003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سَضِّشَ</a:t>
            </a:r>
            <a:endParaRPr lang="ar-SA" sz="4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431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4"/>
          </a:solidFill>
          <a:ln w="12700">
            <a:solidFill>
              <a:srgbClr val="642B4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834"/>
          </a:solidFill>
          <a:ln w="12700">
            <a:solidFill>
              <a:srgbClr val="7938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07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8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507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28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49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49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</a:t>
            </a:r>
            <a:endParaRPr lang="ar-SA" sz="28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027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8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027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28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7913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شَضِّصَ</a:t>
            </a:r>
            <a:endParaRPr lang="ar-SA" sz="4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E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027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8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027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28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4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28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49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8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49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</a:t>
            </a:r>
            <a:endParaRPr lang="ar-SA" sz="28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367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28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367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28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3173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صَضِّأَ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C5D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1ED"/>
          </a:solidFill>
          <a:ln w="12700">
            <a:solidFill>
              <a:srgbClr val="5EC1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88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88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</a:t>
            </a:r>
            <a:endParaRPr lang="ar-SA" sz="3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أَضِّ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43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052"/>
          </a:solidFill>
          <a:ln w="12700">
            <a:solidFill>
              <a:srgbClr val="E09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C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4"/>
          </a:solidFill>
          <a:ln w="12700">
            <a:solidFill>
              <a:srgbClr val="70DBD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84785"/>
          </a:solidFill>
          <a:ln w="12700">
            <a:solidFill>
              <a:srgbClr val="58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36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36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</a:t>
            </a:r>
            <a:endParaRPr lang="ar-SA" sz="3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135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بَضِّ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C5F7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F"/>
          </a:solidFill>
          <a:ln w="12700">
            <a:solidFill>
              <a:srgbClr val="64D8A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9"/>
          </a:solidFill>
          <a:ln w="12700">
            <a:solidFill>
              <a:srgbClr val="47D18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59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59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</a:t>
            </a:r>
            <a:endParaRPr lang="ar-SA" sz="3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135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تَضِّ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D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28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28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</a:t>
            </a:r>
            <a:endParaRPr lang="ar-SA" sz="32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135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ثَضِّ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433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2642B"/>
          </a:solidFill>
          <a:ln w="12700">
            <a:solidFill>
              <a:srgbClr val="52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17934"/>
          </a:solidFill>
          <a:ln w="12700">
            <a:solidFill>
              <a:srgbClr val="41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3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13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</a:t>
            </a:r>
            <a:endParaRPr lang="ar-SA" sz="32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135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جَضِّ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C5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3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3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</a:t>
            </a:r>
            <a:endParaRPr lang="ar-SA" sz="3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135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حَضِّ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7C5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5"/>
          </a:solidFill>
          <a:ln w="12700">
            <a:solidFill>
              <a:srgbClr val="ED5EE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547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547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</a:t>
            </a:r>
            <a:endParaRPr lang="ar-SA" sz="3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135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خَضِّ</a:t>
            </a:r>
            <a:endParaRPr lang="ar-SA" sz="7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2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C"/>
          </a:solidFill>
          <a:ln w="12700">
            <a:solidFill>
              <a:srgbClr val="52E06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A70DB"/>
          </a:solidFill>
          <a:ln w="12700">
            <a:solidFill>
              <a:srgbClr val="BA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947"/>
          </a:solidFill>
          <a:ln w="12700">
            <a:solidFill>
              <a:srgbClr val="8549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92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992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</a:t>
            </a:r>
            <a:endParaRPr lang="ar-SA" sz="3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135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دَضِّ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264D8"/>
          </a:solidFill>
          <a:ln w="12700">
            <a:solidFill>
              <a:srgbClr val="92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747D1"/>
          </a:solidFill>
          <a:ln w="12700">
            <a:solidFill>
              <a:srgbClr val="67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02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02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</a:t>
            </a:r>
            <a:endParaRPr lang="ar-SA" sz="3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135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ذَضِّ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7D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309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309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</a:t>
            </a:r>
            <a:endParaRPr lang="ar-SA" sz="32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135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رَضِّ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144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064"/>
          </a:solidFill>
          <a:ln w="12700">
            <a:solidFill>
              <a:srgbClr val="2B60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279"/>
          </a:solidFill>
          <a:ln w="12700">
            <a:solidFill>
              <a:srgbClr val="3452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719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719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</a:t>
            </a:r>
            <a:endParaRPr lang="ar-SA" sz="32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135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زَضِّ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E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7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7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</a:t>
            </a:r>
            <a:endParaRPr lang="ar-SA" sz="3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135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سَضِّ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25E"/>
          </a:solidFill>
          <a:ln w="12700">
            <a:solidFill>
              <a:srgbClr val="EDD2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04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04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</a:t>
            </a:r>
            <a:endParaRPr lang="ar-SA" sz="3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135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شَضِّ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142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BE0"/>
          </a:solidFill>
          <a:ln w="12700">
            <a:solidFill>
              <a:srgbClr val="525B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9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F70"/>
          </a:solidFill>
          <a:ln w="12700">
            <a:solidFill>
              <a:srgbClr val="DB9F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68547"/>
          </a:solidFill>
          <a:ln w="12700">
            <a:solidFill>
              <a:srgbClr val="56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356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356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</a:t>
            </a:r>
            <a:endParaRPr lang="ar-SA" sz="3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135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صَضِّ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7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564"/>
          </a:solidFill>
          <a:ln w="12700">
            <a:solidFill>
              <a:srgbClr val="D875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4A"/>
          </a:solidFill>
          <a:ln w="12700">
            <a:solidFill>
              <a:srgbClr val="D1474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214254" y="896112"/>
            <a:ext cx="158776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7A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214254" y="896112"/>
            <a:ext cx="158776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رَبِّ</a:t>
            </a:r>
            <a:endParaRPr lang="ar-SA" sz="4700" dirty="0"/>
          </a:p>
        </p:txBody>
      </p:sp>
      <p:sp>
        <p:nvSpPr>
          <p:cNvPr id="12" name="C2 W2 pill"/>
          <p:cNvSpPr/>
          <p:nvPr/>
        </p:nvSpPr>
        <p:spPr>
          <a:xfrm>
            <a:off x="2341985" y="896112"/>
            <a:ext cx="255222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7A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341985" y="896112"/>
            <a:ext cx="255222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ٱلۡعَٰلَمِينَ</a:t>
            </a:r>
            <a:endParaRPr lang="ar-SA" sz="47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8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705474" y="2834640"/>
            <a:ext cx="373305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705474" y="2834640"/>
            <a:ext cx="373305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رَبِّ ٱلۡعَٰلَمِينَ</a:t>
            </a:r>
            <a:endParaRPr lang="ar-SA" sz="48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C5F7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696303" y="896112"/>
            <a:ext cx="181406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AC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696303" y="896112"/>
            <a:ext cx="181406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فَصَلِّ</a:t>
            </a:r>
            <a:endParaRPr lang="ar-SA" sz="4000" dirty="0"/>
          </a:p>
        </p:txBody>
      </p:sp>
      <p:sp>
        <p:nvSpPr>
          <p:cNvPr id="13" name="C2 W2 pill"/>
          <p:cNvSpPr/>
          <p:nvPr/>
        </p:nvSpPr>
        <p:spPr>
          <a:xfrm>
            <a:off x="2633630" y="896112"/>
            <a:ext cx="174263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AC36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633630" y="896112"/>
            <a:ext cx="174263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لِرَبِّكَ</a:t>
            </a:r>
            <a:endParaRPr lang="ar-SA" sz="40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3032780" y="2834640"/>
            <a:ext cx="307844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3032780" y="2834640"/>
            <a:ext cx="307844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فَصَلِّ لِرَبِّكَ</a:t>
            </a:r>
            <a:endParaRPr lang="ar-SA" sz="4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2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92B64"/>
          </a:solidFill>
          <a:ln w="12700">
            <a:solidFill>
              <a:srgbClr val="59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4"/>
          </a:solidFill>
          <a:ln w="12700">
            <a:solidFill>
              <a:srgbClr val="793464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6677519" y="896112"/>
            <a:ext cx="15558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F36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6677519" y="896112"/>
            <a:ext cx="15558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</a:t>
            </a:r>
            <a:endParaRPr lang="ar-SA" sz="5300" dirty="0"/>
          </a:p>
        </p:txBody>
      </p:sp>
      <p:sp>
        <p:nvSpPr>
          <p:cNvPr id="14" name="C2 W2 pill"/>
          <p:cNvSpPr/>
          <p:nvPr/>
        </p:nvSpPr>
        <p:spPr>
          <a:xfrm>
            <a:off x="4672783" y="896112"/>
            <a:ext cx="168469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DF36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4672783" y="896112"/>
            <a:ext cx="168469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شَرِّ</a:t>
            </a:r>
            <a:endParaRPr lang="ar-SA" sz="5300" dirty="0"/>
          </a:p>
        </p:txBody>
      </p:sp>
      <p:sp>
        <p:nvSpPr>
          <p:cNvPr id="16" name="C3 W3 pill"/>
          <p:cNvSpPr/>
          <p:nvPr/>
        </p:nvSpPr>
        <p:spPr>
          <a:xfrm>
            <a:off x="3119535" y="896112"/>
            <a:ext cx="1233208" cy="1371600"/>
          </a:xfrm>
          <a:prstGeom prst="roundRect">
            <a:avLst>
              <a:gd name="adj" fmla="val 29659"/>
            </a:avLst>
          </a:prstGeom>
          <a:solidFill>
            <a:srgbClr val="FFFFFF"/>
          </a:solidFill>
          <a:ln w="76200">
            <a:solidFill>
              <a:srgbClr val="36E2DF"/>
            </a:solidFill>
            <a:prstDash val="solid"/>
          </a:ln>
        </p:spPr>
      </p:sp>
      <p:sp>
        <p:nvSpPr>
          <p:cNvPr id="17" name="C3 W3 word"/>
          <p:cNvSpPr txBox="1"/>
          <p:nvPr/>
        </p:nvSpPr>
        <p:spPr>
          <a:xfrm>
            <a:off x="3119535" y="896112"/>
            <a:ext cx="123320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مَا</a:t>
            </a:r>
            <a:endParaRPr lang="ar-SA" sz="5300" dirty="0"/>
          </a:p>
        </p:txBody>
      </p:sp>
      <p:sp>
        <p:nvSpPr>
          <p:cNvPr id="18" name="C4 W4 pill"/>
          <p:cNvSpPr/>
          <p:nvPr/>
        </p:nvSpPr>
        <p:spPr>
          <a:xfrm>
            <a:off x="910662" y="896112"/>
            <a:ext cx="18888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F36E2"/>
            </a:solidFill>
            <a:prstDash val="solid"/>
          </a:ln>
        </p:spPr>
      </p:sp>
      <p:sp>
        <p:nvSpPr>
          <p:cNvPr id="19" name="C4 W4 word"/>
          <p:cNvSpPr txBox="1"/>
          <p:nvPr/>
        </p:nvSpPr>
        <p:spPr>
          <a:xfrm>
            <a:off x="910662" y="896112"/>
            <a:ext cx="18888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خَلَقَ</a:t>
            </a:r>
            <a:endParaRPr lang="ar-SA" sz="5300" dirty="0"/>
          </a:p>
        </p:txBody>
      </p:sp>
      <p:sp>
        <p:nvSpPr>
          <p:cNvPr id="20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3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S panel"/>
          <p:cNvSpPr/>
          <p:nvPr/>
        </p:nvSpPr>
        <p:spPr>
          <a:xfrm>
            <a:off x="2010070" y="2834640"/>
            <a:ext cx="512385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5 S sentence"/>
          <p:cNvSpPr txBox="1"/>
          <p:nvPr/>
        </p:nvSpPr>
        <p:spPr>
          <a:xfrm>
            <a:off x="2010070" y="2834640"/>
            <a:ext cx="512385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 شَرِّ مَا خَلَقَ</a:t>
            </a:r>
            <a:endParaRPr lang="ar-SA" sz="54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7E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6960030" y="896112"/>
            <a:ext cx="171144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4E2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6960030" y="896112"/>
            <a:ext cx="171144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قُلۡ</a:t>
            </a:r>
            <a:endParaRPr lang="ar-SA" sz="4300" dirty="0"/>
          </a:p>
        </p:txBody>
      </p:sp>
      <p:sp>
        <p:nvSpPr>
          <p:cNvPr id="12" name="C2 W2 pill"/>
          <p:cNvSpPr/>
          <p:nvPr/>
        </p:nvSpPr>
        <p:spPr>
          <a:xfrm>
            <a:off x="4887580" y="896112"/>
            <a:ext cx="175240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B4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4887580" y="896112"/>
            <a:ext cx="175240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أَعُوذُ</a:t>
            </a:r>
            <a:endParaRPr lang="ar-SA" sz="4300" dirty="0"/>
          </a:p>
        </p:txBody>
      </p:sp>
      <p:sp>
        <p:nvSpPr>
          <p:cNvPr id="14" name="C3 W3 pill"/>
          <p:cNvSpPr/>
          <p:nvPr/>
        </p:nvSpPr>
        <p:spPr>
          <a:xfrm>
            <a:off x="2855150" y="896112"/>
            <a:ext cx="171239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B4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2855150" y="896112"/>
            <a:ext cx="171239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بِرَبِّ</a:t>
            </a:r>
            <a:endParaRPr lang="ar-SA" sz="4300" dirty="0"/>
          </a:p>
        </p:txBody>
      </p:sp>
      <p:sp>
        <p:nvSpPr>
          <p:cNvPr id="16" name="C4 W4 pill"/>
          <p:cNvSpPr/>
          <p:nvPr/>
        </p:nvSpPr>
        <p:spPr>
          <a:xfrm>
            <a:off x="472529" y="896112"/>
            <a:ext cx="20625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4E236"/>
            </a:solidFill>
            <a:prstDash val="solid"/>
          </a:ln>
        </p:spPr>
      </p:sp>
      <p:sp>
        <p:nvSpPr>
          <p:cNvPr id="17" name="C4 W4 word"/>
          <p:cNvSpPr txBox="1"/>
          <p:nvPr/>
        </p:nvSpPr>
        <p:spPr>
          <a:xfrm>
            <a:off x="472529" y="896112"/>
            <a:ext cx="20625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ٱلنَّاسِ</a:t>
            </a:r>
            <a:endParaRPr lang="ar-SA" sz="4300" dirty="0"/>
          </a:p>
        </p:txBody>
      </p:sp>
      <p:sp>
        <p:nvSpPr>
          <p:cNvPr id="18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5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S panel"/>
          <p:cNvSpPr/>
          <p:nvPr/>
        </p:nvSpPr>
        <p:spPr>
          <a:xfrm>
            <a:off x="1703639" y="2834640"/>
            <a:ext cx="573672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5 S sentence"/>
          <p:cNvSpPr txBox="1"/>
          <p:nvPr/>
        </p:nvSpPr>
        <p:spPr>
          <a:xfrm>
            <a:off x="1703639" y="2834640"/>
            <a:ext cx="573672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قُلۡ أَعُوذُ بِرَبِّ ٱلنَّاسِ</a:t>
            </a:r>
            <a:endParaRPr lang="ar-SA" sz="4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88</Slides>
  <Notes>88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9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kasra 08-sad-dad</dc:title>
  <dc:subject>PptxGenJS Presentation</dc:subject>
  <dc:creator>PptxGenJS</dc:creator>
  <cp:lastModifiedBy>PptxGenJS</cp:lastModifiedBy>
  <cp:revision>1</cp:revision>
  <dcterms:created xsi:type="dcterms:W3CDTF">2026-10-21T19:04:14Z</dcterms:created>
  <dcterms:modified xsi:type="dcterms:W3CDTF">2026-10-21T19:04:14Z</dcterms:modified>
</cp:coreProperties>
</file>