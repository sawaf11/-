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المد اللازم: إذا جاء بعد حرف المد حرف مشدد في الكلمة نفسها، يُمد ست حركات (عُدّ على أصابعك من 1 إلى 6)، مثل «ٱلضَّآلِّينَ». علامة المد «ٓ» فوق الألف تنبّهك.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المد اللازم: إذا جاء بعد حرف المد حرف مشدد في الكلمة نفسها، يُمد ست حركات (عُدّ على أصابعك من 1 إلى 6)، مثل «ٱلضَّآلِّينَ». علامة المد «ٓ» فوق الألف تنبّهك.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064"/>
          </a:solidFill>
          <a:ln w="12700">
            <a:solidFill>
              <a:srgbClr val="D8D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147"/>
          </a:solidFill>
          <a:ln w="12700">
            <a:solidFill>
              <a:srgbClr val="D1B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463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ضَآلِّ</a:t>
            </a:r>
            <a:endParaRPr lang="ar-SA" sz="5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Word panel"/>
          <p:cNvSpPr/>
          <p:nvPr/>
        </p:nvSpPr>
        <p:spPr>
          <a:xfrm>
            <a:off x="1828800" y="1005840"/>
            <a:ext cx="5486400" cy="173736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01600">
            <a:solidFill>
              <a:srgbClr val="F59F00"/>
            </a:solidFill>
            <a:prstDash val="solid"/>
          </a:ln>
        </p:spPr>
      </p:sp>
      <p:sp>
        <p:nvSpPr>
          <p:cNvPr id="12" name="C1 W word"/>
          <p:cNvSpPr txBox="1"/>
          <p:nvPr/>
        </p:nvSpPr>
        <p:spPr>
          <a:xfrm>
            <a:off x="1828800" y="1114386"/>
            <a:ext cx="548640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ٱلضَّآلِّينَ</a:t>
            </a:r>
            <a:endParaRPr lang="ar-SA" sz="5900" dirty="0"/>
          </a:p>
        </p:txBody>
      </p:sp>
      <p:sp>
        <p:nvSpPr>
          <p:cNvPr id="13" name="C2 bead 1"/>
          <p:cNvSpPr/>
          <p:nvPr/>
        </p:nvSpPr>
        <p:spPr>
          <a:xfrm>
            <a:off x="67482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C2 number 1"/>
          <p:cNvSpPr/>
          <p:nvPr/>
        </p:nvSpPr>
        <p:spPr>
          <a:xfrm>
            <a:off x="6748272" y="3159443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00" dirty="0"/>
          </a:p>
        </p:txBody>
      </p:sp>
      <p:sp>
        <p:nvSpPr>
          <p:cNvPr id="15" name="C3 bead 2"/>
          <p:cNvSpPr/>
          <p:nvPr/>
        </p:nvSpPr>
        <p:spPr>
          <a:xfrm>
            <a:off x="58338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C3 number 2"/>
          <p:cNvSpPr/>
          <p:nvPr/>
        </p:nvSpPr>
        <p:spPr>
          <a:xfrm>
            <a:off x="5833872" y="31623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C4 bead 3"/>
          <p:cNvSpPr/>
          <p:nvPr/>
        </p:nvSpPr>
        <p:spPr>
          <a:xfrm>
            <a:off x="49194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C4 number 3"/>
          <p:cNvSpPr/>
          <p:nvPr/>
        </p:nvSpPr>
        <p:spPr>
          <a:xfrm>
            <a:off x="4919472" y="31592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C5 bead 4"/>
          <p:cNvSpPr/>
          <p:nvPr/>
        </p:nvSpPr>
        <p:spPr>
          <a:xfrm>
            <a:off x="40050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C5 number 4"/>
          <p:cNvSpPr/>
          <p:nvPr/>
        </p:nvSpPr>
        <p:spPr>
          <a:xfrm>
            <a:off x="4005072" y="31592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1" name="C6 bead 5"/>
          <p:cNvSpPr/>
          <p:nvPr/>
        </p:nvSpPr>
        <p:spPr>
          <a:xfrm>
            <a:off x="30906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C6 number 5"/>
          <p:cNvSpPr/>
          <p:nvPr/>
        </p:nvSpPr>
        <p:spPr>
          <a:xfrm>
            <a:off x="3090672" y="31562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23" name="C7 bead 6"/>
          <p:cNvSpPr/>
          <p:nvPr/>
        </p:nvSpPr>
        <p:spPr>
          <a:xfrm>
            <a:off x="21762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C7 number 6"/>
          <p:cNvSpPr/>
          <p:nvPr/>
        </p:nvSpPr>
        <p:spPr>
          <a:xfrm>
            <a:off x="2176272" y="315906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2"/>
          </a:solidFill>
          <a:ln w="12700">
            <a:solidFill>
              <a:srgbClr val="642B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B34"/>
          </a:solidFill>
          <a:ln w="12700">
            <a:solidFill>
              <a:srgbClr val="793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5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733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بَآمَّ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733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تَآمِّ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BED"/>
          </a:solidFill>
          <a:ln w="12700">
            <a:solidFill>
              <a:srgbClr val="5EB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5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5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178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ثَآمُّ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652"/>
          </a:solidFill>
          <a:ln w="12700">
            <a:solidFill>
              <a:srgbClr val="E09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9"/>
          </a:solidFill>
          <a:ln w="12700">
            <a:solidFill>
              <a:srgbClr val="70DBD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4785"/>
          </a:solidFill>
          <a:ln w="12700">
            <a:solidFill>
              <a:srgbClr val="5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5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733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جَآمَّ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4"/>
          </a:solidFill>
          <a:ln w="12700">
            <a:solidFill>
              <a:srgbClr val="64D8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F"/>
          </a:solidFill>
          <a:ln w="12700">
            <a:solidFill>
              <a:srgbClr val="47D18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733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حَآمِّ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5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178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خَآمُّ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642B"/>
          </a:solidFill>
          <a:ln w="12700">
            <a:solidFill>
              <a:srgbClr val="5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7934"/>
          </a:solidFill>
          <a:ln w="12700">
            <a:solidFill>
              <a:srgbClr val="3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5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733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دَآمَّ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733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ذَآمِّ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F"/>
          </a:solidFill>
          <a:ln w="12700">
            <a:solidFill>
              <a:srgbClr val="ED5ED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5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5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178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رَآمُّ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2"/>
          </a:solidFill>
          <a:ln w="12700">
            <a:solidFill>
              <a:srgbClr val="52E07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E70DB"/>
          </a:solidFill>
          <a:ln w="12700">
            <a:solidFill>
              <a:srgbClr val="B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B47"/>
          </a:solidFill>
          <a:ln w="12700">
            <a:solidFill>
              <a:srgbClr val="854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5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733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زَآمَّ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64D8"/>
          </a:solidFill>
          <a:ln w="12700">
            <a:solidFill>
              <a:srgbClr val="9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C47D1"/>
          </a:solidFill>
          <a:ln w="12700">
            <a:solidFill>
              <a:srgbClr val="6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733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سَآمِّ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5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178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شَآمُّ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E64"/>
          </a:solidFill>
          <a:ln w="12700">
            <a:solidFill>
              <a:srgbClr val="2B5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079"/>
          </a:solidFill>
          <a:ln w="12700">
            <a:solidFill>
              <a:srgbClr val="345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733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صَآمَّ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7964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7964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733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ضَآمِّ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85E"/>
          </a:solidFill>
          <a:ln w="12700">
            <a:solidFill>
              <a:srgbClr val="EDD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5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5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178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طَآمُّ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5E0"/>
          </a:solidFill>
          <a:ln w="12700">
            <a:solidFill>
              <a:srgbClr val="525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370"/>
          </a:solidFill>
          <a:ln w="12700">
            <a:solidFill>
              <a:srgbClr val="DBA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8547"/>
          </a:solidFill>
          <a:ln w="12700">
            <a:solidFill>
              <a:srgbClr val="5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5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733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ظَآمَّ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A64"/>
          </a:solidFill>
          <a:ln w="12700">
            <a:solidFill>
              <a:srgbClr val="D87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A47"/>
          </a:solidFill>
          <a:ln w="12700">
            <a:solidFill>
              <a:srgbClr val="D14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733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عَآمِّ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5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178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غَآمُّ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2B64"/>
          </a:solidFill>
          <a:ln w="12700">
            <a:solidFill>
              <a:srgbClr val="5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1"/>
          </a:solidFill>
          <a:ln w="12700">
            <a:solidFill>
              <a:srgbClr val="7934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5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881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فَآمَّ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881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قَآمِّ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4"/>
          </a:solidFill>
          <a:ln w="12700">
            <a:solidFill>
              <a:srgbClr val="5EEDB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5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5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178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كَآمُّ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8"/>
          </a:solidFill>
          <a:ln w="12700">
            <a:solidFill>
              <a:srgbClr val="E052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9"/>
          </a:solidFill>
          <a:ln w="12700">
            <a:solidFill>
              <a:srgbClr val="70DB8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285"/>
          </a:solidFill>
          <a:ln w="12700">
            <a:solidFill>
              <a:srgbClr val="476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5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لَآمَّ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D864"/>
          </a:solidFill>
          <a:ln w="12700">
            <a:solidFill>
              <a:srgbClr val="6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7D147"/>
          </a:solidFill>
          <a:ln w="12700">
            <a:solidFill>
              <a:srgbClr val="6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278503" y="896112"/>
            <a:ext cx="1252785" cy="1371600"/>
          </a:xfrm>
          <a:prstGeom prst="roundRect">
            <a:avLst>
              <a:gd name="adj" fmla="val 29196"/>
            </a:avLst>
          </a:prstGeom>
          <a:solidFill>
            <a:srgbClr val="FFFFFF"/>
          </a:solidFill>
          <a:ln w="76200">
            <a:solidFill>
              <a:srgbClr val="36E25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278503" y="896112"/>
            <a:ext cx="12527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2612713" y="896112"/>
            <a:ext cx="234575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6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12713" y="896112"/>
            <a:ext cx="234575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ٱلضَّآلِّينَ</a:t>
            </a:r>
            <a:endParaRPr lang="ar-SA" sz="4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19615" y="2834640"/>
            <a:ext cx="31047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19615" y="2834640"/>
            <a:ext cx="31047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 ٱلضَّآلِّينَ</a:t>
            </a:r>
            <a:endParaRPr lang="ar-SA" sz="4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6314477" y="896112"/>
            <a:ext cx="15232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9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6314477" y="896112"/>
            <a:ext cx="15232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3989718" y="896112"/>
            <a:ext cx="20047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9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3989718" y="896112"/>
            <a:ext cx="20047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جَآءَتِ</a:t>
            </a:r>
            <a:endParaRPr lang="ar-SA" sz="4400" dirty="0"/>
          </a:p>
        </p:txBody>
      </p:sp>
      <p:sp>
        <p:nvSpPr>
          <p:cNvPr id="15" name="C3 W3 pill"/>
          <p:cNvSpPr/>
          <p:nvPr/>
        </p:nvSpPr>
        <p:spPr>
          <a:xfrm>
            <a:off x="1306248" y="896112"/>
            <a:ext cx="2363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9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1306248" y="896112"/>
            <a:ext cx="2363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ٱلصَّآخَّةُ</a:t>
            </a:r>
            <a:endParaRPr lang="ar-SA" sz="4400" dirty="0"/>
          </a:p>
        </p:txBody>
      </p:sp>
      <p:sp>
        <p:nvSpPr>
          <p:cNvPr id="17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S panel"/>
          <p:cNvSpPr/>
          <p:nvPr/>
        </p:nvSpPr>
        <p:spPr>
          <a:xfrm>
            <a:off x="2103705" y="2834640"/>
            <a:ext cx="493659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4 S sentence"/>
          <p:cNvSpPr txBox="1"/>
          <p:nvPr/>
        </p:nvSpPr>
        <p:spPr>
          <a:xfrm>
            <a:off x="2103705" y="2834640"/>
            <a:ext cx="493659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 جَآءَتِ ٱلصَّآخَّةُ</a:t>
            </a:r>
            <a:endParaRPr lang="ar-SA" sz="4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D2B"/>
          </a:solidFill>
          <a:ln w="12700">
            <a:solidFill>
              <a:srgbClr val="644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7934"/>
          </a:solidFill>
          <a:ln w="12700">
            <a:solidFill>
              <a:srgbClr val="72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6183639" y="896112"/>
            <a:ext cx="14546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B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6183639" y="896112"/>
            <a:ext cx="14546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</a:t>
            </a:r>
            <a:endParaRPr lang="ar-SA" sz="4000" dirty="0"/>
          </a:p>
        </p:txBody>
      </p:sp>
      <p:sp>
        <p:nvSpPr>
          <p:cNvPr id="14" name="C2 W2 pill"/>
          <p:cNvSpPr/>
          <p:nvPr/>
        </p:nvSpPr>
        <p:spPr>
          <a:xfrm>
            <a:off x="3971299" y="896112"/>
            <a:ext cx="18922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B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3971299" y="896112"/>
            <a:ext cx="18922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جَآءَتِ</a:t>
            </a:r>
            <a:endParaRPr lang="ar-SA" sz="4000" dirty="0"/>
          </a:p>
        </p:txBody>
      </p:sp>
      <p:sp>
        <p:nvSpPr>
          <p:cNvPr id="16" name="C3 W3 pill"/>
          <p:cNvSpPr/>
          <p:nvPr/>
        </p:nvSpPr>
        <p:spPr>
          <a:xfrm>
            <a:off x="1505739" y="896112"/>
            <a:ext cx="21455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B36E2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1505739" y="896112"/>
            <a:ext cx="21455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ٱلطَّآمَّةُ</a:t>
            </a:r>
            <a:endParaRPr lang="ar-SA" sz="4000" dirty="0"/>
          </a:p>
        </p:txBody>
      </p:sp>
      <p:sp>
        <p:nvSpPr>
          <p:cNvPr id="18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S panel"/>
          <p:cNvSpPr/>
          <p:nvPr/>
        </p:nvSpPr>
        <p:spPr>
          <a:xfrm>
            <a:off x="2319398" y="2834640"/>
            <a:ext cx="450520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4 S sentence"/>
          <p:cNvSpPr txBox="1"/>
          <p:nvPr/>
        </p:nvSpPr>
        <p:spPr>
          <a:xfrm>
            <a:off x="2319398" y="2834640"/>
            <a:ext cx="450520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 جَآءَتِ ٱلطَّآمَّةُ</a:t>
            </a:r>
            <a:endParaRPr lang="ar-SA" sz="4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460378" y="896112"/>
            <a:ext cx="20596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8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460378" y="896112"/>
            <a:ext cx="20596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4200" dirty="0"/>
          </a:p>
        </p:txBody>
      </p:sp>
      <p:sp>
        <p:nvSpPr>
          <p:cNvPr id="12" name="C2 W2 pill"/>
          <p:cNvSpPr/>
          <p:nvPr/>
        </p:nvSpPr>
        <p:spPr>
          <a:xfrm>
            <a:off x="4003662" y="896112"/>
            <a:ext cx="1136675" cy="1371600"/>
          </a:xfrm>
          <a:prstGeom prst="roundRect">
            <a:avLst>
              <a:gd name="adj" fmla="val 32178"/>
            </a:avLst>
          </a:prstGeom>
          <a:solidFill>
            <a:srgbClr val="FFFFFF"/>
          </a:solidFill>
          <a:ln w="76200">
            <a:solidFill>
              <a:srgbClr val="E236D8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4003662" y="896112"/>
            <a:ext cx="11366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4200" dirty="0"/>
          </a:p>
        </p:txBody>
      </p:sp>
      <p:sp>
        <p:nvSpPr>
          <p:cNvPr id="14" name="C3 W3 pill"/>
          <p:cNvSpPr/>
          <p:nvPr/>
        </p:nvSpPr>
        <p:spPr>
          <a:xfrm>
            <a:off x="1623975" y="896112"/>
            <a:ext cx="20596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E2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623975" y="896112"/>
            <a:ext cx="20596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42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384268" y="2834640"/>
            <a:ext cx="437546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384268" y="2834640"/>
            <a:ext cx="437546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 مَا ٱلۡحَآقَّةُ</a:t>
            </a:r>
            <a:endParaRPr lang="ar-SA" sz="4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15EED"/>
          </a:solidFill>
          <a:ln w="12700">
            <a:solidFill>
              <a:srgbClr val="9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738204" y="896112"/>
            <a:ext cx="15196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5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738204" y="896112"/>
            <a:ext cx="15196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وَمَا</a:t>
            </a:r>
            <a:endParaRPr lang="ar-SA" sz="5100" dirty="0"/>
          </a:p>
        </p:txBody>
      </p:sp>
      <p:sp>
        <p:nvSpPr>
          <p:cNvPr id="20" name="C2 W2 pill"/>
          <p:cNvSpPr/>
          <p:nvPr/>
        </p:nvSpPr>
        <p:spPr>
          <a:xfrm>
            <a:off x="3892070" y="896112"/>
            <a:ext cx="15260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5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3892070" y="896112"/>
            <a:ext cx="15260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5100" dirty="0"/>
          </a:p>
        </p:txBody>
      </p:sp>
      <p:sp>
        <p:nvSpPr>
          <p:cNvPr id="22" name="C3 W3 pill"/>
          <p:cNvSpPr/>
          <p:nvPr/>
        </p:nvSpPr>
        <p:spPr>
          <a:xfrm>
            <a:off x="1886152" y="896112"/>
            <a:ext cx="16858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5E2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1886152" y="896112"/>
            <a:ext cx="16858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دَآبَّةٍ</a:t>
            </a:r>
            <a:endParaRPr lang="ar-SA" sz="51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2579189" y="2834640"/>
            <a:ext cx="39856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2579189" y="2834640"/>
            <a:ext cx="39856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وَمَا مِن دَآبَّةٍ</a:t>
            </a:r>
            <a:endParaRPr lang="ar-SA" sz="5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madd 14-meem</dc:title>
  <dc:subject>PptxGenJS Presentation</dc:subject>
  <dc:creator>PptxGenJS</dc:creator>
  <cp:lastModifiedBy>PptxGenJS</cp:lastModifiedBy>
  <cp:revision>1</cp:revision>
  <dcterms:created xsi:type="dcterms:W3CDTF">2026-10-21T19:04:31Z</dcterms:created>
  <dcterms:modified xsi:type="dcterms:W3CDTF">2026-10-21T19:04:31Z</dcterms:modified>
</cp:coreProperties>
</file>