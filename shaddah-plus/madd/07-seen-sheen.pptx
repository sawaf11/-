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المد اللازم: إذا جاء بعد حرف المد حرف مشدد في الكلمة نفسها، يُمد ست حركات (عُدّ على أصابعك من 1 إلى 6)، مثل «ٱلضَّآلِّينَ». علامة المد «ٓ» فوق الألف تنبّهك.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 ثم شدة: بعد ألف المد حرف مشدد (أوله ساكن)، فيصير المد لازماً يُمد ست حركات، وتوضع فوق الألف علامة المد «ٓ».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952"/>
          </a:solidFill>
          <a:ln w="12700">
            <a:solidFill>
              <a:srgbClr val="E0C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8DB"/>
          </a:solidFill>
          <a:ln w="12700">
            <a:solidFill>
              <a:srgbClr val="70B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1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67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31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40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3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835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1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1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752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</a:t>
            </a:r>
            <a:endParaRPr lang="ar-SA" sz="31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463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ضَآلِّ</a:t>
            </a:r>
            <a:endParaRPr lang="ar-SA" sz="5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3D8"/>
          </a:solidFill>
          <a:ln w="12700">
            <a:solidFill>
              <a:srgbClr val="64D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0"/>
          </a:solidFill>
          <a:ln w="12700">
            <a:solidFill>
              <a:srgbClr val="47D1C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Word panel"/>
          <p:cNvSpPr/>
          <p:nvPr/>
        </p:nvSpPr>
        <p:spPr>
          <a:xfrm>
            <a:off x="1828800" y="1005840"/>
            <a:ext cx="5486400" cy="173736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01600">
            <a:solidFill>
              <a:srgbClr val="F59F00"/>
            </a:solidFill>
            <a:prstDash val="solid"/>
          </a:ln>
        </p:spPr>
      </p:sp>
      <p:sp>
        <p:nvSpPr>
          <p:cNvPr id="11" name="C1 W word"/>
          <p:cNvSpPr txBox="1"/>
          <p:nvPr/>
        </p:nvSpPr>
        <p:spPr>
          <a:xfrm>
            <a:off x="1828800" y="1114386"/>
            <a:ext cx="548640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5900" dirty="0"/>
          </a:p>
        </p:txBody>
      </p:sp>
      <p:sp>
        <p:nvSpPr>
          <p:cNvPr id="12" name="C2 bead 1"/>
          <p:cNvSpPr/>
          <p:nvPr/>
        </p:nvSpPr>
        <p:spPr>
          <a:xfrm>
            <a:off x="6748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C2 number 1"/>
          <p:cNvSpPr/>
          <p:nvPr/>
        </p:nvSpPr>
        <p:spPr>
          <a:xfrm>
            <a:off x="6748272" y="315944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14" name="C3 bead 2"/>
          <p:cNvSpPr/>
          <p:nvPr/>
        </p:nvSpPr>
        <p:spPr>
          <a:xfrm>
            <a:off x="58338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C3 number 2"/>
          <p:cNvSpPr/>
          <p:nvPr/>
        </p:nvSpPr>
        <p:spPr>
          <a:xfrm>
            <a:off x="5833872" y="31623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C4 bead 3"/>
          <p:cNvSpPr/>
          <p:nvPr/>
        </p:nvSpPr>
        <p:spPr>
          <a:xfrm>
            <a:off x="49194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C4 number 3"/>
          <p:cNvSpPr/>
          <p:nvPr/>
        </p:nvSpPr>
        <p:spPr>
          <a:xfrm>
            <a:off x="49194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C5 bead 4"/>
          <p:cNvSpPr/>
          <p:nvPr/>
        </p:nvSpPr>
        <p:spPr>
          <a:xfrm>
            <a:off x="40050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C5 number 4"/>
          <p:cNvSpPr/>
          <p:nvPr/>
        </p:nvSpPr>
        <p:spPr>
          <a:xfrm>
            <a:off x="4005072" y="31592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C6 bead 5"/>
          <p:cNvSpPr/>
          <p:nvPr/>
        </p:nvSpPr>
        <p:spPr>
          <a:xfrm>
            <a:off x="30906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C6 number 5"/>
          <p:cNvSpPr/>
          <p:nvPr/>
        </p:nvSpPr>
        <p:spPr>
          <a:xfrm>
            <a:off x="3090672" y="31562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C7 bead 6"/>
          <p:cNvSpPr/>
          <p:nvPr/>
        </p:nvSpPr>
        <p:spPr>
          <a:xfrm>
            <a:off x="2176272" y="3154680"/>
            <a:ext cx="566928" cy="566928"/>
          </a:xfrm>
          <a:prstGeom prst="ellipse">
            <a:avLst/>
          </a:prstGeom>
          <a:solidFill>
            <a:srgbClr val="F59F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C7 number 6"/>
          <p:cNvSpPr/>
          <p:nvPr/>
        </p:nvSpPr>
        <p:spPr>
          <a:xfrm>
            <a:off x="2176272" y="315906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بَآسَّ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2"/>
          </a:solidFill>
          <a:ln w="12700">
            <a:solidFill>
              <a:srgbClr val="3479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تَآسِّ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3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ثَآسُّ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C"/>
          </a:solidFill>
          <a:ln w="12700">
            <a:solidFill>
              <a:srgbClr val="ED5EA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29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جَآسَّ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5"/>
          </a:solidFill>
          <a:ln w="12700">
            <a:solidFill>
              <a:srgbClr val="52E0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2"/>
          </a:solidFill>
          <a:ln w="12700">
            <a:solidFill>
              <a:srgbClr val="DB70D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147"/>
          </a:solidFill>
          <a:ln w="12700">
            <a:solidFill>
              <a:srgbClr val="856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29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حَآسِّ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064D8"/>
          </a:solidFill>
          <a:ln w="12700">
            <a:solidFill>
              <a:srgbClr val="C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E47D1"/>
          </a:solidFill>
          <a:ln w="12700">
            <a:solidFill>
              <a:srgbClr val="9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80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خَآسُّ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دَآسَّ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779"/>
          </a:solidFill>
          <a:ln w="12700">
            <a:solidFill>
              <a:srgbClr val="343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236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ذَآسِّ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15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80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رَآسُّ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FED5E"/>
          </a:solidFill>
          <a:ln w="12700">
            <a:solidFill>
              <a:srgbClr val="C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20010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126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291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زَآسَّ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152E0"/>
          </a:solidFill>
          <a:ln w="12700">
            <a:solidFill>
              <a:srgbClr val="8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A70"/>
          </a:solidFill>
          <a:ln w="12700">
            <a:solidFill>
              <a:srgbClr val="DBC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2"/>
          </a:solidFill>
          <a:ln w="12700">
            <a:solidFill>
              <a:srgbClr val="4785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7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052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27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بَآشَّ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364"/>
          </a:solidFill>
          <a:ln w="12700">
            <a:solidFill>
              <a:srgbClr val="D8A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B47"/>
          </a:solidFill>
          <a:ln w="12700">
            <a:solidFill>
              <a:srgbClr val="D17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40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96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تَآشِّ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7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82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53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ثَآشُّ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8"/>
          </a:solidFill>
          <a:ln w="12700">
            <a:solidFill>
              <a:srgbClr val="7934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7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27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جَآشَّ</a:t>
            </a:r>
            <a:endParaRPr lang="ar-SA" sz="6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617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96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حَآشِّ</a:t>
            </a:r>
            <a:endParaRPr lang="ar-SA" sz="6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8"/>
          </a:solidFill>
          <a:ln w="12700">
            <a:solidFill>
              <a:srgbClr val="5EEDE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7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208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7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7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34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353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خَآشُّ</a:t>
            </a:r>
            <a:endParaRPr lang="ar-SA" sz="5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E52"/>
          </a:solidFill>
          <a:ln w="12700">
            <a:solidFill>
              <a:srgbClr val="E05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F"/>
          </a:solidFill>
          <a:ln w="12700">
            <a:solidFill>
              <a:srgbClr val="70DBA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7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3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7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7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31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27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دَآشَّ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6"/>
          </a:solidFill>
          <a:ln w="12700">
            <a:solidFill>
              <a:srgbClr val="64D88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9"/>
          </a:solidFill>
          <a:ln w="12700">
            <a:solidFill>
              <a:srgbClr val="47D15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299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96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ذَآشِّ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7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007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7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7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81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2700" dirty="0"/>
          </a:p>
        </p:txBody>
      </p:sp>
      <p:sp>
        <p:nvSpPr>
          <p:cNvPr id="27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3532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رَآشُّ</a:t>
            </a:r>
            <a:endParaRPr lang="ar-SA" sz="5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7934"/>
          </a:solidFill>
          <a:ln w="12700">
            <a:solidFill>
              <a:srgbClr val="5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7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538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7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7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509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700" dirty="0"/>
          </a:p>
        </p:txBody>
      </p:sp>
      <p:sp>
        <p:nvSpPr>
          <p:cNvPr id="28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0271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زَآشَّ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7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74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7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27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79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آ</a:t>
            </a:r>
            <a:endParaRPr lang="ar-SA" sz="27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27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7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8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2700" dirty="0"/>
          </a:p>
        </p:txBody>
      </p:sp>
      <p:sp>
        <p:nvSpPr>
          <p:cNvPr id="26" name="C12 H shaddah bar"/>
          <p:cNvSpPr/>
          <p:nvPr/>
        </p:nvSpPr>
        <p:spPr>
          <a:xfrm>
            <a:off x="3282696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965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سَآشِّ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5EED"/>
          </a:solidFill>
          <a:ln w="12700">
            <a:solidFill>
              <a:srgbClr val="C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5278503" y="896112"/>
            <a:ext cx="1252785" cy="1371600"/>
          </a:xfrm>
          <a:prstGeom prst="roundRect">
            <a:avLst>
              <a:gd name="adj" fmla="val 29196"/>
            </a:avLst>
          </a:prstGeom>
          <a:solidFill>
            <a:srgbClr val="FFFFFF"/>
          </a:solidFill>
          <a:ln w="76200">
            <a:solidFill>
              <a:srgbClr val="E23668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5278503" y="896112"/>
            <a:ext cx="12527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2612713" y="896112"/>
            <a:ext cx="234575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8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612713" y="896112"/>
            <a:ext cx="234575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ٱلضَّآلِّينَ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019615" y="2834640"/>
            <a:ext cx="31047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019615" y="2834640"/>
            <a:ext cx="31047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وَلَا ٱلضَّآلِّينَ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9E052"/>
          </a:solidFill>
          <a:ln w="12700">
            <a:solidFill>
              <a:srgbClr val="6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70DB"/>
          </a:solidFill>
          <a:ln w="12700">
            <a:solidFill>
              <a:srgbClr val="9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C"/>
          </a:solidFill>
          <a:ln w="12700">
            <a:solidFill>
              <a:srgbClr val="85475C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314477" y="896112"/>
            <a:ext cx="15232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37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314477" y="896112"/>
            <a:ext cx="15232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400" dirty="0"/>
          </a:p>
        </p:txBody>
      </p:sp>
      <p:sp>
        <p:nvSpPr>
          <p:cNvPr id="17" name="C2 W2 pill"/>
          <p:cNvSpPr/>
          <p:nvPr/>
        </p:nvSpPr>
        <p:spPr>
          <a:xfrm>
            <a:off x="3989718" y="896112"/>
            <a:ext cx="2004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7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3989718" y="896112"/>
            <a:ext cx="2004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400" dirty="0"/>
          </a:p>
        </p:txBody>
      </p:sp>
      <p:sp>
        <p:nvSpPr>
          <p:cNvPr id="19" name="C3 W3 pill"/>
          <p:cNvSpPr/>
          <p:nvPr/>
        </p:nvSpPr>
        <p:spPr>
          <a:xfrm>
            <a:off x="1306248" y="896112"/>
            <a:ext cx="2363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7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1306248" y="896112"/>
            <a:ext cx="2363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ٱلصَّآخَّةُ</a:t>
            </a:r>
            <a:endParaRPr lang="ar-SA" sz="4400" dirty="0"/>
          </a:p>
        </p:txBody>
      </p:sp>
      <p:sp>
        <p:nvSpPr>
          <p:cNvPr id="21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S panel"/>
          <p:cNvSpPr/>
          <p:nvPr/>
        </p:nvSpPr>
        <p:spPr>
          <a:xfrm>
            <a:off x="2103705" y="2834640"/>
            <a:ext cx="493659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4 S sentence"/>
          <p:cNvSpPr txBox="1"/>
          <p:nvPr/>
        </p:nvSpPr>
        <p:spPr>
          <a:xfrm>
            <a:off x="2103705" y="2834640"/>
            <a:ext cx="493659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ٱلصَّآخَّةُ</a:t>
            </a:r>
            <a:endParaRPr lang="ar-SA" sz="4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964D8"/>
          </a:solidFill>
          <a:ln w="12700">
            <a:solidFill>
              <a:srgbClr val="6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8D1"/>
          </a:solidFill>
          <a:ln w="12700">
            <a:solidFill>
              <a:srgbClr val="475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183639" y="896112"/>
            <a:ext cx="14546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9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183639" y="896112"/>
            <a:ext cx="14546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3971299" y="896112"/>
            <a:ext cx="18922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9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71299" y="896112"/>
            <a:ext cx="18922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جَآءَتِ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1505739" y="896112"/>
            <a:ext cx="21455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9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505739" y="896112"/>
            <a:ext cx="21455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ٱلطَّآمَّةُ</a:t>
            </a:r>
            <a:endParaRPr lang="ar-SA" sz="40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319398" y="2834640"/>
            <a:ext cx="450520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319398" y="2834640"/>
            <a:ext cx="450520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فَإِذَا جَآءَتِ ٱلطَّآمَّةُ</a:t>
            </a:r>
            <a:endParaRPr lang="ar-SA" sz="4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460378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B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460378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3" name="C2 W2 pill"/>
          <p:cNvSpPr/>
          <p:nvPr/>
        </p:nvSpPr>
        <p:spPr>
          <a:xfrm>
            <a:off x="4003662" y="896112"/>
            <a:ext cx="1136675" cy="1371600"/>
          </a:xfrm>
          <a:prstGeom prst="roundRect">
            <a:avLst>
              <a:gd name="adj" fmla="val 32178"/>
            </a:avLst>
          </a:prstGeom>
          <a:solidFill>
            <a:srgbClr val="FFFFFF"/>
          </a:solidFill>
          <a:ln w="76200">
            <a:solidFill>
              <a:srgbClr val="36E29B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4003662" y="896112"/>
            <a:ext cx="11366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4200" dirty="0"/>
          </a:p>
        </p:txBody>
      </p:sp>
      <p:sp>
        <p:nvSpPr>
          <p:cNvPr id="15" name="C3 W3 pill"/>
          <p:cNvSpPr/>
          <p:nvPr/>
        </p:nvSpPr>
        <p:spPr>
          <a:xfrm>
            <a:off x="1623975" y="896112"/>
            <a:ext cx="205964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B36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623975" y="896112"/>
            <a:ext cx="205964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</a:t>
            </a:r>
            <a:endParaRPr lang="ar-SA" sz="42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384268" y="2834640"/>
            <a:ext cx="437546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384268" y="2834640"/>
            <a:ext cx="437546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ٱلۡحَآقَّةُ مَا ٱلۡحَآقَّةُ</a:t>
            </a:r>
            <a:endParaRPr lang="ar-SA" sz="4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B79"/>
          </a:solidFill>
          <a:ln w="12700">
            <a:solidFill>
              <a:srgbClr val="346B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738204" y="896112"/>
            <a:ext cx="15196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D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738204" y="896112"/>
            <a:ext cx="15196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</a:t>
            </a:r>
            <a:endParaRPr lang="ar-SA" sz="5100" dirty="0"/>
          </a:p>
        </p:txBody>
      </p:sp>
      <p:sp>
        <p:nvSpPr>
          <p:cNvPr id="14" name="C2 W2 pill"/>
          <p:cNvSpPr/>
          <p:nvPr/>
        </p:nvSpPr>
        <p:spPr>
          <a:xfrm>
            <a:off x="3892070" y="896112"/>
            <a:ext cx="152609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D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892070" y="896112"/>
            <a:ext cx="152609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100" dirty="0"/>
          </a:p>
        </p:txBody>
      </p:sp>
      <p:sp>
        <p:nvSpPr>
          <p:cNvPr id="16" name="C3 W3 pill"/>
          <p:cNvSpPr/>
          <p:nvPr/>
        </p:nvSpPr>
        <p:spPr>
          <a:xfrm>
            <a:off x="1886152" y="896112"/>
            <a:ext cx="16858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D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886152" y="896112"/>
            <a:ext cx="16858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دَآبَّةٍ</a:t>
            </a:r>
            <a:endParaRPr lang="ar-SA" sz="51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579189" y="2834640"/>
            <a:ext cx="398562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579189" y="2834640"/>
            <a:ext cx="398562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وَمَا مِن دَآبَّةٍ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madd 07-seen-sheen</dc:title>
  <dc:subject>PptxGenJS Presentation</dc:subject>
  <dc:creator>PptxGenJS</dc:creator>
  <cp:lastModifiedBy>PptxGenJS</cp:lastModifiedBy>
  <cp:revision>1</cp:revision>
  <dcterms:created xsi:type="dcterms:W3CDTF">2026-10-21T19:04:31Z</dcterms:created>
  <dcterms:modified xsi:type="dcterms:W3CDTF">2026-10-21T19:04:31Z</dcterms:modified>
</cp:coreProperties>
</file>