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المد اللازم: إذا جاء بعد حرف المد حرف مشدد في الكلمة نفسها، يُمد ست حركات (عُدّ على أصابعك من 1 إلى 6)، مثل «ٱلضَّآلِّينَ». علامة المد «ٓ» فوق الألف تنبّهك.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 ثم شدة: بعد ألف المد حرف مشدد (أوله ساكن)، فيصير المد لازماً يُمد ست حركات، وتوضع فوق الألف علامة المد «ٓ».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142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552"/>
          </a:solidFill>
          <a:ln w="12700">
            <a:solidFill>
              <a:srgbClr val="E065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D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4"/>
          </a:solidFill>
          <a:ln w="12700">
            <a:solidFill>
              <a:srgbClr val="70DBB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985"/>
          </a:solidFill>
          <a:ln w="12700">
            <a:solidFill>
              <a:srgbClr val="4749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1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463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ضَآلِّ</a:t>
            </a:r>
            <a:endParaRPr lang="ar-SA" sz="58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9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C"/>
          </a:solidFill>
          <a:ln w="12700">
            <a:solidFill>
              <a:srgbClr val="64D88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60"/>
          </a:solidFill>
          <a:ln w="12700">
            <a:solidFill>
              <a:srgbClr val="47D16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Word panel"/>
          <p:cNvSpPr/>
          <p:nvPr/>
        </p:nvSpPr>
        <p:spPr>
          <a:xfrm>
            <a:off x="1828800" y="1005840"/>
            <a:ext cx="5486400" cy="1737360"/>
          </a:xfrm>
          <a:prstGeom prst="roundRect">
            <a:avLst>
              <a:gd name="adj" fmla="val 15789"/>
            </a:avLst>
          </a:prstGeom>
          <a:solidFill>
            <a:srgbClr val="FFFFFF"/>
          </a:solidFill>
          <a:ln w="101600">
            <a:solidFill>
              <a:srgbClr val="F59F00"/>
            </a:solidFill>
            <a:prstDash val="solid"/>
          </a:ln>
        </p:spPr>
      </p:sp>
      <p:sp>
        <p:nvSpPr>
          <p:cNvPr id="11" name="C1 W word"/>
          <p:cNvSpPr txBox="1"/>
          <p:nvPr/>
        </p:nvSpPr>
        <p:spPr>
          <a:xfrm>
            <a:off x="1828800" y="1114386"/>
            <a:ext cx="548640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5900" dirty="0"/>
          </a:p>
        </p:txBody>
      </p:sp>
      <p:sp>
        <p:nvSpPr>
          <p:cNvPr id="12" name="C2 bead 1"/>
          <p:cNvSpPr/>
          <p:nvPr/>
        </p:nvSpPr>
        <p:spPr>
          <a:xfrm>
            <a:off x="6748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3" name="C2 number 1"/>
          <p:cNvSpPr/>
          <p:nvPr/>
        </p:nvSpPr>
        <p:spPr>
          <a:xfrm>
            <a:off x="6748272" y="3159443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500" dirty="0"/>
          </a:p>
        </p:txBody>
      </p:sp>
      <p:sp>
        <p:nvSpPr>
          <p:cNvPr id="14" name="C3 bead 2"/>
          <p:cNvSpPr/>
          <p:nvPr/>
        </p:nvSpPr>
        <p:spPr>
          <a:xfrm>
            <a:off x="58338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5" name="C3 number 2"/>
          <p:cNvSpPr/>
          <p:nvPr/>
        </p:nvSpPr>
        <p:spPr>
          <a:xfrm>
            <a:off x="5833872" y="31623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400" dirty="0"/>
          </a:p>
        </p:txBody>
      </p:sp>
      <p:sp>
        <p:nvSpPr>
          <p:cNvPr id="16" name="C4 bead 3"/>
          <p:cNvSpPr/>
          <p:nvPr/>
        </p:nvSpPr>
        <p:spPr>
          <a:xfrm>
            <a:off x="49194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7" name="C4 number 3"/>
          <p:cNvSpPr/>
          <p:nvPr/>
        </p:nvSpPr>
        <p:spPr>
          <a:xfrm>
            <a:off x="49194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400" dirty="0"/>
          </a:p>
        </p:txBody>
      </p:sp>
      <p:sp>
        <p:nvSpPr>
          <p:cNvPr id="18" name="C5 bead 4"/>
          <p:cNvSpPr/>
          <p:nvPr/>
        </p:nvSpPr>
        <p:spPr>
          <a:xfrm>
            <a:off x="40050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9" name="C5 number 4"/>
          <p:cNvSpPr/>
          <p:nvPr/>
        </p:nvSpPr>
        <p:spPr>
          <a:xfrm>
            <a:off x="4005072" y="31592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400" dirty="0"/>
          </a:p>
        </p:txBody>
      </p:sp>
      <p:sp>
        <p:nvSpPr>
          <p:cNvPr id="20" name="C6 bead 5"/>
          <p:cNvSpPr/>
          <p:nvPr/>
        </p:nvSpPr>
        <p:spPr>
          <a:xfrm>
            <a:off x="30906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C6 number 5"/>
          <p:cNvSpPr/>
          <p:nvPr/>
        </p:nvSpPr>
        <p:spPr>
          <a:xfrm>
            <a:off x="3090672" y="31562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400" dirty="0"/>
          </a:p>
        </p:txBody>
      </p:sp>
      <p:sp>
        <p:nvSpPr>
          <p:cNvPr id="22" name="C7 bead 6"/>
          <p:cNvSpPr/>
          <p:nvPr/>
        </p:nvSpPr>
        <p:spPr>
          <a:xfrm>
            <a:off x="2176272" y="3154680"/>
            <a:ext cx="566928" cy="566928"/>
          </a:xfrm>
          <a:prstGeom prst="ellipse">
            <a:avLst/>
          </a:prstGeom>
          <a:solidFill>
            <a:srgbClr val="F59F00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3" name="C7 number 6"/>
          <p:cNvSpPr/>
          <p:nvPr/>
        </p:nvSpPr>
        <p:spPr>
          <a:xfrm>
            <a:off x="2176272" y="315906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3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763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310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بَآلَّ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2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642B"/>
          </a:solidFill>
          <a:ln w="12700">
            <a:solidFill>
              <a:srgbClr val="63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67934"/>
          </a:solidFill>
          <a:ln w="12700">
            <a:solidFill>
              <a:srgbClr val="56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65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463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تَآلِّ</a:t>
            </a:r>
            <a:endParaRPr lang="ar-SA" sz="5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603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ثَآلُّ</a:t>
            </a:r>
            <a:endParaRPr lang="ar-SA" sz="5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C5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5EED"/>
          </a:solidFill>
          <a:ln w="12700">
            <a:solidFill>
              <a:srgbClr val="CB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310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جَآلَّ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3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2E052"/>
          </a:solidFill>
          <a:ln w="12700">
            <a:solidFill>
              <a:srgbClr val="62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970DB"/>
          </a:solidFill>
          <a:ln w="12700">
            <a:solidFill>
              <a:srgbClr val="9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9"/>
          </a:solidFill>
          <a:ln w="12700">
            <a:solidFill>
              <a:srgbClr val="85475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</a:t>
            </a:r>
            <a:endParaRPr lang="ar-SA" sz="31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75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</a:t>
            </a:r>
            <a:endParaRPr lang="ar-SA" sz="3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463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حَآلِّ</a:t>
            </a:r>
            <a:endParaRPr lang="ar-SA" sz="5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F64D8"/>
          </a:solidFill>
          <a:ln w="12700">
            <a:solidFill>
              <a:srgbClr val="6F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2D1"/>
          </a:solidFill>
          <a:ln w="12700">
            <a:solidFill>
              <a:srgbClr val="475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15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603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خَآلُّ</a:t>
            </a:r>
            <a:endParaRPr lang="ar-SA" sz="5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C5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958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D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310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دَآلَّ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43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6"/>
          </a:solidFill>
          <a:ln w="12700">
            <a:solidFill>
              <a:srgbClr val="2B64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779"/>
          </a:solidFill>
          <a:ln w="12700">
            <a:solidFill>
              <a:srgbClr val="346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83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983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463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ذَآلِّ</a:t>
            </a:r>
            <a:endParaRPr lang="ar-SA" sz="5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924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8924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5684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رَآلُّ</a:t>
            </a:r>
            <a:endParaRPr lang="ar-SA" sz="56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E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75E"/>
          </a:solidFill>
          <a:ln w="12700">
            <a:solidFill>
              <a:srgbClr val="EDA7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32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32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257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زَآلَّ</a:t>
            </a:r>
            <a:endParaRPr lang="ar-SA" sz="59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3D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6E0"/>
          </a:solidFill>
          <a:ln w="12700">
            <a:solidFill>
              <a:srgbClr val="528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F70"/>
          </a:solidFill>
          <a:ln w="12700">
            <a:solidFill>
              <a:srgbClr val="DB7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88547"/>
          </a:solidFill>
          <a:ln w="12700">
            <a:solidFill>
              <a:srgbClr val="68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8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</a:t>
            </a:r>
            <a:endParaRPr lang="ar-SA" sz="31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8870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</a:t>
            </a:r>
            <a:endParaRPr lang="ar-SA" sz="3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463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سَآلِّ</a:t>
            </a:r>
            <a:endParaRPr lang="ar-SA" sz="5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6"/>
          </a:solidFill>
          <a:ln w="12700">
            <a:solidFill>
              <a:srgbClr val="D8647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4"/>
          </a:solidFill>
          <a:ln w="12700">
            <a:solidFill>
              <a:srgbClr val="D1477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0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501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A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603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شَآلُّ</a:t>
            </a:r>
            <a:endParaRPr lang="ar-SA" sz="56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D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96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189697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310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صَآلَّ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82B64"/>
          </a:solidFill>
          <a:ln w="12700">
            <a:solidFill>
              <a:srgbClr val="4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79"/>
          </a:solidFill>
          <a:ln w="12700">
            <a:solidFill>
              <a:srgbClr val="79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3673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463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ضَآلِّ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603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طَآلُّ</a:t>
            </a:r>
            <a:endParaRPr lang="ar-SA" sz="56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F7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84"/>
          </a:solidFill>
          <a:ln w="12700">
            <a:solidFill>
              <a:srgbClr val="5EED8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</a:t>
            </a:r>
            <a:endParaRPr lang="ar-SA" sz="3100" dirty="0"/>
          </a:p>
        </p:txBody>
      </p:sp>
      <p:sp>
        <p:nvSpPr>
          <p:cNvPr id="24" name="C2 M1 mark"/>
          <p:cNvSpPr txBox="1"/>
          <p:nvPr/>
        </p:nvSpPr>
        <p:spPr>
          <a:xfrm>
            <a:off x="7589520" y="199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</a:t>
            </a:r>
            <a:endParaRPr lang="ar-SA" sz="31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0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31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0 L4 letter"/>
          <p:cNvSpPr txBox="1"/>
          <p:nvPr/>
        </p:nvSpPr>
        <p:spPr>
          <a:xfrm>
            <a:off x="3145536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3" name="C11 M4 mark"/>
          <p:cNvSpPr txBox="1"/>
          <p:nvPr/>
        </p:nvSpPr>
        <p:spPr>
          <a:xfrm>
            <a:off x="3145536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34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C14 R result"/>
          <p:cNvSpPr txBox="1"/>
          <p:nvPr/>
        </p:nvSpPr>
        <p:spPr>
          <a:xfrm>
            <a:off x="384048" y="18310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ظَآلَّ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3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9"/>
          </a:solidFill>
          <a:ln w="12700">
            <a:solidFill>
              <a:srgbClr val="E052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DB70"/>
          </a:solidFill>
          <a:ln w="12700">
            <a:solidFill>
              <a:srgbClr val="7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785"/>
          </a:solidFill>
          <a:ln w="12700">
            <a:solidFill>
              <a:srgbClr val="477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920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</a:t>
            </a:r>
            <a:endParaRPr lang="ar-SA" sz="3100" dirty="0"/>
          </a:p>
        </p:txBody>
      </p:sp>
      <p:sp>
        <p:nvSpPr>
          <p:cNvPr id="21" name="C2 M1 mark"/>
          <p:cNvSpPr txBox="1"/>
          <p:nvPr/>
        </p:nvSpPr>
        <p:spPr>
          <a:xfrm>
            <a:off x="7589520" y="18920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</a:t>
            </a:r>
            <a:endParaRPr lang="ar-SA" sz="3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8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0 L4 letter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30" name="C11 M4 mark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31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C14 R result"/>
          <p:cNvSpPr txBox="1"/>
          <p:nvPr/>
        </p:nvSpPr>
        <p:spPr>
          <a:xfrm>
            <a:off x="384048" y="18463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عَآلِّ</a:t>
            </a:r>
            <a:endParaRPr lang="ar-SA" sz="5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E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3D864"/>
          </a:solidFill>
          <a:ln w="12700">
            <a:solidFill>
              <a:srgbClr val="9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6D147"/>
          </a:solidFill>
          <a:ln w="12700">
            <a:solidFill>
              <a:srgbClr val="96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31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3181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603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غَآلُّ</a:t>
            </a:r>
            <a:endParaRPr lang="ar-SA" sz="5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5DF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01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</a:t>
            </a:r>
            <a:endParaRPr lang="ar-SA" sz="3100" dirty="0"/>
          </a:p>
        </p:txBody>
      </p:sp>
      <p:sp>
        <p:nvSpPr>
          <p:cNvPr id="17" name="C2 M1 mark"/>
          <p:cNvSpPr txBox="1"/>
          <p:nvPr/>
        </p:nvSpPr>
        <p:spPr>
          <a:xfrm>
            <a:off x="7589520" y="20011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</a:t>
            </a:r>
            <a:endParaRPr lang="ar-SA" sz="3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0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3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4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L4 letter"/>
          <p:cNvSpPr txBox="1"/>
          <p:nvPr/>
        </p:nvSpPr>
        <p:spPr>
          <a:xfrm>
            <a:off x="3145536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6" name="C11 M4 mark"/>
          <p:cNvSpPr txBox="1"/>
          <p:nvPr/>
        </p:nvSpPr>
        <p:spPr>
          <a:xfrm>
            <a:off x="3145536" y="196587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لَ</a:t>
            </a:r>
            <a:endParaRPr lang="ar-SA" sz="3100" dirty="0"/>
          </a:p>
        </p:txBody>
      </p:sp>
      <p:sp>
        <p:nvSpPr>
          <p:cNvPr id="27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4 R result"/>
          <p:cNvSpPr txBox="1"/>
          <p:nvPr/>
        </p:nvSpPr>
        <p:spPr>
          <a:xfrm>
            <a:off x="384048" y="183108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فَآلَّ</a:t>
            </a:r>
            <a:endParaRPr lang="ar-SA" sz="6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14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A2B"/>
          </a:solidFill>
          <a:ln w="12700">
            <a:solidFill>
              <a:srgbClr val="643A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934"/>
          </a:solidFill>
          <a:ln w="12700">
            <a:solidFill>
              <a:srgbClr val="796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509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</a:t>
            </a:r>
            <a:endParaRPr lang="ar-SA" sz="3100" dirty="0"/>
          </a:p>
        </p:txBody>
      </p:sp>
      <p:sp>
        <p:nvSpPr>
          <p:cNvPr id="18" name="C2 M1 mark"/>
          <p:cNvSpPr txBox="1"/>
          <p:nvPr/>
        </p:nvSpPr>
        <p:spPr>
          <a:xfrm>
            <a:off x="7589520" y="19509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</a:t>
            </a:r>
            <a:endParaRPr lang="ar-SA" sz="3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21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4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5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10 L4 letter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7" name="C11 M4 mark"/>
          <p:cNvSpPr txBox="1"/>
          <p:nvPr/>
        </p:nvSpPr>
        <p:spPr>
          <a:xfrm>
            <a:off x="3145536" y="188752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</a:t>
            </a:r>
            <a:endParaRPr lang="ar-SA" sz="3100" dirty="0"/>
          </a:p>
        </p:txBody>
      </p:sp>
      <p:sp>
        <p:nvSpPr>
          <p:cNvPr id="28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7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14 R result"/>
          <p:cNvSpPr txBox="1"/>
          <p:nvPr/>
        </p:nvSpPr>
        <p:spPr>
          <a:xfrm>
            <a:off x="384048" y="18463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قَآلِّ</a:t>
            </a:r>
            <a:endParaRPr lang="ar-SA" sz="58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E03131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1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</a:t>
            </a:r>
            <a:endParaRPr lang="ar-SA" sz="3100" dirty="0"/>
          </a:p>
        </p:txBody>
      </p:sp>
      <p:sp>
        <p:nvSpPr>
          <p:cNvPr id="16" name="C2 M1 mark"/>
          <p:cNvSpPr txBox="1"/>
          <p:nvPr/>
        </p:nvSpPr>
        <p:spPr>
          <a:xfrm>
            <a:off x="7589520" y="198171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</a:t>
            </a:r>
            <a:endParaRPr lang="ar-SA" sz="3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</a:t>
            </a:r>
            <a:endParaRPr lang="ar-SA" sz="3100" dirty="0"/>
          </a:p>
        </p:txBody>
      </p:sp>
      <p:sp>
        <p:nvSpPr>
          <p:cNvPr id="19" name="C5 M2 mark"/>
          <p:cNvSpPr txBox="1"/>
          <p:nvPr/>
        </p:nvSpPr>
        <p:spPr>
          <a:xfrm>
            <a:off x="6108192" y="200406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آ</a:t>
            </a:r>
            <a:endParaRPr lang="ar-SA" sz="3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2" name="C8 M3 mark"/>
          <p:cNvSpPr txBox="1"/>
          <p:nvPr/>
        </p:nvSpPr>
        <p:spPr>
          <a:xfrm>
            <a:off x="4626864" y="19835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لۡ</a:t>
            </a:r>
            <a:endParaRPr lang="ar-SA" sz="3100" dirty="0"/>
          </a:p>
        </p:txBody>
      </p:sp>
      <p:sp>
        <p:nvSpPr>
          <p:cNvPr id="23" name="C9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C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L4 letter"/>
          <p:cNvSpPr txBox="1"/>
          <p:nvPr/>
        </p:nvSpPr>
        <p:spPr>
          <a:xfrm>
            <a:off x="3145536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</a:t>
            </a:r>
            <a:endParaRPr lang="ar-SA" sz="3100" dirty="0"/>
          </a:p>
        </p:txBody>
      </p:sp>
      <p:sp>
        <p:nvSpPr>
          <p:cNvPr id="25" name="C11 M4 mark"/>
          <p:cNvSpPr txBox="1"/>
          <p:nvPr/>
        </p:nvSpPr>
        <p:spPr>
          <a:xfrm>
            <a:off x="3145536" y="198555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لُ</a:t>
            </a:r>
            <a:endParaRPr lang="ar-SA" sz="3100" dirty="0"/>
          </a:p>
        </p:txBody>
      </p:sp>
      <p:sp>
        <p:nvSpPr>
          <p:cNvPr id="26" name="C12 H shaddah bar"/>
          <p:cNvSpPr/>
          <p:nvPr/>
        </p:nvSpPr>
        <p:spPr>
          <a:xfrm>
            <a:off x="3282696" y="1737360"/>
            <a:ext cx="2414016" cy="109728"/>
          </a:xfrm>
          <a:prstGeom prst="rect">
            <a:avLst/>
          </a:prstGeom>
          <a:solidFill>
            <a:srgbClr val="E031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3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4 R result"/>
          <p:cNvSpPr txBox="1"/>
          <p:nvPr/>
        </p:nvSpPr>
        <p:spPr>
          <a:xfrm>
            <a:off x="384048" y="18603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كَآلُّ</a:t>
            </a:r>
            <a:endParaRPr lang="ar-SA" sz="56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D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05EED"/>
          </a:solidFill>
          <a:ln w="12700">
            <a:solidFill>
              <a:srgbClr val="6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5278503" y="896112"/>
            <a:ext cx="1252785" cy="1371600"/>
          </a:xfrm>
          <a:prstGeom prst="roundRect">
            <a:avLst>
              <a:gd name="adj" fmla="val 29196"/>
            </a:avLst>
          </a:prstGeom>
          <a:solidFill>
            <a:srgbClr val="FFFFFF"/>
          </a:solidFill>
          <a:ln w="76200">
            <a:solidFill>
              <a:srgbClr val="E236E0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5278503" y="896112"/>
            <a:ext cx="125278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</a:t>
            </a:r>
            <a:endParaRPr lang="ar-SA" sz="4000" dirty="0"/>
          </a:p>
        </p:txBody>
      </p:sp>
      <p:sp>
        <p:nvSpPr>
          <p:cNvPr id="20" name="C2 W2 pill"/>
          <p:cNvSpPr/>
          <p:nvPr/>
        </p:nvSpPr>
        <p:spPr>
          <a:xfrm>
            <a:off x="2612713" y="896112"/>
            <a:ext cx="234575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0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612713" y="896112"/>
            <a:ext cx="234575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ٱلضَّآلِّينَ</a:t>
            </a:r>
            <a:endParaRPr lang="ar-SA" sz="40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3019615" y="2834640"/>
            <a:ext cx="31047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3019615" y="2834640"/>
            <a:ext cx="31047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وَلَا ٱلضَّآلِّينَ</a:t>
            </a:r>
            <a:endParaRPr lang="ar-SA" sz="4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3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DE052"/>
          </a:solidFill>
          <a:ln w="12700">
            <a:solidFill>
              <a:srgbClr val="CD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1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7DB"/>
          </a:solidFill>
          <a:ln w="12700">
            <a:solidFill>
              <a:srgbClr val="709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34785"/>
          </a:solidFill>
          <a:ln w="12700">
            <a:solidFill>
              <a:srgbClr val="834785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6314477" y="896112"/>
            <a:ext cx="152327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E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6314477" y="896112"/>
            <a:ext cx="15232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3989718" y="896112"/>
            <a:ext cx="20047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AE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3989718" y="896112"/>
            <a:ext cx="20047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400" dirty="0"/>
          </a:p>
        </p:txBody>
      </p:sp>
      <p:sp>
        <p:nvSpPr>
          <p:cNvPr id="19" name="C3 W3 pill"/>
          <p:cNvSpPr/>
          <p:nvPr/>
        </p:nvSpPr>
        <p:spPr>
          <a:xfrm>
            <a:off x="1306248" y="896112"/>
            <a:ext cx="236343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AE"/>
            </a:solidFill>
            <a:prstDash val="solid"/>
          </a:ln>
        </p:spPr>
      </p:sp>
      <p:sp>
        <p:nvSpPr>
          <p:cNvPr id="20" name="C3 W3 word"/>
          <p:cNvSpPr txBox="1"/>
          <p:nvPr/>
        </p:nvSpPr>
        <p:spPr>
          <a:xfrm>
            <a:off x="1306248" y="896112"/>
            <a:ext cx="236343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ٱلصَّآخَّةُ</a:t>
            </a:r>
            <a:endParaRPr lang="ar-SA" sz="4400" dirty="0"/>
          </a:p>
        </p:txBody>
      </p:sp>
      <p:sp>
        <p:nvSpPr>
          <p:cNvPr id="21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5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S panel"/>
          <p:cNvSpPr/>
          <p:nvPr/>
        </p:nvSpPr>
        <p:spPr>
          <a:xfrm>
            <a:off x="2103705" y="2834640"/>
            <a:ext cx="493659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4 S sentence"/>
          <p:cNvSpPr txBox="1"/>
          <p:nvPr/>
        </p:nvSpPr>
        <p:spPr>
          <a:xfrm>
            <a:off x="2103705" y="2834640"/>
            <a:ext cx="493659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ٱلصَّآخَّةُ</a:t>
            </a:r>
            <a:endParaRPr lang="ar-SA" sz="4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5F7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0D8"/>
          </a:solidFill>
          <a:ln w="12700">
            <a:solidFill>
              <a:srgbClr val="64B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9D1"/>
          </a:solidFill>
          <a:ln w="12700">
            <a:solidFill>
              <a:srgbClr val="47B9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6183639" y="896112"/>
            <a:ext cx="145462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7C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6183639" y="896112"/>
            <a:ext cx="145462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</a:t>
            </a:r>
            <a:endParaRPr lang="ar-SA" sz="4000" dirty="0"/>
          </a:p>
        </p:txBody>
      </p:sp>
      <p:sp>
        <p:nvSpPr>
          <p:cNvPr id="12" name="C2 W2 pill"/>
          <p:cNvSpPr/>
          <p:nvPr/>
        </p:nvSpPr>
        <p:spPr>
          <a:xfrm>
            <a:off x="3971299" y="896112"/>
            <a:ext cx="189229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7C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3971299" y="896112"/>
            <a:ext cx="189229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جَآءَتِ</a:t>
            </a:r>
            <a:endParaRPr lang="ar-SA" sz="4000" dirty="0"/>
          </a:p>
        </p:txBody>
      </p:sp>
      <p:sp>
        <p:nvSpPr>
          <p:cNvPr id="14" name="C3 W3 pill"/>
          <p:cNvSpPr/>
          <p:nvPr/>
        </p:nvSpPr>
        <p:spPr>
          <a:xfrm>
            <a:off x="1505739" y="896112"/>
            <a:ext cx="214552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7CE236"/>
            </a:solidFill>
            <a:prstDash val="solid"/>
          </a:ln>
        </p:spPr>
      </p:sp>
      <p:sp>
        <p:nvSpPr>
          <p:cNvPr id="15" name="C3 W3 word"/>
          <p:cNvSpPr txBox="1"/>
          <p:nvPr/>
        </p:nvSpPr>
        <p:spPr>
          <a:xfrm>
            <a:off x="1505739" y="896112"/>
            <a:ext cx="214552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ٱلطَّآمَّةُ</a:t>
            </a:r>
            <a:endParaRPr lang="ar-SA" sz="4000" dirty="0"/>
          </a:p>
        </p:txBody>
      </p:sp>
      <p:sp>
        <p:nvSpPr>
          <p:cNvPr id="16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S panel"/>
          <p:cNvSpPr/>
          <p:nvPr/>
        </p:nvSpPr>
        <p:spPr>
          <a:xfrm>
            <a:off x="2319398" y="2834640"/>
            <a:ext cx="450520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4 S sentence"/>
          <p:cNvSpPr txBox="1"/>
          <p:nvPr/>
        </p:nvSpPr>
        <p:spPr>
          <a:xfrm>
            <a:off x="2319398" y="2834640"/>
            <a:ext cx="450520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فَإِذَا جَآءَتِ ٱلطَّآمَّةُ</a:t>
            </a:r>
            <a:endParaRPr lang="ar-SA" sz="4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C5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1 W1 pill"/>
          <p:cNvSpPr/>
          <p:nvPr/>
        </p:nvSpPr>
        <p:spPr>
          <a:xfrm>
            <a:off x="5460378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4A"/>
            </a:solidFill>
            <a:prstDash val="solid"/>
          </a:ln>
        </p:spPr>
      </p:sp>
      <p:sp>
        <p:nvSpPr>
          <p:cNvPr id="12" name="C1 W1 word"/>
          <p:cNvSpPr txBox="1"/>
          <p:nvPr/>
        </p:nvSpPr>
        <p:spPr>
          <a:xfrm>
            <a:off x="5460378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13" name="C2 W2 pill"/>
          <p:cNvSpPr/>
          <p:nvPr/>
        </p:nvSpPr>
        <p:spPr>
          <a:xfrm>
            <a:off x="4003662" y="896112"/>
            <a:ext cx="1136675" cy="1371600"/>
          </a:xfrm>
          <a:prstGeom prst="roundRect">
            <a:avLst>
              <a:gd name="adj" fmla="val 32178"/>
            </a:avLst>
          </a:prstGeom>
          <a:solidFill>
            <a:srgbClr val="FFFFFF"/>
          </a:solidFill>
          <a:ln w="76200">
            <a:solidFill>
              <a:srgbClr val="4AE236"/>
            </a:solidFill>
            <a:prstDash val="solid"/>
          </a:ln>
        </p:spPr>
      </p:sp>
      <p:sp>
        <p:nvSpPr>
          <p:cNvPr id="14" name="C2 W2 word"/>
          <p:cNvSpPr txBox="1"/>
          <p:nvPr/>
        </p:nvSpPr>
        <p:spPr>
          <a:xfrm>
            <a:off x="4003662" y="896112"/>
            <a:ext cx="113667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مَا</a:t>
            </a:r>
            <a:endParaRPr lang="ar-SA" sz="4200" dirty="0"/>
          </a:p>
        </p:txBody>
      </p:sp>
      <p:sp>
        <p:nvSpPr>
          <p:cNvPr id="15" name="C3 W3 pill"/>
          <p:cNvSpPr/>
          <p:nvPr/>
        </p:nvSpPr>
        <p:spPr>
          <a:xfrm>
            <a:off x="1623975" y="896112"/>
            <a:ext cx="2059647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4AE2"/>
            </a:solidFill>
            <a:prstDash val="solid"/>
          </a:ln>
        </p:spPr>
      </p:sp>
      <p:sp>
        <p:nvSpPr>
          <p:cNvPr id="16" name="C3 W3 word"/>
          <p:cNvSpPr txBox="1"/>
          <p:nvPr/>
        </p:nvSpPr>
        <p:spPr>
          <a:xfrm>
            <a:off x="1623975" y="896112"/>
            <a:ext cx="2059647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</a:t>
            </a:r>
            <a:endParaRPr lang="ar-SA" sz="4200" dirty="0"/>
          </a:p>
        </p:txBody>
      </p:sp>
      <p:sp>
        <p:nvSpPr>
          <p:cNvPr id="17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A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S panel"/>
          <p:cNvSpPr/>
          <p:nvPr/>
        </p:nvSpPr>
        <p:spPr>
          <a:xfrm>
            <a:off x="2384268" y="2834640"/>
            <a:ext cx="437546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4 S sentence"/>
          <p:cNvSpPr txBox="1"/>
          <p:nvPr/>
        </p:nvSpPr>
        <p:spPr>
          <a:xfrm>
            <a:off x="2384268" y="2834640"/>
            <a:ext cx="437546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ٱلۡحَآقَّةُ مَا ٱلۡحَآقَّةُ</a:t>
            </a:r>
            <a:endParaRPr lang="ar-SA" sz="4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2B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2C"/>
          </a:solidFill>
          <a:ln w="12700">
            <a:solidFill>
              <a:srgbClr val="2B64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8"/>
          </a:solidFill>
          <a:ln w="12700">
            <a:solidFill>
              <a:srgbClr val="347958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5738204" y="896112"/>
            <a:ext cx="15196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55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5738204" y="896112"/>
            <a:ext cx="15196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</a:t>
            </a:r>
            <a:endParaRPr lang="ar-SA" sz="5100" dirty="0"/>
          </a:p>
        </p:txBody>
      </p:sp>
      <p:sp>
        <p:nvSpPr>
          <p:cNvPr id="14" name="C2 W2 pill"/>
          <p:cNvSpPr/>
          <p:nvPr/>
        </p:nvSpPr>
        <p:spPr>
          <a:xfrm>
            <a:off x="3892070" y="896112"/>
            <a:ext cx="152609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5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3892070" y="896112"/>
            <a:ext cx="152609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مِن</a:t>
            </a:r>
            <a:endParaRPr lang="ar-SA" sz="5100" dirty="0"/>
          </a:p>
        </p:txBody>
      </p:sp>
      <p:sp>
        <p:nvSpPr>
          <p:cNvPr id="16" name="C3 W3 pill"/>
          <p:cNvSpPr/>
          <p:nvPr/>
        </p:nvSpPr>
        <p:spPr>
          <a:xfrm>
            <a:off x="1886152" y="896112"/>
            <a:ext cx="16858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5536"/>
            </a:solidFill>
            <a:prstDash val="solid"/>
          </a:ln>
        </p:spPr>
      </p:sp>
      <p:sp>
        <p:nvSpPr>
          <p:cNvPr id="17" name="C3 W3 word"/>
          <p:cNvSpPr txBox="1"/>
          <p:nvPr/>
        </p:nvSpPr>
        <p:spPr>
          <a:xfrm>
            <a:off x="1886152" y="896112"/>
            <a:ext cx="16858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دَآبَّةٍ</a:t>
            </a:r>
            <a:endParaRPr lang="ar-SA" sz="5100" dirty="0"/>
          </a:p>
        </p:txBody>
      </p:sp>
      <p:sp>
        <p:nvSpPr>
          <p:cNvPr id="18" name="C4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S panel"/>
          <p:cNvSpPr/>
          <p:nvPr/>
        </p:nvSpPr>
        <p:spPr>
          <a:xfrm>
            <a:off x="2579189" y="2834640"/>
            <a:ext cx="398562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4 S sentence"/>
          <p:cNvSpPr txBox="1"/>
          <p:nvPr/>
        </p:nvSpPr>
        <p:spPr>
          <a:xfrm>
            <a:off x="2579189" y="2834640"/>
            <a:ext cx="398562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وَمَا مِن دَآبَّةٍ</a:t>
            </a:r>
            <a:endParaRPr lang="ar-SA" sz="5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Shaddah madd 13-lam</dc:title>
  <dc:subject>PptxGenJS Presentation</dc:subject>
  <dc:creator>PptxGenJS</dc:creator>
  <cp:lastModifiedBy>PptxGenJS</cp:lastModifiedBy>
  <cp:revision>1</cp:revision>
  <dcterms:created xsi:type="dcterms:W3CDTF">2026-10-21T19:04:31Z</dcterms:created>
  <dcterms:modified xsi:type="dcterms:W3CDTF">2026-10-21T19:04:31Z</dcterms:modified>
</cp:coreProperties>
</file>