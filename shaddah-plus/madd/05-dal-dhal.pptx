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المد اللازم: إذا جاء بعد حرف المد حرف مشدد في الكلمة نفسها، يُمد ست حركات (عُدّ على أصابعك من 1 إلى 6)، مثل «ٱلضَّآلِّينَ». علامة المد «ٓ» فوق الألف تنبّهك.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المد اللازم: إذا جاء بعد حرف المد حرف مشدد في الكلمة نفسها، يُمد ست حركات (عُدّ على أصابعك من 1 إلى 6)، مثل «ٱلضَّآلِّينَ». علامة المد «ٓ» فوق الألف تنبّهك.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463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ضَآلِّ</a:t>
            </a:r>
            <a:endParaRPr lang="ar-SA" sz="58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95E"/>
          </a:solidFill>
          <a:ln w="12700">
            <a:solidFill>
              <a:srgbClr val="EDA9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Word panel"/>
          <p:cNvSpPr/>
          <p:nvPr/>
        </p:nvSpPr>
        <p:spPr>
          <a:xfrm>
            <a:off x="1828800" y="1005840"/>
            <a:ext cx="5486400" cy="173736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01600">
            <a:solidFill>
              <a:srgbClr val="F59F00"/>
            </a:solidFill>
            <a:prstDash val="solid"/>
          </a:ln>
        </p:spPr>
      </p:sp>
      <p:sp>
        <p:nvSpPr>
          <p:cNvPr id="19" name="C1 W word"/>
          <p:cNvSpPr txBox="1"/>
          <p:nvPr/>
        </p:nvSpPr>
        <p:spPr>
          <a:xfrm>
            <a:off x="1828800" y="1114386"/>
            <a:ext cx="548640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ٱلضَّآلِّينَ</a:t>
            </a:r>
            <a:endParaRPr lang="ar-SA" sz="5900" dirty="0"/>
          </a:p>
        </p:txBody>
      </p:sp>
      <p:sp>
        <p:nvSpPr>
          <p:cNvPr id="20" name="C2 bead 1"/>
          <p:cNvSpPr/>
          <p:nvPr/>
        </p:nvSpPr>
        <p:spPr>
          <a:xfrm>
            <a:off x="67482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C2 number 1"/>
          <p:cNvSpPr/>
          <p:nvPr/>
        </p:nvSpPr>
        <p:spPr>
          <a:xfrm>
            <a:off x="6748272" y="315944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500" dirty="0"/>
          </a:p>
        </p:txBody>
      </p:sp>
      <p:sp>
        <p:nvSpPr>
          <p:cNvPr id="22" name="C3 bead 2"/>
          <p:cNvSpPr/>
          <p:nvPr/>
        </p:nvSpPr>
        <p:spPr>
          <a:xfrm>
            <a:off x="58338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C3 number 2"/>
          <p:cNvSpPr/>
          <p:nvPr/>
        </p:nvSpPr>
        <p:spPr>
          <a:xfrm>
            <a:off x="5833872" y="31623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24" name="C4 bead 3"/>
          <p:cNvSpPr/>
          <p:nvPr/>
        </p:nvSpPr>
        <p:spPr>
          <a:xfrm>
            <a:off x="49194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C4 number 3"/>
          <p:cNvSpPr/>
          <p:nvPr/>
        </p:nvSpPr>
        <p:spPr>
          <a:xfrm>
            <a:off x="4919472" y="31592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6" name="C5 bead 4"/>
          <p:cNvSpPr/>
          <p:nvPr/>
        </p:nvSpPr>
        <p:spPr>
          <a:xfrm>
            <a:off x="40050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C5 number 4"/>
          <p:cNvSpPr/>
          <p:nvPr/>
        </p:nvSpPr>
        <p:spPr>
          <a:xfrm>
            <a:off x="4005072" y="31592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8" name="C6 bead 5"/>
          <p:cNvSpPr/>
          <p:nvPr/>
        </p:nvSpPr>
        <p:spPr>
          <a:xfrm>
            <a:off x="30906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C6 number 5"/>
          <p:cNvSpPr/>
          <p:nvPr/>
        </p:nvSpPr>
        <p:spPr>
          <a:xfrm>
            <a:off x="3090672" y="31562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30" name="C7 bead 6"/>
          <p:cNvSpPr/>
          <p:nvPr/>
        </p:nvSpPr>
        <p:spPr>
          <a:xfrm>
            <a:off x="21762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C7 number 6"/>
          <p:cNvSpPr/>
          <p:nvPr/>
        </p:nvSpPr>
        <p:spPr>
          <a:xfrm>
            <a:off x="2176272" y="315906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3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4E0"/>
          </a:solidFill>
          <a:ln w="12700">
            <a:solidFill>
              <a:srgbClr val="5284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C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070"/>
          </a:solidFill>
          <a:ln w="12700">
            <a:solidFill>
              <a:srgbClr val="DB80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78547"/>
          </a:solidFill>
          <a:ln w="12700">
            <a:solidFill>
              <a:srgbClr val="67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0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4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4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0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4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591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591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0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5914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بَآدَّ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C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4"/>
          </a:solidFill>
          <a:ln w="12700">
            <a:solidFill>
              <a:srgbClr val="D8647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2"/>
          </a:solidFill>
          <a:ln w="12700">
            <a:solidFill>
              <a:srgbClr val="D1477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442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442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40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705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تَآدِّ</a:t>
            </a:r>
            <a:endParaRPr lang="ar-SA" sz="8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0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845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845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40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0516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ثَآدُّ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92B64"/>
          </a:solidFill>
          <a:ln w="12700">
            <a:solidFill>
              <a:srgbClr val="49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8"/>
          </a:solidFill>
          <a:ln w="12700">
            <a:solidFill>
              <a:srgbClr val="79347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0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591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591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0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6146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جَآدَّ</a:t>
            </a:r>
            <a:endParaRPr lang="ar-SA" sz="7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D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442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442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40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705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حَآدِّ</a:t>
            </a:r>
            <a:endParaRPr lang="ar-SA" sz="8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F7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6"/>
          </a:solidFill>
          <a:ln w="12700">
            <a:solidFill>
              <a:srgbClr val="5EED8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147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8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147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8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420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420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38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831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831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38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0516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خَآدُّ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7"/>
          </a:solidFill>
          <a:ln w="12700">
            <a:solidFill>
              <a:srgbClr val="E052A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BDB70"/>
          </a:solidFill>
          <a:ln w="12700">
            <a:solidFill>
              <a:srgbClr val="7B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685"/>
          </a:solidFill>
          <a:ln w="12700">
            <a:solidFill>
              <a:srgbClr val="4776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880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6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880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11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6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11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36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20050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20050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6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340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بَآذَّ</a:t>
            </a:r>
            <a:endParaRPr lang="ar-SA" sz="6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1D864"/>
          </a:solidFill>
          <a:ln w="12700">
            <a:solidFill>
              <a:srgbClr val="91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4D147"/>
          </a:solidFill>
          <a:ln w="12700">
            <a:solidFill>
              <a:srgbClr val="94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1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11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36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98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98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ذِ</a:t>
            </a:r>
            <a:endParaRPr lang="ar-SA" sz="36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3934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تَآذِّ</a:t>
            </a:r>
            <a:endParaRPr lang="ar-SA" sz="69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D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915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915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11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11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36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2027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2027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36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5476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ثَآذُّ</a:t>
            </a:r>
            <a:endParaRPr lang="ar-SA" sz="6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3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B2B"/>
          </a:solidFill>
          <a:ln w="12700">
            <a:solidFill>
              <a:srgbClr val="643B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A34"/>
          </a:solidFill>
          <a:ln w="12700">
            <a:solidFill>
              <a:srgbClr val="796A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6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11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6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11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36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20050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20050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6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361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جَآذَّ</a:t>
            </a:r>
            <a:endParaRPr lang="ar-SA" sz="6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1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11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36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98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98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ذِ</a:t>
            </a:r>
            <a:endParaRPr lang="ar-SA" sz="36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3934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حَآذِّ</a:t>
            </a:r>
            <a:endParaRPr lang="ar-SA" sz="69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25EED"/>
          </a:solidFill>
          <a:ln w="12700">
            <a:solidFill>
              <a:srgbClr val="62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08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6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08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11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6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11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36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2027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2027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36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5476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خَآذُّ</a:t>
            </a:r>
            <a:endParaRPr lang="ar-SA" sz="6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33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BE052"/>
          </a:solidFill>
          <a:ln w="12700">
            <a:solidFill>
              <a:srgbClr val="CB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0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5DB"/>
          </a:solidFill>
          <a:ln w="12700">
            <a:solidFill>
              <a:srgbClr val="7095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44785"/>
          </a:solidFill>
          <a:ln w="12700">
            <a:solidFill>
              <a:srgbClr val="84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588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6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588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11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6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11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36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20050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20050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6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2526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دَآذَّ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ED8"/>
          </a:solidFill>
          <a:ln w="12700">
            <a:solidFill>
              <a:srgbClr val="64AE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6D1"/>
          </a:solidFill>
          <a:ln w="12700">
            <a:solidFill>
              <a:srgbClr val="47B6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278503" y="896112"/>
            <a:ext cx="1252785" cy="1371600"/>
          </a:xfrm>
          <a:prstGeom prst="roundRect">
            <a:avLst>
              <a:gd name="adj" fmla="val 29196"/>
            </a:avLst>
          </a:prstGeom>
          <a:solidFill>
            <a:srgbClr val="FFFFFF"/>
          </a:solidFill>
          <a:ln w="76200">
            <a:solidFill>
              <a:srgbClr val="3679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278503" y="896112"/>
            <a:ext cx="125278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وَلَا</a:t>
            </a:r>
            <a:endParaRPr lang="ar-SA" sz="4000" dirty="0"/>
          </a:p>
        </p:txBody>
      </p:sp>
      <p:sp>
        <p:nvSpPr>
          <p:cNvPr id="12" name="C2 W2 pill"/>
          <p:cNvSpPr/>
          <p:nvPr/>
        </p:nvSpPr>
        <p:spPr>
          <a:xfrm>
            <a:off x="2612713" y="896112"/>
            <a:ext cx="234575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79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612713" y="896112"/>
            <a:ext cx="234575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ٱلضَّآلِّينَ</a:t>
            </a:r>
            <a:endParaRPr lang="ar-SA" sz="40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8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3019615" y="2834640"/>
            <a:ext cx="310477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3019615" y="2834640"/>
            <a:ext cx="310477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وَلَا ٱلضَّآلِّينَ</a:t>
            </a:r>
            <a:endParaRPr lang="ar-SA" sz="4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C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6314477" y="896112"/>
            <a:ext cx="152327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47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6314477" y="896112"/>
            <a:ext cx="152327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</a:t>
            </a:r>
            <a:endParaRPr lang="ar-SA" sz="4400" dirty="0"/>
          </a:p>
        </p:txBody>
      </p:sp>
      <p:sp>
        <p:nvSpPr>
          <p:cNvPr id="13" name="C2 W2 pill"/>
          <p:cNvSpPr/>
          <p:nvPr/>
        </p:nvSpPr>
        <p:spPr>
          <a:xfrm>
            <a:off x="3989718" y="896112"/>
            <a:ext cx="20047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7E2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3989718" y="896112"/>
            <a:ext cx="20047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جَآءَتِ</a:t>
            </a:r>
            <a:endParaRPr lang="ar-SA" sz="4400" dirty="0"/>
          </a:p>
        </p:txBody>
      </p:sp>
      <p:sp>
        <p:nvSpPr>
          <p:cNvPr id="15" name="C3 W3 pill"/>
          <p:cNvSpPr/>
          <p:nvPr/>
        </p:nvSpPr>
        <p:spPr>
          <a:xfrm>
            <a:off x="1306248" y="896112"/>
            <a:ext cx="236343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47E2"/>
            </a:solidFill>
            <a:prstDash val="solid"/>
          </a:ln>
        </p:spPr>
      </p:sp>
      <p:sp>
        <p:nvSpPr>
          <p:cNvPr id="16" name="C3 W3 word"/>
          <p:cNvSpPr txBox="1"/>
          <p:nvPr/>
        </p:nvSpPr>
        <p:spPr>
          <a:xfrm>
            <a:off x="1306248" y="896112"/>
            <a:ext cx="236343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ٱلصَّآخَّةُ</a:t>
            </a:r>
            <a:endParaRPr lang="ar-SA" sz="4400" dirty="0"/>
          </a:p>
        </p:txBody>
      </p:sp>
      <p:sp>
        <p:nvSpPr>
          <p:cNvPr id="17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S panel"/>
          <p:cNvSpPr/>
          <p:nvPr/>
        </p:nvSpPr>
        <p:spPr>
          <a:xfrm>
            <a:off x="2103705" y="2834640"/>
            <a:ext cx="493659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4 S sentence"/>
          <p:cNvSpPr txBox="1"/>
          <p:nvPr/>
        </p:nvSpPr>
        <p:spPr>
          <a:xfrm>
            <a:off x="2103705" y="2834640"/>
            <a:ext cx="493659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 جَآءَتِ ٱلصَّآخَّةُ</a:t>
            </a:r>
            <a:endParaRPr lang="ar-SA" sz="4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C"/>
          </a:solidFill>
          <a:ln w="12700">
            <a:solidFill>
              <a:srgbClr val="2B642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9"/>
          </a:solidFill>
          <a:ln w="12700">
            <a:solidFill>
              <a:srgbClr val="34795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6183639" y="896112"/>
            <a:ext cx="145462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58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6183639" y="896112"/>
            <a:ext cx="145462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</a:t>
            </a:r>
            <a:endParaRPr lang="ar-SA" sz="4000" dirty="0"/>
          </a:p>
        </p:txBody>
      </p:sp>
      <p:sp>
        <p:nvSpPr>
          <p:cNvPr id="14" name="C2 W2 pill"/>
          <p:cNvSpPr/>
          <p:nvPr/>
        </p:nvSpPr>
        <p:spPr>
          <a:xfrm>
            <a:off x="3971299" y="896112"/>
            <a:ext cx="189229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836E2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3971299" y="896112"/>
            <a:ext cx="189229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جَآءَتِ</a:t>
            </a:r>
            <a:endParaRPr lang="ar-SA" sz="4000" dirty="0"/>
          </a:p>
        </p:txBody>
      </p:sp>
      <p:sp>
        <p:nvSpPr>
          <p:cNvPr id="16" name="C3 W3 pill"/>
          <p:cNvSpPr/>
          <p:nvPr/>
        </p:nvSpPr>
        <p:spPr>
          <a:xfrm>
            <a:off x="1505739" y="896112"/>
            <a:ext cx="21455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5836"/>
            </a:solidFill>
            <a:prstDash val="solid"/>
          </a:ln>
        </p:spPr>
      </p:sp>
      <p:sp>
        <p:nvSpPr>
          <p:cNvPr id="17" name="C3 W3 word"/>
          <p:cNvSpPr txBox="1"/>
          <p:nvPr/>
        </p:nvSpPr>
        <p:spPr>
          <a:xfrm>
            <a:off x="1505739" y="896112"/>
            <a:ext cx="21455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ٱلطَّآمَّةُ</a:t>
            </a:r>
            <a:endParaRPr lang="ar-SA" sz="4000" dirty="0"/>
          </a:p>
        </p:txBody>
      </p:sp>
      <p:sp>
        <p:nvSpPr>
          <p:cNvPr id="18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S panel"/>
          <p:cNvSpPr/>
          <p:nvPr/>
        </p:nvSpPr>
        <p:spPr>
          <a:xfrm>
            <a:off x="2319398" y="2834640"/>
            <a:ext cx="450520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4 S sentence"/>
          <p:cNvSpPr txBox="1"/>
          <p:nvPr/>
        </p:nvSpPr>
        <p:spPr>
          <a:xfrm>
            <a:off x="2319398" y="2834640"/>
            <a:ext cx="450520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 جَآءَتِ ٱلطَّآمَّةُ</a:t>
            </a:r>
            <a:endParaRPr lang="ar-SA" sz="4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460378" y="896112"/>
            <a:ext cx="205964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A36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460378" y="896112"/>
            <a:ext cx="205964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ٱلۡحَآقَّةُ</a:t>
            </a:r>
            <a:endParaRPr lang="ar-SA" sz="4200" dirty="0"/>
          </a:p>
        </p:txBody>
      </p:sp>
      <p:sp>
        <p:nvSpPr>
          <p:cNvPr id="12" name="C2 W2 pill"/>
          <p:cNvSpPr/>
          <p:nvPr/>
        </p:nvSpPr>
        <p:spPr>
          <a:xfrm>
            <a:off x="4003662" y="896112"/>
            <a:ext cx="1136675" cy="1371600"/>
          </a:xfrm>
          <a:prstGeom prst="roundRect">
            <a:avLst>
              <a:gd name="adj" fmla="val 32178"/>
            </a:avLst>
          </a:prstGeom>
          <a:solidFill>
            <a:srgbClr val="FFFFFF"/>
          </a:solidFill>
          <a:ln w="76200">
            <a:solidFill>
              <a:srgbClr val="E28A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4003662" y="896112"/>
            <a:ext cx="113667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مَا</a:t>
            </a:r>
            <a:endParaRPr lang="ar-SA" sz="4200" dirty="0"/>
          </a:p>
        </p:txBody>
      </p:sp>
      <p:sp>
        <p:nvSpPr>
          <p:cNvPr id="14" name="C3 W3 pill"/>
          <p:cNvSpPr/>
          <p:nvPr/>
        </p:nvSpPr>
        <p:spPr>
          <a:xfrm>
            <a:off x="1623975" y="896112"/>
            <a:ext cx="205964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8A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1623975" y="896112"/>
            <a:ext cx="205964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ٱلۡحَآقَّةُ</a:t>
            </a:r>
            <a:endParaRPr lang="ar-SA" sz="42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7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2384268" y="2834640"/>
            <a:ext cx="437546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2384268" y="2834640"/>
            <a:ext cx="437546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ٱلۡحَآقَّةُ مَا ٱلۡحَآقَّةُ</a:t>
            </a:r>
            <a:endParaRPr lang="ar-SA" sz="43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E"/>
          </a:solidFill>
          <a:ln w="12700">
            <a:solidFill>
              <a:srgbClr val="ED5E7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5738204" y="896112"/>
            <a:ext cx="151964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BC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5738204" y="896112"/>
            <a:ext cx="151964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وَمَا</a:t>
            </a:r>
            <a:endParaRPr lang="ar-SA" sz="5100" dirty="0"/>
          </a:p>
        </p:txBody>
      </p:sp>
      <p:sp>
        <p:nvSpPr>
          <p:cNvPr id="20" name="C2 W2 pill"/>
          <p:cNvSpPr/>
          <p:nvPr/>
        </p:nvSpPr>
        <p:spPr>
          <a:xfrm>
            <a:off x="3892070" y="896112"/>
            <a:ext cx="152609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BC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3892070" y="896112"/>
            <a:ext cx="152609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</a:t>
            </a:r>
            <a:endParaRPr lang="ar-SA" sz="5100" dirty="0"/>
          </a:p>
        </p:txBody>
      </p:sp>
      <p:sp>
        <p:nvSpPr>
          <p:cNvPr id="22" name="C3 W3 pill"/>
          <p:cNvSpPr/>
          <p:nvPr/>
        </p:nvSpPr>
        <p:spPr>
          <a:xfrm>
            <a:off x="1886152" y="896112"/>
            <a:ext cx="168587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C36E2"/>
            </a:solidFill>
            <a:prstDash val="solid"/>
          </a:ln>
        </p:spPr>
      </p:sp>
      <p:sp>
        <p:nvSpPr>
          <p:cNvPr id="23" name="C3 W3 word"/>
          <p:cNvSpPr txBox="1"/>
          <p:nvPr/>
        </p:nvSpPr>
        <p:spPr>
          <a:xfrm>
            <a:off x="1886152" y="896112"/>
            <a:ext cx="168587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دَآبَّةٍ</a:t>
            </a:r>
            <a:endParaRPr lang="ar-SA" sz="5100" dirty="0"/>
          </a:p>
        </p:txBody>
      </p:sp>
      <p:sp>
        <p:nvSpPr>
          <p:cNvPr id="24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4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S panel"/>
          <p:cNvSpPr/>
          <p:nvPr/>
        </p:nvSpPr>
        <p:spPr>
          <a:xfrm>
            <a:off x="2579189" y="2834640"/>
            <a:ext cx="398562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6" name="C4 S sentence"/>
          <p:cNvSpPr txBox="1"/>
          <p:nvPr/>
        </p:nvSpPr>
        <p:spPr>
          <a:xfrm>
            <a:off x="2579189" y="2834640"/>
            <a:ext cx="398562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وَمَا مِن دَآبَّةٍ</a:t>
            </a:r>
            <a:endParaRPr lang="ar-SA" sz="52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madd 05-dal-dhal</dc:title>
  <dc:subject>PptxGenJS Presentation</dc:subject>
  <dc:creator>PptxGenJS</dc:creator>
  <cp:lastModifiedBy>PptxGenJS</cp:lastModifiedBy>
  <cp:revision>1</cp:revision>
  <dcterms:created xsi:type="dcterms:W3CDTF">2026-10-21T19:04:31Z</dcterms:created>
  <dcterms:modified xsi:type="dcterms:W3CDTF">2026-10-21T19:04:31Z</dcterms:modified>
</cp:coreProperties>
</file>