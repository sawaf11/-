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المد اللازم: إذا جاء بعد حرف المد حرف مشدد في الكلمة نفسها، يُمد ست حركات (عُدّ على أصابعك من 1 إلى 6)، مثل «ٱلضَّآلِّينَ». علامة المد «ٓ» فوق الألف تنبّهك.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المد اللازم: إذا جاء بعد حرف المد حرف مشدد في الكلمة نفسها، يُمد ست حركات (عُدّ على أصابعك من 1 إلى 6)، مثل «ٱلضَّآلِّينَ». علامة المد «ٓ» فوق الألف تنبّهك.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4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864"/>
          </a:solidFill>
          <a:ln w="12700">
            <a:solidFill>
              <a:srgbClr val="2B4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579"/>
          </a:solidFill>
          <a:ln w="12700">
            <a:solidFill>
              <a:srgbClr val="343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3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1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3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3100" dirty="0"/>
          </a:p>
        </p:txBody>
      </p:sp>
      <p:sp>
        <p:nvSpPr>
          <p:cNvPr id="28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463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ضَآلِّ</a:t>
            </a:r>
            <a:endParaRPr lang="ar-SA" sz="58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Word panel"/>
          <p:cNvSpPr/>
          <p:nvPr/>
        </p:nvSpPr>
        <p:spPr>
          <a:xfrm>
            <a:off x="1828800" y="1005840"/>
            <a:ext cx="5486400" cy="1737360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01600">
            <a:solidFill>
              <a:srgbClr val="F59F00"/>
            </a:solidFill>
            <a:prstDash val="solid"/>
          </a:ln>
        </p:spPr>
      </p:sp>
      <p:sp>
        <p:nvSpPr>
          <p:cNvPr id="11" name="C1 W word"/>
          <p:cNvSpPr txBox="1"/>
          <p:nvPr/>
        </p:nvSpPr>
        <p:spPr>
          <a:xfrm>
            <a:off x="1828800" y="1114386"/>
            <a:ext cx="548640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ٱلضَّآلِّينَ</a:t>
            </a:r>
            <a:endParaRPr lang="ar-SA" sz="5900" dirty="0"/>
          </a:p>
        </p:txBody>
      </p:sp>
      <p:sp>
        <p:nvSpPr>
          <p:cNvPr id="12" name="C2 bead 1"/>
          <p:cNvSpPr/>
          <p:nvPr/>
        </p:nvSpPr>
        <p:spPr>
          <a:xfrm>
            <a:off x="67482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C2 number 1"/>
          <p:cNvSpPr/>
          <p:nvPr/>
        </p:nvSpPr>
        <p:spPr>
          <a:xfrm>
            <a:off x="6748272" y="3159443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500" dirty="0"/>
          </a:p>
        </p:txBody>
      </p:sp>
      <p:sp>
        <p:nvSpPr>
          <p:cNvPr id="14" name="C3 bead 2"/>
          <p:cNvSpPr/>
          <p:nvPr/>
        </p:nvSpPr>
        <p:spPr>
          <a:xfrm>
            <a:off x="58338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C3 number 2"/>
          <p:cNvSpPr/>
          <p:nvPr/>
        </p:nvSpPr>
        <p:spPr>
          <a:xfrm>
            <a:off x="5833872" y="31623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16" name="C4 bead 3"/>
          <p:cNvSpPr/>
          <p:nvPr/>
        </p:nvSpPr>
        <p:spPr>
          <a:xfrm>
            <a:off x="49194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C4 number 3"/>
          <p:cNvSpPr/>
          <p:nvPr/>
        </p:nvSpPr>
        <p:spPr>
          <a:xfrm>
            <a:off x="4919472" y="31592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sp>
        <p:nvSpPr>
          <p:cNvPr id="18" name="C5 bead 4"/>
          <p:cNvSpPr/>
          <p:nvPr/>
        </p:nvSpPr>
        <p:spPr>
          <a:xfrm>
            <a:off x="40050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9" name="C5 number 4"/>
          <p:cNvSpPr/>
          <p:nvPr/>
        </p:nvSpPr>
        <p:spPr>
          <a:xfrm>
            <a:off x="4005072" y="31592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dirty="0"/>
          </a:p>
        </p:txBody>
      </p:sp>
      <p:sp>
        <p:nvSpPr>
          <p:cNvPr id="20" name="C6 bead 5"/>
          <p:cNvSpPr/>
          <p:nvPr/>
        </p:nvSpPr>
        <p:spPr>
          <a:xfrm>
            <a:off x="30906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C6 number 5"/>
          <p:cNvSpPr/>
          <p:nvPr/>
        </p:nvSpPr>
        <p:spPr>
          <a:xfrm>
            <a:off x="3090672" y="31562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400" dirty="0"/>
          </a:p>
        </p:txBody>
      </p:sp>
      <p:sp>
        <p:nvSpPr>
          <p:cNvPr id="22" name="C7 bead 6"/>
          <p:cNvSpPr/>
          <p:nvPr/>
        </p:nvSpPr>
        <p:spPr>
          <a:xfrm>
            <a:off x="21762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3" name="C7 number 6"/>
          <p:cNvSpPr/>
          <p:nvPr/>
        </p:nvSpPr>
        <p:spPr>
          <a:xfrm>
            <a:off x="2176272" y="315906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CED5E"/>
          </a:solidFill>
          <a:ln w="12700">
            <a:solidFill>
              <a:srgbClr val="C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87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87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300" dirty="0"/>
          </a:p>
        </p:txBody>
      </p:sp>
      <p:sp>
        <p:nvSpPr>
          <p:cNvPr id="34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69304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بَآعَّ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552E0"/>
          </a:solidFill>
          <a:ln w="12700">
            <a:solidFill>
              <a:srgbClr val="8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C70"/>
          </a:solidFill>
          <a:ln w="12700">
            <a:solidFill>
              <a:srgbClr val="DBCC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3"/>
          </a:solidFill>
          <a:ln w="12700">
            <a:solidFill>
              <a:srgbClr val="47855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3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00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00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عِ</a:t>
            </a:r>
            <a:endParaRPr lang="ar-SA" sz="3300" dirty="0"/>
          </a:p>
        </p:txBody>
      </p:sp>
      <p:sp>
        <p:nvSpPr>
          <p:cNvPr id="31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072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تَآعِّ</a:t>
            </a:r>
            <a:endParaRPr lang="ar-SA" sz="6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664"/>
          </a:solidFill>
          <a:ln w="12700">
            <a:solidFill>
              <a:srgbClr val="D8A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F47"/>
          </a:solidFill>
          <a:ln w="12700">
            <a:solidFill>
              <a:srgbClr val="D17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088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088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5357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ثَآعُّ</a:t>
            </a:r>
            <a:endParaRPr lang="ar-SA" sz="5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87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87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300" dirty="0"/>
          </a:p>
        </p:txBody>
      </p:sp>
      <p:sp>
        <p:nvSpPr>
          <p:cNvPr id="27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69304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جَآعَّ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3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7"/>
          </a:solidFill>
          <a:ln w="12700">
            <a:solidFill>
              <a:srgbClr val="642B5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6"/>
          </a:solidFill>
          <a:ln w="12700">
            <a:solidFill>
              <a:srgbClr val="79344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00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00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عِ</a:t>
            </a:r>
            <a:endParaRPr lang="ar-SA" sz="3300" dirty="0"/>
          </a:p>
        </p:txBody>
      </p:sp>
      <p:sp>
        <p:nvSpPr>
          <p:cNvPr id="28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072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حَآعِّ</a:t>
            </a:r>
            <a:endParaRPr lang="ar-SA" sz="6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088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088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5357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خَآعُّ</a:t>
            </a:r>
            <a:endParaRPr lang="ar-SA" sz="5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B"/>
          </a:solidFill>
          <a:ln w="12700">
            <a:solidFill>
              <a:srgbClr val="5EEDE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3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87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87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300" dirty="0"/>
          </a:p>
        </p:txBody>
      </p:sp>
      <p:sp>
        <p:nvSpPr>
          <p:cNvPr id="34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B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69304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دَآعَّ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3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152"/>
          </a:solidFill>
          <a:ln w="12700">
            <a:solidFill>
              <a:srgbClr val="E06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1"/>
          </a:solidFill>
          <a:ln w="12700">
            <a:solidFill>
              <a:srgbClr val="70DBB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B85"/>
          </a:solidFill>
          <a:ln w="12700">
            <a:solidFill>
              <a:srgbClr val="474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010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3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20010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00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00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عِ</a:t>
            </a:r>
            <a:endParaRPr lang="ar-SA" sz="3300" dirty="0"/>
          </a:p>
        </p:txBody>
      </p:sp>
      <p:sp>
        <p:nvSpPr>
          <p:cNvPr id="31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072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ذَآعِّ</a:t>
            </a:r>
            <a:endParaRPr lang="ar-SA" sz="6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9"/>
          </a:solidFill>
          <a:ln w="12700">
            <a:solidFill>
              <a:srgbClr val="64D88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C"/>
          </a:solidFill>
          <a:ln w="12700">
            <a:solidFill>
              <a:srgbClr val="47D15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82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882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088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088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5357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رَآعُّ</a:t>
            </a:r>
            <a:endParaRPr lang="ar-SA" sz="5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306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306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87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87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300" dirty="0"/>
          </a:p>
        </p:txBody>
      </p:sp>
      <p:sp>
        <p:nvSpPr>
          <p:cNvPr id="27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69304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زَآعَّ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32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32B"/>
          </a:solidFill>
          <a:ln w="12700">
            <a:solidFill>
              <a:srgbClr val="646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87934"/>
          </a:solidFill>
          <a:ln w="12700">
            <a:solidFill>
              <a:srgbClr val="5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4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3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84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00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00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عِ</a:t>
            </a:r>
            <a:endParaRPr lang="ar-SA" sz="3300" dirty="0"/>
          </a:p>
        </p:txBody>
      </p:sp>
      <p:sp>
        <p:nvSpPr>
          <p:cNvPr id="28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072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سَآعِّ</a:t>
            </a:r>
            <a:endParaRPr lang="ar-SA" sz="6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9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49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088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088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5357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شَآعُّ</a:t>
            </a:r>
            <a:endParaRPr lang="ar-SA" sz="5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75EED"/>
          </a:solidFill>
          <a:ln w="12700">
            <a:solidFill>
              <a:srgbClr val="C7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931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3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931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87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87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300" dirty="0"/>
          </a:p>
        </p:txBody>
      </p:sp>
      <p:sp>
        <p:nvSpPr>
          <p:cNvPr id="34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69304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صَآعَّ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3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6E052"/>
          </a:solidFill>
          <a:ln w="12700">
            <a:solidFill>
              <a:srgbClr val="66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770DB"/>
          </a:solidFill>
          <a:ln w="12700">
            <a:solidFill>
              <a:srgbClr val="97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A"/>
          </a:solidFill>
          <a:ln w="12700">
            <a:solidFill>
              <a:srgbClr val="85475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354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3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354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00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00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عِ</a:t>
            </a:r>
            <a:endParaRPr lang="ar-SA" sz="3300" dirty="0"/>
          </a:p>
        </p:txBody>
      </p:sp>
      <p:sp>
        <p:nvSpPr>
          <p:cNvPr id="31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072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ضَآعِّ</a:t>
            </a:r>
            <a:endParaRPr lang="ar-SA" sz="6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C64D8"/>
          </a:solidFill>
          <a:ln w="12700">
            <a:solidFill>
              <a:srgbClr val="6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5D1"/>
          </a:solidFill>
          <a:ln w="12700">
            <a:solidFill>
              <a:srgbClr val="475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088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088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5357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طَآعُّ</a:t>
            </a:r>
            <a:endParaRPr lang="ar-SA" sz="5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87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87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300" dirty="0"/>
          </a:p>
        </p:txBody>
      </p:sp>
      <p:sp>
        <p:nvSpPr>
          <p:cNvPr id="27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69304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ظَآعَّ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4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5"/>
          </a:solidFill>
          <a:ln w="12700">
            <a:solidFill>
              <a:srgbClr val="2B645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979"/>
          </a:solidFill>
          <a:ln w="12700">
            <a:solidFill>
              <a:srgbClr val="346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99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0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99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0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25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0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20025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0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326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326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000" dirty="0"/>
          </a:p>
        </p:txBody>
      </p:sp>
      <p:sp>
        <p:nvSpPr>
          <p:cNvPr id="28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628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بَآغَّ</a:t>
            </a:r>
            <a:endParaRPr lang="ar-SA" sz="5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48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648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25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25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486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486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</a:t>
            </a:r>
            <a:endParaRPr lang="ar-SA" sz="30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787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تَآغِّ</a:t>
            </a:r>
            <a:endParaRPr lang="ar-SA" sz="53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45E"/>
          </a:solidFill>
          <a:ln w="12700">
            <a:solidFill>
              <a:srgbClr val="EDA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857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0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857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0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025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0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20025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0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516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516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غُ</a:t>
            </a:r>
            <a:endParaRPr lang="ar-SA" sz="3000" dirty="0"/>
          </a:p>
        </p:txBody>
      </p:sp>
      <p:sp>
        <p:nvSpPr>
          <p:cNvPr id="34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944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ثَآغُّ</a:t>
            </a:r>
            <a:endParaRPr lang="ar-SA" sz="5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3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9E0"/>
          </a:solidFill>
          <a:ln w="12700">
            <a:solidFill>
              <a:srgbClr val="528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C70"/>
          </a:solidFill>
          <a:ln w="12700">
            <a:solidFill>
              <a:srgbClr val="DB7C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98547"/>
          </a:solidFill>
          <a:ln w="12700">
            <a:solidFill>
              <a:srgbClr val="6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83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0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783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0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025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0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20025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0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326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326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000" dirty="0"/>
          </a:p>
        </p:txBody>
      </p:sp>
      <p:sp>
        <p:nvSpPr>
          <p:cNvPr id="31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628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جَآغَّ</a:t>
            </a:r>
            <a:endParaRPr lang="ar-SA" sz="5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9"/>
          </a:solidFill>
          <a:ln w="12700">
            <a:solidFill>
              <a:srgbClr val="D8647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7"/>
          </a:solidFill>
          <a:ln w="12700">
            <a:solidFill>
              <a:srgbClr val="D1477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83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783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25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25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486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486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</a:t>
            </a:r>
            <a:endParaRPr lang="ar-SA" sz="30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787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حَآغِّ</a:t>
            </a:r>
            <a:endParaRPr lang="ar-SA" sz="5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168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0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168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0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25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0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20025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0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516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516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غُ</a:t>
            </a:r>
            <a:endParaRPr lang="ar-SA" sz="3000" dirty="0"/>
          </a:p>
        </p:txBody>
      </p:sp>
      <p:sp>
        <p:nvSpPr>
          <p:cNvPr id="27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944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خَآغُّ</a:t>
            </a:r>
            <a:endParaRPr lang="ar-SA" sz="5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72B64"/>
          </a:solidFill>
          <a:ln w="12700">
            <a:solidFill>
              <a:srgbClr val="47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83479"/>
          </a:solidFill>
          <a:ln w="12700">
            <a:solidFill>
              <a:srgbClr val="7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85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0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585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0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25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0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20025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0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326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326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000" dirty="0"/>
          </a:p>
        </p:txBody>
      </p:sp>
      <p:sp>
        <p:nvSpPr>
          <p:cNvPr id="28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628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دَآغَّ</a:t>
            </a:r>
            <a:endParaRPr lang="ar-SA" sz="5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7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97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25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25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486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486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</a:t>
            </a:r>
            <a:endParaRPr lang="ar-SA" sz="30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787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ذَآغِّ</a:t>
            </a:r>
            <a:endParaRPr lang="ar-SA" sz="5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0"/>
          </a:solidFill>
          <a:ln w="12700">
            <a:solidFill>
              <a:srgbClr val="5EED8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945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0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945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0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025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0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20025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0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516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516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غُ</a:t>
            </a:r>
            <a:endParaRPr lang="ar-SA" sz="3000" dirty="0"/>
          </a:p>
        </p:txBody>
      </p:sp>
      <p:sp>
        <p:nvSpPr>
          <p:cNvPr id="34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944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رَآغُّ</a:t>
            </a:r>
            <a:endParaRPr lang="ar-SA" sz="5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3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D"/>
          </a:solidFill>
          <a:ln w="12700">
            <a:solidFill>
              <a:srgbClr val="E052A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FDB70"/>
          </a:solidFill>
          <a:ln w="12700">
            <a:solidFill>
              <a:srgbClr val="7F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985"/>
          </a:solidFill>
          <a:ln w="12700">
            <a:solidFill>
              <a:srgbClr val="4779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330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0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330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0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025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0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20025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0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326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326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000" dirty="0"/>
          </a:p>
        </p:txBody>
      </p:sp>
      <p:sp>
        <p:nvSpPr>
          <p:cNvPr id="31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628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زَآغَّ</a:t>
            </a:r>
            <a:endParaRPr lang="ar-SA" sz="5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6D864"/>
          </a:solidFill>
          <a:ln w="12700">
            <a:solidFill>
              <a:srgbClr val="9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AD147"/>
          </a:solidFill>
          <a:ln w="12700">
            <a:solidFill>
              <a:srgbClr val="9A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909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909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25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25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486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486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</a:t>
            </a:r>
            <a:endParaRPr lang="ar-SA" sz="30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787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سَآغِّ</a:t>
            </a:r>
            <a:endParaRPr lang="ar-SA" sz="5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0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0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50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0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25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0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20025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0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516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516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غُ</a:t>
            </a:r>
            <a:endParaRPr lang="ar-SA" sz="3000" dirty="0"/>
          </a:p>
        </p:txBody>
      </p:sp>
      <p:sp>
        <p:nvSpPr>
          <p:cNvPr id="27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944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شَآغُّ</a:t>
            </a:r>
            <a:endParaRPr lang="ar-SA" sz="5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43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82B"/>
          </a:solidFill>
          <a:ln w="12700">
            <a:solidFill>
              <a:srgbClr val="6438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734"/>
          </a:solidFill>
          <a:ln w="12700">
            <a:solidFill>
              <a:srgbClr val="796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98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0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98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0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25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0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20025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0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326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326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000" dirty="0"/>
          </a:p>
        </p:txBody>
      </p:sp>
      <p:sp>
        <p:nvSpPr>
          <p:cNvPr id="28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628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صَآغَّ</a:t>
            </a:r>
            <a:endParaRPr lang="ar-SA" sz="5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73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373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25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25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486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486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</a:t>
            </a:r>
            <a:endParaRPr lang="ar-SA" sz="30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787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ضَآغِّ</a:t>
            </a:r>
            <a:endParaRPr lang="ar-SA" sz="5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0ED"/>
          </a:solidFill>
          <a:ln w="12700">
            <a:solidFill>
              <a:srgbClr val="5E6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6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0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96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0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025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0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20025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0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516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516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غُ</a:t>
            </a:r>
            <a:endParaRPr lang="ar-SA" sz="3000" dirty="0"/>
          </a:p>
        </p:txBody>
      </p:sp>
      <p:sp>
        <p:nvSpPr>
          <p:cNvPr id="34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944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طَآغُّ</a:t>
            </a:r>
            <a:endParaRPr lang="ar-SA" sz="5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433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0E052"/>
          </a:solidFill>
          <a:ln w="12700">
            <a:solidFill>
              <a:srgbClr val="D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ADB"/>
          </a:solidFill>
          <a:ln w="12700">
            <a:solidFill>
              <a:srgbClr val="709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14785"/>
          </a:solidFill>
          <a:ln w="12700">
            <a:solidFill>
              <a:srgbClr val="81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6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0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96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0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025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0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20025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0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326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326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000" dirty="0"/>
          </a:p>
        </p:txBody>
      </p:sp>
      <p:sp>
        <p:nvSpPr>
          <p:cNvPr id="31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628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ظَآغَّ</a:t>
            </a:r>
            <a:endParaRPr lang="ar-SA" sz="5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3D8"/>
          </a:solidFill>
          <a:ln w="12700">
            <a:solidFill>
              <a:srgbClr val="64B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CD1"/>
          </a:solidFill>
          <a:ln w="12700">
            <a:solidFill>
              <a:srgbClr val="47B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941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941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25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25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486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486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</a:t>
            </a:r>
            <a:endParaRPr lang="ar-SA" sz="30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787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عَآغِّ</a:t>
            </a:r>
            <a:endParaRPr lang="ar-SA" sz="5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5278503" y="896112"/>
            <a:ext cx="1252785" cy="1371600"/>
          </a:xfrm>
          <a:prstGeom prst="roundRect">
            <a:avLst>
              <a:gd name="adj" fmla="val 29196"/>
            </a:avLst>
          </a:prstGeom>
          <a:solidFill>
            <a:srgbClr val="FFFFFF"/>
          </a:solidFill>
          <a:ln w="76200">
            <a:solidFill>
              <a:srgbClr val="E2364E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5278503" y="896112"/>
            <a:ext cx="125278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وَلَا</a:t>
            </a:r>
            <a:endParaRPr lang="ar-SA" sz="4000" dirty="0"/>
          </a:p>
        </p:txBody>
      </p:sp>
      <p:sp>
        <p:nvSpPr>
          <p:cNvPr id="13" name="C2 W2 pill"/>
          <p:cNvSpPr/>
          <p:nvPr/>
        </p:nvSpPr>
        <p:spPr>
          <a:xfrm>
            <a:off x="2612713" y="896112"/>
            <a:ext cx="234575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EE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612713" y="896112"/>
            <a:ext cx="234575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ٱلضَّآلِّينَ</a:t>
            </a:r>
            <a:endParaRPr lang="ar-SA" sz="40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019615" y="2834640"/>
            <a:ext cx="310477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019615" y="2834640"/>
            <a:ext cx="310477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وَلَا ٱلضَّآلِّينَ</a:t>
            </a:r>
            <a:endParaRPr lang="ar-SA" sz="4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2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C642B"/>
          </a:solidFill>
          <a:ln w="12700">
            <a:solidFill>
              <a:srgbClr val="2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6"/>
          </a:solidFill>
          <a:ln w="12700">
            <a:solidFill>
              <a:srgbClr val="347956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6314477" y="896112"/>
            <a:ext cx="152327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1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6314477" y="896112"/>
            <a:ext cx="152327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فَإِذَا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3989718" y="896112"/>
            <a:ext cx="20047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136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3989718" y="896112"/>
            <a:ext cx="20047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جَآءَتِ</a:t>
            </a:r>
            <a:endParaRPr lang="ar-SA" sz="4400" dirty="0"/>
          </a:p>
        </p:txBody>
      </p:sp>
      <p:sp>
        <p:nvSpPr>
          <p:cNvPr id="16" name="C3 W3 pill"/>
          <p:cNvSpPr/>
          <p:nvPr/>
        </p:nvSpPr>
        <p:spPr>
          <a:xfrm>
            <a:off x="1306248" y="896112"/>
            <a:ext cx="23634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136"/>
            </a:solidFill>
            <a:prstDash val="solid"/>
          </a:ln>
        </p:spPr>
      </p:sp>
      <p:sp>
        <p:nvSpPr>
          <p:cNvPr id="17" name="C3 W3 word"/>
          <p:cNvSpPr txBox="1"/>
          <p:nvPr/>
        </p:nvSpPr>
        <p:spPr>
          <a:xfrm>
            <a:off x="1306248" y="896112"/>
            <a:ext cx="23634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ٱلصَّآخَّةُ</a:t>
            </a:r>
            <a:endParaRPr lang="ar-SA" sz="4400" dirty="0"/>
          </a:p>
        </p:txBody>
      </p:sp>
      <p:sp>
        <p:nvSpPr>
          <p:cNvPr id="18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S panel"/>
          <p:cNvSpPr/>
          <p:nvPr/>
        </p:nvSpPr>
        <p:spPr>
          <a:xfrm>
            <a:off x="2103705" y="2834640"/>
            <a:ext cx="493659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4 S sentence"/>
          <p:cNvSpPr txBox="1"/>
          <p:nvPr/>
        </p:nvSpPr>
        <p:spPr>
          <a:xfrm>
            <a:off x="2103705" y="2834640"/>
            <a:ext cx="493659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فَإِذَا جَآءَتِ ٱلصَّآخَّةُ</a:t>
            </a:r>
            <a:endParaRPr lang="ar-SA" sz="4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6183639" y="896112"/>
            <a:ext cx="145462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3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6183639" y="896112"/>
            <a:ext cx="145462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فَإِذَا</a:t>
            </a:r>
            <a:endParaRPr lang="ar-SA" sz="4000" dirty="0"/>
          </a:p>
        </p:txBody>
      </p:sp>
      <p:sp>
        <p:nvSpPr>
          <p:cNvPr id="12" name="C2 W2 pill"/>
          <p:cNvSpPr/>
          <p:nvPr/>
        </p:nvSpPr>
        <p:spPr>
          <a:xfrm>
            <a:off x="3971299" y="896112"/>
            <a:ext cx="189229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83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3971299" y="896112"/>
            <a:ext cx="189229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جَآءَتِ</a:t>
            </a:r>
            <a:endParaRPr lang="ar-SA" sz="4000" dirty="0"/>
          </a:p>
        </p:txBody>
      </p:sp>
      <p:sp>
        <p:nvSpPr>
          <p:cNvPr id="14" name="C3 W3 pill"/>
          <p:cNvSpPr/>
          <p:nvPr/>
        </p:nvSpPr>
        <p:spPr>
          <a:xfrm>
            <a:off x="1505739" y="896112"/>
            <a:ext cx="21455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3"/>
            </a:solidFill>
            <a:prstDash val="solid"/>
          </a:ln>
        </p:spPr>
      </p:sp>
      <p:sp>
        <p:nvSpPr>
          <p:cNvPr id="15" name="C3 W3 word"/>
          <p:cNvSpPr txBox="1"/>
          <p:nvPr/>
        </p:nvSpPr>
        <p:spPr>
          <a:xfrm>
            <a:off x="1505739" y="896112"/>
            <a:ext cx="21455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ٱلطَّآمَّةُ</a:t>
            </a:r>
            <a:endParaRPr lang="ar-SA" sz="4000" dirty="0"/>
          </a:p>
        </p:txBody>
      </p:sp>
      <p:sp>
        <p:nvSpPr>
          <p:cNvPr id="16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7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S panel"/>
          <p:cNvSpPr/>
          <p:nvPr/>
        </p:nvSpPr>
        <p:spPr>
          <a:xfrm>
            <a:off x="2319398" y="2834640"/>
            <a:ext cx="450520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4 S sentence"/>
          <p:cNvSpPr txBox="1"/>
          <p:nvPr/>
        </p:nvSpPr>
        <p:spPr>
          <a:xfrm>
            <a:off x="2319398" y="2834640"/>
            <a:ext cx="450520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فَإِذَا جَآءَتِ ٱلطَّآمَّةُ</a:t>
            </a:r>
            <a:endParaRPr lang="ar-SA" sz="4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4"/>
          </a:solidFill>
          <a:ln w="12700">
            <a:solidFill>
              <a:srgbClr val="ED5E8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5460378" y="896112"/>
            <a:ext cx="205964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B5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5460378" y="896112"/>
            <a:ext cx="205964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ٱلۡحَآقَّةُ</a:t>
            </a:r>
            <a:endParaRPr lang="ar-SA" sz="4200" dirty="0"/>
          </a:p>
        </p:txBody>
      </p:sp>
      <p:sp>
        <p:nvSpPr>
          <p:cNvPr id="20" name="C2 W2 pill"/>
          <p:cNvSpPr/>
          <p:nvPr/>
        </p:nvSpPr>
        <p:spPr>
          <a:xfrm>
            <a:off x="4003662" y="896112"/>
            <a:ext cx="1136675" cy="1371600"/>
          </a:xfrm>
          <a:prstGeom prst="roundRect">
            <a:avLst>
              <a:gd name="adj" fmla="val 32178"/>
            </a:avLst>
          </a:prstGeom>
          <a:solidFill>
            <a:srgbClr val="FFFFFF"/>
          </a:solidFill>
          <a:ln w="76200">
            <a:solidFill>
              <a:srgbClr val="36E2B5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4003662" y="896112"/>
            <a:ext cx="113667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مَا</a:t>
            </a:r>
            <a:endParaRPr lang="ar-SA" sz="4200" dirty="0"/>
          </a:p>
        </p:txBody>
      </p:sp>
      <p:sp>
        <p:nvSpPr>
          <p:cNvPr id="22" name="C3 W3 pill"/>
          <p:cNvSpPr/>
          <p:nvPr/>
        </p:nvSpPr>
        <p:spPr>
          <a:xfrm>
            <a:off x="1623975" y="896112"/>
            <a:ext cx="205964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536E2"/>
            </a:solidFill>
            <a:prstDash val="solid"/>
          </a:ln>
        </p:spPr>
      </p:sp>
      <p:sp>
        <p:nvSpPr>
          <p:cNvPr id="23" name="C3 W3 word"/>
          <p:cNvSpPr txBox="1"/>
          <p:nvPr/>
        </p:nvSpPr>
        <p:spPr>
          <a:xfrm>
            <a:off x="1623975" y="896112"/>
            <a:ext cx="205964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ٱلۡحَآقَّةُ</a:t>
            </a:r>
            <a:endParaRPr lang="ar-SA" sz="4200" dirty="0"/>
          </a:p>
        </p:txBody>
      </p:sp>
      <p:sp>
        <p:nvSpPr>
          <p:cNvPr id="24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5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S panel"/>
          <p:cNvSpPr/>
          <p:nvPr/>
        </p:nvSpPr>
        <p:spPr>
          <a:xfrm>
            <a:off x="2384268" y="2834640"/>
            <a:ext cx="437546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C4 S sentence"/>
          <p:cNvSpPr txBox="1"/>
          <p:nvPr/>
        </p:nvSpPr>
        <p:spPr>
          <a:xfrm>
            <a:off x="2384268" y="2834640"/>
            <a:ext cx="437546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ٱلۡحَآقَّةُ مَا ٱلۡحَآقَّةُ</a:t>
            </a:r>
            <a:endParaRPr lang="ar-SA" sz="4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43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D"/>
          </a:solidFill>
          <a:ln w="12700">
            <a:solidFill>
              <a:srgbClr val="52E0C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4"/>
          </a:solidFill>
          <a:ln w="12700">
            <a:solidFill>
              <a:srgbClr val="DB70B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247"/>
          </a:solidFill>
          <a:ln w="12700">
            <a:solidFill>
              <a:srgbClr val="8572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738204" y="896112"/>
            <a:ext cx="15196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DD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738204" y="896112"/>
            <a:ext cx="15196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وَمَا</a:t>
            </a:r>
            <a:endParaRPr lang="ar-SA" sz="5100" dirty="0"/>
          </a:p>
        </p:txBody>
      </p:sp>
      <p:sp>
        <p:nvSpPr>
          <p:cNvPr id="17" name="C2 W2 pill"/>
          <p:cNvSpPr/>
          <p:nvPr/>
        </p:nvSpPr>
        <p:spPr>
          <a:xfrm>
            <a:off x="3892070" y="896112"/>
            <a:ext cx="152609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DD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3892070" y="896112"/>
            <a:ext cx="152609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</a:t>
            </a:r>
            <a:endParaRPr lang="ar-SA" sz="5100" dirty="0"/>
          </a:p>
        </p:txBody>
      </p:sp>
      <p:sp>
        <p:nvSpPr>
          <p:cNvPr id="19" name="C3 W3 pill"/>
          <p:cNvSpPr/>
          <p:nvPr/>
        </p:nvSpPr>
        <p:spPr>
          <a:xfrm>
            <a:off x="1886152" y="896112"/>
            <a:ext cx="168587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DE236"/>
            </a:solidFill>
            <a:prstDash val="solid"/>
          </a:ln>
        </p:spPr>
      </p:sp>
      <p:sp>
        <p:nvSpPr>
          <p:cNvPr id="20" name="C3 W3 word"/>
          <p:cNvSpPr txBox="1"/>
          <p:nvPr/>
        </p:nvSpPr>
        <p:spPr>
          <a:xfrm>
            <a:off x="1886152" y="896112"/>
            <a:ext cx="168587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دَآبَّةٍ</a:t>
            </a:r>
            <a:endParaRPr lang="ar-SA" sz="5100" dirty="0"/>
          </a:p>
        </p:txBody>
      </p:sp>
      <p:sp>
        <p:nvSpPr>
          <p:cNvPr id="21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3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S panel"/>
          <p:cNvSpPr/>
          <p:nvPr/>
        </p:nvSpPr>
        <p:spPr>
          <a:xfrm>
            <a:off x="2579189" y="2834640"/>
            <a:ext cx="39856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4 S sentence"/>
          <p:cNvSpPr txBox="1"/>
          <p:nvPr/>
        </p:nvSpPr>
        <p:spPr>
          <a:xfrm>
            <a:off x="2579189" y="2834640"/>
            <a:ext cx="39856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وَمَا مِن دَآبَّةٍ</a:t>
            </a:r>
            <a:endParaRPr lang="ar-SA" sz="5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Shaddah madd 10-ain-ghain</dc:title>
  <dc:subject>PptxGenJS Presentation</dc:subject>
  <dc:creator>PptxGenJS</dc:creator>
  <cp:lastModifiedBy>PptxGenJS</cp:lastModifiedBy>
  <cp:revision>1</cp:revision>
  <dcterms:created xsi:type="dcterms:W3CDTF">2026-10-21T19:04:31Z</dcterms:created>
  <dcterms:modified xsi:type="dcterms:W3CDTF">2026-10-21T19:04:31Z</dcterms:modified>
</cp:coreProperties>
</file>