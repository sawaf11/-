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notesMasterIdLst>
    <p:notesMasterId r:id="rId7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الشدة حرفان مكتوبان حرفاً واحداً: الأول ساكن (بسكون المصحف «ۡ»)، والثاني متحرك. نضغطهما معاً فنكتب الحرف مرة واحدة وفوقه شدة «ّ»، ونقرؤه حرفين: نقف عليه أولاً ثم ننطلق بالحركة.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تكون الشدة في أول الكلمة، لأن أول الحرفين ساكن، ولا نبدأ بساكن أبداً. لا بد من حرف متحرك قبل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الطريقة الصحيحة: حرف متحرك أولاً، ثم الحرفان اللذان يصنعان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6D8"/>
          </a:solidFill>
          <a:ln w="12700">
            <a:solidFill>
              <a:srgbClr val="64A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CD1"/>
          </a:solidFill>
          <a:ln w="12700">
            <a:solidFill>
              <a:srgbClr val="47A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8472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8472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600" dirty="0"/>
          </a:p>
        </p:txBody>
      </p:sp>
      <p:sp>
        <p:nvSpPr>
          <p:cNvPr id="18" name="C6 H shaddah bar"/>
          <p:cNvSpPr/>
          <p:nvPr/>
        </p:nvSpPr>
        <p:spPr>
          <a:xfrm>
            <a:off x="4480560" y="1472184"/>
            <a:ext cx="384048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8 R result"/>
          <p:cNvSpPr txBox="1"/>
          <p:nvPr/>
        </p:nvSpPr>
        <p:spPr>
          <a:xfrm>
            <a:off x="685800" y="155408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95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120640" y="1142596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9700" dirty="0"/>
          </a:p>
        </p:txBody>
      </p:sp>
      <p:sp>
        <p:nvSpPr>
          <p:cNvPr id="13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5" name="C3 W2 word"/>
          <p:cNvSpPr txBox="1"/>
          <p:nvPr/>
        </p:nvSpPr>
        <p:spPr>
          <a:xfrm>
            <a:off x="914400" y="1142596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تَبَّ</a:t>
            </a:r>
            <a:endParaRPr lang="ar-SA" sz="9700" dirty="0"/>
          </a:p>
        </p:txBody>
      </p:sp>
      <p:sp>
        <p:nvSpPr>
          <p:cNvPr id="16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17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5" grpId="0" animBg="1"/>
      <p:bldP spid="16" grpId="0" animBg="1"/>
      <p:bldP spid="1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1"/>
          </a:solidFill>
          <a:ln w="12700">
            <a:solidFill>
              <a:srgbClr val="2B64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E"/>
          </a:solidFill>
          <a:ln w="12700">
            <a:solidFill>
              <a:srgbClr val="34795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455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تَبَّ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745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جَأَّ</a:t>
            </a:r>
            <a:endParaRPr lang="ar-SA" sz="5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4"/>
          </a:solidFill>
          <a:ln w="12700">
            <a:solidFill>
              <a:srgbClr val="ED5E7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9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455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جَبَّ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4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D"/>
          </a:solidFill>
          <a:ln w="12700">
            <a:solidFill>
              <a:srgbClr val="52E0D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8"/>
          </a:solidFill>
          <a:ln w="12700">
            <a:solidFill>
              <a:srgbClr val="DB70A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947"/>
          </a:solidFill>
          <a:ln w="12700">
            <a:solidFill>
              <a:srgbClr val="857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7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7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896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جَتَّ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3"/>
          </a:solidFill>
          <a:ln w="12700">
            <a:solidFill>
              <a:srgbClr val="D864C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F"/>
          </a:solidFill>
          <a:ln w="12700">
            <a:solidFill>
              <a:srgbClr val="D147C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395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جَثَّ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57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جَحَّ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3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364"/>
          </a:solidFill>
          <a:ln w="12700">
            <a:solidFill>
              <a:srgbClr val="2B3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C3479"/>
          </a:solidFill>
          <a:ln w="12700">
            <a:solidFill>
              <a:srgbClr val="4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5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417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جَخَّ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680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جَدَّ</a:t>
            </a:r>
            <a:endParaRPr lang="ar-SA" sz="8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7ED5E"/>
          </a:solidFill>
          <a:ln w="12700">
            <a:solidFill>
              <a:srgbClr val="9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3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أَجَّبَ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952E0"/>
          </a:solidFill>
          <a:ln w="12700">
            <a:solidFill>
              <a:srgbClr val="B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3DB70"/>
          </a:solidFill>
          <a:ln w="12700">
            <a:solidFill>
              <a:srgbClr val="C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A"/>
          </a:solidFill>
          <a:ln w="12700">
            <a:solidFill>
              <a:srgbClr val="47856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3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3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462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بَجَّتَ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164"/>
          </a:solidFill>
          <a:ln w="12700">
            <a:solidFill>
              <a:srgbClr val="D8D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147"/>
          </a:solidFill>
          <a:ln w="12700">
            <a:solidFill>
              <a:srgbClr val="D1B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4833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تَجَّثَ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3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ثَجَّحَ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1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2"/>
          </a:solidFill>
          <a:ln w="12700">
            <a:solidFill>
              <a:srgbClr val="642B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B34"/>
          </a:solidFill>
          <a:ln w="12700">
            <a:solidFill>
              <a:srgbClr val="793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3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3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6610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حَجَّخَ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489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خَجَّدَ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BED"/>
          </a:solidFill>
          <a:ln w="12700">
            <a:solidFill>
              <a:srgbClr val="5EB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3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3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575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دَجَّأَ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652"/>
          </a:solidFill>
          <a:ln w="12700">
            <a:solidFill>
              <a:srgbClr val="E09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F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9"/>
          </a:solidFill>
          <a:ln w="12700">
            <a:solidFill>
              <a:srgbClr val="70DBD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A4785"/>
          </a:solidFill>
          <a:ln w="12700">
            <a:solidFill>
              <a:srgbClr val="5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660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أَجَّ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4"/>
          </a:solidFill>
          <a:ln w="12700">
            <a:solidFill>
              <a:srgbClr val="64D8B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F"/>
          </a:solidFill>
          <a:ln w="12700">
            <a:solidFill>
              <a:srgbClr val="47D18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57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بَجَّ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57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تَجَّ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3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0642B"/>
          </a:solidFill>
          <a:ln w="12700">
            <a:solidFill>
              <a:srgbClr val="5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E7934"/>
          </a:solidFill>
          <a:ln w="12700">
            <a:solidFill>
              <a:srgbClr val="3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96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ثَجَّ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57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حَجَّ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E"/>
          </a:solidFill>
          <a:ln w="12700">
            <a:solidFill>
              <a:srgbClr val="ED5ED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57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خَجَّ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2"/>
          </a:solidFill>
          <a:ln w="12700">
            <a:solidFill>
              <a:srgbClr val="52E07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E70DB"/>
          </a:solidFill>
          <a:ln w="12700">
            <a:solidFill>
              <a:srgbClr val="B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B47"/>
          </a:solidFill>
          <a:ln w="12700">
            <a:solidFill>
              <a:srgbClr val="854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57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دَجَّ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764D8"/>
          </a:solidFill>
          <a:ln w="12700">
            <a:solidFill>
              <a:srgbClr val="9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D47D1"/>
          </a:solidFill>
          <a:ln w="12700">
            <a:solidFill>
              <a:srgbClr val="6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9712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حَأَّ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455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حَبَّ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E64"/>
          </a:solidFill>
          <a:ln w="12700">
            <a:solidFill>
              <a:srgbClr val="2B5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079"/>
          </a:solidFill>
          <a:ln w="12700">
            <a:solidFill>
              <a:srgbClr val="345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7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7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888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حَتَّ</a:t>
            </a:r>
            <a:endParaRPr lang="ar-SA" sz="9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359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حَثَّ</a:t>
            </a:r>
            <a:endParaRPr lang="ar-SA" sz="8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85E"/>
          </a:solidFill>
          <a:ln w="12700">
            <a:solidFill>
              <a:srgbClr val="EDD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57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حَجَّ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5E0"/>
          </a:solidFill>
          <a:ln w="12700">
            <a:solidFill>
              <a:srgbClr val="525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370"/>
          </a:solidFill>
          <a:ln w="12700">
            <a:solidFill>
              <a:srgbClr val="DBA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38547"/>
          </a:solidFill>
          <a:ln w="12700">
            <a:solidFill>
              <a:srgbClr val="5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5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417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حَخَّ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A64"/>
          </a:solidFill>
          <a:ln w="12700">
            <a:solidFill>
              <a:srgbClr val="D87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A47"/>
          </a:solidFill>
          <a:ln w="12700">
            <a:solidFill>
              <a:srgbClr val="D14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74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حَدَّ</a:t>
            </a:r>
            <a:endParaRPr lang="ar-SA" sz="9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3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أَحَّبَ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C2B64"/>
          </a:solidFill>
          <a:ln w="12700">
            <a:solidFill>
              <a:srgbClr val="5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1"/>
          </a:solidFill>
          <a:ln w="12700">
            <a:solidFill>
              <a:srgbClr val="79346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3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3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462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بَحَّتَ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1957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تَحَّثَ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5"/>
          </a:solidFill>
          <a:ln w="12700">
            <a:solidFill>
              <a:srgbClr val="5EEDB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3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ثَحَّجَ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8"/>
          </a:solidFill>
          <a:ln w="12700">
            <a:solidFill>
              <a:srgbClr val="E0527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9"/>
          </a:solidFill>
          <a:ln w="12700">
            <a:solidFill>
              <a:srgbClr val="70DB8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285"/>
          </a:solidFill>
          <a:ln w="12700">
            <a:solidFill>
              <a:srgbClr val="476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3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3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6610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جَحَّخَ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BD864"/>
          </a:solidFill>
          <a:ln w="12700">
            <a:solidFill>
              <a:srgbClr val="6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7D147"/>
          </a:solidFill>
          <a:ln w="12700">
            <a:solidFill>
              <a:srgbClr val="6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3873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خَحَّدَ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3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3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469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دَحَّأَ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D2B"/>
          </a:solidFill>
          <a:ln w="12700">
            <a:solidFill>
              <a:srgbClr val="644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27934"/>
          </a:solidFill>
          <a:ln w="12700">
            <a:solidFill>
              <a:srgbClr val="7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660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أَحَّ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57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بَحَّ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15EED"/>
          </a:solidFill>
          <a:ln w="12700">
            <a:solidFill>
              <a:srgbClr val="9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57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تَحَّ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CE052"/>
          </a:solidFill>
          <a:ln w="12700">
            <a:solidFill>
              <a:srgbClr val="9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2DB"/>
          </a:solidFill>
          <a:ln w="12700">
            <a:solidFill>
              <a:srgbClr val="707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1"/>
          </a:solidFill>
          <a:ln w="12700">
            <a:solidFill>
              <a:srgbClr val="85477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96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ثَحَّ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8D8"/>
          </a:solidFill>
          <a:ln w="12700">
            <a:solidFill>
              <a:srgbClr val="648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9D1"/>
          </a:solidFill>
          <a:ln w="12700">
            <a:solidFill>
              <a:srgbClr val="478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57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جَحَّ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57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خَحَّ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F"/>
          </a:solidFill>
          <a:ln w="12700">
            <a:solidFill>
              <a:srgbClr val="2B64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F"/>
          </a:solidFill>
          <a:ln w="12700">
            <a:solidFill>
              <a:srgbClr val="3479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57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دَحَّ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4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44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9712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خَأَّ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E5E"/>
          </a:solidFill>
          <a:ln w="12700">
            <a:solidFill>
              <a:srgbClr val="ED6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5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9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45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455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خَبَّ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FE0"/>
          </a:solidFill>
          <a:ln w="12700">
            <a:solidFill>
              <a:srgbClr val="52B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D"/>
          </a:solidFill>
          <a:ln w="12700">
            <a:solidFill>
              <a:srgbClr val="DB708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18547"/>
          </a:solidFill>
          <a:ln w="12700">
            <a:solidFill>
              <a:srgbClr val="8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8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7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48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7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888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خَتَّ</a:t>
            </a:r>
            <a:endParaRPr lang="ar-SA" sz="9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5"/>
          </a:solidFill>
          <a:ln w="12700">
            <a:solidFill>
              <a:srgbClr val="D864A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B"/>
          </a:solidFill>
          <a:ln w="12700">
            <a:solidFill>
              <a:srgbClr val="D147A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9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49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359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خَثَّ</a:t>
            </a:r>
            <a:endParaRPr lang="ar-SA" sz="8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57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خَجَّ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12B64"/>
          </a:solidFill>
          <a:ln w="12700">
            <a:solidFill>
              <a:srgbClr val="3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E3479"/>
          </a:solidFill>
          <a:ln w="12700">
            <a:solidFill>
              <a:srgbClr val="5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57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خَحَّ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0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0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98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98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74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خَدَّ</a:t>
            </a:r>
            <a:endParaRPr lang="ar-SA" sz="9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3ED5E"/>
          </a:solidFill>
          <a:ln w="12700">
            <a:solidFill>
              <a:srgbClr val="7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452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1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20452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15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15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1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97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1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97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1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أَخَّبَ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E52E0"/>
          </a:solidFill>
          <a:ln w="12700">
            <a:solidFill>
              <a:srgbClr val="D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8DB70"/>
          </a:solidFill>
          <a:ln w="12700">
            <a:solidFill>
              <a:srgbClr val="A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9"/>
          </a:solidFill>
          <a:ln w="12700">
            <a:solidFill>
              <a:srgbClr val="47857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97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1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97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15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15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1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5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1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65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1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9563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بَخَّتَ</a:t>
            </a:r>
            <a:endParaRPr lang="ar-SA" sz="69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2D864"/>
          </a:solidFill>
          <a:ln w="12700">
            <a:solidFill>
              <a:srgbClr val="C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ED147"/>
          </a:solidFill>
          <a:ln w="12700">
            <a:solidFill>
              <a:srgbClr val="C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5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5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15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15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8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8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1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7081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تَخَّثَ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8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8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15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15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1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1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1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091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ثَخَّجَ</a:t>
            </a:r>
            <a:endParaRPr lang="ar-SA" sz="6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3"/>
          </a:solidFill>
          <a:ln w="12700">
            <a:solidFill>
              <a:srgbClr val="642B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D34"/>
          </a:solidFill>
          <a:ln w="12700">
            <a:solidFill>
              <a:srgbClr val="794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1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15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15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1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1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1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091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جَخَّحَ</a:t>
            </a:r>
            <a:endParaRPr lang="ar-SA" sz="6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15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15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58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1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58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1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889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حَخَّدَ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6ED"/>
          </a:solidFill>
          <a:ln w="12700">
            <a:solidFill>
              <a:srgbClr val="5E9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8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1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58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15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15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1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20452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1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20452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1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469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دَخَّأَ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A52"/>
          </a:solidFill>
          <a:ln w="12700">
            <a:solidFill>
              <a:srgbClr val="E0B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2DB"/>
          </a:solidFill>
          <a:ln w="12700">
            <a:solidFill>
              <a:srgbClr val="70C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A4785"/>
          </a:solidFill>
          <a:ln w="12700">
            <a:solidFill>
              <a:srgbClr val="6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97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97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5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660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أَخَّ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1"/>
          </a:solidFill>
          <a:ln w="12700">
            <a:solidFill>
              <a:srgbClr val="64D8D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2"/>
          </a:solidFill>
          <a:ln w="12700">
            <a:solidFill>
              <a:srgbClr val="47D1B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05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305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417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بَخَّ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6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06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5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417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تَخَّ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1642B"/>
          </a:solidFill>
          <a:ln w="12700">
            <a:solidFill>
              <a:srgbClr val="4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C"/>
          </a:solidFill>
          <a:ln w="12700">
            <a:solidFill>
              <a:srgbClr val="34793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3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5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417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ثَخَّ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417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جَخَّ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A"/>
          </a:solidFill>
          <a:ln w="12700">
            <a:solidFill>
              <a:srgbClr val="ED5EB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5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417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حَخَّ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7"/>
          </a:solidFill>
          <a:ln w="12700">
            <a:solidFill>
              <a:srgbClr val="52E09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F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A70DB"/>
          </a:solidFill>
          <a:ln w="12700">
            <a:solidFill>
              <a:srgbClr val="D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B47"/>
          </a:solidFill>
          <a:ln w="12700">
            <a:solidFill>
              <a:srgbClr val="855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9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99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5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417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دَخَّ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464D8"/>
          </a:solidFill>
          <a:ln w="12700">
            <a:solidFill>
              <a:srgbClr val="B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047D1"/>
          </a:solidFill>
          <a:ln w="12700">
            <a:solidFill>
              <a:srgbClr val="9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937038" y="896112"/>
            <a:ext cx="155238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8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937038" y="896112"/>
            <a:ext cx="15523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رَبَّنَا</a:t>
            </a:r>
            <a:endParaRPr lang="ar-SA" sz="4800" dirty="0"/>
          </a:p>
        </p:txBody>
      </p:sp>
      <p:sp>
        <p:nvSpPr>
          <p:cNvPr id="12" name="C2 W2 pill"/>
          <p:cNvSpPr/>
          <p:nvPr/>
        </p:nvSpPr>
        <p:spPr>
          <a:xfrm>
            <a:off x="3373039" y="896112"/>
            <a:ext cx="224395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D8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3373039" y="896112"/>
            <a:ext cx="224395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تَقَبَّلۡ</a:t>
            </a:r>
            <a:endParaRPr lang="ar-SA" sz="4800" dirty="0"/>
          </a:p>
        </p:txBody>
      </p:sp>
      <p:sp>
        <p:nvSpPr>
          <p:cNvPr id="14" name="C3 W3 pill"/>
          <p:cNvSpPr/>
          <p:nvPr/>
        </p:nvSpPr>
        <p:spPr>
          <a:xfrm>
            <a:off x="1654577" y="896112"/>
            <a:ext cx="139842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D8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1654577" y="896112"/>
            <a:ext cx="139842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مِنَّا</a:t>
            </a:r>
            <a:endParaRPr lang="ar-SA" sz="4800" dirty="0"/>
          </a:p>
        </p:txBody>
      </p:sp>
      <p:sp>
        <p:nvSpPr>
          <p:cNvPr id="16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S panel"/>
          <p:cNvSpPr/>
          <p:nvPr/>
        </p:nvSpPr>
        <p:spPr>
          <a:xfrm>
            <a:off x="2436037" y="2834640"/>
            <a:ext cx="427192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4 S sentence"/>
          <p:cNvSpPr txBox="1"/>
          <p:nvPr/>
        </p:nvSpPr>
        <p:spPr>
          <a:xfrm>
            <a:off x="2436037" y="2834640"/>
            <a:ext cx="427192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رَبَّنَا تَقَبَّلۡ مِنَّا</a:t>
            </a:r>
            <a:endParaRPr lang="ar-SA" sz="4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7012503" y="896112"/>
            <a:ext cx="1252492" cy="1371600"/>
          </a:xfrm>
          <a:prstGeom prst="roundRect">
            <a:avLst>
              <a:gd name="adj" fmla="val 29203"/>
            </a:avLst>
          </a:prstGeom>
          <a:solidFill>
            <a:srgbClr val="FFFFFF"/>
          </a:solidFill>
          <a:ln w="76200">
            <a:solidFill>
              <a:srgbClr val="BA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7012503" y="896112"/>
            <a:ext cx="125249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إِنَّ</a:t>
            </a:r>
            <a:endParaRPr lang="ar-SA" sz="4000" dirty="0"/>
          </a:p>
        </p:txBody>
      </p:sp>
      <p:sp>
        <p:nvSpPr>
          <p:cNvPr id="13" name="C2 W2 pill"/>
          <p:cNvSpPr/>
          <p:nvPr/>
        </p:nvSpPr>
        <p:spPr>
          <a:xfrm>
            <a:off x="5222375" y="896112"/>
            <a:ext cx="14700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A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5222375" y="896112"/>
            <a:ext cx="14700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ٱللَّهَ</a:t>
            </a:r>
            <a:endParaRPr lang="ar-SA" sz="4000" dirty="0"/>
          </a:p>
        </p:txBody>
      </p:sp>
      <p:sp>
        <p:nvSpPr>
          <p:cNvPr id="15" name="C3 W3 pill"/>
          <p:cNvSpPr/>
          <p:nvPr/>
        </p:nvSpPr>
        <p:spPr>
          <a:xfrm>
            <a:off x="3630811" y="896112"/>
            <a:ext cx="1271524" cy="1371600"/>
          </a:xfrm>
          <a:prstGeom prst="roundRect">
            <a:avLst>
              <a:gd name="adj" fmla="val 28765"/>
            </a:avLst>
          </a:prstGeom>
          <a:solidFill>
            <a:srgbClr val="FFFFFF"/>
          </a:solidFill>
          <a:ln w="76200">
            <a:solidFill>
              <a:srgbClr val="E236BA"/>
            </a:solidFill>
            <a:prstDash val="solid"/>
          </a:ln>
        </p:spPr>
      </p:sp>
      <p:sp>
        <p:nvSpPr>
          <p:cNvPr id="16" name="C3 W3 word"/>
          <p:cNvSpPr txBox="1"/>
          <p:nvPr/>
        </p:nvSpPr>
        <p:spPr>
          <a:xfrm>
            <a:off x="3630811" y="896112"/>
            <a:ext cx="12715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مَعَ</a:t>
            </a:r>
            <a:endParaRPr lang="ar-SA" sz="4000" dirty="0"/>
          </a:p>
        </p:txBody>
      </p:sp>
      <p:sp>
        <p:nvSpPr>
          <p:cNvPr id="17" name="C4 W4 pill"/>
          <p:cNvSpPr/>
          <p:nvPr/>
        </p:nvSpPr>
        <p:spPr>
          <a:xfrm>
            <a:off x="879005" y="896112"/>
            <a:ext cx="24317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AE236"/>
            </a:solidFill>
            <a:prstDash val="solid"/>
          </a:ln>
        </p:spPr>
      </p:sp>
      <p:sp>
        <p:nvSpPr>
          <p:cNvPr id="18" name="C4 W4 word"/>
          <p:cNvSpPr txBox="1"/>
          <p:nvPr/>
        </p:nvSpPr>
        <p:spPr>
          <a:xfrm>
            <a:off x="879005" y="896112"/>
            <a:ext cx="24317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ٱلصَّٰبِرِينَ</a:t>
            </a:r>
            <a:endParaRPr lang="ar-SA" sz="4000" dirty="0"/>
          </a:p>
        </p:txBody>
      </p:sp>
      <p:sp>
        <p:nvSpPr>
          <p:cNvPr id="19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S panel"/>
          <p:cNvSpPr/>
          <p:nvPr/>
        </p:nvSpPr>
        <p:spPr>
          <a:xfrm>
            <a:off x="2166662" y="2834640"/>
            <a:ext cx="481067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5 S sentence"/>
          <p:cNvSpPr txBox="1"/>
          <p:nvPr/>
        </p:nvSpPr>
        <p:spPr>
          <a:xfrm>
            <a:off x="2166662" y="2834640"/>
            <a:ext cx="481067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إِنَّ ٱللَّهَ مَعَ ٱلصَّٰبِرِينَ</a:t>
            </a:r>
            <a:endParaRPr lang="ar-SA" sz="4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4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F64"/>
          </a:solidFill>
          <a:ln w="12700">
            <a:solidFill>
              <a:srgbClr val="2B4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E79"/>
          </a:solidFill>
          <a:ln w="12700">
            <a:solidFill>
              <a:srgbClr val="343E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5544249" y="896112"/>
            <a:ext cx="1294729" cy="1371600"/>
          </a:xfrm>
          <a:prstGeom prst="roundRect">
            <a:avLst>
              <a:gd name="adj" fmla="val 28250"/>
            </a:avLst>
          </a:prstGeom>
          <a:solidFill>
            <a:srgbClr val="FFFFFF"/>
          </a:solidFill>
          <a:ln w="76200">
            <a:solidFill>
              <a:srgbClr val="3688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544249" y="896112"/>
            <a:ext cx="12947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كَلَّا</a:t>
            </a:r>
            <a:endParaRPr lang="ar-SA" sz="4000" dirty="0"/>
          </a:p>
        </p:txBody>
      </p:sp>
      <p:sp>
        <p:nvSpPr>
          <p:cNvPr id="14" name="C2 W2 pill"/>
          <p:cNvSpPr/>
          <p:nvPr/>
        </p:nvSpPr>
        <p:spPr>
          <a:xfrm>
            <a:off x="2305021" y="896112"/>
            <a:ext cx="291918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8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05021" y="896112"/>
            <a:ext cx="291918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سَيَعۡلَمُونَ</a:t>
            </a:r>
            <a:endParaRPr lang="ar-SA" sz="40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7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665254" y="2834640"/>
            <a:ext cx="381349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665254" y="2834640"/>
            <a:ext cx="381349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كَلَّا سَيَعۡلَمُونَ</a:t>
            </a:r>
            <a:endParaRPr lang="ar-SA" sz="4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64171" y="896112"/>
            <a:ext cx="1230426" cy="1371600"/>
          </a:xfrm>
          <a:prstGeom prst="roundRect">
            <a:avLst>
              <a:gd name="adj" fmla="val 29726"/>
            </a:avLst>
          </a:prstGeom>
          <a:solidFill>
            <a:srgbClr val="FFFFFF"/>
          </a:solidFill>
          <a:ln w="76200">
            <a:solidFill>
              <a:srgbClr val="E2365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64171" y="896112"/>
            <a:ext cx="123042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ثُمَّ</a:t>
            </a:r>
            <a:endParaRPr lang="ar-SA" sz="4000" dirty="0"/>
          </a:p>
        </p:txBody>
      </p:sp>
      <p:sp>
        <p:nvSpPr>
          <p:cNvPr id="12" name="C2 W2 pill"/>
          <p:cNvSpPr/>
          <p:nvPr/>
        </p:nvSpPr>
        <p:spPr>
          <a:xfrm>
            <a:off x="3149402" y="896112"/>
            <a:ext cx="1294729" cy="1371600"/>
          </a:xfrm>
          <a:prstGeom prst="roundRect">
            <a:avLst>
              <a:gd name="adj" fmla="val 28250"/>
            </a:avLst>
          </a:prstGeom>
          <a:solidFill>
            <a:srgbClr val="FFFFFF"/>
          </a:solidFill>
          <a:ln w="76200">
            <a:solidFill>
              <a:srgbClr val="56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3149402" y="896112"/>
            <a:ext cx="12947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كَلَّا</a:t>
            </a:r>
            <a:endParaRPr lang="ar-SA" sz="40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527514" y="2834640"/>
            <a:ext cx="208897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527514" y="2834640"/>
            <a:ext cx="208897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ثُمَّ كَلَّا</a:t>
            </a:r>
            <a:endParaRPr lang="ar-SA" sz="4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fatha 04-jeem-ha-kha</dc:title>
  <dc:subject>PptxGenJS Presentation</dc:subject>
  <dc:creator>PptxGenJS</dc:creator>
  <cp:lastModifiedBy>PptxGenJS</cp:lastModifiedBy>
  <cp:revision>1</cp:revision>
  <dcterms:created xsi:type="dcterms:W3CDTF">2026-10-21T19:04:07Z</dcterms:created>
  <dcterms:modified xsi:type="dcterms:W3CDTF">2026-10-21T19:04:07Z</dcterms:modified>
</cp:coreProperties>
</file>