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</p:sldIdLst>
  <p:notesMasterIdLst>
    <p:notesMasterId r:id="rId8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notesMaster" Target="notesMasters/notesMaster1.xml"/><Relationship Id="rId84" Type="http://schemas.openxmlformats.org/officeDocument/2006/relationships/presProps" Target="presProps.xml"/><Relationship Id="rId85" Type="http://schemas.openxmlformats.org/officeDocument/2006/relationships/viewProps" Target="viewProps.xml"/><Relationship Id="rId86" Type="http://schemas.openxmlformats.org/officeDocument/2006/relationships/theme" Target="theme/theme1.xml"/><Relationship Id="rId8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الضمة: الحرف المشدد = حرف ساكن + نفس الحرف بـالضمة.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600" dirty="0"/>
          </a:p>
        </p:txBody>
      </p:sp>
      <p:sp>
        <p:nvSpPr>
          <p:cNvPr id="18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8 R result"/>
          <p:cNvSpPr txBox="1"/>
          <p:nvPr/>
        </p:nvSpPr>
        <p:spPr>
          <a:xfrm>
            <a:off x="685800" y="164048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بُّ</a:t>
            </a:r>
            <a:endParaRPr lang="ar-SA" sz="8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25E"/>
          </a:solidFill>
          <a:ln w="12700">
            <a:solidFill>
              <a:srgbClr val="ED6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120640" y="123102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بُّ</a:t>
            </a:r>
            <a:endParaRPr lang="ar-SA" sz="8700" dirty="0"/>
          </a:p>
        </p:txBody>
      </p:sp>
      <p:sp>
        <p:nvSpPr>
          <p:cNvPr id="20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22" name="C3 W2 word"/>
          <p:cNvSpPr txBox="1"/>
          <p:nvPr/>
        </p:nvSpPr>
        <p:spPr>
          <a:xfrm>
            <a:off x="914400" y="123102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تَبُّ</a:t>
            </a:r>
            <a:endParaRPr lang="ar-SA" sz="8700" dirty="0"/>
          </a:p>
        </p:txBody>
      </p:sp>
      <p:sp>
        <p:nvSpPr>
          <p:cNvPr id="23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24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BE0"/>
          </a:solidFill>
          <a:ln w="12700">
            <a:solidFill>
              <a:srgbClr val="52C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6"/>
          </a:solidFill>
          <a:ln w="12700">
            <a:solidFill>
              <a:srgbClr val="DB709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447"/>
          </a:solidFill>
          <a:ln w="12700">
            <a:solidFill>
              <a:srgbClr val="858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تَبُّ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F"/>
          </a:solidFill>
          <a:ln w="12700">
            <a:solidFill>
              <a:srgbClr val="D864A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7"/>
          </a:solidFill>
          <a:ln w="12700">
            <a:solidFill>
              <a:srgbClr val="D147B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71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20547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899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هَأُّ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1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1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650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21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هَبُّ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2B64"/>
          </a:solidFill>
          <a:ln w="12700">
            <a:solidFill>
              <a:srgbClr val="2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3479"/>
          </a:solidFill>
          <a:ln w="12700">
            <a:solidFill>
              <a:srgbClr val="5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251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هَتُّ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7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54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48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هَثُّ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EED5E"/>
          </a:solidFill>
          <a:ln w="12700">
            <a:solidFill>
              <a:srgbClr val="7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هَجُّ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252E0"/>
          </a:solidFill>
          <a:ln w="12700">
            <a:solidFill>
              <a:srgbClr val="D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0DB70"/>
          </a:solidFill>
          <a:ln w="12700">
            <a:solidFill>
              <a:srgbClr val="B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4"/>
          </a:solidFill>
          <a:ln w="12700">
            <a:solidFill>
              <a:srgbClr val="4785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هَحُّ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CD864"/>
          </a:solidFill>
          <a:ln w="12700">
            <a:solidFill>
              <a:srgbClr val="C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947"/>
          </a:solidFill>
          <a:ln w="12700">
            <a:solidFill>
              <a:srgbClr val="D1C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71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72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خُ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30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هَخُّ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292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25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هَدُّ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8"/>
          </a:solidFill>
          <a:ln w="12700">
            <a:solidFill>
              <a:srgbClr val="642B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734"/>
          </a:solidFill>
          <a:ln w="12700">
            <a:solidFill>
              <a:srgbClr val="794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8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4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828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هَذُّ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7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10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رُ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60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هَرُّ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2ED"/>
          </a:solidFill>
          <a:ln w="12700">
            <a:solidFill>
              <a:srgbClr val="5EA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7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248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هَزُّ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F52"/>
          </a:solidFill>
          <a:ln w="12700">
            <a:solidFill>
              <a:srgbClr val="E0A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BDB"/>
          </a:solidFill>
          <a:ln w="12700">
            <a:solidFill>
              <a:srgbClr val="70C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4785"/>
          </a:solidFill>
          <a:ln w="12700">
            <a:solidFill>
              <a:srgbClr val="6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7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442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هَسُّ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8"/>
          </a:solidFill>
          <a:ln w="12700">
            <a:solidFill>
              <a:srgbClr val="64D8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7"/>
          </a:solidFill>
          <a:ln w="12700">
            <a:solidFill>
              <a:srgbClr val="47D1A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71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10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شُ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590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هَشُّ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533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58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هَصُّ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642B"/>
          </a:solidFill>
          <a:ln w="12700">
            <a:solidFill>
              <a:srgbClr val="4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6"/>
          </a:solidFill>
          <a:ln w="12700">
            <a:solidFill>
              <a:srgbClr val="34793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6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339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هَضُّ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71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91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264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هَطُّ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6"/>
          </a:solidFill>
          <a:ln w="12700">
            <a:solidFill>
              <a:srgbClr val="ED5EC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7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84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9264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هَظُّ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B"/>
          </a:solidFill>
          <a:ln w="12700">
            <a:solidFill>
              <a:srgbClr val="52E08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170DB"/>
          </a:solidFill>
          <a:ln w="12700">
            <a:solidFill>
              <a:srgbClr val="D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647"/>
          </a:solidFill>
          <a:ln w="12700">
            <a:solidFill>
              <a:srgbClr val="855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4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هَعُّ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B64D8"/>
          </a:solidFill>
          <a:ln w="12700">
            <a:solidFill>
              <a:srgbClr val="A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547D1"/>
          </a:solidFill>
          <a:ln w="12700">
            <a:solidFill>
              <a:srgbClr val="8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71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1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793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هَغُّ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1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1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654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33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633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هَفُّ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464"/>
          </a:solidFill>
          <a:ln w="12700">
            <a:solidFill>
              <a:srgbClr val="2B5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379"/>
          </a:solidFill>
          <a:ln w="12700">
            <a:solidFill>
              <a:srgbClr val="344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138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14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هَقُّ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68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094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هَكُّ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9ED5E"/>
          </a:solidFill>
          <a:ln w="12700">
            <a:solidFill>
              <a:srgbClr val="E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7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30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870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هَلُّ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852E0"/>
          </a:solidFill>
          <a:ln w="12700">
            <a:solidFill>
              <a:srgbClr val="6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670"/>
          </a:solidFill>
          <a:ln w="12700">
            <a:solidFill>
              <a:srgbClr val="DBB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8547"/>
          </a:solidFill>
          <a:ln w="12700">
            <a:solidFill>
              <a:srgbClr val="4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1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71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01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هَمُّ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E64"/>
          </a:solidFill>
          <a:ln w="12700">
            <a:solidFill>
              <a:srgbClr val="D88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247"/>
          </a:solidFill>
          <a:ln w="12700">
            <a:solidFill>
              <a:srgbClr val="D16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71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01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هَنُّ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3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أَهُّبَ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2"/>
          </a:solidFill>
          <a:ln w="12700">
            <a:solidFill>
              <a:srgbClr val="642B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5"/>
          </a:solidFill>
          <a:ln w="12700">
            <a:solidFill>
              <a:srgbClr val="7934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3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537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بَهُّتَ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3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37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تَهُّثَ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E"/>
          </a:solidFill>
          <a:ln w="12700">
            <a:solidFill>
              <a:srgbClr val="5EEDC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3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9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ثَهُّجَ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F"/>
          </a:solidFill>
          <a:ln w="12700">
            <a:solidFill>
              <a:srgbClr val="E0525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B"/>
          </a:solidFill>
          <a:ln w="12700">
            <a:solidFill>
              <a:srgbClr val="70DB9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785"/>
          </a:solidFill>
          <a:ln w="12700">
            <a:solidFill>
              <a:srgbClr val="475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3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9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جَهُّحَ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1"/>
          </a:solidFill>
          <a:ln w="12700">
            <a:solidFill>
              <a:srgbClr val="64D87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FD147"/>
          </a:solidFill>
          <a:ln w="12700">
            <a:solidFill>
              <a:srgbClr val="4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2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2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07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07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38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حَهُّخَ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2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2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807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807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38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537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خَهُّدَ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72B"/>
          </a:solidFill>
          <a:ln w="12700">
            <a:solidFill>
              <a:srgbClr val="645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7934"/>
          </a:solidFill>
          <a:ln w="12700">
            <a:solidFill>
              <a:srgbClr val="6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3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9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092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دَهُّذَ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3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047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ذَهُّرَ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A5EED"/>
          </a:solidFill>
          <a:ln w="12700">
            <a:solidFill>
              <a:srgbClr val="A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3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9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047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رَهُّزَ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3E052"/>
          </a:solidFill>
          <a:ln w="12700">
            <a:solidFill>
              <a:srgbClr val="8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170DB"/>
          </a:solidFill>
          <a:ln w="12700">
            <a:solidFill>
              <a:srgbClr val="8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7"/>
          </a:solidFill>
          <a:ln w="12700">
            <a:solidFill>
              <a:srgbClr val="8547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3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9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036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زَهُّسَ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4D8"/>
          </a:solidFill>
          <a:ln w="12700">
            <a:solidFill>
              <a:srgbClr val="647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1D1"/>
          </a:solidFill>
          <a:ln w="12700">
            <a:solidFill>
              <a:srgbClr val="477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32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32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788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788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08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سَهُّشَ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32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32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788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788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35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5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5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503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شَهُّصَ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9"/>
          </a:solidFill>
          <a:ln w="12700">
            <a:solidFill>
              <a:srgbClr val="2B644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779"/>
          </a:solidFill>
          <a:ln w="12700">
            <a:solidFill>
              <a:srgbClr val="347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781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781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499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صَهُّضَ</a:t>
            </a:r>
            <a:endParaRPr lang="ar-SA" sz="5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781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781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280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ضَهُّطَ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65E"/>
          </a:solidFill>
          <a:ln w="12700">
            <a:solidFill>
              <a:srgbClr val="ED8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3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9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537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طَهُّظَ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6E0"/>
          </a:solidFill>
          <a:ln w="12700">
            <a:solidFill>
              <a:srgbClr val="52A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A"/>
          </a:solidFill>
          <a:ln w="12700">
            <a:solidFill>
              <a:srgbClr val="DB707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8547"/>
          </a:solidFill>
          <a:ln w="12700">
            <a:solidFill>
              <a:srgbClr val="7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3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9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ظَهُّعَ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1"/>
          </a:solidFill>
          <a:ln w="12700">
            <a:solidFill>
              <a:srgbClr val="D8649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3"/>
          </a:solidFill>
          <a:ln w="12700">
            <a:solidFill>
              <a:srgbClr val="D1479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2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2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79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79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6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6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عَهُّغَ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2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2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79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79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36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6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6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537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غَهُّفَ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2B64"/>
          </a:solidFill>
          <a:ln w="12700">
            <a:solidFill>
              <a:srgbClr val="3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3479"/>
          </a:solidFill>
          <a:ln w="12700">
            <a:solidFill>
              <a:srgbClr val="6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3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9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407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فَهُّقَ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3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37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قَهُّكَ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3"/>
          </a:solidFill>
          <a:ln w="12700">
            <a:solidFill>
              <a:srgbClr val="5EED6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3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9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537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كَهُّلَ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A"/>
          </a:solidFill>
          <a:ln w="12700">
            <a:solidFill>
              <a:srgbClr val="E052C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5DB70"/>
          </a:solidFill>
          <a:ln w="12700">
            <a:solidFill>
              <a:srgbClr val="9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4"/>
          </a:solidFill>
          <a:ln w="12700">
            <a:solidFill>
              <a:srgbClr val="4785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3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9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لَهُّمَ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ED864"/>
          </a:solidFill>
          <a:ln w="12700">
            <a:solidFill>
              <a:srgbClr val="A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6D147"/>
          </a:solidFill>
          <a:ln w="12700">
            <a:solidFill>
              <a:srgbClr val="B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3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37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مَهُّنَ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3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9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303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نَهُّأَ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D2B"/>
          </a:solidFill>
          <a:ln w="12700">
            <a:solidFill>
              <a:srgbClr val="642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934"/>
          </a:solidFill>
          <a:ln w="12700">
            <a:solidFill>
              <a:srgbClr val="795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4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61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أَهُّ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445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بَهُّ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DED"/>
          </a:solidFill>
          <a:ln w="12700">
            <a:solidFill>
              <a:srgbClr val="5E7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4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564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تَهُّ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352"/>
          </a:solidFill>
          <a:ln w="12700">
            <a:solidFill>
              <a:srgbClr val="E0D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0DB"/>
          </a:solidFill>
          <a:ln w="12700">
            <a:solidFill>
              <a:srgbClr val="70B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4785"/>
          </a:solidFill>
          <a:ln w="12700">
            <a:solidFill>
              <a:srgbClr val="7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4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564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ثَهُّ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BD8"/>
          </a:solidFill>
          <a:ln w="12700">
            <a:solidFill>
              <a:srgbClr val="64C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A"/>
          </a:solidFill>
          <a:ln w="12700">
            <a:solidFill>
              <a:srgbClr val="47D1C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468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جَهُّ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4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564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حَهُّ</a:t>
            </a:r>
            <a:endParaRPr lang="ar-SA" sz="8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642B"/>
          </a:solidFill>
          <a:ln w="12700">
            <a:solidFill>
              <a:srgbClr val="3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8"/>
          </a:solidFill>
          <a:ln w="12700">
            <a:solidFill>
              <a:srgbClr val="3479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25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25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4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564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خَهُّ</a:t>
            </a:r>
            <a:endParaRPr lang="ar-SA" sz="8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149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دَهُّ</a:t>
            </a:r>
            <a:endParaRPr lang="ar-SA" sz="8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1"/>
          </a:solidFill>
          <a:ln w="12700">
            <a:solidFill>
              <a:srgbClr val="ED5EA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4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149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ذَهُّ</a:t>
            </a:r>
            <a:endParaRPr lang="ar-SA" sz="8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0"/>
          </a:solidFill>
          <a:ln w="12700">
            <a:solidFill>
              <a:srgbClr val="52E0B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A"/>
          </a:solidFill>
          <a:ln w="12700">
            <a:solidFill>
              <a:srgbClr val="DB70C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547"/>
          </a:solidFill>
          <a:ln w="12700">
            <a:solidFill>
              <a:srgbClr val="856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4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835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رَهُّ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64D8"/>
          </a:solidFill>
          <a:ln w="12700">
            <a:solidFill>
              <a:srgbClr val="C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847D1"/>
          </a:solidFill>
          <a:ln w="12700">
            <a:solidFill>
              <a:srgbClr val="A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35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زَهُّ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4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51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سَهُّ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564"/>
          </a:solidFill>
          <a:ln w="12700">
            <a:solidFill>
              <a:srgbClr val="2B4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3479"/>
          </a:solidFill>
          <a:ln w="12700">
            <a:solidFill>
              <a:srgbClr val="3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225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225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51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شَهُّ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44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44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4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51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صَهُّ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5ED5E"/>
          </a:solidFill>
          <a:ln w="12700">
            <a:solidFill>
              <a:srgbClr val="C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225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225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51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ضَهُّ</a:t>
            </a:r>
            <a:endParaRPr lang="ar-SA" sz="8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C52E0"/>
          </a:solidFill>
          <a:ln w="12700">
            <a:solidFill>
              <a:srgbClr val="8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270"/>
          </a:solidFill>
          <a:ln w="12700">
            <a:solidFill>
              <a:srgbClr val="DBD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6"/>
          </a:solidFill>
          <a:ln w="12700">
            <a:solidFill>
              <a:srgbClr val="4785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4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564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طَهُّ</a:t>
            </a:r>
            <a:endParaRPr lang="ar-SA" sz="8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C64"/>
          </a:solidFill>
          <a:ln w="12700">
            <a:solidFill>
              <a:srgbClr val="D8A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547"/>
          </a:solidFill>
          <a:ln w="12700">
            <a:solidFill>
              <a:srgbClr val="D18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564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ظَهُّ</a:t>
            </a:r>
            <a:endParaRPr lang="ar-SA" sz="8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4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564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عَهُّ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4"/>
          </a:solidFill>
          <a:ln w="12700">
            <a:solidFill>
              <a:srgbClr val="642B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3"/>
          </a:solidFill>
          <a:ln w="12700">
            <a:solidFill>
              <a:srgbClr val="7934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1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1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237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237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4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564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غَهُّ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564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فَهُّ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8ED"/>
          </a:solidFill>
          <a:ln w="12700">
            <a:solidFill>
              <a:srgbClr val="5EE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4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564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قَهُّ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852"/>
          </a:solidFill>
          <a:ln w="12700">
            <a:solidFill>
              <a:srgbClr val="E06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7"/>
          </a:solidFill>
          <a:ln w="12700">
            <a:solidFill>
              <a:srgbClr val="70DBB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885"/>
          </a:solidFill>
          <a:ln w="12700">
            <a:solidFill>
              <a:srgbClr val="474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4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564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كَهُّ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F"/>
          </a:solidFill>
          <a:ln w="12700">
            <a:solidFill>
              <a:srgbClr val="64D88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3"/>
          </a:solidFill>
          <a:ln w="12700">
            <a:solidFill>
              <a:srgbClr val="47D16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564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لَهُّ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4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432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مَهُّ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642B"/>
          </a:solidFill>
          <a:ln w="12700">
            <a:solidFill>
              <a:srgbClr val="6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7934"/>
          </a:solidFill>
          <a:ln w="12700">
            <a:solidFill>
              <a:srgbClr val="5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25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4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564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نَهُّ</a:t>
            </a:r>
            <a:endParaRPr lang="ar-SA" sz="8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718689" y="896112"/>
            <a:ext cx="16524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D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718689" y="896112"/>
            <a:ext cx="16524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وَٱللَّهُ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4637385" y="896112"/>
            <a:ext cx="17612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D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4637385" y="896112"/>
            <a:ext cx="17612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يُحِبُّ</a:t>
            </a:r>
            <a:endParaRPr lang="ar-SA" sz="4000" dirty="0"/>
          </a:p>
        </p:txBody>
      </p:sp>
      <p:sp>
        <p:nvSpPr>
          <p:cNvPr id="14" name="C3 W3 pill"/>
          <p:cNvSpPr/>
          <p:nvPr/>
        </p:nvSpPr>
        <p:spPr>
          <a:xfrm>
            <a:off x="772850" y="896112"/>
            <a:ext cx="35444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DE23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772850" y="896112"/>
            <a:ext cx="35444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ٱلۡمُحۡسِنِينَ</a:t>
            </a:r>
            <a:endParaRPr lang="ar-SA" sz="40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1608372" y="2834640"/>
            <a:ext cx="592725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1608372" y="2834640"/>
            <a:ext cx="592725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وَٱللَّهُ يُحِبُّ ٱلۡمُحۡسِنِينَ</a:t>
            </a:r>
            <a:endParaRPr lang="ar-SA" sz="4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F5EED"/>
          </a:solidFill>
          <a:ln w="12700">
            <a:solidFill>
              <a:srgbClr val="C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497043" y="896112"/>
            <a:ext cx="19182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B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497043" y="896112"/>
            <a:ext cx="19182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ٱلۡحَقُّ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3725222" y="896112"/>
            <a:ext cx="14517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B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3725222" y="896112"/>
            <a:ext cx="14517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4600" dirty="0"/>
          </a:p>
        </p:txBody>
      </p:sp>
      <p:sp>
        <p:nvSpPr>
          <p:cNvPr id="22" name="C3 W3 pill"/>
          <p:cNvSpPr/>
          <p:nvPr/>
        </p:nvSpPr>
        <p:spPr>
          <a:xfrm>
            <a:off x="1728720" y="896112"/>
            <a:ext cx="16764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BE2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1728720" y="896112"/>
            <a:ext cx="16764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رَّبِّكَ</a:t>
            </a:r>
            <a:endParaRPr lang="ar-SA" sz="4600" dirty="0"/>
          </a:p>
        </p:txBody>
      </p:sp>
      <p:sp>
        <p:nvSpPr>
          <p:cNvPr id="24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S panel"/>
          <p:cNvSpPr/>
          <p:nvPr/>
        </p:nvSpPr>
        <p:spPr>
          <a:xfrm>
            <a:off x="2516104" y="2834640"/>
            <a:ext cx="411179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C4 S sentence"/>
          <p:cNvSpPr txBox="1"/>
          <p:nvPr/>
        </p:nvSpPr>
        <p:spPr>
          <a:xfrm>
            <a:off x="2516104" y="2834640"/>
            <a:ext cx="411179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ٱلۡحَقُّ مِن رَّبِّكَ</a:t>
            </a:r>
            <a:endParaRPr lang="ar-SA" sz="4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EE052"/>
          </a:solidFill>
          <a:ln w="12700">
            <a:solidFill>
              <a:srgbClr val="5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C70DB"/>
          </a:solidFill>
          <a:ln w="12700">
            <a:solidFill>
              <a:srgbClr val="9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7"/>
          </a:solidFill>
          <a:ln w="12700">
            <a:solidFill>
              <a:srgbClr val="85475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6232080" y="896112"/>
            <a:ext cx="16327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3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6232080" y="896112"/>
            <a:ext cx="16327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وَهُوَ</a:t>
            </a:r>
            <a:endParaRPr lang="ar-SA" sz="4500" dirty="0"/>
          </a:p>
        </p:txBody>
      </p:sp>
      <p:sp>
        <p:nvSpPr>
          <p:cNvPr id="17" name="C2 W2 pill"/>
          <p:cNvSpPr/>
          <p:nvPr/>
        </p:nvSpPr>
        <p:spPr>
          <a:xfrm>
            <a:off x="3935809" y="896112"/>
            <a:ext cx="19762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3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3935809" y="896112"/>
            <a:ext cx="19762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ٱلۡعَلِيُّ</a:t>
            </a:r>
            <a:endParaRPr lang="ar-SA" sz="4500" dirty="0"/>
          </a:p>
        </p:txBody>
      </p:sp>
      <p:sp>
        <p:nvSpPr>
          <p:cNvPr id="19" name="C3 W3 pill"/>
          <p:cNvSpPr/>
          <p:nvPr/>
        </p:nvSpPr>
        <p:spPr>
          <a:xfrm>
            <a:off x="1279186" y="896112"/>
            <a:ext cx="23365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336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1279186" y="896112"/>
            <a:ext cx="23365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ٱلۡعَظِيمُ</a:t>
            </a:r>
            <a:endParaRPr lang="ar-SA" sz="4500" dirty="0"/>
          </a:p>
        </p:txBody>
      </p:sp>
      <p:sp>
        <p:nvSpPr>
          <p:cNvPr id="21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S panel"/>
          <p:cNvSpPr/>
          <p:nvPr/>
        </p:nvSpPr>
        <p:spPr>
          <a:xfrm>
            <a:off x="2143502" y="2834640"/>
            <a:ext cx="485699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4 S sentence"/>
          <p:cNvSpPr txBox="1"/>
          <p:nvPr/>
        </p:nvSpPr>
        <p:spPr>
          <a:xfrm>
            <a:off x="2143502" y="2834640"/>
            <a:ext cx="485699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وَهُوَ ٱلۡعَلِيُّ ٱلۡعَظِيمُ</a:t>
            </a:r>
            <a:endParaRPr lang="ar-SA" sz="4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81</Slides>
  <Notes>81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damma 15-ha</dc:title>
  <dc:subject>PptxGenJS Presentation</dc:subject>
  <dc:creator>PptxGenJS</dc:creator>
  <cp:lastModifiedBy>PptxGenJS</cp:lastModifiedBy>
  <cp:revision>1</cp:revision>
  <dcterms:created xsi:type="dcterms:W3CDTF">2026-10-21T19:04:21Z</dcterms:created>
  <dcterms:modified xsi:type="dcterms:W3CDTF">2026-10-21T19:04:21Z</dcterms:modified>
</cp:coreProperties>
</file>