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notesMaster" Target="notesMasters/notesMaster1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3063240" y="1051560"/>
            <a:ext cx="3017520" cy="301752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2" name="C1 L1 letter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11300" dirty="0"/>
          </a:p>
        </p:txBody>
      </p:sp>
      <p:sp>
        <p:nvSpPr>
          <p:cNvPr id="13" name="C2 D1 dammah"/>
          <p:cNvSpPr txBox="1"/>
          <p:nvPr/>
        </p:nvSpPr>
        <p:spPr>
          <a:xfrm>
            <a:off x="3063240" y="1051560"/>
            <a:ext cx="3017520" cy="3017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113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8"/>
          </a:solidFill>
          <a:ln w="12700">
            <a:solidFill>
              <a:srgbClr val="2B64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A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لُأُ</a:t>
            </a:r>
            <a:endParaRPr lang="ar-SA" sz="6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لُبُ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2"/>
          </a:solidFill>
          <a:ln w="12700">
            <a:solidFill>
              <a:srgbClr val="ED5E6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لُتُ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2E0"/>
          </a:solidFill>
          <a:ln w="12700">
            <a:solidFill>
              <a:srgbClr val="52D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B"/>
          </a:solidFill>
          <a:ln w="12700">
            <a:solidFill>
              <a:srgbClr val="DB709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147"/>
          </a:solidFill>
          <a:ln w="12700">
            <a:solidFill>
              <a:srgbClr val="8581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لُثُ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4"/>
          </a:solidFill>
          <a:ln w="12700">
            <a:solidFill>
              <a:srgbClr val="D864B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E"/>
          </a:solidFill>
          <a:ln w="12700">
            <a:solidFill>
              <a:srgbClr val="D147B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لُجُ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لُحُ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2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C64"/>
          </a:solidFill>
          <a:ln w="12700">
            <a:solidFill>
              <a:srgbClr val="2B2C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3479"/>
          </a:solidFill>
          <a:ln w="12700">
            <a:solidFill>
              <a:srgbClr val="55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لُخُ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لُدُ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5ED5E"/>
          </a:solidFill>
          <a:ln w="12700">
            <a:solidFill>
              <a:srgbClr val="8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لُذُ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52E0"/>
          </a:solidFill>
          <a:ln w="12700">
            <a:solidFill>
              <a:srgbClr val="C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E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DB70"/>
          </a:solidFill>
          <a:ln w="12700">
            <a:solidFill>
              <a:srgbClr val="B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لُرُ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1D864"/>
          </a:solidFill>
          <a:ln w="12700">
            <a:solidFill>
              <a:srgbClr val="D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247"/>
          </a:solidFill>
          <a:ln w="12700">
            <a:solidFill>
              <a:srgbClr val="D1C2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لُزُ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لُسُ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431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A"/>
          </a:solidFill>
          <a:ln w="12700">
            <a:solidFill>
              <a:srgbClr val="642B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434"/>
          </a:solidFill>
          <a:ln w="12700">
            <a:solidFill>
              <a:srgbClr val="7944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لُشُ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لُصُ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9ED"/>
          </a:solidFill>
          <a:ln w="12700">
            <a:solidFill>
              <a:srgbClr val="5EA9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لُضُ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852"/>
          </a:solidFill>
          <a:ln w="12700">
            <a:solidFill>
              <a:srgbClr val="E0A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0DB"/>
          </a:solidFill>
          <a:ln w="12700">
            <a:solidFill>
              <a:srgbClr val="70D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24785"/>
          </a:solidFill>
          <a:ln w="12700">
            <a:solidFill>
              <a:srgbClr val="6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لُطُ</a:t>
            </a:r>
            <a:endParaRPr lang="ar-SA" sz="7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C5F7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2"/>
          </a:solidFill>
          <a:ln w="12700">
            <a:solidFill>
              <a:srgbClr val="64D8C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0"/>
          </a:solidFill>
          <a:ln w="12700">
            <a:solidFill>
              <a:srgbClr val="47D1A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لُظُ</a:t>
            </a:r>
            <a:endParaRPr lang="ar-SA" sz="7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لُعُ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لُغُ</a:t>
            </a:r>
            <a:endParaRPr lang="ar-SA" sz="7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لُفُ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D"/>
          </a:solidFill>
          <a:ln w="12700">
            <a:solidFill>
              <a:srgbClr val="ED5EC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لُقُ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4"/>
          </a:solidFill>
          <a:ln w="12700">
            <a:solidFill>
              <a:srgbClr val="52E084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C70DB"/>
          </a:solidFill>
          <a:ln w="12700">
            <a:solidFill>
              <a:srgbClr val="CC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347"/>
          </a:solidFill>
          <a:ln w="12700">
            <a:solidFill>
              <a:srgbClr val="855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لُكُ</a:t>
            </a:r>
            <a:endParaRPr lang="ar-SA" sz="7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564D8"/>
          </a:solidFill>
          <a:ln w="12700">
            <a:solidFill>
              <a:srgbClr val="A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E47D1"/>
          </a:solidFill>
          <a:ln w="12700">
            <a:solidFill>
              <a:srgbClr val="7E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أُلُبُ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بُلُتُ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764"/>
          </a:solidFill>
          <a:ln w="12700">
            <a:solidFill>
              <a:srgbClr val="2B57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779"/>
          </a:solidFill>
          <a:ln w="12700">
            <a:solidFill>
              <a:srgbClr val="344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تُلُثُ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ثُلُجُ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A5E"/>
          </a:solidFill>
          <a:ln w="12700">
            <a:solidFill>
              <a:srgbClr val="EDE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جُلُحُ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52E0"/>
          </a:solidFill>
          <a:ln w="12700">
            <a:solidFill>
              <a:srgbClr val="6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170"/>
          </a:solidFill>
          <a:ln w="12700">
            <a:solidFill>
              <a:srgbClr val="DBB1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B8547"/>
          </a:solidFill>
          <a:ln w="12700">
            <a:solidFill>
              <a:srgbClr val="4B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حُلُخُ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864"/>
          </a:solidFill>
          <a:ln w="12700">
            <a:solidFill>
              <a:srgbClr val="D88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B47"/>
          </a:solidFill>
          <a:ln w="12700">
            <a:solidFill>
              <a:srgbClr val="D15B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0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0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خُلُدُ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دُلُذُ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2B64"/>
          </a:solidFill>
          <a:ln w="12700">
            <a:solidFill>
              <a:srgbClr val="6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8"/>
          </a:solidFill>
          <a:ln w="12700">
            <a:solidFill>
              <a:srgbClr val="79345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ذُلُرُ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41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4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1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1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رُلُزُ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7"/>
          </a:solidFill>
          <a:ln w="12700">
            <a:solidFill>
              <a:srgbClr val="5EED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40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40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زُلُسُ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431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6"/>
          </a:solidFill>
          <a:ln w="12700">
            <a:solidFill>
              <a:srgbClr val="E0526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6"/>
          </a:solidFill>
          <a:ln w="12700">
            <a:solidFill>
              <a:srgbClr val="70DB9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38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سُلُشُ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B"/>
          </a:solidFill>
          <a:ln w="12700">
            <a:solidFill>
              <a:srgbClr val="64D86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6D147"/>
          </a:solidFill>
          <a:ln w="12700">
            <a:solidFill>
              <a:srgbClr val="56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8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8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8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شُلُصُ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صُلُضُ</a:t>
            </a:r>
            <a:endParaRPr lang="ar-SA" sz="6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52B"/>
          </a:solidFill>
          <a:ln w="12700">
            <a:solidFill>
              <a:srgbClr val="645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7934"/>
          </a:solidFill>
          <a:ln w="12700">
            <a:solidFill>
              <a:srgbClr val="6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39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ضُلُطُ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طُلُظُ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35EED"/>
          </a:solidFill>
          <a:ln w="12700">
            <a:solidFill>
              <a:srgbClr val="A3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3900" dirty="0"/>
          </a:p>
        </p:txBody>
      </p:sp>
      <p:sp>
        <p:nvSpPr>
          <p:cNvPr id="23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26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3900" dirty="0"/>
          </a:p>
        </p:txBody>
      </p:sp>
      <p:sp>
        <p:nvSpPr>
          <p:cNvPr id="29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39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ظُلُعُ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3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E052"/>
          </a:solidFill>
          <a:ln w="12700">
            <a:solidFill>
              <a:srgbClr val="8A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70DB"/>
          </a:solidFill>
          <a:ln w="12700">
            <a:solidFill>
              <a:srgbClr val="7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4000" dirty="0"/>
          </a:p>
        </p:txBody>
      </p:sp>
      <p:sp>
        <p:nvSpPr>
          <p:cNvPr id="26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40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عُلُغُ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AD8"/>
          </a:solidFill>
          <a:ln w="12700">
            <a:solidFill>
              <a:srgbClr val="647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8D1"/>
          </a:solidFill>
          <a:ln w="12700">
            <a:solidFill>
              <a:srgbClr val="4778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3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غُلُفُ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3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3900" dirty="0"/>
          </a:p>
        </p:txBody>
      </p:sp>
      <p:sp>
        <p:nvSpPr>
          <p:cNvPr id="22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39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فُلُقُ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8"/>
          </a:solidFill>
          <a:ln w="12700">
            <a:solidFill>
              <a:srgbClr val="3479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4100" dirty="0"/>
          </a:p>
        </p:txBody>
      </p:sp>
      <p:sp>
        <p:nvSpPr>
          <p:cNvPr id="17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100" dirty="0"/>
          </a:p>
        </p:txBody>
      </p:sp>
      <p:sp>
        <p:nvSpPr>
          <p:cNvPr id="20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4100" dirty="0"/>
          </a:p>
        </p:txBody>
      </p:sp>
      <p:sp>
        <p:nvSpPr>
          <p:cNvPr id="23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41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قُلُكُ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D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3400" dirty="0"/>
          </a:p>
        </p:txBody>
      </p:sp>
      <p:sp>
        <p:nvSpPr>
          <p:cNvPr id="15" name="C2 D1 dammah"/>
          <p:cNvSpPr txBox="1"/>
          <p:nvPr/>
        </p:nvSpPr>
        <p:spPr>
          <a:xfrm>
            <a:off x="726948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3400" dirty="0"/>
          </a:p>
        </p:txBody>
      </p:sp>
      <p:sp>
        <p:nvSpPr>
          <p:cNvPr id="18" name="C5 D2 dammah"/>
          <p:cNvSpPr txBox="1"/>
          <p:nvPr/>
        </p:nvSpPr>
        <p:spPr>
          <a:xfrm>
            <a:off x="548640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400" dirty="0"/>
          </a:p>
        </p:txBody>
      </p:sp>
      <p:sp>
        <p:nvSpPr>
          <p:cNvPr id="21" name="C8 D3 dammah"/>
          <p:cNvSpPr txBox="1"/>
          <p:nvPr/>
        </p:nvSpPr>
        <p:spPr>
          <a:xfrm>
            <a:off x="3703320" y="1897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4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459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كُلُأُ</a:t>
            </a:r>
            <a:endParaRPr lang="ar-SA" sz="5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F5E"/>
          </a:solidFill>
          <a:ln w="12700">
            <a:solidFill>
              <a:srgbClr val="ED7F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9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7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49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أُلُ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EE0"/>
          </a:solidFill>
          <a:ln w="12700">
            <a:solidFill>
              <a:srgbClr val="52AE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B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0"/>
          </a:solidFill>
          <a:ln w="12700">
            <a:solidFill>
              <a:srgbClr val="DB708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98547"/>
          </a:solidFill>
          <a:ln w="12700">
            <a:solidFill>
              <a:srgbClr val="7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بُلُ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7"/>
          </a:solidFill>
          <a:ln w="12700">
            <a:solidFill>
              <a:srgbClr val="D8649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A"/>
          </a:solidFill>
          <a:ln w="12700">
            <a:solidFill>
              <a:srgbClr val="D1479A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تُلُ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7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ثُلُ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4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2B64"/>
          </a:solidFill>
          <a:ln w="12700">
            <a:solidFill>
              <a:srgbClr val="38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3479"/>
          </a:solidFill>
          <a:ln w="12700">
            <a:solidFill>
              <a:srgbClr val="6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58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</a:t>
            </a:r>
            <a:endParaRPr lang="ar-SA" sz="58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A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جُلُ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5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حُلُ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1ED5E"/>
          </a:solidFill>
          <a:ln w="12700">
            <a:solidFill>
              <a:srgbClr val="6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خُلُ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1"/>
          </a:solidFill>
          <a:ln w="12700">
            <a:solidFill>
              <a:srgbClr val="E052D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ADB70"/>
          </a:solidFill>
          <a:ln w="12700">
            <a:solidFill>
              <a:srgbClr val="9A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1"/>
          </a:solidFill>
          <a:ln w="12700">
            <a:solidFill>
              <a:srgbClr val="47858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59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</a:t>
            </a:r>
            <a:endParaRPr lang="ar-SA" sz="5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دُلُ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F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4D864"/>
          </a:solidFill>
          <a:ln w="12700">
            <a:solidFill>
              <a:srgbClr val="B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DD147"/>
          </a:solidFill>
          <a:ln w="12700">
            <a:solidFill>
              <a:srgbClr val="BD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ذُلُ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رُلُ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4314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C"/>
          </a:solidFill>
          <a:ln w="12700">
            <a:solidFill>
              <a:srgbClr val="642B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</a:t>
            </a:r>
            <a:endParaRPr lang="ar-SA" sz="59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</a:t>
            </a:r>
            <a:endParaRPr lang="ar-SA" sz="5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زُلُ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D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سُلُ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5ED"/>
          </a:solidFill>
          <a:ln w="12700">
            <a:solidFill>
              <a:srgbClr val="5E8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</a:t>
            </a:r>
            <a:endParaRPr lang="ar-SA" sz="55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</a:t>
            </a:r>
            <a:endParaRPr lang="ar-SA" sz="55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5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5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شُلُ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432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C52"/>
          </a:solidFill>
          <a:ln w="12700">
            <a:solidFill>
              <a:srgbClr val="E0C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5DB"/>
          </a:solidFill>
          <a:ln w="12700">
            <a:solidFill>
              <a:srgbClr val="70B5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24785"/>
          </a:solidFill>
          <a:ln w="12700">
            <a:solidFill>
              <a:srgbClr val="7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صُلُ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1D8"/>
          </a:solidFill>
          <a:ln w="12700">
            <a:solidFill>
              <a:srgbClr val="64D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3"/>
          </a:solidFill>
          <a:ln w="12700">
            <a:solidFill>
              <a:srgbClr val="47D1C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</a:t>
            </a:r>
            <a:endParaRPr lang="ar-SA" sz="56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ضُلُ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</a:t>
            </a:r>
            <a:endParaRPr lang="ar-SA" sz="56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طُلُ</a:t>
            </a:r>
            <a:endParaRPr lang="ar-SA" sz="7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3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642B"/>
          </a:solidFill>
          <a:ln w="12700">
            <a:solidFill>
              <a:srgbClr val="3A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4"/>
          </a:solidFill>
          <a:ln w="12700">
            <a:solidFill>
              <a:srgbClr val="3479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</a:t>
            </a:r>
            <a:endParaRPr lang="ar-SA" sz="5600" dirty="0"/>
          </a:p>
        </p:txBody>
      </p:sp>
      <p:sp>
        <p:nvSpPr>
          <p:cNvPr id="16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19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ظُلُ</a:t>
            </a:r>
            <a:endParaRPr lang="ar-SA" sz="7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</a:t>
            </a:r>
            <a:endParaRPr lang="ar-SA" sz="58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عُلُ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8"/>
          </a:solidFill>
          <a:ln w="12700">
            <a:solidFill>
              <a:srgbClr val="ED5EA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</a:t>
            </a:r>
            <a:endParaRPr lang="ar-SA" sz="5800" dirty="0"/>
          </a:p>
        </p:txBody>
      </p:sp>
      <p:sp>
        <p:nvSpPr>
          <p:cNvPr id="22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</a:t>
            </a:r>
            <a:endParaRPr lang="ar-SA" sz="58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800" dirty="0"/>
          </a:p>
        </p:txBody>
      </p:sp>
      <p:sp>
        <p:nvSpPr>
          <p:cNvPr id="25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8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غُلُ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443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8"/>
          </a:solidFill>
          <a:ln w="12700">
            <a:solidFill>
              <a:srgbClr val="52E0A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0"/>
          </a:solidFill>
          <a:ln w="12700">
            <a:solidFill>
              <a:srgbClr val="DB70D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</a:t>
            </a:r>
            <a:endParaRPr lang="ar-SA" sz="5600" dirty="0"/>
          </a:p>
        </p:txBody>
      </p:sp>
      <p:sp>
        <p:nvSpPr>
          <p:cNvPr id="19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600" dirty="0"/>
          </a:p>
        </p:txBody>
      </p:sp>
      <p:sp>
        <p:nvSpPr>
          <p:cNvPr id="22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فُلُ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D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364D8"/>
          </a:solidFill>
          <a:ln w="12700">
            <a:solidFill>
              <a:srgbClr val="C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147D1"/>
          </a:solidFill>
          <a:ln w="12700">
            <a:solidFill>
              <a:srgbClr val="A1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</a:t>
            </a:r>
            <a:endParaRPr lang="ar-SA" sz="5900" dirty="0"/>
          </a:p>
        </p:txBody>
      </p:sp>
      <p:sp>
        <p:nvSpPr>
          <p:cNvPr id="14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</a:t>
            </a:r>
            <a:endParaRPr lang="ar-SA" sz="5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7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قُلُ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</a:t>
            </a:r>
            <a:endParaRPr lang="ar-SA" sz="5900" dirty="0"/>
          </a:p>
        </p:txBody>
      </p:sp>
      <p:sp>
        <p:nvSpPr>
          <p:cNvPr id="15" name="C2 D1 dammah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</a:t>
            </a:r>
            <a:endParaRPr lang="ar-SA" sz="5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</a:t>
            </a:r>
            <a:endParaRPr lang="ar-SA" sz="5900" dirty="0"/>
          </a:p>
        </p:txBody>
      </p:sp>
      <p:sp>
        <p:nvSpPr>
          <p:cNvPr id="18" name="C5 D2 dammah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لُ</a:t>
            </a:r>
            <a:endParaRPr lang="ar-SA" sz="5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كُلُ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864"/>
          </a:solidFill>
          <a:ln w="12700">
            <a:solidFill>
              <a:srgbClr val="2B4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579"/>
          </a:solidFill>
          <a:ln w="12700">
            <a:solidFill>
              <a:srgbClr val="3435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4649421" y="896112"/>
            <a:ext cx="206402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72E2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4649421" y="896112"/>
            <a:ext cx="206402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حَمَلَهُ</a:t>
            </a:r>
            <a:endParaRPr lang="ar-SA" sz="5300" dirty="0"/>
          </a:p>
        </p:txBody>
      </p:sp>
      <p:sp>
        <p:nvSpPr>
          <p:cNvPr id="14" name="C2 W2 pill"/>
          <p:cNvSpPr/>
          <p:nvPr/>
        </p:nvSpPr>
        <p:spPr>
          <a:xfrm>
            <a:off x="2430556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7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2430556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6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8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3 S panel"/>
          <p:cNvSpPr/>
          <p:nvPr/>
        </p:nvSpPr>
        <p:spPr>
          <a:xfrm>
            <a:off x="2712426" y="2834640"/>
            <a:ext cx="371914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3 S sentence"/>
          <p:cNvSpPr txBox="1"/>
          <p:nvPr/>
        </p:nvSpPr>
        <p:spPr>
          <a:xfrm>
            <a:off x="2712426" y="2834640"/>
            <a:ext cx="371914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حَمَلَهُ عُمَرُ</a:t>
            </a:r>
            <a:endParaRPr lang="ar-SA" sz="5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C5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41914" y="896112"/>
            <a:ext cx="1972366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40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41914" y="896112"/>
            <a:ext cx="1972366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لَبِسَهُ</a:t>
            </a:r>
            <a:endParaRPr lang="ar-SA" sz="4800" dirty="0"/>
          </a:p>
        </p:txBody>
      </p:sp>
      <p:sp>
        <p:nvSpPr>
          <p:cNvPr id="12" name="C2 W2 pill"/>
          <p:cNvSpPr/>
          <p:nvPr/>
        </p:nvSpPr>
        <p:spPr>
          <a:xfrm>
            <a:off x="2529721" y="896112"/>
            <a:ext cx="179215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40E2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529721" y="896112"/>
            <a:ext cx="179215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48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852946" y="2834640"/>
            <a:ext cx="34381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852946" y="2834640"/>
            <a:ext cx="34381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لَبِسَهُ عُمَرُ</a:t>
            </a:r>
            <a:endParaRPr lang="ar-SA" sz="4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CED5E"/>
          </a:solidFill>
          <a:ln w="12700">
            <a:solidFill>
              <a:srgbClr val="C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854303" y="896112"/>
            <a:ext cx="21033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5E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854303" y="896112"/>
            <a:ext cx="21033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</a:t>
            </a:r>
            <a:endParaRPr lang="ar-SA" sz="5400" dirty="0"/>
          </a:p>
        </p:txBody>
      </p:sp>
      <p:sp>
        <p:nvSpPr>
          <p:cNvPr id="20" name="C2 W2 pill"/>
          <p:cNvSpPr/>
          <p:nvPr/>
        </p:nvSpPr>
        <p:spPr>
          <a:xfrm>
            <a:off x="2186349" y="896112"/>
            <a:ext cx="2347914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5E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186349" y="896112"/>
            <a:ext cx="2347914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وَجَمُلَ</a:t>
            </a:r>
            <a:endParaRPr lang="ar-SA" sz="54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2512546" y="2834640"/>
            <a:ext cx="411890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2512546" y="2834640"/>
            <a:ext cx="411890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سَهُلَ وَجَمُلَ</a:t>
            </a:r>
            <a:endParaRPr lang="ar-SA" sz="5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41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52E0"/>
          </a:solidFill>
          <a:ln w="12700">
            <a:solidFill>
              <a:srgbClr val="8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C70"/>
          </a:solidFill>
          <a:ln w="12700">
            <a:solidFill>
              <a:srgbClr val="DBC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3"/>
          </a:solidFill>
          <a:ln w="12700">
            <a:solidFill>
              <a:srgbClr val="478553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591990" y="896112"/>
            <a:ext cx="217888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1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591990" y="896112"/>
            <a:ext cx="217888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5300" dirty="0"/>
          </a:p>
        </p:txBody>
      </p:sp>
      <p:sp>
        <p:nvSpPr>
          <p:cNvPr id="17" name="C2 W2 pill"/>
          <p:cNvSpPr/>
          <p:nvPr/>
        </p:nvSpPr>
        <p:spPr>
          <a:xfrm>
            <a:off x="2373125" y="896112"/>
            <a:ext cx="189882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1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373125" y="896112"/>
            <a:ext cx="18988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عُمَرُ</a:t>
            </a:r>
            <a:endParaRPr lang="ar-SA" sz="53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6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57341" y="2834640"/>
            <a:ext cx="382931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57341" y="2834640"/>
            <a:ext cx="382931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 عُمَرُ</a:t>
            </a:r>
            <a:endParaRPr lang="ar-SA" sz="5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71</Slides>
  <Notes>71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71</vt:i4>
      </vt:variant>
    </vt:vector>
  </HeadingPairs>
  <TitlesOfParts>
    <vt:vector size="7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Dammah reading 13-lam</dc:title>
  <dc:subject>PptxGenJS Presentation</dc:subject>
  <dc:creator>PptxGenJS</dc:creator>
  <cp:lastModifiedBy>PptxGenJS</cp:lastModifiedBy>
  <cp:revision>1</cp:revision>
  <dcterms:created xsi:type="dcterms:W3CDTF">2026-10-21T16:51:33Z</dcterms:created>
  <dcterms:modified xsi:type="dcterms:W3CDTF">2026-10-21T16:51:33Z</dcterms:modified>
</cp:coreProperties>
</file>