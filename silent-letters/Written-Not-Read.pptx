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المصحف حروف تُكتب ولا تُقرأ. ثلاث علامات تدلنا: الدائرة الصغيرة «۟» فوق الحرف (لا يُقرأ أبداً)، والصفر المستطيل القائم «۠» (يُقرأ عند الوقف فقط)، وحروف بلا علامة تسقط عند الوصل (مثل همزة الوصل واللام الشمسية).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بعد واو الجماعة تُكتب ألف عليها دائرة صغيرة. لا تُقرأ في الوصل ولا في الوقف: «قَالُوا۟» نقرأ «قَالُو».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«ءَامَنُوا۟»: الألف الأخيرة لا تُقرأ. نقف على الواو بمدٍّ طبيعي: آمَنُو.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«مِا۟ئَةَ» (مئة): الألف بعد الميم لا تُقرأ. لا نقول «مَائة» ولا «مِيئة»، بل «مِئَة».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«مِا۟ئَتَيۡنِ» (مئتين): الألف لا تُقرأ.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«أُو۟لَٰٓئِكَ»: الواو عليها دائرة صغيرة فلا تُقرأ: «أُلَٰٓئِك». والألف الخنجرية بعد اللام تُمد لأن بعدها همزة.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«أُو۟لُوا۟ ٱلۡأَلۡبَٰبِ»: الواو الأولى لا تُقرأ، والألف بعد الواو الثانية لا تُقرأ، والواو الثانية تسقط في الوصل لأن بعدها ساكناً: «أُلُلۡ أَلۡبَاب».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الكهف 23: «وَلَا تَقُولَنَّ لِشَا۟يۡءٍ»: نقرأ «لِشَيۡءٍ».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هود 68: «أَلَآ إِنَّ ثَمُودَا۟ كَفَرُوا۟ رَبَّهُمۡ»: نقرأ «ثَمُودَ» بلا ألف، وصلاً ووقفاً.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الذاريات 47: «وَٱلسَّمَآءَ بَنَيۡنَٰهَا بِأَيۡي۟دٍ»: نقرأ «بِأَيۡدٍ»، الياء الثانية لا تُقرأ.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«أَنَا۠»: إذا وصلناها بما بعدها نقرأ «أَنَ» بلا ألف (أَنَ نَذِيرٌ)، وإذا وقفنا عليها نقرأ «أَنَا» بالألف. (وصلاً: a-na — وقفاً: a-naa)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الكهف 38: «لَّٰكِنَّا۠ هُوَ ٱللَّهُ رَبِّي»: في الوصل «لَٰكِنَّ هُوَ»، وعند الوقف «لَٰكِنَّا». (وصلاً: laa-kin-na — وقفاً: laa-kin-naa)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الأحزاب 10: «وَتَظُنُّونَ بِٱللَّهِ ٱلظُّنُونَا۠». في الوصل بلا ألف، وعند الوقف بالألف. ومثلها «ٱلرَّسُولَا۠» و«ٱلسَّبِيلَا۠» في الأحزاب. (وصلاً: adh-dhu-noo-na — وقفاً: adh-dhu-noo-naa)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الأحزاب 67: «فَأَضَلُّونَا ٱلسَّبِيلَا۠». (وصلاً: as-sa-bee-la — وقفاً: as-sa-bee-laa)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همزة الوصل تُكتب دائماً، لكنها لا تُقرأ إذا وصلنا الكلمة بما قبلها. (راجع ملف همزة الوصل.)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اللام بلا علامة والحرف بعدها مشدد: لا تُقرأ. (راجع ملف اللام الشمسية والقمرية.)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إذا جاء بعد حرف المد حرف ساكن في الكلمة التالية، سقط حرف المد في النطق: «فِي ٱلۡأَرۡضِ» نقرأ «فِلۡأَرۡضِ».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سورة فاطر 34: «وَقَالُوا۟ ٱلۡحَمۡدُ لِلَّهِ»: الألف لا تُقرأ أبداً (الدائرة)، والواو تسقط في الوصل لأن بعدها لاماً ساكنة.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ألف تنوين الفتح لا تُقرأ في الوصل (نقرأ التنوين نوناً ساكنة)، وعند الوقف يذهب التنوين ونقرأ ألفاً مدية حركتين: «عَلِيمَا». (وصلاً: 'a-lee-man — وقفاً: 'a-lee-maa)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«ٱلصَّلَوٰةَ» و«ٱلزَّكَوٰةَ» و«ٱلۡحَيَوٰةَ» تُكتب واو فوقها ألف خنجرية: العبرة بالألف الصغيرة، فلا ننطق الواو.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3097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حروف تُكتب ولا تُقرأ: كيف نعرفها؟</a:t>
            </a:r>
            <a:endParaRPr lang="ar-SA" sz="2200" dirty="0"/>
          </a:p>
        </p:txBody>
      </p:sp>
      <p:sp>
        <p:nvSpPr>
          <p:cNvPr id="17" name="Panel 1"/>
          <p:cNvSpPr/>
          <p:nvPr/>
        </p:nvSpPr>
        <p:spPr>
          <a:xfrm>
            <a:off x="6172200" y="1600200"/>
            <a:ext cx="2606040" cy="16002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8" name="C1 sign"/>
          <p:cNvSpPr txBox="1"/>
          <p:nvPr/>
        </p:nvSpPr>
        <p:spPr>
          <a:xfrm>
            <a:off x="6172200" y="1679550"/>
            <a:ext cx="260604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۟</a:t>
            </a:r>
            <a:endParaRPr lang="ar-SA" sz="7100" dirty="0"/>
          </a:p>
        </p:txBody>
      </p:sp>
      <p:sp>
        <p:nvSpPr>
          <p:cNvPr id="19" name="C1 label box"/>
          <p:cNvSpPr/>
          <p:nvPr/>
        </p:nvSpPr>
        <p:spPr>
          <a:xfrm>
            <a:off x="6172200" y="3337560"/>
            <a:ext cx="260604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1 label"/>
          <p:cNvSpPr txBox="1"/>
          <p:nvPr/>
        </p:nvSpPr>
        <p:spPr>
          <a:xfrm>
            <a:off x="6172200" y="3362789"/>
            <a:ext cx="26060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لا تُقرأ أبداً</a:t>
            </a:r>
            <a:endParaRPr lang="ar-SA" sz="2900" dirty="0"/>
          </a:p>
        </p:txBody>
      </p:sp>
      <p:sp>
        <p:nvSpPr>
          <p:cNvPr id="21" name="Panel 2"/>
          <p:cNvSpPr/>
          <p:nvPr/>
        </p:nvSpPr>
        <p:spPr>
          <a:xfrm>
            <a:off x="3268980" y="1600200"/>
            <a:ext cx="2606040" cy="16002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88900">
            <a:solidFill>
              <a:srgbClr val="5F3DC4"/>
            </a:solidFill>
            <a:prstDash val="solid"/>
          </a:ln>
        </p:spPr>
      </p:sp>
      <p:sp>
        <p:nvSpPr>
          <p:cNvPr id="22" name="C2 sign"/>
          <p:cNvSpPr txBox="1"/>
          <p:nvPr/>
        </p:nvSpPr>
        <p:spPr>
          <a:xfrm>
            <a:off x="3268980" y="1691767"/>
            <a:ext cx="260604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۠</a:t>
            </a:r>
            <a:endParaRPr lang="ar-SA" sz="7000" dirty="0"/>
          </a:p>
        </p:txBody>
      </p:sp>
      <p:sp>
        <p:nvSpPr>
          <p:cNvPr id="23" name="C2 label box"/>
          <p:cNvSpPr/>
          <p:nvPr/>
        </p:nvSpPr>
        <p:spPr>
          <a:xfrm>
            <a:off x="3268980" y="3337560"/>
            <a:ext cx="2606040" cy="685800"/>
          </a:xfrm>
          <a:prstGeom prst="roundRect">
            <a:avLst>
              <a:gd name="adj" fmla="val 26667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label"/>
          <p:cNvSpPr txBox="1"/>
          <p:nvPr/>
        </p:nvSpPr>
        <p:spPr>
          <a:xfrm>
            <a:off x="3268980" y="3347085"/>
            <a:ext cx="26060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تُقرأ عند الوقف</a:t>
            </a:r>
            <a:endParaRPr lang="ar-SA" sz="3000" dirty="0"/>
          </a:p>
        </p:txBody>
      </p:sp>
      <p:sp>
        <p:nvSpPr>
          <p:cNvPr id="25" name="Panel 3"/>
          <p:cNvSpPr/>
          <p:nvPr/>
        </p:nvSpPr>
        <p:spPr>
          <a:xfrm>
            <a:off x="365760" y="1600200"/>
            <a:ext cx="2606040" cy="16002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88900">
            <a:solidFill>
              <a:srgbClr val="E8590C"/>
            </a:solidFill>
            <a:prstDash val="solid"/>
          </a:ln>
        </p:spPr>
      </p:sp>
      <p:sp>
        <p:nvSpPr>
          <p:cNvPr id="26" name="C3 sign"/>
          <p:cNvSpPr txBox="1"/>
          <p:nvPr/>
        </p:nvSpPr>
        <p:spPr>
          <a:xfrm>
            <a:off x="365760" y="1692961"/>
            <a:ext cx="260604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endParaRPr lang="ar-SA" sz="8800" dirty="0"/>
          </a:p>
        </p:txBody>
      </p:sp>
      <p:sp>
        <p:nvSpPr>
          <p:cNvPr id="27" name="C3 label box"/>
          <p:cNvSpPr/>
          <p:nvPr/>
        </p:nvSpPr>
        <p:spPr>
          <a:xfrm>
            <a:off x="365760" y="3337560"/>
            <a:ext cx="2606040" cy="685800"/>
          </a:xfrm>
          <a:prstGeom prst="roundRect">
            <a:avLst>
              <a:gd name="adj" fmla="val 26667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3 label"/>
          <p:cNvSpPr txBox="1"/>
          <p:nvPr/>
        </p:nvSpPr>
        <p:spPr>
          <a:xfrm>
            <a:off x="365760" y="3275495"/>
            <a:ext cx="26060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تسقط في الوصل</a:t>
            </a:r>
            <a:endParaRPr lang="ar-SA" sz="2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630541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قَالُو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endParaRPr lang="ar-SA" sz="80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599166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قَالُو</a:t>
            </a:r>
            <a:endParaRPr lang="ar-SA" sz="4700" dirty="0"/>
          </a:p>
        </p:txBody>
      </p:sp>
      <p:sp>
        <p:nvSpPr>
          <p:cNvPr id="17" name="C2 sounds"/>
          <p:cNvSpPr/>
          <p:nvPr/>
        </p:nvSpPr>
        <p:spPr>
          <a:xfrm>
            <a:off x="502920" y="276321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qaa-loo</a:t>
            </a:r>
            <a:endParaRPr lang="en-US" sz="2800" dirty="0"/>
          </a:p>
        </p:txBody>
      </p:sp>
      <p:sp>
        <p:nvSpPr>
          <p:cNvPr id="18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365760" y="3575685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ألف واو الجماعة: نكتبها ولا نقرؤها</a:t>
            </a:r>
            <a:endParaRPr lang="ar-SA" sz="3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3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4" name="C1 written"/>
          <p:cNvSpPr txBox="1"/>
          <p:nvPr/>
        </p:nvSpPr>
        <p:spPr>
          <a:xfrm>
            <a:off x="4892040" y="1609674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ءَامَنُو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endParaRPr lang="ar-SA" sz="8200" dirty="0"/>
          </a:p>
        </p:txBody>
      </p:sp>
      <p:sp>
        <p:nvSpPr>
          <p:cNvPr id="15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7" name="C2 read"/>
          <p:cNvSpPr txBox="1"/>
          <p:nvPr/>
        </p:nvSpPr>
        <p:spPr>
          <a:xfrm>
            <a:off x="365760" y="1521409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ءَامَنُو</a:t>
            </a:r>
            <a:endParaRPr lang="ar-SA" sz="5600" dirty="0"/>
          </a:p>
        </p:txBody>
      </p:sp>
      <p:sp>
        <p:nvSpPr>
          <p:cNvPr id="18" name="C2 sounds"/>
          <p:cNvSpPr/>
          <p:nvPr/>
        </p:nvSpPr>
        <p:spPr>
          <a:xfrm>
            <a:off x="502920" y="276321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aa-ma-noo</a:t>
            </a:r>
            <a:endParaRPr lang="en-US" sz="2800" dirty="0"/>
          </a:p>
        </p:txBody>
      </p:sp>
      <p:sp>
        <p:nvSpPr>
          <p:cNvPr id="19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365760" y="3575685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ألف واو الجماعة: نكتبها ولا نقرؤها</a:t>
            </a:r>
            <a:endParaRPr lang="ar-SA" sz="3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4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5" name="C1 written"/>
          <p:cNvSpPr txBox="1"/>
          <p:nvPr/>
        </p:nvSpPr>
        <p:spPr>
          <a:xfrm>
            <a:off x="4892040" y="1630627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ئَةَ</a:t>
            </a:r>
            <a:endParaRPr lang="ar-SA" sz="8400" dirty="0"/>
          </a:p>
        </p:txBody>
      </p:sp>
      <p:sp>
        <p:nvSpPr>
          <p:cNvPr id="16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8" name="C2 read"/>
          <p:cNvSpPr txBox="1"/>
          <p:nvPr/>
        </p:nvSpPr>
        <p:spPr>
          <a:xfrm>
            <a:off x="365760" y="1583788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مِئَةَ</a:t>
            </a:r>
            <a:endParaRPr lang="ar-SA" sz="5200" dirty="0"/>
          </a:p>
        </p:txBody>
      </p:sp>
      <p:sp>
        <p:nvSpPr>
          <p:cNvPr id="19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mi-'a-ta</a:t>
            </a:r>
            <a:endParaRPr lang="en-US" sz="2800" dirty="0"/>
          </a:p>
        </p:txBody>
      </p:sp>
      <p:sp>
        <p:nvSpPr>
          <p:cNvPr id="20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365760" y="3575685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ألف «مِائَة»: لا تُقرأ، ونقرأ «مِئَة»</a:t>
            </a:r>
            <a:endParaRPr lang="ar-SA" sz="3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518801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ئَتَيۡنِ</a:t>
            </a:r>
            <a:endParaRPr lang="ar-SA" sz="73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439000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مِئَتَيۡنِ</a:t>
            </a:r>
            <a:endParaRPr lang="ar-SA" sz="5200" dirty="0"/>
          </a:p>
        </p:txBody>
      </p:sp>
      <p:sp>
        <p:nvSpPr>
          <p:cNvPr id="17" name="C2 sounds"/>
          <p:cNvSpPr/>
          <p:nvPr/>
        </p:nvSpPr>
        <p:spPr>
          <a:xfrm>
            <a:off x="502920" y="276321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mi-'a-tay-ni</a:t>
            </a:r>
            <a:endParaRPr lang="en-US" sz="2800" dirty="0"/>
          </a:p>
        </p:txBody>
      </p:sp>
      <p:sp>
        <p:nvSpPr>
          <p:cNvPr id="18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365760" y="3555111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وكذلك «مِائَتَيۡن»</a:t>
            </a:r>
            <a:endParaRPr lang="ar-SA" sz="3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20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21" name="C1 written"/>
          <p:cNvSpPr txBox="1"/>
          <p:nvPr/>
        </p:nvSpPr>
        <p:spPr>
          <a:xfrm>
            <a:off x="4892040" y="1746358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و۟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لَٰٓئِكَ</a:t>
            </a:r>
            <a:endParaRPr lang="ar-SA" sz="6700" dirty="0"/>
          </a:p>
        </p:txBody>
      </p:sp>
      <p:sp>
        <p:nvSpPr>
          <p:cNvPr id="22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4" name="C2 read"/>
          <p:cNvSpPr txBox="1"/>
          <p:nvPr/>
        </p:nvSpPr>
        <p:spPr>
          <a:xfrm>
            <a:off x="365760" y="1687824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أُلَٰٓئِكَ</a:t>
            </a:r>
            <a:endParaRPr lang="ar-SA" sz="4100" dirty="0"/>
          </a:p>
        </p:txBody>
      </p:sp>
      <p:sp>
        <p:nvSpPr>
          <p:cNvPr id="25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u-laaa-'i-ka</a:t>
            </a:r>
            <a:endParaRPr lang="en-US" sz="2800" dirty="0"/>
          </a:p>
        </p:txBody>
      </p:sp>
      <p:sp>
        <p:nvSpPr>
          <p:cNvPr id="26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365760" y="3594998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الواو في «أُولَٰئِك» لا تُقرأ</a:t>
            </a:r>
            <a:endParaRPr lang="ar-SA" sz="2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7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8" name="C1 written"/>
          <p:cNvSpPr txBox="1"/>
          <p:nvPr/>
        </p:nvSpPr>
        <p:spPr>
          <a:xfrm>
            <a:off x="4892040" y="1609606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و۟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لُو</a:t>
            </a:r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ٱلۡأَلۡبَٰبِ</a:t>
            </a:r>
            <a:endParaRPr lang="ar-SA" sz="3800" dirty="0"/>
          </a:p>
        </p:txBody>
      </p:sp>
      <p:sp>
        <p:nvSpPr>
          <p:cNvPr id="19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1" name="C2 read"/>
          <p:cNvSpPr txBox="1"/>
          <p:nvPr/>
        </p:nvSpPr>
        <p:spPr>
          <a:xfrm>
            <a:off x="365760" y="1609606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أُلُلۡ أَلۡبَابِ</a:t>
            </a:r>
            <a:endParaRPr lang="ar-SA" sz="3800" dirty="0"/>
          </a:p>
        </p:txBody>
      </p:sp>
      <p:sp>
        <p:nvSpPr>
          <p:cNvPr id="22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u-lul al-baab</a:t>
            </a:r>
            <a:endParaRPr lang="en-US" sz="2800" dirty="0"/>
          </a:p>
        </p:txBody>
      </p:sp>
      <p:sp>
        <p:nvSpPr>
          <p:cNvPr id="23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365760" y="3568065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حرفان لا يُقرآن: الواو الأولى والألف بعد الواو</a:t>
            </a:r>
            <a:endParaRPr lang="ar-SA" sz="3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524724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لِشَ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يۡءٍ</a:t>
            </a:r>
            <a:endParaRPr lang="ar-SA" sz="71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491691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لِشَيۡءٍ</a:t>
            </a:r>
            <a:endParaRPr lang="ar-SA" sz="4800" dirty="0"/>
          </a:p>
        </p:txBody>
      </p:sp>
      <p:sp>
        <p:nvSpPr>
          <p:cNvPr id="17" name="C2 sounds"/>
          <p:cNvSpPr/>
          <p:nvPr/>
        </p:nvSpPr>
        <p:spPr>
          <a:xfrm>
            <a:off x="502920" y="276321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li-shay-'in</a:t>
            </a:r>
            <a:endParaRPr lang="en-US" sz="2800" dirty="0"/>
          </a:p>
        </p:txBody>
      </p:sp>
      <p:sp>
        <p:nvSpPr>
          <p:cNvPr id="18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365760" y="3554844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ألف «لِشَا۟يۡءٍ» لا تُقرأ</a:t>
            </a:r>
            <a:endParaRPr lang="ar-SA" sz="2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3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4" name="C1 written"/>
          <p:cNvSpPr txBox="1"/>
          <p:nvPr/>
        </p:nvSpPr>
        <p:spPr>
          <a:xfrm>
            <a:off x="4892040" y="1513732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ثَمُودَ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ا۟</a:t>
            </a:r>
            <a:endParaRPr lang="ar-SA" sz="6900" dirty="0"/>
          </a:p>
        </p:txBody>
      </p:sp>
      <p:sp>
        <p:nvSpPr>
          <p:cNvPr id="15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7" name="C2 read"/>
          <p:cNvSpPr txBox="1"/>
          <p:nvPr/>
        </p:nvSpPr>
        <p:spPr>
          <a:xfrm>
            <a:off x="365760" y="1508474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ثَمُودَ</a:t>
            </a:r>
            <a:endParaRPr lang="ar-SA" sz="4500" dirty="0"/>
          </a:p>
        </p:txBody>
      </p:sp>
      <p:sp>
        <p:nvSpPr>
          <p:cNvPr id="18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in-na tha-moo-da</a:t>
            </a:r>
            <a:endParaRPr lang="en-US" sz="2800" dirty="0"/>
          </a:p>
        </p:txBody>
      </p:sp>
      <p:sp>
        <p:nvSpPr>
          <p:cNvPr id="19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365760" y="3586353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ألف «ثَمُودَا۟» لا تُقرأ</a:t>
            </a:r>
            <a:endParaRPr lang="ar-SA" sz="3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914381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الدائرة الصغيرة: لا تُقرأ أبداً</a:t>
            </a:r>
            <a:endParaRPr lang="ar-SA" sz="2100" dirty="0"/>
          </a:p>
        </p:txBody>
      </p:sp>
      <p:sp>
        <p:nvSpPr>
          <p:cNvPr id="14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C2255C"/>
            </a:solidFill>
            <a:prstDash val="solid"/>
          </a:ln>
        </p:spPr>
      </p:sp>
      <p:sp>
        <p:nvSpPr>
          <p:cNvPr id="15" name="C1 written"/>
          <p:cNvSpPr txBox="1"/>
          <p:nvPr/>
        </p:nvSpPr>
        <p:spPr>
          <a:xfrm>
            <a:off x="4892040" y="1611056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بِأَيۡ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ي۟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دٍ</a:t>
            </a:r>
            <a:endParaRPr lang="ar-SA" sz="7000" dirty="0"/>
          </a:p>
        </p:txBody>
      </p:sp>
      <p:sp>
        <p:nvSpPr>
          <p:cNvPr id="16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8" name="C2 read"/>
          <p:cNvSpPr txBox="1"/>
          <p:nvPr/>
        </p:nvSpPr>
        <p:spPr>
          <a:xfrm>
            <a:off x="365760" y="1588426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بِأَيۡدٍ</a:t>
            </a:r>
            <a:endParaRPr lang="ar-SA" sz="4200" dirty="0"/>
          </a:p>
        </p:txBody>
      </p:sp>
      <p:sp>
        <p:nvSpPr>
          <p:cNvPr id="19" name="C2 sounds"/>
          <p:cNvSpPr/>
          <p:nvPr/>
        </p:nvSpPr>
        <p:spPr>
          <a:xfrm>
            <a:off x="502920" y="276321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bi-ay-din</a:t>
            </a:r>
            <a:endParaRPr lang="en-US" sz="2800" dirty="0"/>
          </a:p>
        </p:txBody>
      </p:sp>
      <p:sp>
        <p:nvSpPr>
          <p:cNvPr id="20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C225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365760" y="3577785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الياء الثانية في «بِأَيۡي۟دٍ» لا تُقرأ</a:t>
            </a:r>
            <a:endParaRPr lang="ar-SA" sz="2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3097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الصفر المستطيل: تُقرأ عند الوقف فقط</a:t>
            </a:r>
            <a:endParaRPr lang="ar-SA" sz="22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5F3DC4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693073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ا۠</a:t>
            </a:r>
            <a:endParaRPr lang="ar-SA" sz="81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2 row 1"/>
          <p:cNvSpPr/>
          <p:nvPr/>
        </p:nvSpPr>
        <p:spPr>
          <a:xfrm>
            <a:off x="365760" y="155448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6" name="C2 label 1 box"/>
          <p:cNvSpPr/>
          <p:nvPr/>
        </p:nvSpPr>
        <p:spPr>
          <a:xfrm>
            <a:off x="457200" y="166420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label 1"/>
          <p:cNvSpPr txBox="1"/>
          <p:nvPr/>
        </p:nvSpPr>
        <p:spPr>
          <a:xfrm>
            <a:off x="457200" y="1669253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وصلاً</a:t>
            </a:r>
            <a:endParaRPr lang="ar-SA" sz="3000" dirty="0"/>
          </a:p>
        </p:txBody>
      </p:sp>
      <p:sp>
        <p:nvSpPr>
          <p:cNvPr id="18" name="C2 read 1"/>
          <p:cNvSpPr txBox="1"/>
          <p:nvPr/>
        </p:nvSpPr>
        <p:spPr>
          <a:xfrm>
            <a:off x="1417320" y="1594892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</a:t>
            </a:r>
            <a:endParaRPr lang="ar-SA" sz="2900" dirty="0"/>
          </a:p>
        </p:txBody>
      </p:sp>
      <p:sp>
        <p:nvSpPr>
          <p:cNvPr id="19" name="C3 row 2"/>
          <p:cNvSpPr/>
          <p:nvPr/>
        </p:nvSpPr>
        <p:spPr>
          <a:xfrm>
            <a:off x="365760" y="253746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0" name="C3 label 2 box"/>
          <p:cNvSpPr/>
          <p:nvPr/>
        </p:nvSpPr>
        <p:spPr>
          <a:xfrm>
            <a:off x="457200" y="264718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label 2"/>
          <p:cNvSpPr txBox="1"/>
          <p:nvPr/>
        </p:nvSpPr>
        <p:spPr>
          <a:xfrm>
            <a:off x="457200" y="2671547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وقفاً</a:t>
            </a:r>
            <a:endParaRPr lang="ar-SA" sz="2800" dirty="0"/>
          </a:p>
        </p:txBody>
      </p:sp>
      <p:sp>
        <p:nvSpPr>
          <p:cNvPr id="22" name="C3 read 2"/>
          <p:cNvSpPr txBox="1"/>
          <p:nvPr/>
        </p:nvSpPr>
        <p:spPr>
          <a:xfrm>
            <a:off x="1417320" y="2632338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3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tip"/>
          <p:cNvSpPr txBox="1"/>
          <p:nvPr/>
        </p:nvSpPr>
        <p:spPr>
          <a:xfrm>
            <a:off x="365760" y="3545243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الوصل لا نقرأ الألف، وعند الوقف نقرؤها</a:t>
            </a:r>
            <a:endParaRPr lang="ar-SA" sz="2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903097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الصفر المستطيل: تُقرأ عند الوقف فقط</a:t>
            </a:r>
            <a:endParaRPr lang="ar-SA" sz="2200" dirty="0"/>
          </a:p>
        </p:txBody>
      </p:sp>
      <p:sp>
        <p:nvSpPr>
          <p:cNvPr id="20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5F3DC4"/>
            </a:solidFill>
            <a:prstDash val="solid"/>
          </a:ln>
        </p:spPr>
      </p:sp>
      <p:sp>
        <p:nvSpPr>
          <p:cNvPr id="21" name="C1 written"/>
          <p:cNvSpPr txBox="1"/>
          <p:nvPr/>
        </p:nvSpPr>
        <p:spPr>
          <a:xfrm>
            <a:off x="4892040" y="1770707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لَّٰكِنَّ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ا۠</a:t>
            </a:r>
            <a:endParaRPr lang="ar-SA" sz="6800" dirty="0"/>
          </a:p>
        </p:txBody>
      </p:sp>
      <p:sp>
        <p:nvSpPr>
          <p:cNvPr id="22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2 row 1"/>
          <p:cNvSpPr/>
          <p:nvPr/>
        </p:nvSpPr>
        <p:spPr>
          <a:xfrm>
            <a:off x="365760" y="155448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24" name="C2 label 1 box"/>
          <p:cNvSpPr/>
          <p:nvPr/>
        </p:nvSpPr>
        <p:spPr>
          <a:xfrm>
            <a:off x="457200" y="166420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2 label 1"/>
          <p:cNvSpPr txBox="1"/>
          <p:nvPr/>
        </p:nvSpPr>
        <p:spPr>
          <a:xfrm>
            <a:off x="457200" y="1669253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وصلاً</a:t>
            </a:r>
            <a:endParaRPr lang="ar-SA" sz="3000" dirty="0"/>
          </a:p>
        </p:txBody>
      </p:sp>
      <p:sp>
        <p:nvSpPr>
          <p:cNvPr id="26" name="C2 read 1"/>
          <p:cNvSpPr txBox="1"/>
          <p:nvPr/>
        </p:nvSpPr>
        <p:spPr>
          <a:xfrm>
            <a:off x="1417320" y="1601419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لَٰكِنَّ</a:t>
            </a:r>
            <a:endParaRPr lang="ar-SA" sz="2800" dirty="0"/>
          </a:p>
        </p:txBody>
      </p:sp>
      <p:sp>
        <p:nvSpPr>
          <p:cNvPr id="27" name="C3 row 2"/>
          <p:cNvSpPr/>
          <p:nvPr/>
        </p:nvSpPr>
        <p:spPr>
          <a:xfrm>
            <a:off x="365760" y="253746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8" name="C3 label 2 box"/>
          <p:cNvSpPr/>
          <p:nvPr/>
        </p:nvSpPr>
        <p:spPr>
          <a:xfrm>
            <a:off x="457200" y="264718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3 label 2"/>
          <p:cNvSpPr txBox="1"/>
          <p:nvPr/>
        </p:nvSpPr>
        <p:spPr>
          <a:xfrm>
            <a:off x="457200" y="2671547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وقفاً</a:t>
            </a:r>
            <a:endParaRPr lang="ar-SA" sz="2800" dirty="0"/>
          </a:p>
        </p:txBody>
      </p:sp>
      <p:sp>
        <p:nvSpPr>
          <p:cNvPr id="30" name="C3 read 2"/>
          <p:cNvSpPr txBox="1"/>
          <p:nvPr/>
        </p:nvSpPr>
        <p:spPr>
          <a:xfrm>
            <a:off x="1417320" y="2590935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لَٰكِنَّ</a:t>
            </a:r>
            <a:pPr algn="ctr" indent="0" marL="0">
              <a:buNone/>
            </a:pPr>
            <a:r>
              <a:rPr lang="ar-SA" altLang="en-US" sz="28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31" name="C4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4 tip"/>
          <p:cNvSpPr txBox="1"/>
          <p:nvPr/>
        </p:nvSpPr>
        <p:spPr>
          <a:xfrm>
            <a:off x="365760" y="3606952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«لَّٰكِنَّا۠ هُوَ ٱللَّهُ رَبِّي»</a:t>
            </a:r>
            <a:endParaRPr lang="ar-SA" sz="2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903097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الصفر المستطيل: تُقرأ عند الوقف فقط</a:t>
            </a:r>
            <a:endParaRPr lang="ar-SA" sz="2200" dirty="0"/>
          </a:p>
        </p:txBody>
      </p:sp>
      <p:sp>
        <p:nvSpPr>
          <p:cNvPr id="17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5F3DC4"/>
            </a:solidFill>
            <a:prstDash val="solid"/>
          </a:ln>
        </p:spPr>
      </p:sp>
      <p:sp>
        <p:nvSpPr>
          <p:cNvPr id="18" name="C1 written"/>
          <p:cNvSpPr txBox="1"/>
          <p:nvPr/>
        </p:nvSpPr>
        <p:spPr>
          <a:xfrm>
            <a:off x="4892040" y="1741562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ٱلظُّنُونَ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ا۠</a:t>
            </a:r>
            <a:endParaRPr lang="ar-SA" sz="6700" dirty="0"/>
          </a:p>
        </p:txBody>
      </p:sp>
      <p:sp>
        <p:nvSpPr>
          <p:cNvPr id="19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2 row 1"/>
          <p:cNvSpPr/>
          <p:nvPr/>
        </p:nvSpPr>
        <p:spPr>
          <a:xfrm>
            <a:off x="365760" y="155448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21" name="C2 label 1 box"/>
          <p:cNvSpPr/>
          <p:nvPr/>
        </p:nvSpPr>
        <p:spPr>
          <a:xfrm>
            <a:off x="457200" y="166420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2 label 1"/>
          <p:cNvSpPr txBox="1"/>
          <p:nvPr/>
        </p:nvSpPr>
        <p:spPr>
          <a:xfrm>
            <a:off x="457200" y="1669253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وصلاً</a:t>
            </a:r>
            <a:endParaRPr lang="ar-SA" sz="3000" dirty="0"/>
          </a:p>
        </p:txBody>
      </p:sp>
      <p:sp>
        <p:nvSpPr>
          <p:cNvPr id="23" name="C2 read 1"/>
          <p:cNvSpPr txBox="1"/>
          <p:nvPr/>
        </p:nvSpPr>
        <p:spPr>
          <a:xfrm>
            <a:off x="1417320" y="1624287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ٱلظُّنُونَ</a:t>
            </a:r>
            <a:endParaRPr lang="ar-SA" sz="2500" dirty="0"/>
          </a:p>
        </p:txBody>
      </p:sp>
      <p:sp>
        <p:nvSpPr>
          <p:cNvPr id="24" name="C3 row 2"/>
          <p:cNvSpPr/>
          <p:nvPr/>
        </p:nvSpPr>
        <p:spPr>
          <a:xfrm>
            <a:off x="365760" y="253746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5" name="C3 label 2 box"/>
          <p:cNvSpPr/>
          <p:nvPr/>
        </p:nvSpPr>
        <p:spPr>
          <a:xfrm>
            <a:off x="457200" y="264718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label 2"/>
          <p:cNvSpPr txBox="1"/>
          <p:nvPr/>
        </p:nvSpPr>
        <p:spPr>
          <a:xfrm>
            <a:off x="457200" y="2671547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وقفاً</a:t>
            </a:r>
            <a:endParaRPr lang="ar-SA" sz="2800" dirty="0"/>
          </a:p>
        </p:txBody>
      </p:sp>
      <p:sp>
        <p:nvSpPr>
          <p:cNvPr id="27" name="C3 read 2"/>
          <p:cNvSpPr txBox="1"/>
          <p:nvPr/>
        </p:nvSpPr>
        <p:spPr>
          <a:xfrm>
            <a:off x="1417320" y="2607267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ٱلظُّنُونَ</a:t>
            </a:r>
            <a:pPr algn="ctr" indent="0" marL="0">
              <a:buNone/>
            </a:pPr>
            <a:r>
              <a:rPr lang="ar-SA" altLang="en-US" sz="25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500" dirty="0"/>
          </a:p>
        </p:txBody>
      </p:sp>
      <p:sp>
        <p:nvSpPr>
          <p:cNvPr id="28" name="C4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4 tip"/>
          <p:cNvSpPr txBox="1"/>
          <p:nvPr/>
        </p:nvSpPr>
        <p:spPr>
          <a:xfrm>
            <a:off x="365760" y="3537356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آخر الآية نقف عليها بالألف</a:t>
            </a:r>
            <a:endParaRPr lang="ar-SA" sz="2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3097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الصفر المستطيل: تُقرأ عند الوقف فقط</a:t>
            </a:r>
            <a:endParaRPr lang="ar-SA" sz="22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5F3DC4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511840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ٱلسَّبِيلَ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ا۠</a:t>
            </a:r>
            <a:endParaRPr lang="ar-SA" sz="79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2 row 1"/>
          <p:cNvSpPr/>
          <p:nvPr/>
        </p:nvSpPr>
        <p:spPr>
          <a:xfrm>
            <a:off x="365760" y="155448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6" name="C2 label 1 box"/>
          <p:cNvSpPr/>
          <p:nvPr/>
        </p:nvSpPr>
        <p:spPr>
          <a:xfrm>
            <a:off x="457200" y="166420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label 1"/>
          <p:cNvSpPr txBox="1"/>
          <p:nvPr/>
        </p:nvSpPr>
        <p:spPr>
          <a:xfrm>
            <a:off x="457200" y="1669253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وصلاً</a:t>
            </a:r>
            <a:endParaRPr lang="ar-SA" sz="3000" dirty="0"/>
          </a:p>
        </p:txBody>
      </p:sp>
      <p:sp>
        <p:nvSpPr>
          <p:cNvPr id="18" name="C2 read 1"/>
          <p:cNvSpPr txBox="1"/>
          <p:nvPr/>
        </p:nvSpPr>
        <p:spPr>
          <a:xfrm>
            <a:off x="1417320" y="1537525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ٱلسَّبِيلَ</a:t>
            </a:r>
            <a:endParaRPr lang="ar-SA" sz="3000" dirty="0"/>
          </a:p>
        </p:txBody>
      </p:sp>
      <p:sp>
        <p:nvSpPr>
          <p:cNvPr id="19" name="C3 row 2"/>
          <p:cNvSpPr/>
          <p:nvPr/>
        </p:nvSpPr>
        <p:spPr>
          <a:xfrm>
            <a:off x="365760" y="253746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0" name="C3 label 2 box"/>
          <p:cNvSpPr/>
          <p:nvPr/>
        </p:nvSpPr>
        <p:spPr>
          <a:xfrm>
            <a:off x="457200" y="264718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label 2"/>
          <p:cNvSpPr txBox="1"/>
          <p:nvPr/>
        </p:nvSpPr>
        <p:spPr>
          <a:xfrm>
            <a:off x="457200" y="2671547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وقفاً</a:t>
            </a:r>
            <a:endParaRPr lang="ar-SA" sz="2800" dirty="0"/>
          </a:p>
        </p:txBody>
      </p:sp>
      <p:sp>
        <p:nvSpPr>
          <p:cNvPr id="22" name="C3 read 2"/>
          <p:cNvSpPr txBox="1"/>
          <p:nvPr/>
        </p:nvSpPr>
        <p:spPr>
          <a:xfrm>
            <a:off x="1417320" y="2521268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ٱلسَّبِيلَ</a:t>
            </a:r>
            <a:pPr algn="ctr" indent="0" marL="0">
              <a:buNone/>
            </a:pPr>
            <a:r>
              <a:rPr lang="ar-SA" altLang="en-US" sz="3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4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5F3D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tip"/>
          <p:cNvSpPr txBox="1"/>
          <p:nvPr/>
        </p:nvSpPr>
        <p:spPr>
          <a:xfrm>
            <a:off x="365760" y="3573018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ومثلها «ٱلرَّسُولَا۠»</a:t>
            </a:r>
            <a:endParaRPr lang="ar-SA" sz="3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43242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بلا علامة: تسقط في الوصل</a:t>
            </a:r>
            <a:endParaRPr lang="ar-SA" sz="2300" dirty="0"/>
          </a:p>
        </p:txBody>
      </p:sp>
      <p:sp>
        <p:nvSpPr>
          <p:cNvPr id="13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E8590C"/>
            </a:solidFill>
            <a:prstDash val="solid"/>
          </a:ln>
        </p:spPr>
      </p:sp>
      <p:sp>
        <p:nvSpPr>
          <p:cNvPr id="14" name="C1 written"/>
          <p:cNvSpPr txBox="1"/>
          <p:nvPr/>
        </p:nvSpPr>
        <p:spPr>
          <a:xfrm>
            <a:off x="4892040" y="1595031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بِسۡمِ 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للَّهِ</a:t>
            </a:r>
            <a:endParaRPr lang="ar-SA" sz="6600" dirty="0"/>
          </a:p>
        </p:txBody>
      </p:sp>
      <p:sp>
        <p:nvSpPr>
          <p:cNvPr id="15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7" name="C2 read"/>
          <p:cNvSpPr txBox="1"/>
          <p:nvPr/>
        </p:nvSpPr>
        <p:spPr>
          <a:xfrm>
            <a:off x="365760" y="1578442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بِسۡمِ للَّهِ</a:t>
            </a:r>
            <a:endParaRPr lang="ar-SA" sz="3900" dirty="0"/>
          </a:p>
        </p:txBody>
      </p:sp>
      <p:sp>
        <p:nvSpPr>
          <p:cNvPr id="18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bis-mil-laah</a:t>
            </a:r>
            <a:endParaRPr lang="en-US" sz="2800" dirty="0"/>
          </a:p>
        </p:txBody>
      </p:sp>
      <p:sp>
        <p:nvSpPr>
          <p:cNvPr id="19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365760" y="3545243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همزة الوصل لا تُقرأ في وسط الكلام</a:t>
            </a:r>
            <a:endParaRPr lang="ar-SA" sz="2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43242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بلا علامة: تسقط في الوصل</a:t>
            </a:r>
            <a:endParaRPr lang="ar-SA" sz="2300" dirty="0"/>
          </a:p>
        </p:txBody>
      </p:sp>
      <p:sp>
        <p:nvSpPr>
          <p:cNvPr id="14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E8590C"/>
            </a:solidFill>
            <a:prstDash val="solid"/>
          </a:ln>
        </p:spPr>
      </p:sp>
      <p:sp>
        <p:nvSpPr>
          <p:cNvPr id="15" name="C1 written"/>
          <p:cNvSpPr txBox="1"/>
          <p:nvPr/>
        </p:nvSpPr>
        <p:spPr>
          <a:xfrm>
            <a:off x="4892040" y="1626159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شَّمۡسُ</a:t>
            </a:r>
            <a:endParaRPr lang="ar-SA" sz="6800" dirty="0"/>
          </a:p>
        </p:txBody>
      </p:sp>
      <p:sp>
        <p:nvSpPr>
          <p:cNvPr id="16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8" name="C2 read"/>
          <p:cNvSpPr txBox="1"/>
          <p:nvPr/>
        </p:nvSpPr>
        <p:spPr>
          <a:xfrm>
            <a:off x="365760" y="1604023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اَشَّمۡسُ</a:t>
            </a:r>
            <a:endParaRPr lang="ar-SA" sz="4700" dirty="0"/>
          </a:p>
        </p:txBody>
      </p:sp>
      <p:sp>
        <p:nvSpPr>
          <p:cNvPr id="19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ash-sham-su</a:t>
            </a:r>
            <a:endParaRPr lang="en-US" sz="2800" dirty="0"/>
          </a:p>
        </p:txBody>
      </p:sp>
      <p:sp>
        <p:nvSpPr>
          <p:cNvPr id="20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365760" y="3548380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اللام الشمسية تُكتب ولا تُقرأ</a:t>
            </a:r>
            <a:endParaRPr lang="ar-SA" sz="2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43242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بلا علامة: تسقط في الوصل</a:t>
            </a:r>
            <a:endParaRPr lang="ar-SA" sz="23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E8590C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559714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ٱلۡأَرۡضِ</a:t>
            </a:r>
            <a:endParaRPr lang="ar-SA" sz="50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546265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فِلۡ أَرۡضِ</a:t>
            </a:r>
            <a:endParaRPr lang="ar-SA" sz="4000" dirty="0"/>
          </a:p>
        </p:txBody>
      </p:sp>
      <p:sp>
        <p:nvSpPr>
          <p:cNvPr id="17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fil-ar-di</a:t>
            </a:r>
            <a:endParaRPr lang="en-US" sz="2800" dirty="0"/>
          </a:p>
        </p:txBody>
      </p:sp>
      <p:sp>
        <p:nvSpPr>
          <p:cNvPr id="18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365760" y="3534221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حرف المد قبل حرف ساكن: يُكتب ولا يُمد</a:t>
            </a:r>
            <a:endParaRPr lang="ar-SA" sz="3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43242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بلا علامة: تسقط في الوصل</a:t>
            </a:r>
            <a:endParaRPr lang="ar-SA" sz="2300" dirty="0"/>
          </a:p>
        </p:txBody>
      </p:sp>
      <p:sp>
        <p:nvSpPr>
          <p:cNvPr id="20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E8590C"/>
            </a:solidFill>
            <a:prstDash val="solid"/>
          </a:ln>
        </p:spPr>
      </p:sp>
      <p:sp>
        <p:nvSpPr>
          <p:cNvPr id="21" name="C1 written"/>
          <p:cNvSpPr txBox="1"/>
          <p:nvPr/>
        </p:nvSpPr>
        <p:spPr>
          <a:xfrm>
            <a:off x="4892040" y="1592511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وَقَالُ</a:t>
            </a:r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وا۟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ٱلۡحَمۡدُ</a:t>
            </a:r>
            <a:endParaRPr lang="ar-SA" sz="4000" dirty="0"/>
          </a:p>
        </p:txBody>
      </p:sp>
      <p:sp>
        <p:nvSpPr>
          <p:cNvPr id="22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4" name="C2 read"/>
          <p:cNvSpPr txBox="1"/>
          <p:nvPr/>
        </p:nvSpPr>
        <p:spPr>
          <a:xfrm>
            <a:off x="365760" y="1599166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وَقَالُلۡ حَمۡدُ</a:t>
            </a:r>
            <a:endParaRPr lang="ar-SA" sz="4700" dirty="0"/>
          </a:p>
        </p:txBody>
      </p:sp>
      <p:sp>
        <p:nvSpPr>
          <p:cNvPr id="25" name="C2 sounds"/>
          <p:cNvSpPr/>
          <p:nvPr/>
        </p:nvSpPr>
        <p:spPr>
          <a:xfrm>
            <a:off x="502920" y="276321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wa-qaa-lul ham-du</a:t>
            </a:r>
            <a:endParaRPr lang="en-US" sz="2800" dirty="0"/>
          </a:p>
        </p:txBody>
      </p:sp>
      <p:sp>
        <p:nvSpPr>
          <p:cNvPr id="26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365760" y="3591389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الواو تسقط للساكن بعدها، والألف لا تُقرأ أبداً</a:t>
            </a:r>
            <a:endParaRPr lang="ar-SA" sz="2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83412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ألف تنوين الفتح</a:t>
            </a:r>
            <a:endParaRPr lang="ar-SA" sz="2000" dirty="0"/>
          </a:p>
        </p:txBody>
      </p:sp>
      <p:sp>
        <p:nvSpPr>
          <p:cNvPr id="17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E8590C"/>
            </a:solidFill>
            <a:prstDash val="solid"/>
          </a:ln>
        </p:spPr>
      </p:sp>
      <p:sp>
        <p:nvSpPr>
          <p:cNvPr id="18" name="C1 written"/>
          <p:cNvSpPr txBox="1"/>
          <p:nvPr/>
        </p:nvSpPr>
        <p:spPr>
          <a:xfrm>
            <a:off x="4892040" y="1462754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عَلِيمً</a:t>
            </a:r>
            <a:pPr algn="ctr" indent="0" marL="0">
              <a:buNone/>
            </a:pPr>
            <a:r>
              <a:rPr lang="ar-SA" altLang="en-US" sz="10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10700" dirty="0"/>
          </a:p>
        </p:txBody>
      </p:sp>
      <p:sp>
        <p:nvSpPr>
          <p:cNvPr id="19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2 row 1"/>
          <p:cNvSpPr/>
          <p:nvPr/>
        </p:nvSpPr>
        <p:spPr>
          <a:xfrm>
            <a:off x="365760" y="155448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21" name="C2 label 1 box"/>
          <p:cNvSpPr/>
          <p:nvPr/>
        </p:nvSpPr>
        <p:spPr>
          <a:xfrm>
            <a:off x="457200" y="166420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868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2 label 1"/>
          <p:cNvSpPr txBox="1"/>
          <p:nvPr/>
        </p:nvSpPr>
        <p:spPr>
          <a:xfrm>
            <a:off x="457200" y="1669253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وصلاً</a:t>
            </a:r>
            <a:endParaRPr lang="ar-SA" sz="3000" dirty="0"/>
          </a:p>
        </p:txBody>
      </p:sp>
      <p:sp>
        <p:nvSpPr>
          <p:cNvPr id="23" name="C2 read 1"/>
          <p:cNvSpPr txBox="1"/>
          <p:nvPr/>
        </p:nvSpPr>
        <p:spPr>
          <a:xfrm>
            <a:off x="1417320" y="1533677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عَلِيمَنۡ</a:t>
            </a:r>
            <a:endParaRPr lang="ar-SA" sz="3600" dirty="0"/>
          </a:p>
        </p:txBody>
      </p:sp>
      <p:sp>
        <p:nvSpPr>
          <p:cNvPr id="24" name="C3 row 2"/>
          <p:cNvSpPr/>
          <p:nvPr/>
        </p:nvSpPr>
        <p:spPr>
          <a:xfrm>
            <a:off x="365760" y="2537460"/>
            <a:ext cx="3886200" cy="891540"/>
          </a:xfrm>
          <a:prstGeom prst="roundRect">
            <a:avLst>
              <a:gd name="adj" fmla="val 25641"/>
            </a:avLst>
          </a:prstGeom>
          <a:solidFill>
            <a:srgbClr val="FFFBE3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5" name="C3 label 2 box"/>
          <p:cNvSpPr/>
          <p:nvPr/>
        </p:nvSpPr>
        <p:spPr>
          <a:xfrm>
            <a:off x="457200" y="2647188"/>
            <a:ext cx="914400" cy="672084"/>
          </a:xfrm>
          <a:prstGeom prst="roundRect">
            <a:avLst>
              <a:gd name="adj" fmla="val 27211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label 2"/>
          <p:cNvSpPr txBox="1"/>
          <p:nvPr/>
        </p:nvSpPr>
        <p:spPr>
          <a:xfrm>
            <a:off x="457200" y="2671547"/>
            <a:ext cx="914400" cy="672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وقفاً</a:t>
            </a:r>
            <a:endParaRPr lang="ar-SA" sz="2800" dirty="0"/>
          </a:p>
        </p:txBody>
      </p:sp>
      <p:sp>
        <p:nvSpPr>
          <p:cNvPr id="27" name="C3 read 2"/>
          <p:cNvSpPr txBox="1"/>
          <p:nvPr/>
        </p:nvSpPr>
        <p:spPr>
          <a:xfrm>
            <a:off x="1417320" y="2503170"/>
            <a:ext cx="2743200" cy="8915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عَلِيمَ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8" name="C4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E859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4 tip"/>
          <p:cNvSpPr txBox="1"/>
          <p:nvPr/>
        </p:nvSpPr>
        <p:spPr>
          <a:xfrm>
            <a:off x="365760" y="3545243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الوصل لا تُقرأ الألف، وعند الوقف نقرؤها ألف مد</a:t>
            </a:r>
            <a:endParaRPr lang="ar-SA" sz="2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30352"/>
          </a:xfrm>
          <a:prstGeom prst="roundRect">
            <a:avLst>
              <a:gd name="adj" fmla="val 34483"/>
            </a:avLst>
          </a:prstGeom>
          <a:solidFill>
            <a:srgbClr val="0B72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903097"/>
            <a:ext cx="8412480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يُكتب حرف ويُقرأ غيره</a:t>
            </a:r>
            <a:endParaRPr lang="ar-SA" sz="2200" dirty="0"/>
          </a:p>
        </p:txBody>
      </p:sp>
      <p:sp>
        <p:nvSpPr>
          <p:cNvPr id="12" name="Panel written"/>
          <p:cNvSpPr/>
          <p:nvPr/>
        </p:nvSpPr>
        <p:spPr>
          <a:xfrm>
            <a:off x="489204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88900">
            <a:solidFill>
              <a:srgbClr val="0B7285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892040" y="1574140"/>
            <a:ext cx="3886200" cy="1874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ٱلصَّلَ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ٰةَ</a:t>
            </a:r>
            <a:endParaRPr lang="ar-SA" sz="8600" dirty="0"/>
          </a:p>
        </p:txBody>
      </p:sp>
      <p:sp>
        <p:nvSpPr>
          <p:cNvPr id="14" name="C2 arrow"/>
          <p:cNvSpPr/>
          <p:nvPr/>
        </p:nvSpPr>
        <p:spPr>
          <a:xfrm>
            <a:off x="4315968" y="2263140"/>
            <a:ext cx="512064" cy="457200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554480"/>
            <a:ext cx="3886200" cy="1874520"/>
          </a:xfrm>
          <a:prstGeom prst="roundRect">
            <a:avLst>
              <a:gd name="adj" fmla="val 12195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653642"/>
            <a:ext cx="3886200" cy="12371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اَلصَّلَ</a:t>
            </a:r>
            <a:pPr algn="ctr" indent="0" marL="0">
              <a:buNone/>
            </a:pPr>
            <a:r>
              <a:rPr lang="ar-SA" altLang="en-US" sz="61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100" dirty="0"/>
          </a:p>
        </p:txBody>
      </p:sp>
      <p:sp>
        <p:nvSpPr>
          <p:cNvPr id="17" name="C2 sounds"/>
          <p:cNvSpPr/>
          <p:nvPr/>
        </p:nvSpPr>
        <p:spPr>
          <a:xfrm>
            <a:off x="502920" y="2798775"/>
            <a:ext cx="3611880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as-sa-laa-ta</a:t>
            </a:r>
            <a:endParaRPr lang="en-US" sz="2800" dirty="0"/>
          </a:p>
        </p:txBody>
      </p:sp>
      <p:sp>
        <p:nvSpPr>
          <p:cNvPr id="18" name="C3 tip box"/>
          <p:cNvSpPr/>
          <p:nvPr/>
        </p:nvSpPr>
        <p:spPr>
          <a:xfrm>
            <a:off x="365760" y="3566160"/>
            <a:ext cx="8412480" cy="685800"/>
          </a:xfrm>
          <a:prstGeom prst="roundRect">
            <a:avLst>
              <a:gd name="adj" fmla="val 26667"/>
            </a:avLst>
          </a:prstGeom>
          <a:solidFill>
            <a:srgbClr val="0B72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365760" y="3575685"/>
            <a:ext cx="841248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الواو لا تُقرأ: نقرأ الألف الصغيرة فوقها</a:t>
            </a:r>
            <a:endParaRPr lang="ar-SA" sz="3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Written but not read</dc:title>
  <dc:subject>PptxGenJS Presentation</dc:subject>
  <dc:creator>PptxGenJS</dc:creator>
  <cp:lastModifiedBy>PptxGenJS</cp:lastModifiedBy>
  <cp:revision>1</cp:revision>
  <dcterms:created xsi:type="dcterms:W3CDTF">2026-10-21T19:18:26Z</dcterms:created>
  <dcterms:modified xsi:type="dcterms:W3CDTF">2026-10-21T19:18:26Z</dcterms:modified>
</cp:coreProperties>
</file>