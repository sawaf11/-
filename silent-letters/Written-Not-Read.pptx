
<file path=[Content_Types].xml><?xml version="1.0" encoding="utf-8"?>
<Types xmlns="http://schemas.openxmlformats.org/package/2006/content-types">
  <Default Extension="wav" ContentType="audio/wav"/>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Mushaf some letters are written but not pronounced. Three signs tell you: a small round circle on a letter (never read), an upright oval zero (read only when you stop on the word), and some letters with no sign at all that drop when you connect to the next word (hamzat al-wasl, the sun lam, a madd letter before a silent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plural waw (they) an alif is written with a small circle on it. It is never read, whether you connect or stop: qaaloo.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aamanoo (they believed). The last alif is not read; the word ends on a long 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mi'ah (a hundred). Do not say maa'ah or mee'ah. The alif after the meem is not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mi'atayni (two hundred). The alif is not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ulaa'ika (those). The waw carries a small circle, so it is not read. The small alif after the lam is stretched because a hamza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ulul-albaab (people of understanding). The first waw is not read, the alif after the second waw is not read, and the second waw drops when connecting because a silent lam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Surat al-Kahf 23: wa laa taqoolanna li-shay'in. Read li-shay'in, without the alif.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Surat Hud 68: alaa inna Thamooda kafaroo rabbahum. Read Thamooda without an alif, connecting or stopping.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Surat adh-Dhariyat 47: was-samaa'a banaynaahaa bi-aydin. The second yaa is not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anaa (I). Joined to the next word, read ana with a short a (ana nadheer). Stopping on it, read anaa with the alif. (Connecting: a-na. Stopping: a-naa.)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Surat al-Kahf 38. Connecting: laakinna huwa. Stopping: laakinnaa. (Connecting: laa-kin-na. Stopping: laa-kin-naa.)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Surat al-Ahzab 10. Connecting without the alif, stopping with it. The same in ar-rasoolaa and as-sabeelaa in al-Ahzab. (Connecting: adh-dhu-noo-na. Stopping: adh-dhu-noo-naa.)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Surat al-Ahzab 67: fa-adalloonas-sabeelaa. (Connecting: as-sa-bee-la. Stopping: as-sa-bee-laa.)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connecting hamza is always written, but not read when the word is joined to the word before it (see the Hamzat al-Wasl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lam has no mark and the next letter has a shaddah, so the lam is not read (see the Sun and Moon Letters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word ends with a madd letter and the next word begins with a silent letter, the madd letter is not pronounced: fil-ardi, not fee al-ardi.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Surat Fatir 34: wa qaalul-hamdu lillaah. The alif is never read (small circle), and the waw drops when connecting because a silent lam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alif after fathatan is not read when connecting (we say the tanween as a noon). When we stop, the tanween goes and we read a long alif of two counts: 'aleemaa. (Connecting: 'a-lee-man. Stopping: 'a-lee-maa.)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as-salaah, az-zakaah and al-hayaah a waw is written with a small (dagger) alif on it. Follow the small alif and do not pronounce the waw.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TrSnd" Type="http://schemas.openxmlformats.org/officeDocument/2006/relationships/audio" Target="../media/whoosh.wav"/></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TrSnd" Type="http://schemas.openxmlformats.org/officeDocument/2006/relationships/audio" Target="../media/bubbles.wav"/></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TrSnd" Type="http://schemas.openxmlformats.org/officeDocument/2006/relationships/audio" Target="../media/sparkle.wav"/></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TrSnd" Type="http://schemas.openxmlformats.org/officeDocument/2006/relationships/audio" Target="../media/marimba.wav"/></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TrSnd" Type="http://schemas.openxmlformats.org/officeDocument/2006/relationships/audio" Target="../media/harp.wav"/></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TrSnd" Type="http://schemas.openxmlformats.org/officeDocument/2006/relationships/audio" Target="../media/chime.wav"/></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TrSnd" Type="http://schemas.openxmlformats.org/officeDocument/2006/relationships/audio" Target="../media/whoosh.wav"/></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TrSnd" Type="http://schemas.openxmlformats.org/officeDocument/2006/relationships/audio" Target="../media/bubbles.wav"/></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TrSnd" Type="http://schemas.openxmlformats.org/officeDocument/2006/relationships/audio" Target="../media/sparkle.wav"/></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TrSnd" Type="http://schemas.openxmlformats.org/officeDocument/2006/relationships/audio" Target="../media/marimba.wav"/></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TrSnd" Type="http://schemas.openxmlformats.org/officeDocument/2006/relationships/audio" Target="../media/harp.wav"/></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TrSnd" Type="http://schemas.openxmlformats.org/officeDocument/2006/relationships/audio" Target="../media/chime.wav"/></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TrSnd" Type="http://schemas.openxmlformats.org/officeDocument/2006/relationships/audio" Target="../media/whoosh.wav"/></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TrSnd" Type="http://schemas.openxmlformats.org/officeDocument/2006/relationships/audio" Target="../media/bubbles.wav"/></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TrSnd" Type="http://schemas.openxmlformats.org/officeDocument/2006/relationships/audio" Target="../media/sparkle.wav"/></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TrSnd" Type="http://schemas.openxmlformats.org/officeDocument/2006/relationships/audio" Target="../media/marimba.wav"/></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TrSnd" Type="http://schemas.openxmlformats.org/officeDocument/2006/relationships/audio" Target="../media/harp.wav"/></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TrSnd" Type="http://schemas.openxmlformats.org/officeDocument/2006/relationships/audio" Target="../media/chime.wav"/></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TrSnd" Type="http://schemas.openxmlformats.org/officeDocument/2006/relationships/audio" Target="../media/whoosh.wav"/></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14"/>
        </a:solidFill>
      </p:bgPr>
    </p:bg>
    <p:spTree>
      <p:nvGrpSpPr>
        <p:cNvPr id="1" name=""/>
        <p:cNvGrpSpPr/>
        <p:nvPr/>
      </p:nvGrpSpPr>
      <p:grpSpPr>
        <a:xfrm>
          <a:off x="0" y="0"/>
          <a:ext cx="0" cy="0"/>
          <a:chOff x="0" y="0"/>
          <a:chExt cx="0" cy="0"/>
        </a:xfrm>
      </p:grpSpPr>
      <p:sp>
        <p:nvSpPr>
          <p:cNvPr id="2" name="Deco planet"/>
          <p:cNvSpPr/>
          <p:nvPr/>
        </p:nvSpPr>
        <p:spPr>
          <a:xfrm>
            <a:off x="7680960" y="91440"/>
            <a:ext cx="731520" cy="731520"/>
          </a:xfrm>
          <a:prstGeom prst="ellipse">
            <a:avLst/>
          </a:prstGeom>
          <a:solidFill>
            <a:srgbClr val="52E081"/>
          </a:solidFill>
          <a:ln w="12700">
            <a:solidFill>
              <a:srgbClr val="52E081"/>
            </a:solidFill>
            <a:prstDash val="solid"/>
          </a:ln>
        </p:spPr>
      </p:sp>
      <p:sp>
        <p:nvSpPr>
          <p:cNvPr id="3" name="Deco planet ring"/>
          <p:cNvSpPr/>
          <p:nvPr/>
        </p:nvSpPr>
        <p:spPr>
          <a:xfrm>
            <a:off x="7452360" y="384048"/>
            <a:ext cx="1188720" cy="164592"/>
          </a:xfrm>
          <a:prstGeom prst="ellipse">
            <a:avLst/>
          </a:prstGeom>
          <a:solidFill>
            <a:srgbClr val="FFFFFF">
              <a:alpha val="0"/>
            </a:srgbClr>
          </a:solidFill>
          <a:ln w="25400">
            <a:solidFill>
              <a:srgbClr val="8CF2E1"/>
            </a:solidFill>
            <a:prstDash val="solid"/>
          </a:ln>
        </p:spPr>
      </p:sp>
      <p:sp>
        <p:nvSpPr>
          <p:cNvPr id="4" name="Deco small planet"/>
          <p:cNvSpPr/>
          <p:nvPr/>
        </p:nvSpPr>
        <p:spPr>
          <a:xfrm>
            <a:off x="274320" y="182880"/>
            <a:ext cx="502920" cy="502920"/>
          </a:xfrm>
          <a:prstGeom prst="ellipse">
            <a:avLst/>
          </a:prstGeom>
          <a:solidFill>
            <a:srgbClr val="C970DB"/>
          </a:solidFill>
          <a:ln w="12700">
            <a:solidFill>
              <a:srgbClr val="C970DB"/>
            </a:solidFill>
            <a:prstDash val="solid"/>
          </a:ln>
        </p:spPr>
      </p:sp>
      <p:sp>
        <p:nvSpPr>
          <p:cNvPr id="5" name="Deco star 0"/>
          <p:cNvSpPr/>
          <p:nvPr/>
        </p:nvSpPr>
        <p:spPr>
          <a:xfrm>
            <a:off x="1371600" y="274320"/>
            <a:ext cx="256032" cy="256032"/>
          </a:xfrm>
          <a:prstGeom prst="star5">
            <a:avLst/>
          </a:prstGeom>
          <a:solidFill>
            <a:srgbClr val="FFE066"/>
          </a:solidFill>
          <a:ln w="12700">
            <a:solidFill>
              <a:srgbClr val="FFE066"/>
            </a:solidFill>
            <a:prstDash val="solid"/>
          </a:ln>
        </p:spPr>
      </p:sp>
      <p:sp>
        <p:nvSpPr>
          <p:cNvPr id="6" name="Deco star 1"/>
          <p:cNvSpPr/>
          <p:nvPr/>
        </p:nvSpPr>
        <p:spPr>
          <a:xfrm>
            <a:off x="2468880" y="91440"/>
            <a:ext cx="256032" cy="256032"/>
          </a:xfrm>
          <a:prstGeom prst="star4">
            <a:avLst/>
          </a:prstGeom>
          <a:solidFill>
            <a:srgbClr val="FFFFFF"/>
          </a:solidFill>
          <a:ln w="12700">
            <a:solidFill>
              <a:srgbClr val="FFFFFF"/>
            </a:solidFill>
            <a:prstDash val="solid"/>
          </a:ln>
        </p:spPr>
      </p:sp>
      <p:sp>
        <p:nvSpPr>
          <p:cNvPr id="7" name="Deco star 2"/>
          <p:cNvSpPr/>
          <p:nvPr/>
        </p:nvSpPr>
        <p:spPr>
          <a:xfrm>
            <a:off x="3840480" y="502920"/>
            <a:ext cx="256032" cy="256032"/>
          </a:xfrm>
          <a:prstGeom prst="star5">
            <a:avLst/>
          </a:prstGeom>
          <a:solidFill>
            <a:srgbClr val="FFFFFF"/>
          </a:solidFill>
          <a:ln w="12700">
            <a:solidFill>
              <a:srgbClr val="FFFFFF"/>
            </a:solidFill>
            <a:prstDash val="solid"/>
          </a:ln>
        </p:spPr>
      </p:sp>
      <p:sp>
        <p:nvSpPr>
          <p:cNvPr id="8" name="Deco star 3"/>
          <p:cNvSpPr/>
          <p:nvPr/>
        </p:nvSpPr>
        <p:spPr>
          <a:xfrm>
            <a:off x="5120640" y="137160"/>
            <a:ext cx="256032" cy="256032"/>
          </a:xfrm>
          <a:prstGeom prst="star4">
            <a:avLst/>
          </a:prstGeom>
          <a:solidFill>
            <a:srgbClr val="FFE066"/>
          </a:solidFill>
          <a:ln w="12700">
            <a:solidFill>
              <a:srgbClr val="FFE066"/>
            </a:solidFill>
            <a:prstDash val="solid"/>
          </a:ln>
        </p:spPr>
      </p:sp>
      <p:sp>
        <p:nvSpPr>
          <p:cNvPr id="9" name="Deco star 4"/>
          <p:cNvSpPr/>
          <p:nvPr/>
        </p:nvSpPr>
        <p:spPr>
          <a:xfrm>
            <a:off x="6583680" y="457200"/>
            <a:ext cx="256032" cy="256032"/>
          </a:xfrm>
          <a:prstGeom prst="star5">
            <a:avLst/>
          </a:prstGeom>
          <a:solidFill>
            <a:srgbClr val="FFFFFF"/>
          </a:solidFill>
          <a:ln w="12700">
            <a:solidFill>
              <a:srgbClr val="FFFFFF"/>
            </a:solidFill>
            <a:prstDash val="solid"/>
          </a:ln>
        </p:spPr>
      </p:sp>
      <p:sp>
        <p:nvSpPr>
          <p:cNvPr id="10" name="Deco star 5"/>
          <p:cNvSpPr/>
          <p:nvPr/>
        </p:nvSpPr>
        <p:spPr>
          <a:xfrm>
            <a:off x="1097280" y="4572000"/>
            <a:ext cx="256032" cy="256032"/>
          </a:xfrm>
          <a:prstGeom prst="star4">
            <a:avLst/>
          </a:prstGeom>
          <a:solidFill>
            <a:srgbClr val="FFFFFF"/>
          </a:solidFill>
          <a:ln w="12700">
            <a:solidFill>
              <a:srgbClr val="FFFFFF"/>
            </a:solidFill>
            <a:prstDash val="solid"/>
          </a:ln>
        </p:spPr>
      </p:sp>
      <p:sp>
        <p:nvSpPr>
          <p:cNvPr id="11" name="Deco star 6"/>
          <p:cNvSpPr/>
          <p:nvPr/>
        </p:nvSpPr>
        <p:spPr>
          <a:xfrm>
            <a:off x="2743200" y="4754880"/>
            <a:ext cx="256032" cy="256032"/>
          </a:xfrm>
          <a:prstGeom prst="star5">
            <a:avLst/>
          </a:prstGeom>
          <a:solidFill>
            <a:srgbClr val="FFE066"/>
          </a:solidFill>
          <a:ln w="12700">
            <a:solidFill>
              <a:srgbClr val="FFE066"/>
            </a:solidFill>
            <a:prstDash val="solid"/>
          </a:ln>
        </p:spPr>
      </p:sp>
      <p:sp>
        <p:nvSpPr>
          <p:cNvPr id="12" name="Deco star 7"/>
          <p:cNvSpPr/>
          <p:nvPr/>
        </p:nvSpPr>
        <p:spPr>
          <a:xfrm>
            <a:off x="6217920" y="4663440"/>
            <a:ext cx="256032" cy="256032"/>
          </a:xfrm>
          <a:prstGeom prst="star4">
            <a:avLst/>
          </a:prstGeom>
          <a:solidFill>
            <a:srgbClr val="FFFFFF"/>
          </a:solidFill>
          <a:ln w="12700">
            <a:solidFill>
              <a:srgbClr val="FFFFFF"/>
            </a:solidFill>
            <a:prstDash val="solid"/>
          </a:ln>
        </p:spPr>
      </p:sp>
      <p:sp>
        <p:nvSpPr>
          <p:cNvPr id="13" name="Deco star 8"/>
          <p:cNvSpPr/>
          <p:nvPr/>
        </p:nvSpPr>
        <p:spPr>
          <a:xfrm>
            <a:off x="8138160" y="4572000"/>
            <a:ext cx="256032" cy="256032"/>
          </a:xfrm>
          <a:prstGeom prst="star5">
            <a:avLst/>
          </a:prstGeom>
          <a:solidFill>
            <a:srgbClr val="FFFFFF"/>
          </a:solidFill>
          <a:ln w="12700">
            <a:solidFill>
              <a:srgbClr val="FFFFFF"/>
            </a:solidFill>
            <a:prstDash val="solid"/>
          </a:ln>
        </p:spPr>
      </p:sp>
      <p:sp>
        <p:nvSpPr>
          <p:cNvPr id="14" name="Deco moon surface"/>
          <p:cNvSpPr/>
          <p:nvPr/>
        </p:nvSpPr>
        <p:spPr>
          <a:xfrm>
            <a:off x="3200400" y="4709160"/>
            <a:ext cx="2743200" cy="1097280"/>
          </a:xfrm>
          <a:prstGeom prst="ellipse">
            <a:avLst/>
          </a:prstGeom>
          <a:solidFill>
            <a:srgbClr val="855247"/>
          </a:solidFill>
          <a:ln w="12700">
            <a:solidFill>
              <a:srgbClr val="855247"/>
            </a:solidFill>
            <a:prstDash val="solid"/>
          </a:ln>
        </p:spPr>
      </p:sp>
      <p:sp>
        <p:nvSpPr>
          <p:cNvPr id="15" name="Title box"/>
          <p:cNvSpPr/>
          <p:nvPr/>
        </p:nvSpPr>
        <p:spPr>
          <a:xfrm>
            <a:off x="365760" y="896112"/>
            <a:ext cx="8412480" cy="530352"/>
          </a:xfrm>
          <a:prstGeom prst="roundRect">
            <a:avLst>
              <a:gd name="adj" fmla="val 34483"/>
            </a:avLst>
          </a:prstGeom>
          <a:solidFill>
            <a:srgbClr val="1971C2"/>
          </a:solidFill>
          <a:ln w="12700">
            <a:solidFill>
              <a:srgbClr val="333333"/>
            </a:solidFill>
            <a:prstDash val="solid"/>
          </a:ln>
        </p:spPr>
      </p:sp>
      <p:sp>
        <p:nvSpPr>
          <p:cNvPr id="16" name="Title"/>
          <p:cNvSpPr txBox="1"/>
          <p:nvPr/>
        </p:nvSpPr>
        <p:spPr>
          <a:xfrm>
            <a:off x="365760" y="872744"/>
            <a:ext cx="8412480" cy="530352"/>
          </a:xfrm>
          <a:prstGeom prst="rect">
            <a:avLst/>
          </a:prstGeom>
          <a:noFill/>
          <a:ln/>
        </p:spPr>
        <p:txBody>
          <a:bodyPr wrap="none" lIns="0" tIns="0" rIns="0" bIns="0" rtlCol="0" anchor="ctr"/>
          <a:lstStyle/>
          <a:p>
            <a:pPr algn="ctr" indent="0" marL="0">
              <a:buNone/>
            </a:pPr>
            <a:r>
              <a:rPr lang="en-US" sz="2300" b="1" dirty="0">
                <a:solidFill>
                  <a:srgbClr val="FFFFFF"/>
                </a:solidFill>
                <a:latin typeface="Arial" pitchFamily="34" charset="0"/>
                <a:ea typeface="Arial" pitchFamily="34" charset="-122"/>
                <a:cs typeface="Arial" pitchFamily="34" charset="-120"/>
              </a:rPr>
              <a:t>Letters that are written but not read: how to spot them</a:t>
            </a:r>
            <a:endParaRPr lang="en-US" sz="2300" dirty="0"/>
          </a:p>
        </p:txBody>
      </p:sp>
      <p:sp>
        <p:nvSpPr>
          <p:cNvPr id="17" name="Panel 1"/>
          <p:cNvSpPr/>
          <p:nvPr/>
        </p:nvSpPr>
        <p:spPr>
          <a:xfrm>
            <a:off x="6172200" y="1600200"/>
            <a:ext cx="2606040" cy="1600200"/>
          </a:xfrm>
          <a:prstGeom prst="roundRect">
            <a:avLst>
              <a:gd name="adj" fmla="val 14286"/>
            </a:avLst>
          </a:prstGeom>
          <a:solidFill>
            <a:srgbClr val="FFFFFF"/>
          </a:solidFill>
          <a:ln w="88900">
            <a:solidFill>
              <a:srgbClr val="C2255C"/>
            </a:solidFill>
            <a:prstDash val="solid"/>
          </a:ln>
        </p:spPr>
      </p:sp>
      <p:sp>
        <p:nvSpPr>
          <p:cNvPr id="18" name="C1 sign"/>
          <p:cNvSpPr txBox="1"/>
          <p:nvPr/>
        </p:nvSpPr>
        <p:spPr>
          <a:xfrm>
            <a:off x="6172200" y="1679550"/>
            <a:ext cx="2606040" cy="1600200"/>
          </a:xfrm>
          <a:prstGeom prst="rect">
            <a:avLst/>
          </a:prstGeom>
          <a:noFill/>
          <a:ln/>
        </p:spPr>
        <p:txBody>
          <a:bodyPr wrap="none" lIns="0" tIns="0" rIns="0" bIns="0" rtlCol="0" anchor="ctr"/>
          <a:lstStyle/>
          <a:p>
            <a:pPr algn="ctr" indent="0" marL="0">
              <a:buNone/>
            </a:pPr>
            <a:r>
              <a:rPr lang="ar-SA" altLang="en-US" sz="7100" dirty="0">
                <a:solidFill>
                  <a:srgbClr val="16213E"/>
                </a:solidFill>
                <a:latin typeface="Traditional Arabic" pitchFamily="34" charset="0"/>
                <a:ea typeface="Traditional Arabic" pitchFamily="34" charset="-122"/>
                <a:cs typeface="Traditional Arabic" pitchFamily="34" charset="-120"/>
              </a:rPr>
              <a:t>ا</a:t>
            </a:r>
            <a:r>
              <a:rPr lang="ar-SA" altLang="en-US" sz="7100" dirty="0">
                <a:solidFill>
                  <a:srgbClr val="E03131"/>
                </a:solidFill>
                <a:latin typeface="Traditional Arabic" pitchFamily="34" charset="0"/>
                <a:ea typeface="Traditional Arabic" pitchFamily="34" charset="-122"/>
                <a:cs typeface="Traditional Arabic" pitchFamily="34" charset="-120"/>
              </a:rPr>
              <a:t>۟</a:t>
            </a:r>
            <a:endParaRPr lang="ar-SA" sz="7100" dirty="0"/>
          </a:p>
        </p:txBody>
      </p:sp>
      <p:sp>
        <p:nvSpPr>
          <p:cNvPr id="19" name="C1 label box"/>
          <p:cNvSpPr/>
          <p:nvPr/>
        </p:nvSpPr>
        <p:spPr>
          <a:xfrm>
            <a:off x="6172200" y="3337560"/>
            <a:ext cx="2606040" cy="685800"/>
          </a:xfrm>
          <a:prstGeom prst="roundRect">
            <a:avLst>
              <a:gd name="adj" fmla="val 26667"/>
            </a:avLst>
          </a:prstGeom>
          <a:solidFill>
            <a:srgbClr val="C2255C"/>
          </a:solidFill>
          <a:ln w="12700">
            <a:solidFill>
              <a:srgbClr val="333333"/>
            </a:solidFill>
            <a:prstDash val="solid"/>
          </a:ln>
        </p:spPr>
      </p:sp>
      <p:sp>
        <p:nvSpPr>
          <p:cNvPr id="20" name="C1 label"/>
          <p:cNvSpPr txBox="1"/>
          <p:nvPr/>
        </p:nvSpPr>
        <p:spPr>
          <a:xfrm>
            <a:off x="6172200" y="3344164"/>
            <a:ext cx="2606040" cy="685800"/>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Never read</a:t>
            </a:r>
            <a:endParaRPr lang="en-US" sz="2600" dirty="0"/>
          </a:p>
        </p:txBody>
      </p:sp>
      <p:sp>
        <p:nvSpPr>
          <p:cNvPr id="21" name="Panel 2"/>
          <p:cNvSpPr/>
          <p:nvPr/>
        </p:nvSpPr>
        <p:spPr>
          <a:xfrm>
            <a:off x="3268980" y="1600200"/>
            <a:ext cx="2606040" cy="1600200"/>
          </a:xfrm>
          <a:prstGeom prst="roundRect">
            <a:avLst>
              <a:gd name="adj" fmla="val 14286"/>
            </a:avLst>
          </a:prstGeom>
          <a:solidFill>
            <a:srgbClr val="FFFFFF"/>
          </a:solidFill>
          <a:ln w="88900">
            <a:solidFill>
              <a:srgbClr val="5F3DC4"/>
            </a:solidFill>
            <a:prstDash val="solid"/>
          </a:ln>
        </p:spPr>
      </p:sp>
      <p:sp>
        <p:nvSpPr>
          <p:cNvPr id="22" name="C2 sign"/>
          <p:cNvSpPr txBox="1"/>
          <p:nvPr/>
        </p:nvSpPr>
        <p:spPr>
          <a:xfrm>
            <a:off x="3268980" y="1691767"/>
            <a:ext cx="2606040" cy="1600200"/>
          </a:xfrm>
          <a:prstGeom prst="rect">
            <a:avLst/>
          </a:prstGeom>
          <a:noFill/>
          <a:ln/>
        </p:spPr>
        <p:txBody>
          <a:bodyPr wrap="none" lIns="0" tIns="0" rIns="0" bIns="0" rtlCol="0" anchor="ctr"/>
          <a:lstStyle/>
          <a:p>
            <a:pPr algn="ctr" indent="0" marL="0">
              <a:buNone/>
            </a:pPr>
            <a:r>
              <a:rPr lang="ar-SA" altLang="en-US" sz="7000" dirty="0">
                <a:solidFill>
                  <a:srgbClr val="16213E"/>
                </a:solidFill>
                <a:latin typeface="Traditional Arabic" pitchFamily="34" charset="0"/>
                <a:ea typeface="Traditional Arabic" pitchFamily="34" charset="-122"/>
                <a:cs typeface="Traditional Arabic" pitchFamily="34" charset="-120"/>
              </a:rPr>
              <a:t>ا</a:t>
            </a:r>
            <a:r>
              <a:rPr lang="ar-SA" altLang="en-US" sz="7000" dirty="0">
                <a:solidFill>
                  <a:srgbClr val="E03131"/>
                </a:solidFill>
                <a:latin typeface="Traditional Arabic" pitchFamily="34" charset="0"/>
                <a:ea typeface="Traditional Arabic" pitchFamily="34" charset="-122"/>
                <a:cs typeface="Traditional Arabic" pitchFamily="34" charset="-120"/>
              </a:rPr>
              <a:t>۠</a:t>
            </a:r>
            <a:endParaRPr lang="ar-SA" sz="7000" dirty="0"/>
          </a:p>
        </p:txBody>
      </p:sp>
      <p:sp>
        <p:nvSpPr>
          <p:cNvPr id="23" name="C2 label box"/>
          <p:cNvSpPr/>
          <p:nvPr/>
        </p:nvSpPr>
        <p:spPr>
          <a:xfrm>
            <a:off x="3268980" y="3337560"/>
            <a:ext cx="2606040" cy="685800"/>
          </a:xfrm>
          <a:prstGeom prst="roundRect">
            <a:avLst>
              <a:gd name="adj" fmla="val 26667"/>
            </a:avLst>
          </a:prstGeom>
          <a:solidFill>
            <a:srgbClr val="5F3DC4"/>
          </a:solidFill>
          <a:ln w="12700">
            <a:solidFill>
              <a:srgbClr val="333333"/>
            </a:solidFill>
            <a:prstDash val="solid"/>
          </a:ln>
        </p:spPr>
      </p:sp>
      <p:sp>
        <p:nvSpPr>
          <p:cNvPr id="24" name="C2 label"/>
          <p:cNvSpPr txBox="1"/>
          <p:nvPr/>
        </p:nvSpPr>
        <p:spPr>
          <a:xfrm>
            <a:off x="3268980" y="3318256"/>
            <a:ext cx="2606040" cy="685800"/>
          </a:xfrm>
          <a:prstGeom prst="rect">
            <a:avLst/>
          </a:prstGeom>
          <a:noFill/>
          <a:ln/>
        </p:spPr>
        <p:txBody>
          <a:bodyPr wrap="non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Read when stopping</a:t>
            </a:r>
            <a:endParaRPr lang="en-US" sz="1900" dirty="0"/>
          </a:p>
        </p:txBody>
      </p:sp>
      <p:sp>
        <p:nvSpPr>
          <p:cNvPr id="25" name="Panel 3"/>
          <p:cNvSpPr/>
          <p:nvPr/>
        </p:nvSpPr>
        <p:spPr>
          <a:xfrm>
            <a:off x="365760" y="1600200"/>
            <a:ext cx="2606040" cy="1600200"/>
          </a:xfrm>
          <a:prstGeom prst="roundRect">
            <a:avLst>
              <a:gd name="adj" fmla="val 14286"/>
            </a:avLst>
          </a:prstGeom>
          <a:solidFill>
            <a:srgbClr val="FFFFFF"/>
          </a:solidFill>
          <a:ln w="88900">
            <a:solidFill>
              <a:srgbClr val="E8590C"/>
            </a:solidFill>
            <a:prstDash val="solid"/>
          </a:ln>
        </p:spPr>
      </p:sp>
      <p:sp>
        <p:nvSpPr>
          <p:cNvPr id="26" name="C3 sign"/>
          <p:cNvSpPr txBox="1"/>
          <p:nvPr/>
        </p:nvSpPr>
        <p:spPr>
          <a:xfrm>
            <a:off x="365760" y="1692961"/>
            <a:ext cx="2606040" cy="1600200"/>
          </a:xfrm>
          <a:prstGeom prst="rect">
            <a:avLst/>
          </a:prstGeom>
          <a:noFill/>
          <a:ln/>
        </p:spPr>
        <p:txBody>
          <a:bodyPr wrap="none" lIns="0" tIns="0" rIns="0" bIns="0" rtlCol="0" anchor="ctr"/>
          <a:lstStyle/>
          <a:p>
            <a:pPr algn="ctr" indent="0" marL="0">
              <a:buNone/>
            </a:pPr>
            <a:r>
              <a:rPr lang="ar-SA" altLang="en-US" sz="8800" dirty="0">
                <a:solidFill>
                  <a:srgbClr val="E03131"/>
                </a:solidFill>
                <a:latin typeface="Traditional Arabic" pitchFamily="34" charset="0"/>
                <a:ea typeface="Traditional Arabic" pitchFamily="34" charset="-122"/>
                <a:cs typeface="Traditional Arabic" pitchFamily="34" charset="-120"/>
              </a:rPr>
              <a:t>ٱ</a:t>
            </a:r>
            <a:endParaRPr lang="ar-SA" sz="8800" dirty="0"/>
          </a:p>
        </p:txBody>
      </p:sp>
      <p:sp>
        <p:nvSpPr>
          <p:cNvPr id="27" name="C3 label box"/>
          <p:cNvSpPr/>
          <p:nvPr/>
        </p:nvSpPr>
        <p:spPr>
          <a:xfrm>
            <a:off x="365760" y="3337560"/>
            <a:ext cx="2606040" cy="685800"/>
          </a:xfrm>
          <a:prstGeom prst="roundRect">
            <a:avLst>
              <a:gd name="adj" fmla="val 26667"/>
            </a:avLst>
          </a:prstGeom>
          <a:solidFill>
            <a:srgbClr val="E8590C"/>
          </a:solidFill>
          <a:ln w="12700">
            <a:solidFill>
              <a:srgbClr val="333333"/>
            </a:solidFill>
            <a:prstDash val="solid"/>
          </a:ln>
        </p:spPr>
      </p:sp>
      <p:sp>
        <p:nvSpPr>
          <p:cNvPr id="28" name="C3 label"/>
          <p:cNvSpPr txBox="1"/>
          <p:nvPr/>
        </p:nvSpPr>
        <p:spPr>
          <a:xfrm>
            <a:off x="365760" y="3323336"/>
            <a:ext cx="2606040" cy="685800"/>
          </a:xfrm>
          <a:prstGeom prst="rect">
            <a:avLst/>
          </a:prstGeom>
          <a:noFill/>
          <a:ln/>
        </p:spPr>
        <p:txBody>
          <a:bodyPr wrap="non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Dropped when connecting</a:t>
            </a:r>
            <a:endParaRPr lang="en-US" sz="1400" dirty="0"/>
          </a:p>
        </p:txBody>
      </p:sp>
    </p:spTree>
  </p:cSld>
  <p:clrMapOvr>
    <a:masterClrMapping/>
  </p:clrMapOvr>
  <p:transition spd="med">
    <p:cover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5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35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350"/>
                                        <p:tgtEl>
                                          <p:spTgt spid="2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350"/>
                                        <p:tgtEl>
                                          <p:spTgt spid="2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350"/>
                                        <p:tgtEl>
                                          <p:spTgt spid="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350"/>
                                        <p:tgtEl>
                                          <p:spTgt spid="2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350"/>
                                        <p:tgtEl>
                                          <p:spTgt spid="2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350"/>
                                        <p:tgtEl>
                                          <p:spTgt spid="2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3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2" grpId="0" animBg="1"/>
      <p:bldP spid="23" grpId="0" animBg="1"/>
      <p:bldP spid="24" grpId="0" animBg="1"/>
      <p:bldP spid="26" grpId="0" animBg="1"/>
      <p:bldP spid="27" grpId="0" animBg="1"/>
      <p:bldP spid="2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CBC5F7"/>
        </a:solidFill>
      </p:bgPr>
    </p:bg>
    <p:spTree>
      <p:nvGrpSpPr>
        <p:cNvPr id="1" name=""/>
        <p:cNvGrpSpPr/>
        <p:nvPr/>
      </p:nvGrpSpPr>
      <p:grpSpPr>
        <a:xfrm>
          <a:off x="0" y="0"/>
          <a:ext cx="0" cy="0"/>
          <a:chOff x="0" y="0"/>
          <a:chExt cx="0" cy="0"/>
        </a:xfrm>
      </p:grpSpPr>
      <p:sp>
        <p:nvSpPr>
          <p:cNvPr id="2" name="Deco sun low"/>
          <p:cNvSpPr/>
          <p:nvPr/>
        </p:nvSpPr>
        <p:spPr>
          <a:xfrm>
            <a:off x="3566160" y="4343400"/>
            <a:ext cx="2011680" cy="2011680"/>
          </a:xfrm>
          <a:prstGeom prst="ellipse">
            <a:avLst/>
          </a:prstGeom>
          <a:solidFill>
            <a:srgbClr val="FFB347"/>
          </a:solidFill>
          <a:ln w="12700">
            <a:solidFill>
              <a:srgbClr val="FFB347"/>
            </a:solidFill>
            <a:prstDash val="solid"/>
          </a:ln>
        </p:spPr>
      </p:sp>
      <p:sp>
        <p:nvSpPr>
          <p:cNvPr id="3" name="Deco dune left"/>
          <p:cNvSpPr/>
          <p:nvPr/>
        </p:nvSpPr>
        <p:spPr>
          <a:xfrm>
            <a:off x="-1097280" y="4572000"/>
            <a:ext cx="4572000" cy="1280160"/>
          </a:xfrm>
          <a:prstGeom prst="ellipse">
            <a:avLst/>
          </a:prstGeom>
          <a:solidFill>
            <a:srgbClr val="A364D8"/>
          </a:solidFill>
          <a:ln w="12700">
            <a:solidFill>
              <a:srgbClr val="A364D8"/>
            </a:solidFill>
            <a:prstDash val="solid"/>
          </a:ln>
        </p:spPr>
      </p:sp>
      <p:sp>
        <p:nvSpPr>
          <p:cNvPr id="4" name="Deco dune right"/>
          <p:cNvSpPr/>
          <p:nvPr/>
        </p:nvSpPr>
        <p:spPr>
          <a:xfrm>
            <a:off x="5303520" y="4617720"/>
            <a:ext cx="5120640" cy="1280160"/>
          </a:xfrm>
          <a:prstGeom prst="ellipse">
            <a:avLst/>
          </a:prstGeom>
          <a:solidFill>
            <a:srgbClr val="7B47D1"/>
          </a:solidFill>
          <a:ln w="12700">
            <a:solidFill>
              <a:srgbClr val="7B47D1"/>
            </a:solidFill>
            <a:prstDash val="solid"/>
          </a:ln>
        </p:spPr>
      </p:sp>
      <p:sp>
        <p:nvSpPr>
          <p:cNvPr id="5" name="Deco cloud"/>
          <p:cNvSpPr/>
          <p:nvPr/>
        </p:nvSpPr>
        <p:spPr>
          <a:xfrm>
            <a:off x="320040" y="137160"/>
            <a:ext cx="1371600" cy="594360"/>
          </a:xfrm>
          <a:prstGeom prst="cloud">
            <a:avLst/>
          </a:prstGeom>
          <a:solidFill>
            <a:srgbClr val="FFFFFF"/>
          </a:solidFill>
          <a:ln w="12700">
            <a:solidFill>
              <a:srgbClr val="FFFFFF"/>
            </a:solidFill>
            <a:prstDash val="solid"/>
          </a:ln>
        </p:spPr>
      </p:sp>
      <p:sp>
        <p:nvSpPr>
          <p:cNvPr id="6" name="Deco cloud right"/>
          <p:cNvSpPr/>
          <p:nvPr/>
        </p:nvSpPr>
        <p:spPr>
          <a:xfrm>
            <a:off x="7223760" y="182880"/>
            <a:ext cx="1280160" cy="548640"/>
          </a:xfrm>
          <a:prstGeom prst="cloud">
            <a:avLst/>
          </a:prstGeom>
          <a:solidFill>
            <a:srgbClr val="FFF3E8"/>
          </a:solidFill>
          <a:ln w="12700">
            <a:solidFill>
              <a:srgbClr val="FFF3E8"/>
            </a:solidFill>
            <a:prstDash val="solid"/>
          </a:ln>
        </p:spPr>
      </p:sp>
      <p:sp>
        <p:nvSpPr>
          <p:cNvPr id="7" name="Deco bird 0"/>
          <p:cNvSpPr/>
          <p:nvPr/>
        </p:nvSpPr>
        <p:spPr>
          <a:xfrm rot="5400000">
            <a:off x="2926080" y="320040"/>
            <a:ext cx="274320" cy="128016"/>
          </a:xfrm>
          <a:prstGeom prst="chevron">
            <a:avLst/>
          </a:prstGeom>
          <a:solidFill>
            <a:srgbClr val="6B4A3A"/>
          </a:solidFill>
          <a:ln w="12700">
            <a:solidFill>
              <a:srgbClr val="6B4A3A"/>
            </a:solidFill>
            <a:prstDash val="solid"/>
          </a:ln>
        </p:spPr>
      </p:sp>
      <p:sp>
        <p:nvSpPr>
          <p:cNvPr id="8" name="Deco bird 1"/>
          <p:cNvSpPr/>
          <p:nvPr/>
        </p:nvSpPr>
        <p:spPr>
          <a:xfrm rot="5400000">
            <a:off x="3291840" y="228600"/>
            <a:ext cx="274320" cy="128016"/>
          </a:xfrm>
          <a:prstGeom prst="chevron">
            <a:avLst/>
          </a:prstGeom>
          <a:solidFill>
            <a:srgbClr val="6B4A3A"/>
          </a:solidFill>
          <a:ln w="12700">
            <a:solidFill>
              <a:srgbClr val="6B4A3A"/>
            </a:solidFill>
            <a:prstDash val="solid"/>
          </a:ln>
        </p:spPr>
      </p:sp>
      <p:sp>
        <p:nvSpPr>
          <p:cNvPr id="9" name="Deco bird 2"/>
          <p:cNvSpPr/>
          <p:nvPr/>
        </p:nvSpPr>
        <p:spPr>
          <a:xfrm rot="5400000">
            <a:off x="5394960" y="365760"/>
            <a:ext cx="274320" cy="128016"/>
          </a:xfrm>
          <a:prstGeom prst="chevron">
            <a:avLst/>
          </a:prstGeom>
          <a:solidFill>
            <a:srgbClr val="6B4A3A"/>
          </a:solidFill>
          <a:ln w="12700">
            <a:solidFill>
              <a:srgbClr val="6B4A3A"/>
            </a:solidFill>
            <a:prstDash val="solid"/>
          </a:ln>
        </p:spPr>
      </p:sp>
      <p:sp>
        <p:nvSpPr>
          <p:cNvPr id="10" name="Title box"/>
          <p:cNvSpPr/>
          <p:nvPr/>
        </p:nvSpPr>
        <p:spPr>
          <a:xfrm>
            <a:off x="365760" y="896112"/>
            <a:ext cx="8412480" cy="530352"/>
          </a:xfrm>
          <a:prstGeom prst="roundRect">
            <a:avLst>
              <a:gd name="adj" fmla="val 34483"/>
            </a:avLst>
          </a:prstGeom>
          <a:solidFill>
            <a:srgbClr val="C2255C"/>
          </a:solidFill>
          <a:ln w="12700">
            <a:solidFill>
              <a:srgbClr val="333333"/>
            </a:solidFill>
            <a:prstDash val="solid"/>
          </a:ln>
        </p:spPr>
      </p:sp>
      <p:sp>
        <p:nvSpPr>
          <p:cNvPr id="11" name="Title"/>
          <p:cNvSpPr txBox="1"/>
          <p:nvPr/>
        </p:nvSpPr>
        <p:spPr>
          <a:xfrm>
            <a:off x="365760" y="902716"/>
            <a:ext cx="8412480" cy="530352"/>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Small circle: never read</a:t>
            </a:r>
            <a:endParaRPr lang="en-US" sz="2600" dirty="0"/>
          </a:p>
        </p:txBody>
      </p:sp>
      <p:sp>
        <p:nvSpPr>
          <p:cNvPr id="12" name="Panel written"/>
          <p:cNvSpPr/>
          <p:nvPr/>
        </p:nvSpPr>
        <p:spPr>
          <a:xfrm>
            <a:off x="4892040" y="1554480"/>
            <a:ext cx="3886200" cy="1874520"/>
          </a:xfrm>
          <a:prstGeom prst="roundRect">
            <a:avLst>
              <a:gd name="adj" fmla="val 12195"/>
            </a:avLst>
          </a:prstGeom>
          <a:solidFill>
            <a:srgbClr val="FFFFFF"/>
          </a:solidFill>
          <a:ln w="88900">
            <a:solidFill>
              <a:srgbClr val="C2255C"/>
            </a:solidFill>
            <a:prstDash val="solid"/>
          </a:ln>
        </p:spPr>
      </p:sp>
      <p:sp>
        <p:nvSpPr>
          <p:cNvPr id="13" name="C1 written"/>
          <p:cNvSpPr txBox="1"/>
          <p:nvPr/>
        </p:nvSpPr>
        <p:spPr>
          <a:xfrm>
            <a:off x="4892040" y="1630541"/>
            <a:ext cx="3886200" cy="1874520"/>
          </a:xfrm>
          <a:prstGeom prst="rect">
            <a:avLst/>
          </a:prstGeom>
          <a:noFill/>
          <a:ln/>
        </p:spPr>
        <p:txBody>
          <a:bodyPr wrap="none" lIns="0" tIns="0" rIns="0" bIns="0" rtlCol="0" anchor="ctr"/>
          <a:lstStyle/>
          <a:p>
            <a:pPr algn="ctr" indent="0" marL="0">
              <a:buNone/>
            </a:pPr>
            <a:r>
              <a:rPr lang="ar-SA" altLang="en-US" sz="8000" dirty="0">
                <a:solidFill>
                  <a:srgbClr val="16213E"/>
                </a:solidFill>
                <a:latin typeface="Traditional Arabic" pitchFamily="34" charset="0"/>
                <a:ea typeface="Traditional Arabic" pitchFamily="34" charset="-122"/>
                <a:cs typeface="Traditional Arabic" pitchFamily="34" charset="-120"/>
              </a:rPr>
              <a:t>قَالُو</a:t>
            </a:r>
            <a:r>
              <a:rPr lang="ar-SA" altLang="en-US" sz="8000" dirty="0">
                <a:solidFill>
                  <a:srgbClr val="E03131"/>
                </a:solidFill>
                <a:latin typeface="Traditional Arabic" pitchFamily="34" charset="0"/>
                <a:ea typeface="Traditional Arabic" pitchFamily="34" charset="-122"/>
                <a:cs typeface="Traditional Arabic" pitchFamily="34" charset="-120"/>
              </a:rPr>
              <a:t>ا۟</a:t>
            </a:r>
            <a:endParaRPr lang="ar-SA" sz="8000" dirty="0"/>
          </a:p>
        </p:txBody>
      </p:sp>
      <p:sp>
        <p:nvSpPr>
          <p:cNvPr id="14" name="C2 arrow"/>
          <p:cNvSpPr/>
          <p:nvPr/>
        </p:nvSpPr>
        <p:spPr>
          <a:xfrm>
            <a:off x="4315968" y="2263140"/>
            <a:ext cx="512064" cy="457200"/>
          </a:xfrm>
          <a:prstGeom prst="leftArrow">
            <a:avLst/>
          </a:prstGeom>
          <a:solidFill>
            <a:srgbClr val="4BB82E"/>
          </a:solidFill>
          <a:ln w="12700">
            <a:solidFill>
              <a:srgbClr val="333333"/>
            </a:solidFill>
            <a:prstDash val="solid"/>
          </a:ln>
        </p:spPr>
      </p:sp>
      <p:sp>
        <p:nvSpPr>
          <p:cNvPr id="15" name="Panel read"/>
          <p:cNvSpPr/>
          <p:nvPr/>
        </p:nvSpPr>
        <p:spPr>
          <a:xfrm>
            <a:off x="365760" y="1554480"/>
            <a:ext cx="3886200" cy="1874520"/>
          </a:xfrm>
          <a:prstGeom prst="roundRect">
            <a:avLst>
              <a:gd name="adj" fmla="val 12195"/>
            </a:avLst>
          </a:prstGeom>
          <a:solidFill>
            <a:srgbClr val="FFFBE3"/>
          </a:solidFill>
          <a:ln w="88900">
            <a:solidFill>
              <a:srgbClr val="F2B134"/>
            </a:solidFill>
            <a:prstDash val="solid"/>
          </a:ln>
        </p:spPr>
      </p:sp>
      <p:sp>
        <p:nvSpPr>
          <p:cNvPr id="16" name="C2 read"/>
          <p:cNvSpPr txBox="1"/>
          <p:nvPr/>
        </p:nvSpPr>
        <p:spPr>
          <a:xfrm>
            <a:off x="365760" y="1599166"/>
            <a:ext cx="3886200" cy="1237183"/>
          </a:xfrm>
          <a:prstGeom prst="rect">
            <a:avLst/>
          </a:prstGeom>
          <a:noFill/>
          <a:ln/>
        </p:spPr>
        <p:txBody>
          <a:bodyPr wrap="none" lIns="0" tIns="0" rIns="0" bIns="0" rtlCol="0" anchor="ctr"/>
          <a:lstStyle/>
          <a:p>
            <a:pPr algn="ctr" indent="0" marL="0">
              <a:buNone/>
            </a:pPr>
            <a:r>
              <a:rPr lang="ar-SA" altLang="en-US" sz="4700" dirty="0">
                <a:solidFill>
                  <a:srgbClr val="16213E"/>
                </a:solidFill>
                <a:latin typeface="Traditional Arabic" pitchFamily="34" charset="0"/>
                <a:ea typeface="Traditional Arabic" pitchFamily="34" charset="-122"/>
                <a:cs typeface="Traditional Arabic" pitchFamily="34" charset="-120"/>
              </a:rPr>
              <a:t>قَالُو</a:t>
            </a:r>
            <a:endParaRPr lang="ar-SA" sz="4700" dirty="0"/>
          </a:p>
        </p:txBody>
      </p:sp>
      <p:sp>
        <p:nvSpPr>
          <p:cNvPr id="17" name="C2 sounds"/>
          <p:cNvSpPr/>
          <p:nvPr/>
        </p:nvSpPr>
        <p:spPr>
          <a:xfrm>
            <a:off x="502920" y="2763215"/>
            <a:ext cx="3611880" cy="582473"/>
          </a:xfrm>
          <a:prstGeom prst="rect">
            <a:avLst/>
          </a:prstGeom>
          <a:noFill/>
          <a:ln/>
        </p:spPr>
        <p:txBody>
          <a:bodyPr wrap="square" lIns="0" tIns="0" rIns="0" bIns="0" rtlCol="0" anchor="ctr"/>
          <a:lstStyle/>
          <a:p>
            <a:pPr algn="ctr" indent="0" marL="0">
              <a:buNone/>
            </a:pPr>
            <a:r>
              <a:rPr lang="en-US" sz="2800" b="1" dirty="0">
                <a:solidFill>
                  <a:srgbClr val="D9480F"/>
                </a:solidFill>
                <a:latin typeface="Arial" pitchFamily="34" charset="0"/>
                <a:ea typeface="Arial" pitchFamily="34" charset="-122"/>
                <a:cs typeface="Arial" pitchFamily="34" charset="-120"/>
              </a:rPr>
              <a:t>qaa-loo</a:t>
            </a:r>
            <a:endParaRPr lang="en-US" sz="2800" dirty="0"/>
          </a:p>
        </p:txBody>
      </p:sp>
      <p:sp>
        <p:nvSpPr>
          <p:cNvPr id="18" name="C3 tip box"/>
          <p:cNvSpPr/>
          <p:nvPr/>
        </p:nvSpPr>
        <p:spPr>
          <a:xfrm>
            <a:off x="365760" y="3566160"/>
            <a:ext cx="8412480" cy="685800"/>
          </a:xfrm>
          <a:prstGeom prst="roundRect">
            <a:avLst>
              <a:gd name="adj" fmla="val 26667"/>
            </a:avLst>
          </a:prstGeom>
          <a:solidFill>
            <a:srgbClr val="C2255C"/>
          </a:solidFill>
          <a:ln w="12700">
            <a:solidFill>
              <a:srgbClr val="333333"/>
            </a:solidFill>
            <a:prstDash val="solid"/>
          </a:ln>
        </p:spPr>
      </p:sp>
      <p:sp>
        <p:nvSpPr>
          <p:cNvPr id="19" name="C3 tip"/>
          <p:cNvSpPr txBox="1"/>
          <p:nvPr/>
        </p:nvSpPr>
        <p:spPr>
          <a:xfrm>
            <a:off x="365760" y="3539744"/>
            <a:ext cx="8412480" cy="685800"/>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The alif after the plural waw is written, not read</a:t>
            </a:r>
            <a:endParaRPr lang="en-US" sz="2600" dirty="0"/>
          </a:p>
        </p:txBody>
      </p:sp>
    </p:spTree>
  </p:cSld>
  <p:clrMapOvr>
    <a:masterClrMapping/>
  </p:clrMapOvr>
  <p:transition spd="med">
    <p:zoom/>
    <p:sndAc>
      <p:stSnd>
        <p:snd r:embed="rIdTrSnd" name="whoosh.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350"/>
                                        <p:tgtEl>
                                          <p:spTgt spid="1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35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35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17" grpId="0" animBg="1"/>
      <p:bldP spid="18" grpId="0" animBg="1"/>
      <p:bldP spid="1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DAC5"/>
        </a:solidFill>
      </p:bgPr>
    </p:bg>
    <p:spTree>
      <p:nvGrpSpPr>
        <p:cNvPr id="1" name=""/>
        <p:cNvGrpSpPr/>
        <p:nvPr/>
      </p:nvGrpSpPr>
      <p:grpSpPr>
        <a:xfrm>
          <a:off x="0" y="0"/>
          <a:ext cx="0" cy="0"/>
          <a:chOff x="0" y="0"/>
          <a:chExt cx="0" cy="0"/>
        </a:xfrm>
      </p:grpSpPr>
      <p:sp>
        <p:nvSpPr>
          <p:cNvPr id="2" name="Deco hill left"/>
          <p:cNvSpPr/>
          <p:nvPr/>
        </p:nvSpPr>
        <p:spPr>
          <a:xfrm>
            <a:off x="-914400" y="4434840"/>
            <a:ext cx="4754880" cy="1463040"/>
          </a:xfrm>
          <a:prstGeom prst="ellipse">
            <a:avLst/>
          </a:prstGeom>
          <a:solidFill>
            <a:srgbClr val="66CC66"/>
          </a:solidFill>
          <a:ln w="12700">
            <a:solidFill>
              <a:srgbClr val="66CC66"/>
            </a:solidFill>
            <a:prstDash val="solid"/>
          </a:ln>
        </p:spPr>
      </p:sp>
      <p:sp>
        <p:nvSpPr>
          <p:cNvPr id="3" name="Deco hill right"/>
          <p:cNvSpPr/>
          <p:nvPr/>
        </p:nvSpPr>
        <p:spPr>
          <a:xfrm>
            <a:off x="4023360" y="4526280"/>
            <a:ext cx="5852160" cy="1463040"/>
          </a:xfrm>
          <a:prstGeom prst="ellipse">
            <a:avLst/>
          </a:prstGeom>
          <a:solidFill>
            <a:srgbClr val="40BF6A"/>
          </a:solidFill>
          <a:ln w="12700">
            <a:solidFill>
              <a:srgbClr val="40BF6A"/>
            </a:solidFill>
            <a:prstDash val="solid"/>
          </a:ln>
        </p:spPr>
      </p:sp>
      <p:sp>
        <p:nvSpPr>
          <p:cNvPr id="4" name="Deco sun"/>
          <p:cNvSpPr/>
          <p:nvPr/>
        </p:nvSpPr>
        <p:spPr>
          <a:xfrm>
            <a:off x="274320" y="91440"/>
            <a:ext cx="731520" cy="731520"/>
          </a:xfrm>
          <a:prstGeom prst="sun">
            <a:avLst/>
          </a:prstGeom>
          <a:solidFill>
            <a:srgbClr val="FFD23F"/>
          </a:solidFill>
          <a:ln w="12700">
            <a:solidFill>
              <a:srgbClr val="FFD23F"/>
            </a:solidFill>
            <a:prstDash val="solid"/>
          </a:ln>
        </p:spPr>
      </p:sp>
      <p:sp>
        <p:nvSpPr>
          <p:cNvPr id="5" name="Deco cloud"/>
          <p:cNvSpPr/>
          <p:nvPr/>
        </p:nvSpPr>
        <p:spPr>
          <a:xfrm>
            <a:off x="6858000" y="109728"/>
            <a:ext cx="1463040" cy="640080"/>
          </a:xfrm>
          <a:prstGeom prst="cloud">
            <a:avLst/>
          </a:prstGeom>
          <a:solidFill>
            <a:srgbClr val="FFFFFF"/>
          </a:solidFill>
          <a:ln w="12700">
            <a:solidFill>
              <a:srgbClr val="FFFFFF"/>
            </a:solidFill>
            <a:prstDash val="solid"/>
          </a:ln>
        </p:spPr>
      </p:sp>
      <p:sp>
        <p:nvSpPr>
          <p:cNvPr id="6" name="Deco cloud small"/>
          <p:cNvSpPr/>
          <p:nvPr/>
        </p:nvSpPr>
        <p:spPr>
          <a:xfrm>
            <a:off x="7863840" y="457200"/>
            <a:ext cx="822960" cy="365760"/>
          </a:xfrm>
          <a:prstGeom prst="cloud">
            <a:avLst/>
          </a:prstGeom>
          <a:solidFill>
            <a:srgbClr val="F4FAFF"/>
          </a:solidFill>
          <a:ln w="12700">
            <a:solidFill>
              <a:srgbClr val="F4FAFF"/>
            </a:solidFill>
            <a:prstDash val="solid"/>
          </a:ln>
        </p:spPr>
      </p:sp>
      <p:sp>
        <p:nvSpPr>
          <p:cNvPr id="7" name="Deco flower 0"/>
          <p:cNvSpPr/>
          <p:nvPr/>
        </p:nvSpPr>
        <p:spPr>
          <a:xfrm>
            <a:off x="1280160" y="4526280"/>
            <a:ext cx="292608" cy="292608"/>
          </a:xfrm>
          <a:prstGeom prst="star5">
            <a:avLst/>
          </a:prstGeom>
          <a:solidFill>
            <a:srgbClr val="FF7A90"/>
          </a:solidFill>
          <a:ln w="12700">
            <a:solidFill>
              <a:srgbClr val="FF7A90"/>
            </a:solidFill>
            <a:prstDash val="solid"/>
          </a:ln>
        </p:spPr>
      </p:sp>
      <p:sp>
        <p:nvSpPr>
          <p:cNvPr id="8" name="Deco flower 1"/>
          <p:cNvSpPr/>
          <p:nvPr/>
        </p:nvSpPr>
        <p:spPr>
          <a:xfrm>
            <a:off x="1828800" y="4526280"/>
            <a:ext cx="292608" cy="292608"/>
          </a:xfrm>
          <a:prstGeom prst="star5">
            <a:avLst/>
          </a:prstGeom>
          <a:solidFill>
            <a:srgbClr val="FFB347"/>
          </a:solidFill>
          <a:ln w="12700">
            <a:solidFill>
              <a:srgbClr val="FFB347"/>
            </a:solidFill>
            <a:prstDash val="solid"/>
          </a:ln>
        </p:spPr>
      </p:sp>
      <p:sp>
        <p:nvSpPr>
          <p:cNvPr id="9" name="Deco flower 2"/>
          <p:cNvSpPr/>
          <p:nvPr/>
        </p:nvSpPr>
        <p:spPr>
          <a:xfrm>
            <a:off x="7315200" y="4526280"/>
            <a:ext cx="292608" cy="292608"/>
          </a:xfrm>
          <a:prstGeom prst="star5">
            <a:avLst/>
          </a:prstGeom>
          <a:solidFill>
            <a:srgbClr val="8E5BD0"/>
          </a:solidFill>
          <a:ln w="12700">
            <a:solidFill>
              <a:srgbClr val="8E5BD0"/>
            </a:solidFill>
            <a:prstDash val="solid"/>
          </a:ln>
        </p:spPr>
      </p:sp>
      <p:sp>
        <p:nvSpPr>
          <p:cNvPr id="10" name="Deco flower 3"/>
          <p:cNvSpPr/>
          <p:nvPr/>
        </p:nvSpPr>
        <p:spPr>
          <a:xfrm>
            <a:off x="7955280" y="4526280"/>
            <a:ext cx="292608" cy="292608"/>
          </a:xfrm>
          <a:prstGeom prst="star5">
            <a:avLst/>
          </a:prstGeom>
          <a:solidFill>
            <a:srgbClr val="FF7A90"/>
          </a:solidFill>
          <a:ln w="12700">
            <a:solidFill>
              <a:srgbClr val="FF7A90"/>
            </a:solidFill>
            <a:prstDash val="solid"/>
          </a:ln>
        </p:spPr>
      </p:sp>
      <p:sp>
        <p:nvSpPr>
          <p:cNvPr id="11" name="Title box"/>
          <p:cNvSpPr/>
          <p:nvPr/>
        </p:nvSpPr>
        <p:spPr>
          <a:xfrm>
            <a:off x="365760" y="896112"/>
            <a:ext cx="8412480" cy="530352"/>
          </a:xfrm>
          <a:prstGeom prst="roundRect">
            <a:avLst>
              <a:gd name="adj" fmla="val 34483"/>
            </a:avLst>
          </a:prstGeom>
          <a:solidFill>
            <a:srgbClr val="C2255C"/>
          </a:solidFill>
          <a:ln w="12700">
            <a:solidFill>
              <a:srgbClr val="333333"/>
            </a:solidFill>
            <a:prstDash val="solid"/>
          </a:ln>
        </p:spPr>
      </p:sp>
      <p:sp>
        <p:nvSpPr>
          <p:cNvPr id="12" name="Title"/>
          <p:cNvSpPr txBox="1"/>
          <p:nvPr/>
        </p:nvSpPr>
        <p:spPr>
          <a:xfrm>
            <a:off x="365760" y="902716"/>
            <a:ext cx="8412480" cy="530352"/>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Small circle: never read</a:t>
            </a:r>
            <a:endParaRPr lang="en-US" sz="2600" dirty="0"/>
          </a:p>
        </p:txBody>
      </p:sp>
      <p:sp>
        <p:nvSpPr>
          <p:cNvPr id="13" name="Panel written"/>
          <p:cNvSpPr/>
          <p:nvPr/>
        </p:nvSpPr>
        <p:spPr>
          <a:xfrm>
            <a:off x="4892040" y="1554480"/>
            <a:ext cx="3886200" cy="1874520"/>
          </a:xfrm>
          <a:prstGeom prst="roundRect">
            <a:avLst>
              <a:gd name="adj" fmla="val 12195"/>
            </a:avLst>
          </a:prstGeom>
          <a:solidFill>
            <a:srgbClr val="FFFFFF"/>
          </a:solidFill>
          <a:ln w="88900">
            <a:solidFill>
              <a:srgbClr val="C2255C"/>
            </a:solidFill>
            <a:prstDash val="solid"/>
          </a:ln>
        </p:spPr>
      </p:sp>
      <p:sp>
        <p:nvSpPr>
          <p:cNvPr id="14" name="C1 written"/>
          <p:cNvSpPr txBox="1"/>
          <p:nvPr/>
        </p:nvSpPr>
        <p:spPr>
          <a:xfrm>
            <a:off x="4892040" y="1609674"/>
            <a:ext cx="3886200" cy="1874520"/>
          </a:xfrm>
          <a:prstGeom prst="rect">
            <a:avLst/>
          </a:prstGeom>
          <a:noFill/>
          <a:ln/>
        </p:spPr>
        <p:txBody>
          <a:bodyPr wrap="none" lIns="0" tIns="0" rIns="0" bIns="0" rtlCol="0" anchor="ctr"/>
          <a:lstStyle/>
          <a:p>
            <a:pPr algn="ctr" indent="0" marL="0">
              <a:buNone/>
            </a:pPr>
            <a:r>
              <a:rPr lang="ar-SA" altLang="en-US" sz="8200" dirty="0">
                <a:solidFill>
                  <a:srgbClr val="16213E"/>
                </a:solidFill>
                <a:latin typeface="Traditional Arabic" pitchFamily="34" charset="0"/>
                <a:ea typeface="Traditional Arabic" pitchFamily="34" charset="-122"/>
                <a:cs typeface="Traditional Arabic" pitchFamily="34" charset="-120"/>
              </a:rPr>
              <a:t>ءَامَنُو</a:t>
            </a:r>
            <a:r>
              <a:rPr lang="ar-SA" altLang="en-US" sz="8200" dirty="0">
                <a:solidFill>
                  <a:srgbClr val="E03131"/>
                </a:solidFill>
                <a:latin typeface="Traditional Arabic" pitchFamily="34" charset="0"/>
                <a:ea typeface="Traditional Arabic" pitchFamily="34" charset="-122"/>
                <a:cs typeface="Traditional Arabic" pitchFamily="34" charset="-120"/>
              </a:rPr>
              <a:t>ا۟</a:t>
            </a:r>
            <a:endParaRPr lang="ar-SA" sz="8200" dirty="0"/>
          </a:p>
        </p:txBody>
      </p:sp>
      <p:sp>
        <p:nvSpPr>
          <p:cNvPr id="15" name="C2 arrow"/>
          <p:cNvSpPr/>
          <p:nvPr/>
        </p:nvSpPr>
        <p:spPr>
          <a:xfrm>
            <a:off x="4315968" y="2263140"/>
            <a:ext cx="512064" cy="457200"/>
          </a:xfrm>
          <a:prstGeom prst="leftArrow">
            <a:avLst/>
          </a:prstGeom>
          <a:solidFill>
            <a:srgbClr val="392EB8"/>
          </a:solidFill>
          <a:ln w="12700">
            <a:solidFill>
              <a:srgbClr val="333333"/>
            </a:solidFill>
            <a:prstDash val="solid"/>
          </a:ln>
        </p:spPr>
      </p:sp>
      <p:sp>
        <p:nvSpPr>
          <p:cNvPr id="16" name="Panel read"/>
          <p:cNvSpPr/>
          <p:nvPr/>
        </p:nvSpPr>
        <p:spPr>
          <a:xfrm>
            <a:off x="365760" y="1554480"/>
            <a:ext cx="3886200" cy="1874520"/>
          </a:xfrm>
          <a:prstGeom prst="roundRect">
            <a:avLst>
              <a:gd name="adj" fmla="val 12195"/>
            </a:avLst>
          </a:prstGeom>
          <a:solidFill>
            <a:srgbClr val="FFFBE3"/>
          </a:solidFill>
          <a:ln w="88900">
            <a:solidFill>
              <a:srgbClr val="F2B134"/>
            </a:solidFill>
            <a:prstDash val="solid"/>
          </a:ln>
        </p:spPr>
      </p:sp>
      <p:sp>
        <p:nvSpPr>
          <p:cNvPr id="17" name="C2 read"/>
          <p:cNvSpPr txBox="1"/>
          <p:nvPr/>
        </p:nvSpPr>
        <p:spPr>
          <a:xfrm>
            <a:off x="365760" y="1521409"/>
            <a:ext cx="3886200" cy="1237183"/>
          </a:xfrm>
          <a:prstGeom prst="rect">
            <a:avLst/>
          </a:prstGeom>
          <a:noFill/>
          <a:ln/>
        </p:spPr>
        <p:txBody>
          <a:bodyPr wrap="none" lIns="0" tIns="0" rIns="0" bIns="0" rtlCol="0" anchor="ctr"/>
          <a:lstStyle/>
          <a:p>
            <a:pPr algn="ctr" indent="0" marL="0">
              <a:buNone/>
            </a:pPr>
            <a:r>
              <a:rPr lang="ar-SA" altLang="en-US" sz="5600" dirty="0">
                <a:solidFill>
                  <a:srgbClr val="16213E"/>
                </a:solidFill>
                <a:latin typeface="Traditional Arabic" pitchFamily="34" charset="0"/>
                <a:ea typeface="Traditional Arabic" pitchFamily="34" charset="-122"/>
                <a:cs typeface="Traditional Arabic" pitchFamily="34" charset="-120"/>
              </a:rPr>
              <a:t>ءَامَنُو</a:t>
            </a:r>
            <a:endParaRPr lang="ar-SA" sz="5600" dirty="0"/>
          </a:p>
        </p:txBody>
      </p:sp>
      <p:sp>
        <p:nvSpPr>
          <p:cNvPr id="18" name="C2 sounds"/>
          <p:cNvSpPr/>
          <p:nvPr/>
        </p:nvSpPr>
        <p:spPr>
          <a:xfrm>
            <a:off x="502920" y="2763215"/>
            <a:ext cx="3611880" cy="582473"/>
          </a:xfrm>
          <a:prstGeom prst="rect">
            <a:avLst/>
          </a:prstGeom>
          <a:noFill/>
          <a:ln/>
        </p:spPr>
        <p:txBody>
          <a:bodyPr wrap="square" lIns="0" tIns="0" rIns="0" bIns="0" rtlCol="0" anchor="ctr"/>
          <a:lstStyle/>
          <a:p>
            <a:pPr algn="ctr" indent="0" marL="0">
              <a:buNone/>
            </a:pPr>
            <a:r>
              <a:rPr lang="en-US" sz="2800" b="1" dirty="0">
                <a:solidFill>
                  <a:srgbClr val="D9480F"/>
                </a:solidFill>
                <a:latin typeface="Arial" pitchFamily="34" charset="0"/>
                <a:ea typeface="Arial" pitchFamily="34" charset="-122"/>
                <a:cs typeface="Arial" pitchFamily="34" charset="-120"/>
              </a:rPr>
              <a:t>aa-ma-noo</a:t>
            </a:r>
            <a:endParaRPr lang="en-US" sz="2800" dirty="0"/>
          </a:p>
        </p:txBody>
      </p:sp>
      <p:sp>
        <p:nvSpPr>
          <p:cNvPr id="19" name="C3 tip box"/>
          <p:cNvSpPr/>
          <p:nvPr/>
        </p:nvSpPr>
        <p:spPr>
          <a:xfrm>
            <a:off x="365760" y="3566160"/>
            <a:ext cx="8412480" cy="685800"/>
          </a:xfrm>
          <a:prstGeom prst="roundRect">
            <a:avLst>
              <a:gd name="adj" fmla="val 26667"/>
            </a:avLst>
          </a:prstGeom>
          <a:solidFill>
            <a:srgbClr val="C2255C"/>
          </a:solidFill>
          <a:ln w="12700">
            <a:solidFill>
              <a:srgbClr val="333333"/>
            </a:solidFill>
            <a:prstDash val="solid"/>
          </a:ln>
        </p:spPr>
      </p:sp>
      <p:sp>
        <p:nvSpPr>
          <p:cNvPr id="20" name="C3 tip"/>
          <p:cNvSpPr txBox="1"/>
          <p:nvPr/>
        </p:nvSpPr>
        <p:spPr>
          <a:xfrm>
            <a:off x="365760" y="3539744"/>
            <a:ext cx="8412480" cy="685800"/>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Same here: stop on the waw, skip the alif</a:t>
            </a:r>
            <a:endParaRPr lang="en-US" sz="2600" dirty="0"/>
          </a:p>
        </p:txBody>
      </p:sp>
    </p:spTree>
  </p:cSld>
  <p:clrMapOvr>
    <a:masterClrMapping/>
  </p:clrMapOvr>
  <p:transition spd="med">
    <p:wheel spokes="4"/>
    <p:sndAc>
      <p:stSnd>
        <p:snd r:embed="rIdTrSnd" name="bubbles.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35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35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35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35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7" grpId="0" animBg="1"/>
      <p:bldP spid="18" grpId="0" animBg="1"/>
      <p:bldP spid="19" grpId="0" animBg="1"/>
      <p:bldP spid="2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4335"/>
        </a:solidFill>
      </p:bgPr>
    </p:bg>
    <p:spTree>
      <p:nvGrpSpPr>
        <p:cNvPr id="1" name=""/>
        <p:cNvGrpSpPr/>
        <p:nvPr/>
      </p:nvGrpSpPr>
      <p:grpSpPr>
        <a:xfrm>
          <a:off x="0" y="0"/>
          <a:ext cx="0" cy="0"/>
          <a:chOff x="0" y="0"/>
          <a:chExt cx="0" cy="0"/>
        </a:xfrm>
      </p:grpSpPr>
      <p:sp>
        <p:nvSpPr>
          <p:cNvPr id="2" name="Deco moon"/>
          <p:cNvSpPr/>
          <p:nvPr/>
        </p:nvSpPr>
        <p:spPr>
          <a:xfrm>
            <a:off x="365760" y="91440"/>
            <a:ext cx="502920" cy="731520"/>
          </a:xfrm>
          <a:prstGeom prst="moon">
            <a:avLst/>
          </a:prstGeom>
          <a:solidFill>
            <a:srgbClr val="FFE88A"/>
          </a:solidFill>
          <a:ln w="12700">
            <a:solidFill>
              <a:srgbClr val="FFE88A"/>
            </a:solidFill>
            <a:prstDash val="solid"/>
          </a:ln>
        </p:spPr>
      </p:sp>
      <p:sp>
        <p:nvSpPr>
          <p:cNvPr id="3" name="Deco star 0"/>
          <p:cNvSpPr/>
          <p:nvPr/>
        </p:nvSpPr>
        <p:spPr>
          <a:xfrm>
            <a:off x="1280160" y="182880"/>
            <a:ext cx="365760" cy="365760"/>
          </a:xfrm>
          <a:prstGeom prst="star5">
            <a:avLst/>
          </a:prstGeom>
          <a:solidFill>
            <a:srgbClr val="FFF3A3"/>
          </a:solidFill>
          <a:ln w="12700">
            <a:solidFill>
              <a:srgbClr val="FFF3A3"/>
            </a:solidFill>
            <a:prstDash val="solid"/>
          </a:ln>
        </p:spPr>
      </p:sp>
      <p:sp>
        <p:nvSpPr>
          <p:cNvPr id="4" name="Deco star 1"/>
          <p:cNvSpPr/>
          <p:nvPr/>
        </p:nvSpPr>
        <p:spPr>
          <a:xfrm>
            <a:off x="2194560" y="502920"/>
            <a:ext cx="274320" cy="274320"/>
          </a:xfrm>
          <a:prstGeom prst="star4">
            <a:avLst/>
          </a:prstGeom>
          <a:solidFill>
            <a:srgbClr val="FFF3A3"/>
          </a:solidFill>
          <a:ln w="12700">
            <a:solidFill>
              <a:srgbClr val="FFF3A3"/>
            </a:solidFill>
            <a:prstDash val="solid"/>
          </a:ln>
        </p:spPr>
      </p:sp>
      <p:sp>
        <p:nvSpPr>
          <p:cNvPr id="5" name="Deco star 2"/>
          <p:cNvSpPr/>
          <p:nvPr/>
        </p:nvSpPr>
        <p:spPr>
          <a:xfrm>
            <a:off x="3291840" y="137160"/>
            <a:ext cx="274320" cy="274320"/>
          </a:xfrm>
          <a:prstGeom prst="star5">
            <a:avLst/>
          </a:prstGeom>
          <a:solidFill>
            <a:srgbClr val="FFF3A3"/>
          </a:solidFill>
          <a:ln w="12700">
            <a:solidFill>
              <a:srgbClr val="FFF3A3"/>
            </a:solidFill>
            <a:prstDash val="solid"/>
          </a:ln>
        </p:spPr>
      </p:sp>
      <p:sp>
        <p:nvSpPr>
          <p:cNvPr id="6" name="Deco star 3"/>
          <p:cNvSpPr/>
          <p:nvPr/>
        </p:nvSpPr>
        <p:spPr>
          <a:xfrm>
            <a:off x="5760720" y="457200"/>
            <a:ext cx="365760" cy="365760"/>
          </a:xfrm>
          <a:prstGeom prst="star4">
            <a:avLst/>
          </a:prstGeom>
          <a:solidFill>
            <a:srgbClr val="FFF3A3"/>
          </a:solidFill>
          <a:ln w="12700">
            <a:solidFill>
              <a:srgbClr val="FFF3A3"/>
            </a:solidFill>
            <a:prstDash val="solid"/>
          </a:ln>
        </p:spPr>
      </p:sp>
      <p:sp>
        <p:nvSpPr>
          <p:cNvPr id="7" name="Deco star 4"/>
          <p:cNvSpPr/>
          <p:nvPr/>
        </p:nvSpPr>
        <p:spPr>
          <a:xfrm>
            <a:off x="6766560" y="109728"/>
            <a:ext cx="274320" cy="274320"/>
          </a:xfrm>
          <a:prstGeom prst="star5">
            <a:avLst/>
          </a:prstGeom>
          <a:solidFill>
            <a:srgbClr val="FFF3A3"/>
          </a:solidFill>
          <a:ln w="12700">
            <a:solidFill>
              <a:srgbClr val="FFF3A3"/>
            </a:solidFill>
            <a:prstDash val="solid"/>
          </a:ln>
        </p:spPr>
      </p:sp>
      <p:sp>
        <p:nvSpPr>
          <p:cNvPr id="8" name="Deco star 5"/>
          <p:cNvSpPr/>
          <p:nvPr/>
        </p:nvSpPr>
        <p:spPr>
          <a:xfrm>
            <a:off x="7772400" y="411480"/>
            <a:ext cx="274320" cy="274320"/>
          </a:xfrm>
          <a:prstGeom prst="star4">
            <a:avLst/>
          </a:prstGeom>
          <a:solidFill>
            <a:srgbClr val="FFF3A3"/>
          </a:solidFill>
          <a:ln w="12700">
            <a:solidFill>
              <a:srgbClr val="FFF3A3"/>
            </a:solidFill>
            <a:prstDash val="solid"/>
          </a:ln>
        </p:spPr>
      </p:sp>
      <p:sp>
        <p:nvSpPr>
          <p:cNvPr id="9" name="Deco star 6"/>
          <p:cNvSpPr/>
          <p:nvPr/>
        </p:nvSpPr>
        <p:spPr>
          <a:xfrm>
            <a:off x="8503920" y="137160"/>
            <a:ext cx="365760" cy="365760"/>
          </a:xfrm>
          <a:prstGeom prst="star5">
            <a:avLst/>
          </a:prstGeom>
          <a:solidFill>
            <a:srgbClr val="FFF3A3"/>
          </a:solidFill>
          <a:ln w="12700">
            <a:solidFill>
              <a:srgbClr val="FFF3A3"/>
            </a:solidFill>
            <a:prstDash val="solid"/>
          </a:ln>
        </p:spPr>
      </p:sp>
      <p:sp>
        <p:nvSpPr>
          <p:cNvPr id="10" name="Deco hill left"/>
          <p:cNvSpPr/>
          <p:nvPr/>
        </p:nvSpPr>
        <p:spPr>
          <a:xfrm>
            <a:off x="-914400" y="4480560"/>
            <a:ext cx="4937760" cy="1463040"/>
          </a:xfrm>
          <a:prstGeom prst="ellipse">
            <a:avLst/>
          </a:prstGeom>
          <a:solidFill>
            <a:srgbClr val="2B5864"/>
          </a:solidFill>
          <a:ln w="12700">
            <a:solidFill>
              <a:srgbClr val="2B5864"/>
            </a:solidFill>
            <a:prstDash val="solid"/>
          </a:ln>
        </p:spPr>
      </p:sp>
      <p:sp>
        <p:nvSpPr>
          <p:cNvPr id="11" name="Deco hill right"/>
          <p:cNvSpPr/>
          <p:nvPr/>
        </p:nvSpPr>
        <p:spPr>
          <a:xfrm>
            <a:off x="4206240" y="4572000"/>
            <a:ext cx="5669280" cy="1463040"/>
          </a:xfrm>
          <a:prstGeom prst="ellipse">
            <a:avLst/>
          </a:prstGeom>
          <a:solidFill>
            <a:srgbClr val="344879"/>
          </a:solidFill>
          <a:ln w="12700">
            <a:solidFill>
              <a:srgbClr val="344879"/>
            </a:solidFill>
            <a:prstDash val="solid"/>
          </a:ln>
        </p:spPr>
      </p:sp>
      <p:sp>
        <p:nvSpPr>
          <p:cNvPr id="12" name="Title box"/>
          <p:cNvSpPr/>
          <p:nvPr/>
        </p:nvSpPr>
        <p:spPr>
          <a:xfrm>
            <a:off x="365760" y="896112"/>
            <a:ext cx="8412480" cy="530352"/>
          </a:xfrm>
          <a:prstGeom prst="roundRect">
            <a:avLst>
              <a:gd name="adj" fmla="val 34483"/>
            </a:avLst>
          </a:prstGeom>
          <a:solidFill>
            <a:srgbClr val="C2255C"/>
          </a:solidFill>
          <a:ln w="12700">
            <a:solidFill>
              <a:srgbClr val="333333"/>
            </a:solidFill>
            <a:prstDash val="solid"/>
          </a:ln>
        </p:spPr>
      </p:sp>
      <p:sp>
        <p:nvSpPr>
          <p:cNvPr id="13" name="Title"/>
          <p:cNvSpPr txBox="1"/>
          <p:nvPr/>
        </p:nvSpPr>
        <p:spPr>
          <a:xfrm>
            <a:off x="365760" y="902716"/>
            <a:ext cx="8412480" cy="530352"/>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Small circle: never read</a:t>
            </a:r>
            <a:endParaRPr lang="en-US" sz="2600" dirty="0"/>
          </a:p>
        </p:txBody>
      </p:sp>
      <p:sp>
        <p:nvSpPr>
          <p:cNvPr id="14" name="Panel written"/>
          <p:cNvSpPr/>
          <p:nvPr/>
        </p:nvSpPr>
        <p:spPr>
          <a:xfrm>
            <a:off x="4892040" y="1554480"/>
            <a:ext cx="3886200" cy="1874520"/>
          </a:xfrm>
          <a:prstGeom prst="roundRect">
            <a:avLst>
              <a:gd name="adj" fmla="val 12195"/>
            </a:avLst>
          </a:prstGeom>
          <a:solidFill>
            <a:srgbClr val="FFFFFF"/>
          </a:solidFill>
          <a:ln w="88900">
            <a:solidFill>
              <a:srgbClr val="C2255C"/>
            </a:solidFill>
            <a:prstDash val="solid"/>
          </a:ln>
        </p:spPr>
      </p:sp>
      <p:sp>
        <p:nvSpPr>
          <p:cNvPr id="15" name="C1 written"/>
          <p:cNvSpPr txBox="1"/>
          <p:nvPr/>
        </p:nvSpPr>
        <p:spPr>
          <a:xfrm>
            <a:off x="4892040" y="1630627"/>
            <a:ext cx="3886200" cy="1874520"/>
          </a:xfrm>
          <a:prstGeom prst="rect">
            <a:avLst/>
          </a:prstGeom>
          <a:noFill/>
          <a:ln/>
        </p:spPr>
        <p:txBody>
          <a:bodyPr wrap="none" lIns="0" tIns="0" rIns="0" bIns="0" rtlCol="0" anchor="ctr"/>
          <a:lstStyle/>
          <a:p>
            <a:pPr algn="ctr" indent="0" marL="0">
              <a:buNone/>
            </a:pPr>
            <a:r>
              <a:rPr lang="ar-SA" altLang="en-US" sz="8400" dirty="0">
                <a:solidFill>
                  <a:srgbClr val="16213E"/>
                </a:solidFill>
                <a:latin typeface="Traditional Arabic" pitchFamily="34" charset="0"/>
                <a:ea typeface="Traditional Arabic" pitchFamily="34" charset="-122"/>
                <a:cs typeface="Traditional Arabic" pitchFamily="34" charset="-120"/>
              </a:rPr>
              <a:t>مِ</a:t>
            </a:r>
            <a:r>
              <a:rPr lang="ar-SA" altLang="en-US" sz="8400" dirty="0">
                <a:solidFill>
                  <a:srgbClr val="E03131"/>
                </a:solidFill>
                <a:latin typeface="Traditional Arabic" pitchFamily="34" charset="0"/>
                <a:ea typeface="Traditional Arabic" pitchFamily="34" charset="-122"/>
                <a:cs typeface="Traditional Arabic" pitchFamily="34" charset="-120"/>
              </a:rPr>
              <a:t>ا۟</a:t>
            </a:r>
            <a:r>
              <a:rPr lang="ar-SA" altLang="en-US" sz="8400" dirty="0">
                <a:solidFill>
                  <a:srgbClr val="16213E"/>
                </a:solidFill>
                <a:latin typeface="Traditional Arabic" pitchFamily="34" charset="0"/>
                <a:ea typeface="Traditional Arabic" pitchFamily="34" charset="-122"/>
                <a:cs typeface="Traditional Arabic" pitchFamily="34" charset="-120"/>
              </a:rPr>
              <a:t>ئَةَ</a:t>
            </a:r>
            <a:endParaRPr lang="ar-SA" sz="8400" dirty="0"/>
          </a:p>
        </p:txBody>
      </p:sp>
      <p:sp>
        <p:nvSpPr>
          <p:cNvPr id="16" name="C2 arrow"/>
          <p:cNvSpPr/>
          <p:nvPr/>
        </p:nvSpPr>
        <p:spPr>
          <a:xfrm>
            <a:off x="4315968" y="2263140"/>
            <a:ext cx="512064" cy="457200"/>
          </a:xfrm>
          <a:prstGeom prst="leftArrow">
            <a:avLst/>
          </a:prstGeom>
          <a:solidFill>
            <a:srgbClr val="B8622E"/>
          </a:solidFill>
          <a:ln w="12700">
            <a:solidFill>
              <a:srgbClr val="333333"/>
            </a:solidFill>
            <a:prstDash val="solid"/>
          </a:ln>
        </p:spPr>
      </p:sp>
      <p:sp>
        <p:nvSpPr>
          <p:cNvPr id="17" name="Panel read"/>
          <p:cNvSpPr/>
          <p:nvPr/>
        </p:nvSpPr>
        <p:spPr>
          <a:xfrm>
            <a:off x="365760" y="1554480"/>
            <a:ext cx="3886200" cy="1874520"/>
          </a:xfrm>
          <a:prstGeom prst="roundRect">
            <a:avLst>
              <a:gd name="adj" fmla="val 12195"/>
            </a:avLst>
          </a:prstGeom>
          <a:solidFill>
            <a:srgbClr val="FFFBE3"/>
          </a:solidFill>
          <a:ln w="88900">
            <a:solidFill>
              <a:srgbClr val="F2B134"/>
            </a:solidFill>
            <a:prstDash val="solid"/>
          </a:ln>
        </p:spPr>
      </p:sp>
      <p:sp>
        <p:nvSpPr>
          <p:cNvPr id="18" name="C2 read"/>
          <p:cNvSpPr txBox="1"/>
          <p:nvPr/>
        </p:nvSpPr>
        <p:spPr>
          <a:xfrm>
            <a:off x="365760" y="1583788"/>
            <a:ext cx="3886200" cy="1237183"/>
          </a:xfrm>
          <a:prstGeom prst="rect">
            <a:avLst/>
          </a:prstGeom>
          <a:noFill/>
          <a:ln/>
        </p:spPr>
        <p:txBody>
          <a:bodyPr wrap="none" lIns="0" tIns="0" rIns="0" bIns="0" rtlCol="0" anchor="ctr"/>
          <a:lstStyle/>
          <a:p>
            <a:pPr algn="ctr" indent="0" marL="0">
              <a:buNone/>
            </a:pPr>
            <a:r>
              <a:rPr lang="ar-SA" altLang="en-US" sz="5200" dirty="0">
                <a:solidFill>
                  <a:srgbClr val="16213E"/>
                </a:solidFill>
                <a:latin typeface="Traditional Arabic" pitchFamily="34" charset="0"/>
                <a:ea typeface="Traditional Arabic" pitchFamily="34" charset="-122"/>
                <a:cs typeface="Traditional Arabic" pitchFamily="34" charset="-120"/>
              </a:rPr>
              <a:t>مِئَةَ</a:t>
            </a:r>
            <a:endParaRPr lang="ar-SA" sz="5200" dirty="0"/>
          </a:p>
        </p:txBody>
      </p:sp>
      <p:sp>
        <p:nvSpPr>
          <p:cNvPr id="19" name="C2 sounds"/>
          <p:cNvSpPr/>
          <p:nvPr/>
        </p:nvSpPr>
        <p:spPr>
          <a:xfrm>
            <a:off x="502920" y="2798775"/>
            <a:ext cx="3611880" cy="582473"/>
          </a:xfrm>
          <a:prstGeom prst="rect">
            <a:avLst/>
          </a:prstGeom>
          <a:noFill/>
          <a:ln/>
        </p:spPr>
        <p:txBody>
          <a:bodyPr wrap="square" lIns="0" tIns="0" rIns="0" bIns="0" rtlCol="0" anchor="ctr"/>
          <a:lstStyle/>
          <a:p>
            <a:pPr algn="ctr" indent="0" marL="0">
              <a:buNone/>
            </a:pPr>
            <a:r>
              <a:rPr lang="en-US" sz="2800" b="1" dirty="0">
                <a:solidFill>
                  <a:srgbClr val="D9480F"/>
                </a:solidFill>
                <a:latin typeface="Arial" pitchFamily="34" charset="0"/>
                <a:ea typeface="Arial" pitchFamily="34" charset="-122"/>
                <a:cs typeface="Arial" pitchFamily="34" charset="-120"/>
              </a:rPr>
              <a:t>mi-'a-ta</a:t>
            </a:r>
            <a:endParaRPr lang="en-US" sz="2800" dirty="0"/>
          </a:p>
        </p:txBody>
      </p:sp>
      <p:sp>
        <p:nvSpPr>
          <p:cNvPr id="20" name="C3 tip box"/>
          <p:cNvSpPr/>
          <p:nvPr/>
        </p:nvSpPr>
        <p:spPr>
          <a:xfrm>
            <a:off x="365760" y="3566160"/>
            <a:ext cx="8412480" cy="685800"/>
          </a:xfrm>
          <a:prstGeom prst="roundRect">
            <a:avLst>
              <a:gd name="adj" fmla="val 26667"/>
            </a:avLst>
          </a:prstGeom>
          <a:solidFill>
            <a:srgbClr val="C2255C"/>
          </a:solidFill>
          <a:ln w="12700">
            <a:solidFill>
              <a:srgbClr val="333333"/>
            </a:solidFill>
            <a:prstDash val="solid"/>
          </a:ln>
        </p:spPr>
      </p:sp>
      <p:sp>
        <p:nvSpPr>
          <p:cNvPr id="21" name="C3 tip"/>
          <p:cNvSpPr txBox="1"/>
          <p:nvPr/>
        </p:nvSpPr>
        <p:spPr>
          <a:xfrm>
            <a:off x="365760" y="3539744"/>
            <a:ext cx="8412480" cy="685800"/>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The alif of mi'ah (hundred) is not read</a:t>
            </a:r>
            <a:endParaRPr lang="en-US" sz="2600" dirty="0"/>
          </a:p>
        </p:txBody>
      </p:sp>
    </p:spTree>
  </p:cSld>
  <p:clrMapOvr>
    <a:masterClrMapping/>
  </p:clrMapOvr>
  <p:transition spd="med">
    <p:wipe dir="l"/>
    <p:sndAc>
      <p:stSnd>
        <p:snd r:embed="rIdTrSnd" name="sparkle.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35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35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35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35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8" grpId="0" animBg="1"/>
      <p:bldP spid="19" grpId="0" animBg="1"/>
      <p:bldP spid="20"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C5F7"/>
        </a:solidFill>
      </p:bgPr>
    </p:bg>
    <p:spTree>
      <p:nvGrpSpPr>
        <p:cNvPr id="1" name=""/>
        <p:cNvGrpSpPr/>
        <p:nvPr/>
      </p:nvGrpSpPr>
      <p:grpSpPr>
        <a:xfrm>
          <a:off x="0" y="0"/>
          <a:ext cx="0" cy="0"/>
          <a:chOff x="0" y="0"/>
          <a:chExt cx="0" cy="0"/>
        </a:xfrm>
      </p:grpSpPr>
      <p:sp>
        <p:nvSpPr>
          <p:cNvPr id="2" name="Deco wave back"/>
          <p:cNvSpPr/>
          <p:nvPr/>
        </p:nvSpPr>
        <p:spPr>
          <a:xfrm>
            <a:off x="-182880" y="4389120"/>
            <a:ext cx="9509760" cy="548640"/>
          </a:xfrm>
          <a:prstGeom prst="wave">
            <a:avLst/>
          </a:prstGeom>
          <a:solidFill>
            <a:srgbClr val="5CD685"/>
          </a:solidFill>
          <a:ln w="12700">
            <a:solidFill>
              <a:srgbClr val="5CD685"/>
            </a:solidFill>
            <a:prstDash val="solid"/>
          </a:ln>
        </p:spPr>
      </p:sp>
      <p:sp>
        <p:nvSpPr>
          <p:cNvPr id="3" name="Deco sea floor"/>
          <p:cNvSpPr/>
          <p:nvPr/>
        </p:nvSpPr>
        <p:spPr>
          <a:xfrm>
            <a:off x="0" y="4709160"/>
            <a:ext cx="9144000" cy="457200"/>
          </a:xfrm>
          <a:prstGeom prst="rect">
            <a:avLst/>
          </a:prstGeom>
          <a:solidFill>
            <a:srgbClr val="33CC73"/>
          </a:solidFill>
          <a:ln w="12700">
            <a:solidFill>
              <a:srgbClr val="33CC73"/>
            </a:solidFill>
            <a:prstDash val="solid"/>
          </a:ln>
        </p:spPr>
      </p:sp>
      <p:sp>
        <p:nvSpPr>
          <p:cNvPr id="4" name="Deco bubble 0"/>
          <p:cNvSpPr/>
          <p:nvPr/>
        </p:nvSpPr>
        <p:spPr>
          <a:xfrm>
            <a:off x="365760" y="182880"/>
            <a:ext cx="411480" cy="411480"/>
          </a:xfrm>
          <a:prstGeom prst="ellipse">
            <a:avLst/>
          </a:prstGeom>
          <a:solidFill>
            <a:srgbClr val="FFFFFF">
              <a:alpha val="55000"/>
            </a:srgbClr>
          </a:solidFill>
          <a:ln w="19050">
            <a:solidFill>
              <a:srgbClr val="FFFFFF"/>
            </a:solidFill>
            <a:prstDash val="solid"/>
          </a:ln>
        </p:spPr>
      </p:sp>
      <p:sp>
        <p:nvSpPr>
          <p:cNvPr id="5" name="Deco bubble 1"/>
          <p:cNvSpPr/>
          <p:nvPr/>
        </p:nvSpPr>
        <p:spPr>
          <a:xfrm>
            <a:off x="914400" y="502920"/>
            <a:ext cx="256032" cy="256032"/>
          </a:xfrm>
          <a:prstGeom prst="ellipse">
            <a:avLst/>
          </a:prstGeom>
          <a:solidFill>
            <a:srgbClr val="FFFFFF">
              <a:alpha val="55000"/>
            </a:srgbClr>
          </a:solidFill>
          <a:ln w="19050">
            <a:solidFill>
              <a:srgbClr val="FFFFFF"/>
            </a:solidFill>
            <a:prstDash val="solid"/>
          </a:ln>
        </p:spPr>
      </p:sp>
      <p:sp>
        <p:nvSpPr>
          <p:cNvPr id="6" name="Deco bubble 2"/>
          <p:cNvSpPr/>
          <p:nvPr/>
        </p:nvSpPr>
        <p:spPr>
          <a:xfrm>
            <a:off x="8138160" y="137160"/>
            <a:ext cx="457200" cy="457200"/>
          </a:xfrm>
          <a:prstGeom prst="ellipse">
            <a:avLst/>
          </a:prstGeom>
          <a:solidFill>
            <a:srgbClr val="FFFFFF">
              <a:alpha val="55000"/>
            </a:srgbClr>
          </a:solidFill>
          <a:ln w="19050">
            <a:solidFill>
              <a:srgbClr val="FFFFFF"/>
            </a:solidFill>
            <a:prstDash val="solid"/>
          </a:ln>
        </p:spPr>
      </p:sp>
      <p:sp>
        <p:nvSpPr>
          <p:cNvPr id="7" name="Deco bubble 3"/>
          <p:cNvSpPr/>
          <p:nvPr/>
        </p:nvSpPr>
        <p:spPr>
          <a:xfrm>
            <a:off x="7680960" y="548640"/>
            <a:ext cx="228600" cy="228600"/>
          </a:xfrm>
          <a:prstGeom prst="ellipse">
            <a:avLst/>
          </a:prstGeom>
          <a:solidFill>
            <a:srgbClr val="FFFFFF">
              <a:alpha val="55000"/>
            </a:srgbClr>
          </a:solidFill>
          <a:ln w="19050">
            <a:solidFill>
              <a:srgbClr val="FFFFFF"/>
            </a:solidFill>
            <a:prstDash val="solid"/>
          </a:ln>
        </p:spPr>
      </p:sp>
      <p:sp>
        <p:nvSpPr>
          <p:cNvPr id="8" name="Deco bubble 4"/>
          <p:cNvSpPr/>
          <p:nvPr/>
        </p:nvSpPr>
        <p:spPr>
          <a:xfrm>
            <a:off x="8686800" y="566928"/>
            <a:ext cx="182880" cy="182880"/>
          </a:xfrm>
          <a:prstGeom prst="ellipse">
            <a:avLst/>
          </a:prstGeom>
          <a:solidFill>
            <a:srgbClr val="FFFFFF">
              <a:alpha val="55000"/>
            </a:srgbClr>
          </a:solidFill>
          <a:ln w="19050">
            <a:solidFill>
              <a:srgbClr val="FFFFFF"/>
            </a:solidFill>
            <a:prstDash val="solid"/>
          </a:ln>
        </p:spPr>
      </p:sp>
      <p:sp>
        <p:nvSpPr>
          <p:cNvPr id="9" name="Deco sun"/>
          <p:cNvSpPr/>
          <p:nvPr/>
        </p:nvSpPr>
        <p:spPr>
          <a:xfrm>
            <a:off x="4206240" y="109728"/>
            <a:ext cx="685800" cy="685800"/>
          </a:xfrm>
          <a:prstGeom prst="sun">
            <a:avLst/>
          </a:prstGeom>
          <a:solidFill>
            <a:srgbClr val="FFD23F"/>
          </a:solidFill>
          <a:ln w="12700">
            <a:solidFill>
              <a:srgbClr val="FFD23F"/>
            </a:solidFill>
            <a:prstDash val="solid"/>
          </a:ln>
        </p:spPr>
      </p:sp>
      <p:sp>
        <p:nvSpPr>
          <p:cNvPr id="10" name="Title box"/>
          <p:cNvSpPr/>
          <p:nvPr/>
        </p:nvSpPr>
        <p:spPr>
          <a:xfrm>
            <a:off x="365760" y="896112"/>
            <a:ext cx="8412480" cy="530352"/>
          </a:xfrm>
          <a:prstGeom prst="roundRect">
            <a:avLst>
              <a:gd name="adj" fmla="val 34483"/>
            </a:avLst>
          </a:prstGeom>
          <a:solidFill>
            <a:srgbClr val="C2255C"/>
          </a:solidFill>
          <a:ln w="12700">
            <a:solidFill>
              <a:srgbClr val="333333"/>
            </a:solidFill>
            <a:prstDash val="solid"/>
          </a:ln>
        </p:spPr>
      </p:sp>
      <p:sp>
        <p:nvSpPr>
          <p:cNvPr id="11" name="Title"/>
          <p:cNvSpPr txBox="1"/>
          <p:nvPr/>
        </p:nvSpPr>
        <p:spPr>
          <a:xfrm>
            <a:off x="365760" y="902716"/>
            <a:ext cx="8412480" cy="530352"/>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Small circle: never read</a:t>
            </a:r>
            <a:endParaRPr lang="en-US" sz="2600" dirty="0"/>
          </a:p>
        </p:txBody>
      </p:sp>
      <p:sp>
        <p:nvSpPr>
          <p:cNvPr id="12" name="Panel written"/>
          <p:cNvSpPr/>
          <p:nvPr/>
        </p:nvSpPr>
        <p:spPr>
          <a:xfrm>
            <a:off x="4892040" y="1554480"/>
            <a:ext cx="3886200" cy="1874520"/>
          </a:xfrm>
          <a:prstGeom prst="roundRect">
            <a:avLst>
              <a:gd name="adj" fmla="val 12195"/>
            </a:avLst>
          </a:prstGeom>
          <a:solidFill>
            <a:srgbClr val="FFFFFF"/>
          </a:solidFill>
          <a:ln w="88900">
            <a:solidFill>
              <a:srgbClr val="C2255C"/>
            </a:solidFill>
            <a:prstDash val="solid"/>
          </a:ln>
        </p:spPr>
      </p:sp>
      <p:sp>
        <p:nvSpPr>
          <p:cNvPr id="13" name="C1 written"/>
          <p:cNvSpPr txBox="1"/>
          <p:nvPr/>
        </p:nvSpPr>
        <p:spPr>
          <a:xfrm>
            <a:off x="4892040" y="1518801"/>
            <a:ext cx="3886200" cy="1874520"/>
          </a:xfrm>
          <a:prstGeom prst="rect">
            <a:avLst/>
          </a:prstGeom>
          <a:noFill/>
          <a:ln/>
        </p:spPr>
        <p:txBody>
          <a:bodyPr wrap="none" lIns="0" tIns="0" rIns="0" bIns="0" rtlCol="0" anchor="ctr"/>
          <a:lstStyle/>
          <a:p>
            <a:pPr algn="ctr" indent="0" marL="0">
              <a:buNone/>
            </a:pPr>
            <a:r>
              <a:rPr lang="ar-SA" altLang="en-US" sz="7300" dirty="0">
                <a:solidFill>
                  <a:srgbClr val="16213E"/>
                </a:solidFill>
                <a:latin typeface="Traditional Arabic" pitchFamily="34" charset="0"/>
                <a:ea typeface="Traditional Arabic" pitchFamily="34" charset="-122"/>
                <a:cs typeface="Traditional Arabic" pitchFamily="34" charset="-120"/>
              </a:rPr>
              <a:t>مِ</a:t>
            </a:r>
            <a:r>
              <a:rPr lang="ar-SA" altLang="en-US" sz="7300" dirty="0">
                <a:solidFill>
                  <a:srgbClr val="E03131"/>
                </a:solidFill>
                <a:latin typeface="Traditional Arabic" pitchFamily="34" charset="0"/>
                <a:ea typeface="Traditional Arabic" pitchFamily="34" charset="-122"/>
                <a:cs typeface="Traditional Arabic" pitchFamily="34" charset="-120"/>
              </a:rPr>
              <a:t>ا۟</a:t>
            </a:r>
            <a:r>
              <a:rPr lang="ar-SA" altLang="en-US" sz="7300" dirty="0">
                <a:solidFill>
                  <a:srgbClr val="16213E"/>
                </a:solidFill>
                <a:latin typeface="Traditional Arabic" pitchFamily="34" charset="0"/>
                <a:ea typeface="Traditional Arabic" pitchFamily="34" charset="-122"/>
                <a:cs typeface="Traditional Arabic" pitchFamily="34" charset="-120"/>
              </a:rPr>
              <a:t>ئَتَيۡنِ</a:t>
            </a:r>
            <a:endParaRPr lang="ar-SA" sz="7300" dirty="0"/>
          </a:p>
        </p:txBody>
      </p:sp>
      <p:sp>
        <p:nvSpPr>
          <p:cNvPr id="14" name="C2 arrow"/>
          <p:cNvSpPr/>
          <p:nvPr/>
        </p:nvSpPr>
        <p:spPr>
          <a:xfrm>
            <a:off x="4315968" y="2263140"/>
            <a:ext cx="512064" cy="457200"/>
          </a:xfrm>
          <a:prstGeom prst="leftArrow">
            <a:avLst/>
          </a:prstGeom>
          <a:solidFill>
            <a:srgbClr val="2EB88A"/>
          </a:solidFill>
          <a:ln w="12700">
            <a:solidFill>
              <a:srgbClr val="333333"/>
            </a:solidFill>
            <a:prstDash val="solid"/>
          </a:ln>
        </p:spPr>
      </p:sp>
      <p:sp>
        <p:nvSpPr>
          <p:cNvPr id="15" name="Panel read"/>
          <p:cNvSpPr/>
          <p:nvPr/>
        </p:nvSpPr>
        <p:spPr>
          <a:xfrm>
            <a:off x="365760" y="1554480"/>
            <a:ext cx="3886200" cy="1874520"/>
          </a:xfrm>
          <a:prstGeom prst="roundRect">
            <a:avLst>
              <a:gd name="adj" fmla="val 12195"/>
            </a:avLst>
          </a:prstGeom>
          <a:solidFill>
            <a:srgbClr val="FFFBE3"/>
          </a:solidFill>
          <a:ln w="88900">
            <a:solidFill>
              <a:srgbClr val="F2B134"/>
            </a:solidFill>
            <a:prstDash val="solid"/>
          </a:ln>
        </p:spPr>
      </p:sp>
      <p:sp>
        <p:nvSpPr>
          <p:cNvPr id="16" name="C2 read"/>
          <p:cNvSpPr txBox="1"/>
          <p:nvPr/>
        </p:nvSpPr>
        <p:spPr>
          <a:xfrm>
            <a:off x="365760" y="1439000"/>
            <a:ext cx="3886200" cy="1237183"/>
          </a:xfrm>
          <a:prstGeom prst="rect">
            <a:avLst/>
          </a:prstGeom>
          <a:noFill/>
          <a:ln/>
        </p:spPr>
        <p:txBody>
          <a:bodyPr wrap="none" lIns="0" tIns="0" rIns="0" bIns="0" rtlCol="0" anchor="ctr"/>
          <a:lstStyle/>
          <a:p>
            <a:pPr algn="ctr" indent="0" marL="0">
              <a:buNone/>
            </a:pPr>
            <a:r>
              <a:rPr lang="ar-SA" altLang="en-US" sz="5200" dirty="0">
                <a:solidFill>
                  <a:srgbClr val="16213E"/>
                </a:solidFill>
                <a:latin typeface="Traditional Arabic" pitchFamily="34" charset="0"/>
                <a:ea typeface="Traditional Arabic" pitchFamily="34" charset="-122"/>
                <a:cs typeface="Traditional Arabic" pitchFamily="34" charset="-120"/>
              </a:rPr>
              <a:t>مِئَتَيۡنِ</a:t>
            </a:r>
            <a:endParaRPr lang="ar-SA" sz="5200" dirty="0"/>
          </a:p>
        </p:txBody>
      </p:sp>
      <p:sp>
        <p:nvSpPr>
          <p:cNvPr id="17" name="C2 sounds"/>
          <p:cNvSpPr/>
          <p:nvPr/>
        </p:nvSpPr>
        <p:spPr>
          <a:xfrm>
            <a:off x="502920" y="2763215"/>
            <a:ext cx="3611880" cy="582473"/>
          </a:xfrm>
          <a:prstGeom prst="rect">
            <a:avLst/>
          </a:prstGeom>
          <a:noFill/>
          <a:ln/>
        </p:spPr>
        <p:txBody>
          <a:bodyPr wrap="square" lIns="0" tIns="0" rIns="0" bIns="0" rtlCol="0" anchor="ctr"/>
          <a:lstStyle/>
          <a:p>
            <a:pPr algn="ctr" indent="0" marL="0">
              <a:buNone/>
            </a:pPr>
            <a:r>
              <a:rPr lang="en-US" sz="2800" b="1" dirty="0">
                <a:solidFill>
                  <a:srgbClr val="D9480F"/>
                </a:solidFill>
                <a:latin typeface="Arial" pitchFamily="34" charset="0"/>
                <a:ea typeface="Arial" pitchFamily="34" charset="-122"/>
                <a:cs typeface="Arial" pitchFamily="34" charset="-120"/>
              </a:rPr>
              <a:t>mi-'a-tay-ni</a:t>
            </a:r>
            <a:endParaRPr lang="en-US" sz="2800" dirty="0"/>
          </a:p>
        </p:txBody>
      </p:sp>
      <p:sp>
        <p:nvSpPr>
          <p:cNvPr id="18" name="C3 tip box"/>
          <p:cNvSpPr/>
          <p:nvPr/>
        </p:nvSpPr>
        <p:spPr>
          <a:xfrm>
            <a:off x="365760" y="3566160"/>
            <a:ext cx="8412480" cy="685800"/>
          </a:xfrm>
          <a:prstGeom prst="roundRect">
            <a:avLst>
              <a:gd name="adj" fmla="val 26667"/>
            </a:avLst>
          </a:prstGeom>
          <a:solidFill>
            <a:srgbClr val="C2255C"/>
          </a:solidFill>
          <a:ln w="12700">
            <a:solidFill>
              <a:srgbClr val="333333"/>
            </a:solidFill>
            <a:prstDash val="solid"/>
          </a:ln>
        </p:spPr>
      </p:sp>
      <p:sp>
        <p:nvSpPr>
          <p:cNvPr id="19" name="C3 tip"/>
          <p:cNvSpPr txBox="1"/>
          <p:nvPr/>
        </p:nvSpPr>
        <p:spPr>
          <a:xfrm>
            <a:off x="365760" y="3539744"/>
            <a:ext cx="8412480" cy="685800"/>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Also mi'atayn (two hundred)</a:t>
            </a:r>
            <a:endParaRPr lang="en-US" sz="2600" dirty="0"/>
          </a:p>
        </p:txBody>
      </p:sp>
    </p:spTree>
  </p:cSld>
  <p:clrMapOvr>
    <a:masterClrMapping/>
  </p:clrMapOvr>
  <p:transition spd="med">
    <p:circle/>
    <p:sndAc>
      <p:stSnd>
        <p:snd r:embed="rIdTrSnd" name="marimb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350"/>
                                        <p:tgtEl>
                                          <p:spTgt spid="1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35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35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17" grpId="0" animBg="1"/>
      <p:bldP spid="18" grpId="0" animBg="1"/>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F7C5"/>
        </a:solidFill>
      </p:bgPr>
    </p:bg>
    <p:spTree>
      <p:nvGrpSpPr>
        <p:cNvPr id="1" name=""/>
        <p:cNvGrpSpPr/>
        <p:nvPr/>
      </p:nvGrpSpPr>
      <p:grpSpPr>
        <a:xfrm>
          <a:off x="0" y="0"/>
          <a:ext cx="0" cy="0"/>
          <a:chOff x="0" y="0"/>
          <a:chExt cx="0" cy="0"/>
        </a:xfrm>
      </p:grpSpPr>
      <p:sp>
        <p:nvSpPr>
          <p:cNvPr id="2" name="Deco grass"/>
          <p:cNvSpPr/>
          <p:nvPr/>
        </p:nvSpPr>
        <p:spPr>
          <a:xfrm>
            <a:off x="0" y="4617720"/>
            <a:ext cx="9144000" cy="548640"/>
          </a:xfrm>
          <a:prstGeom prst="rect">
            <a:avLst/>
          </a:prstGeom>
          <a:solidFill>
            <a:srgbClr val="53C68C"/>
          </a:solidFill>
          <a:ln w="12700">
            <a:solidFill>
              <a:srgbClr val="53C68C"/>
            </a:solidFill>
            <a:prstDash val="solid"/>
          </a:ln>
        </p:spPr>
      </p:sp>
      <p:sp>
        <p:nvSpPr>
          <p:cNvPr id="3" name="Deco stem 0"/>
          <p:cNvSpPr/>
          <p:nvPr/>
        </p:nvSpPr>
        <p:spPr>
          <a:xfrm>
            <a:off x="576072" y="4736592"/>
            <a:ext cx="36576" cy="365760"/>
          </a:xfrm>
          <a:prstGeom prst="ellipse">
            <a:avLst/>
          </a:prstGeom>
          <a:solidFill>
            <a:srgbClr val="3C8D40"/>
          </a:solidFill>
          <a:ln w="12700">
            <a:solidFill>
              <a:srgbClr val="3C8D40"/>
            </a:solidFill>
            <a:prstDash val="solid"/>
          </a:ln>
        </p:spPr>
      </p:sp>
      <p:sp>
        <p:nvSpPr>
          <p:cNvPr id="4" name="Deco flower 0"/>
          <p:cNvSpPr/>
          <p:nvPr/>
        </p:nvSpPr>
        <p:spPr>
          <a:xfrm>
            <a:off x="457200" y="4370832"/>
            <a:ext cx="274320" cy="274320"/>
          </a:xfrm>
          <a:prstGeom prst="flowChartConnector">
            <a:avLst/>
          </a:prstGeom>
          <a:solidFill>
            <a:srgbClr val="FF7A90"/>
          </a:solidFill>
          <a:ln w="12700">
            <a:solidFill>
              <a:srgbClr val="FF7A90"/>
            </a:solidFill>
            <a:prstDash val="solid"/>
          </a:ln>
        </p:spPr>
      </p:sp>
      <p:sp>
        <p:nvSpPr>
          <p:cNvPr id="5" name="Deco stem 1"/>
          <p:cNvSpPr/>
          <p:nvPr/>
        </p:nvSpPr>
        <p:spPr>
          <a:xfrm>
            <a:off x="1399032" y="4736592"/>
            <a:ext cx="36576" cy="365760"/>
          </a:xfrm>
          <a:prstGeom prst="ellipse">
            <a:avLst/>
          </a:prstGeom>
          <a:solidFill>
            <a:srgbClr val="3C8D40"/>
          </a:solidFill>
          <a:ln w="12700">
            <a:solidFill>
              <a:srgbClr val="3C8D40"/>
            </a:solidFill>
            <a:prstDash val="solid"/>
          </a:ln>
        </p:spPr>
      </p:sp>
      <p:sp>
        <p:nvSpPr>
          <p:cNvPr id="6" name="Deco flower 1"/>
          <p:cNvSpPr/>
          <p:nvPr/>
        </p:nvSpPr>
        <p:spPr>
          <a:xfrm>
            <a:off x="1280160" y="4370832"/>
            <a:ext cx="274320" cy="274320"/>
          </a:xfrm>
          <a:prstGeom prst="flowChartConnector">
            <a:avLst/>
          </a:prstGeom>
          <a:solidFill>
            <a:srgbClr val="FFB347"/>
          </a:solidFill>
          <a:ln w="12700">
            <a:solidFill>
              <a:srgbClr val="FFB347"/>
            </a:solidFill>
            <a:prstDash val="solid"/>
          </a:ln>
        </p:spPr>
      </p:sp>
      <p:sp>
        <p:nvSpPr>
          <p:cNvPr id="7" name="Deco stem 2"/>
          <p:cNvSpPr/>
          <p:nvPr/>
        </p:nvSpPr>
        <p:spPr>
          <a:xfrm>
            <a:off x="2221992" y="4736592"/>
            <a:ext cx="36576" cy="365760"/>
          </a:xfrm>
          <a:prstGeom prst="ellipse">
            <a:avLst/>
          </a:prstGeom>
          <a:solidFill>
            <a:srgbClr val="3C8D40"/>
          </a:solidFill>
          <a:ln w="12700">
            <a:solidFill>
              <a:srgbClr val="3C8D40"/>
            </a:solidFill>
            <a:prstDash val="solid"/>
          </a:ln>
        </p:spPr>
      </p:sp>
      <p:sp>
        <p:nvSpPr>
          <p:cNvPr id="8" name="Deco flower 2"/>
          <p:cNvSpPr/>
          <p:nvPr/>
        </p:nvSpPr>
        <p:spPr>
          <a:xfrm>
            <a:off x="2103120" y="4370832"/>
            <a:ext cx="274320" cy="274320"/>
          </a:xfrm>
          <a:prstGeom prst="flowChartConnector">
            <a:avLst/>
          </a:prstGeom>
          <a:solidFill>
            <a:srgbClr val="B892FF"/>
          </a:solidFill>
          <a:ln w="12700">
            <a:solidFill>
              <a:srgbClr val="B892FF"/>
            </a:solidFill>
            <a:prstDash val="solid"/>
          </a:ln>
        </p:spPr>
      </p:sp>
      <p:sp>
        <p:nvSpPr>
          <p:cNvPr id="9" name="Deco stem 3"/>
          <p:cNvSpPr/>
          <p:nvPr/>
        </p:nvSpPr>
        <p:spPr>
          <a:xfrm>
            <a:off x="6885432" y="4736592"/>
            <a:ext cx="36576" cy="365760"/>
          </a:xfrm>
          <a:prstGeom prst="ellipse">
            <a:avLst/>
          </a:prstGeom>
          <a:solidFill>
            <a:srgbClr val="3C8D40"/>
          </a:solidFill>
          <a:ln w="12700">
            <a:solidFill>
              <a:srgbClr val="3C8D40"/>
            </a:solidFill>
            <a:prstDash val="solid"/>
          </a:ln>
        </p:spPr>
      </p:sp>
      <p:sp>
        <p:nvSpPr>
          <p:cNvPr id="10" name="Deco flower 3"/>
          <p:cNvSpPr/>
          <p:nvPr/>
        </p:nvSpPr>
        <p:spPr>
          <a:xfrm>
            <a:off x="6766560" y="4370832"/>
            <a:ext cx="274320" cy="274320"/>
          </a:xfrm>
          <a:prstGeom prst="flowChartConnector">
            <a:avLst/>
          </a:prstGeom>
          <a:solidFill>
            <a:srgbClr val="FF6F91"/>
          </a:solidFill>
          <a:ln w="12700">
            <a:solidFill>
              <a:srgbClr val="FF6F91"/>
            </a:solidFill>
            <a:prstDash val="solid"/>
          </a:ln>
        </p:spPr>
      </p:sp>
      <p:sp>
        <p:nvSpPr>
          <p:cNvPr id="11" name="Deco stem 4"/>
          <p:cNvSpPr/>
          <p:nvPr/>
        </p:nvSpPr>
        <p:spPr>
          <a:xfrm>
            <a:off x="7708392" y="4736592"/>
            <a:ext cx="36576" cy="365760"/>
          </a:xfrm>
          <a:prstGeom prst="ellipse">
            <a:avLst/>
          </a:prstGeom>
          <a:solidFill>
            <a:srgbClr val="3C8D40"/>
          </a:solidFill>
          <a:ln w="12700">
            <a:solidFill>
              <a:srgbClr val="3C8D40"/>
            </a:solidFill>
            <a:prstDash val="solid"/>
          </a:ln>
        </p:spPr>
      </p:sp>
      <p:sp>
        <p:nvSpPr>
          <p:cNvPr id="12" name="Deco flower 4"/>
          <p:cNvSpPr/>
          <p:nvPr/>
        </p:nvSpPr>
        <p:spPr>
          <a:xfrm>
            <a:off x="7589520" y="4370832"/>
            <a:ext cx="274320" cy="274320"/>
          </a:xfrm>
          <a:prstGeom prst="flowChartConnector">
            <a:avLst/>
          </a:prstGeom>
          <a:solidFill>
            <a:srgbClr val="FFD23F"/>
          </a:solidFill>
          <a:ln w="12700">
            <a:solidFill>
              <a:srgbClr val="FFD23F"/>
            </a:solidFill>
            <a:prstDash val="solid"/>
          </a:ln>
        </p:spPr>
      </p:sp>
      <p:sp>
        <p:nvSpPr>
          <p:cNvPr id="13" name="Deco stem 5"/>
          <p:cNvSpPr/>
          <p:nvPr/>
        </p:nvSpPr>
        <p:spPr>
          <a:xfrm>
            <a:off x="8439912" y="4736592"/>
            <a:ext cx="36576" cy="365760"/>
          </a:xfrm>
          <a:prstGeom prst="ellipse">
            <a:avLst/>
          </a:prstGeom>
          <a:solidFill>
            <a:srgbClr val="3C8D40"/>
          </a:solidFill>
          <a:ln w="12700">
            <a:solidFill>
              <a:srgbClr val="3C8D40"/>
            </a:solidFill>
            <a:prstDash val="solid"/>
          </a:ln>
        </p:spPr>
      </p:sp>
      <p:sp>
        <p:nvSpPr>
          <p:cNvPr id="14" name="Deco flower 5"/>
          <p:cNvSpPr/>
          <p:nvPr/>
        </p:nvSpPr>
        <p:spPr>
          <a:xfrm>
            <a:off x="8321040" y="4370832"/>
            <a:ext cx="274320" cy="274320"/>
          </a:xfrm>
          <a:prstGeom prst="flowChartConnector">
            <a:avLst/>
          </a:prstGeom>
          <a:solidFill>
            <a:srgbClr val="7EC8FF"/>
          </a:solidFill>
          <a:ln w="12700">
            <a:solidFill>
              <a:srgbClr val="7EC8FF"/>
            </a:solidFill>
            <a:prstDash val="solid"/>
          </a:ln>
        </p:spPr>
      </p:sp>
      <p:sp>
        <p:nvSpPr>
          <p:cNvPr id="15" name="Deco heart"/>
          <p:cNvSpPr/>
          <p:nvPr/>
        </p:nvSpPr>
        <p:spPr>
          <a:xfrm>
            <a:off x="411480" y="228600"/>
            <a:ext cx="457200" cy="411480"/>
          </a:xfrm>
          <a:prstGeom prst="heart">
            <a:avLst/>
          </a:prstGeom>
          <a:solidFill>
            <a:srgbClr val="EDE75E"/>
          </a:solidFill>
          <a:ln w="12700">
            <a:solidFill>
              <a:srgbClr val="EDE75E"/>
            </a:solidFill>
            <a:prstDash val="solid"/>
          </a:ln>
        </p:spPr>
      </p:sp>
      <p:sp>
        <p:nvSpPr>
          <p:cNvPr id="16" name="Deco cloud"/>
          <p:cNvSpPr/>
          <p:nvPr/>
        </p:nvSpPr>
        <p:spPr>
          <a:xfrm>
            <a:off x="7132320" y="109728"/>
            <a:ext cx="1463040" cy="640080"/>
          </a:xfrm>
          <a:prstGeom prst="cloud">
            <a:avLst/>
          </a:prstGeom>
          <a:solidFill>
            <a:srgbClr val="FFFFFF"/>
          </a:solidFill>
          <a:ln w="12700">
            <a:solidFill>
              <a:srgbClr val="FFFFFF"/>
            </a:solidFill>
            <a:prstDash val="solid"/>
          </a:ln>
        </p:spPr>
      </p:sp>
      <p:sp>
        <p:nvSpPr>
          <p:cNvPr id="17" name="Deco friend"/>
          <p:cNvSpPr/>
          <p:nvPr/>
        </p:nvSpPr>
        <p:spPr>
          <a:xfrm>
            <a:off x="6309360" y="182880"/>
            <a:ext cx="548640" cy="548640"/>
          </a:xfrm>
          <a:prstGeom prst="smileyFace">
            <a:avLst/>
          </a:prstGeom>
          <a:solidFill>
            <a:srgbClr val="FFD166"/>
          </a:solidFill>
          <a:ln w="12700">
            <a:solidFill>
              <a:srgbClr val="FFD166"/>
            </a:solidFill>
            <a:prstDash val="solid"/>
          </a:ln>
        </p:spPr>
      </p:sp>
      <p:sp>
        <p:nvSpPr>
          <p:cNvPr id="18" name="Title box"/>
          <p:cNvSpPr/>
          <p:nvPr/>
        </p:nvSpPr>
        <p:spPr>
          <a:xfrm>
            <a:off x="365760" y="896112"/>
            <a:ext cx="8412480" cy="530352"/>
          </a:xfrm>
          <a:prstGeom prst="roundRect">
            <a:avLst>
              <a:gd name="adj" fmla="val 34483"/>
            </a:avLst>
          </a:prstGeom>
          <a:solidFill>
            <a:srgbClr val="C2255C"/>
          </a:solidFill>
          <a:ln w="12700">
            <a:solidFill>
              <a:srgbClr val="333333"/>
            </a:solidFill>
            <a:prstDash val="solid"/>
          </a:ln>
        </p:spPr>
      </p:sp>
      <p:sp>
        <p:nvSpPr>
          <p:cNvPr id="19" name="Title"/>
          <p:cNvSpPr txBox="1"/>
          <p:nvPr/>
        </p:nvSpPr>
        <p:spPr>
          <a:xfrm>
            <a:off x="365760" y="902716"/>
            <a:ext cx="8412480" cy="530352"/>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Small circle: never read</a:t>
            </a:r>
            <a:endParaRPr lang="en-US" sz="2600" dirty="0"/>
          </a:p>
        </p:txBody>
      </p:sp>
      <p:sp>
        <p:nvSpPr>
          <p:cNvPr id="20" name="Panel written"/>
          <p:cNvSpPr/>
          <p:nvPr/>
        </p:nvSpPr>
        <p:spPr>
          <a:xfrm>
            <a:off x="4892040" y="1554480"/>
            <a:ext cx="3886200" cy="1874520"/>
          </a:xfrm>
          <a:prstGeom prst="roundRect">
            <a:avLst>
              <a:gd name="adj" fmla="val 12195"/>
            </a:avLst>
          </a:prstGeom>
          <a:solidFill>
            <a:srgbClr val="FFFFFF"/>
          </a:solidFill>
          <a:ln w="88900">
            <a:solidFill>
              <a:srgbClr val="C2255C"/>
            </a:solidFill>
            <a:prstDash val="solid"/>
          </a:ln>
        </p:spPr>
      </p:sp>
      <p:sp>
        <p:nvSpPr>
          <p:cNvPr id="21" name="C1 written"/>
          <p:cNvSpPr txBox="1"/>
          <p:nvPr/>
        </p:nvSpPr>
        <p:spPr>
          <a:xfrm>
            <a:off x="4892040" y="1746358"/>
            <a:ext cx="3886200" cy="1874520"/>
          </a:xfrm>
          <a:prstGeom prst="rect">
            <a:avLst/>
          </a:prstGeom>
          <a:noFill/>
          <a:ln/>
        </p:spPr>
        <p:txBody>
          <a:bodyPr wrap="none" lIns="0" tIns="0" rIns="0" bIns="0" rtlCol="0" anchor="ctr"/>
          <a:lstStyle/>
          <a:p>
            <a:pPr algn="ctr" indent="0" marL="0">
              <a:buNone/>
            </a:pPr>
            <a:r>
              <a:rPr lang="ar-SA" altLang="en-US" sz="6700" dirty="0">
                <a:solidFill>
                  <a:srgbClr val="16213E"/>
                </a:solidFill>
                <a:latin typeface="Traditional Arabic" pitchFamily="34" charset="0"/>
                <a:ea typeface="Traditional Arabic" pitchFamily="34" charset="-122"/>
                <a:cs typeface="Traditional Arabic" pitchFamily="34" charset="-120"/>
              </a:rPr>
              <a:t>أُ</a:t>
            </a:r>
            <a:r>
              <a:rPr lang="ar-SA" altLang="en-US" sz="6700" dirty="0">
                <a:solidFill>
                  <a:srgbClr val="E03131"/>
                </a:solidFill>
                <a:latin typeface="Traditional Arabic" pitchFamily="34" charset="0"/>
                <a:ea typeface="Traditional Arabic" pitchFamily="34" charset="-122"/>
                <a:cs typeface="Traditional Arabic" pitchFamily="34" charset="-120"/>
              </a:rPr>
              <a:t>و۟</a:t>
            </a:r>
            <a:r>
              <a:rPr lang="ar-SA" altLang="en-US" sz="6700" dirty="0">
                <a:solidFill>
                  <a:srgbClr val="16213E"/>
                </a:solidFill>
                <a:latin typeface="Traditional Arabic" pitchFamily="34" charset="0"/>
                <a:ea typeface="Traditional Arabic" pitchFamily="34" charset="-122"/>
                <a:cs typeface="Traditional Arabic" pitchFamily="34" charset="-120"/>
              </a:rPr>
              <a:t>لَٰٓئِكَ</a:t>
            </a:r>
            <a:endParaRPr lang="ar-SA" sz="6700" dirty="0"/>
          </a:p>
        </p:txBody>
      </p:sp>
      <p:sp>
        <p:nvSpPr>
          <p:cNvPr id="22" name="C2 arrow"/>
          <p:cNvSpPr/>
          <p:nvPr/>
        </p:nvSpPr>
        <p:spPr>
          <a:xfrm>
            <a:off x="4315968" y="2263140"/>
            <a:ext cx="512064" cy="457200"/>
          </a:xfrm>
          <a:prstGeom prst="leftArrow">
            <a:avLst/>
          </a:prstGeom>
          <a:solidFill>
            <a:srgbClr val="B22EB8"/>
          </a:solidFill>
          <a:ln w="12700">
            <a:solidFill>
              <a:srgbClr val="333333"/>
            </a:solidFill>
            <a:prstDash val="solid"/>
          </a:ln>
        </p:spPr>
      </p:sp>
      <p:sp>
        <p:nvSpPr>
          <p:cNvPr id="23" name="Panel read"/>
          <p:cNvSpPr/>
          <p:nvPr/>
        </p:nvSpPr>
        <p:spPr>
          <a:xfrm>
            <a:off x="365760" y="1554480"/>
            <a:ext cx="3886200" cy="1874520"/>
          </a:xfrm>
          <a:prstGeom prst="roundRect">
            <a:avLst>
              <a:gd name="adj" fmla="val 12195"/>
            </a:avLst>
          </a:prstGeom>
          <a:solidFill>
            <a:srgbClr val="FFFBE3"/>
          </a:solidFill>
          <a:ln w="88900">
            <a:solidFill>
              <a:srgbClr val="F2B134"/>
            </a:solidFill>
            <a:prstDash val="solid"/>
          </a:ln>
        </p:spPr>
      </p:sp>
      <p:sp>
        <p:nvSpPr>
          <p:cNvPr id="24" name="C2 read"/>
          <p:cNvSpPr txBox="1"/>
          <p:nvPr/>
        </p:nvSpPr>
        <p:spPr>
          <a:xfrm>
            <a:off x="365760" y="1687824"/>
            <a:ext cx="3886200" cy="1237183"/>
          </a:xfrm>
          <a:prstGeom prst="rect">
            <a:avLst/>
          </a:prstGeom>
          <a:noFill/>
          <a:ln/>
        </p:spPr>
        <p:txBody>
          <a:bodyPr wrap="none" lIns="0" tIns="0" rIns="0" bIns="0" rtlCol="0" anchor="ctr"/>
          <a:lstStyle/>
          <a:p>
            <a:pPr algn="ctr" indent="0" marL="0">
              <a:buNone/>
            </a:pPr>
            <a:r>
              <a:rPr lang="ar-SA" altLang="en-US" sz="4100" dirty="0">
                <a:solidFill>
                  <a:srgbClr val="16213E"/>
                </a:solidFill>
                <a:latin typeface="Traditional Arabic" pitchFamily="34" charset="0"/>
                <a:ea typeface="Traditional Arabic" pitchFamily="34" charset="-122"/>
                <a:cs typeface="Traditional Arabic" pitchFamily="34" charset="-120"/>
              </a:rPr>
              <a:t>أُلَٰٓئِكَ</a:t>
            </a:r>
            <a:endParaRPr lang="ar-SA" sz="4100" dirty="0"/>
          </a:p>
        </p:txBody>
      </p:sp>
      <p:sp>
        <p:nvSpPr>
          <p:cNvPr id="25" name="C2 sounds"/>
          <p:cNvSpPr/>
          <p:nvPr/>
        </p:nvSpPr>
        <p:spPr>
          <a:xfrm>
            <a:off x="502920" y="2798775"/>
            <a:ext cx="3611880" cy="582473"/>
          </a:xfrm>
          <a:prstGeom prst="rect">
            <a:avLst/>
          </a:prstGeom>
          <a:noFill/>
          <a:ln/>
        </p:spPr>
        <p:txBody>
          <a:bodyPr wrap="square" lIns="0" tIns="0" rIns="0" bIns="0" rtlCol="0" anchor="ctr"/>
          <a:lstStyle/>
          <a:p>
            <a:pPr algn="ctr" indent="0" marL="0">
              <a:buNone/>
            </a:pPr>
            <a:r>
              <a:rPr lang="en-US" sz="2800" b="1" dirty="0">
                <a:solidFill>
                  <a:srgbClr val="D9480F"/>
                </a:solidFill>
                <a:latin typeface="Arial" pitchFamily="34" charset="0"/>
                <a:ea typeface="Arial" pitchFamily="34" charset="-122"/>
                <a:cs typeface="Arial" pitchFamily="34" charset="-120"/>
              </a:rPr>
              <a:t>u-laaa-'i-ka</a:t>
            </a:r>
            <a:endParaRPr lang="en-US" sz="2800" dirty="0"/>
          </a:p>
        </p:txBody>
      </p:sp>
      <p:sp>
        <p:nvSpPr>
          <p:cNvPr id="26" name="C3 tip box"/>
          <p:cNvSpPr/>
          <p:nvPr/>
        </p:nvSpPr>
        <p:spPr>
          <a:xfrm>
            <a:off x="365760" y="3566160"/>
            <a:ext cx="8412480" cy="685800"/>
          </a:xfrm>
          <a:prstGeom prst="roundRect">
            <a:avLst>
              <a:gd name="adj" fmla="val 26667"/>
            </a:avLst>
          </a:prstGeom>
          <a:solidFill>
            <a:srgbClr val="C2255C"/>
          </a:solidFill>
          <a:ln w="12700">
            <a:solidFill>
              <a:srgbClr val="333333"/>
            </a:solidFill>
            <a:prstDash val="solid"/>
          </a:ln>
        </p:spPr>
      </p:sp>
      <p:sp>
        <p:nvSpPr>
          <p:cNvPr id="27" name="C3 tip"/>
          <p:cNvSpPr txBox="1"/>
          <p:nvPr/>
        </p:nvSpPr>
        <p:spPr>
          <a:xfrm>
            <a:off x="365760" y="3539744"/>
            <a:ext cx="8412480" cy="685800"/>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The waw of ulaa'ika (those) is not read</a:t>
            </a:r>
            <a:endParaRPr lang="en-US" sz="2600" dirty="0"/>
          </a:p>
        </p:txBody>
      </p:sp>
    </p:spTree>
  </p:cSld>
  <p:clrMapOvr>
    <a:masterClrMapping/>
  </p:clrMapOvr>
  <p:transition spd="med">
    <p:randomBar dir="vert"/>
    <p:sndAc>
      <p:stSnd>
        <p:snd r:embed="rIdTrSnd" name="harp.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35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350"/>
                                        <p:tgtEl>
                                          <p:spTgt spid="2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350"/>
                                        <p:tgtEl>
                                          <p:spTgt spid="2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35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35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4" grpId="0" animBg="1"/>
      <p:bldP spid="25" grpId="0" animBg="1"/>
      <p:bldP spid="26" grpId="0" animBg="1"/>
      <p:bldP spid="2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743"/>
        </a:solidFill>
      </p:bgPr>
    </p:bg>
    <p:spTree>
      <p:nvGrpSpPr>
        <p:cNvPr id="1" name=""/>
        <p:cNvGrpSpPr/>
        <p:nvPr/>
      </p:nvGrpSpPr>
      <p:grpSpPr>
        <a:xfrm>
          <a:off x="0" y="0"/>
          <a:ext cx="0" cy="0"/>
          <a:chOff x="0" y="0"/>
          <a:chExt cx="0" cy="0"/>
        </a:xfrm>
      </p:grpSpPr>
      <p:sp>
        <p:nvSpPr>
          <p:cNvPr id="2" name="Deco planet"/>
          <p:cNvSpPr/>
          <p:nvPr/>
        </p:nvSpPr>
        <p:spPr>
          <a:xfrm>
            <a:off x="7680960" y="91440"/>
            <a:ext cx="731520" cy="731520"/>
          </a:xfrm>
          <a:prstGeom prst="ellipse">
            <a:avLst/>
          </a:prstGeom>
          <a:solidFill>
            <a:srgbClr val="5E52E0"/>
          </a:solidFill>
          <a:ln w="12700">
            <a:solidFill>
              <a:srgbClr val="5E52E0"/>
            </a:solidFill>
            <a:prstDash val="solid"/>
          </a:ln>
        </p:spPr>
      </p:sp>
      <p:sp>
        <p:nvSpPr>
          <p:cNvPr id="3" name="Deco planet ring"/>
          <p:cNvSpPr/>
          <p:nvPr/>
        </p:nvSpPr>
        <p:spPr>
          <a:xfrm>
            <a:off x="7452360" y="384048"/>
            <a:ext cx="1188720" cy="164592"/>
          </a:xfrm>
          <a:prstGeom prst="ellipse">
            <a:avLst/>
          </a:prstGeom>
          <a:solidFill>
            <a:srgbClr val="FFFFFF">
              <a:alpha val="0"/>
            </a:srgbClr>
          </a:solidFill>
          <a:ln w="25400">
            <a:solidFill>
              <a:srgbClr val="C88CF2"/>
            </a:solidFill>
            <a:prstDash val="solid"/>
          </a:ln>
        </p:spPr>
      </p:sp>
      <p:sp>
        <p:nvSpPr>
          <p:cNvPr id="4" name="Deco small planet"/>
          <p:cNvSpPr/>
          <p:nvPr/>
        </p:nvSpPr>
        <p:spPr>
          <a:xfrm>
            <a:off x="274320" y="182880"/>
            <a:ext cx="502920" cy="502920"/>
          </a:xfrm>
          <a:prstGeom prst="ellipse">
            <a:avLst/>
          </a:prstGeom>
          <a:solidFill>
            <a:srgbClr val="DBAF70"/>
          </a:solidFill>
          <a:ln w="12700">
            <a:solidFill>
              <a:srgbClr val="DBAF70"/>
            </a:solidFill>
            <a:prstDash val="solid"/>
          </a:ln>
        </p:spPr>
      </p:sp>
      <p:sp>
        <p:nvSpPr>
          <p:cNvPr id="5" name="Deco star 0"/>
          <p:cNvSpPr/>
          <p:nvPr/>
        </p:nvSpPr>
        <p:spPr>
          <a:xfrm>
            <a:off x="1371600" y="274320"/>
            <a:ext cx="256032" cy="256032"/>
          </a:xfrm>
          <a:prstGeom prst="star5">
            <a:avLst/>
          </a:prstGeom>
          <a:solidFill>
            <a:srgbClr val="FFE066"/>
          </a:solidFill>
          <a:ln w="12700">
            <a:solidFill>
              <a:srgbClr val="FFE066"/>
            </a:solidFill>
            <a:prstDash val="solid"/>
          </a:ln>
        </p:spPr>
      </p:sp>
      <p:sp>
        <p:nvSpPr>
          <p:cNvPr id="6" name="Deco star 1"/>
          <p:cNvSpPr/>
          <p:nvPr/>
        </p:nvSpPr>
        <p:spPr>
          <a:xfrm>
            <a:off x="2468880" y="91440"/>
            <a:ext cx="256032" cy="256032"/>
          </a:xfrm>
          <a:prstGeom prst="star4">
            <a:avLst/>
          </a:prstGeom>
          <a:solidFill>
            <a:srgbClr val="FFFFFF"/>
          </a:solidFill>
          <a:ln w="12700">
            <a:solidFill>
              <a:srgbClr val="FFFFFF"/>
            </a:solidFill>
            <a:prstDash val="solid"/>
          </a:ln>
        </p:spPr>
      </p:sp>
      <p:sp>
        <p:nvSpPr>
          <p:cNvPr id="7" name="Deco star 2"/>
          <p:cNvSpPr/>
          <p:nvPr/>
        </p:nvSpPr>
        <p:spPr>
          <a:xfrm>
            <a:off x="3840480" y="502920"/>
            <a:ext cx="256032" cy="256032"/>
          </a:xfrm>
          <a:prstGeom prst="star5">
            <a:avLst/>
          </a:prstGeom>
          <a:solidFill>
            <a:srgbClr val="FFFFFF"/>
          </a:solidFill>
          <a:ln w="12700">
            <a:solidFill>
              <a:srgbClr val="FFFFFF"/>
            </a:solidFill>
            <a:prstDash val="solid"/>
          </a:ln>
        </p:spPr>
      </p:sp>
      <p:sp>
        <p:nvSpPr>
          <p:cNvPr id="8" name="Deco star 3"/>
          <p:cNvSpPr/>
          <p:nvPr/>
        </p:nvSpPr>
        <p:spPr>
          <a:xfrm>
            <a:off x="5120640" y="137160"/>
            <a:ext cx="256032" cy="256032"/>
          </a:xfrm>
          <a:prstGeom prst="star4">
            <a:avLst/>
          </a:prstGeom>
          <a:solidFill>
            <a:srgbClr val="FFE066"/>
          </a:solidFill>
          <a:ln w="12700">
            <a:solidFill>
              <a:srgbClr val="FFE066"/>
            </a:solidFill>
            <a:prstDash val="solid"/>
          </a:ln>
        </p:spPr>
      </p:sp>
      <p:sp>
        <p:nvSpPr>
          <p:cNvPr id="9" name="Deco star 4"/>
          <p:cNvSpPr/>
          <p:nvPr/>
        </p:nvSpPr>
        <p:spPr>
          <a:xfrm>
            <a:off x="6583680" y="457200"/>
            <a:ext cx="256032" cy="256032"/>
          </a:xfrm>
          <a:prstGeom prst="star5">
            <a:avLst/>
          </a:prstGeom>
          <a:solidFill>
            <a:srgbClr val="FFFFFF"/>
          </a:solidFill>
          <a:ln w="12700">
            <a:solidFill>
              <a:srgbClr val="FFFFFF"/>
            </a:solidFill>
            <a:prstDash val="solid"/>
          </a:ln>
        </p:spPr>
      </p:sp>
      <p:sp>
        <p:nvSpPr>
          <p:cNvPr id="10" name="Deco star 5"/>
          <p:cNvSpPr/>
          <p:nvPr/>
        </p:nvSpPr>
        <p:spPr>
          <a:xfrm>
            <a:off x="1097280" y="4572000"/>
            <a:ext cx="256032" cy="256032"/>
          </a:xfrm>
          <a:prstGeom prst="star4">
            <a:avLst/>
          </a:prstGeom>
          <a:solidFill>
            <a:srgbClr val="FFFFFF"/>
          </a:solidFill>
          <a:ln w="12700">
            <a:solidFill>
              <a:srgbClr val="FFFFFF"/>
            </a:solidFill>
            <a:prstDash val="solid"/>
          </a:ln>
        </p:spPr>
      </p:sp>
      <p:sp>
        <p:nvSpPr>
          <p:cNvPr id="11" name="Deco star 6"/>
          <p:cNvSpPr/>
          <p:nvPr/>
        </p:nvSpPr>
        <p:spPr>
          <a:xfrm>
            <a:off x="2743200" y="4754880"/>
            <a:ext cx="256032" cy="256032"/>
          </a:xfrm>
          <a:prstGeom prst="star5">
            <a:avLst/>
          </a:prstGeom>
          <a:solidFill>
            <a:srgbClr val="FFE066"/>
          </a:solidFill>
          <a:ln w="12700">
            <a:solidFill>
              <a:srgbClr val="FFE066"/>
            </a:solidFill>
            <a:prstDash val="solid"/>
          </a:ln>
        </p:spPr>
      </p:sp>
      <p:sp>
        <p:nvSpPr>
          <p:cNvPr id="12" name="Deco star 7"/>
          <p:cNvSpPr/>
          <p:nvPr/>
        </p:nvSpPr>
        <p:spPr>
          <a:xfrm>
            <a:off x="6217920" y="4663440"/>
            <a:ext cx="256032" cy="256032"/>
          </a:xfrm>
          <a:prstGeom prst="star4">
            <a:avLst/>
          </a:prstGeom>
          <a:solidFill>
            <a:srgbClr val="FFFFFF"/>
          </a:solidFill>
          <a:ln w="12700">
            <a:solidFill>
              <a:srgbClr val="FFFFFF"/>
            </a:solidFill>
            <a:prstDash val="solid"/>
          </a:ln>
        </p:spPr>
      </p:sp>
      <p:sp>
        <p:nvSpPr>
          <p:cNvPr id="13" name="Deco star 8"/>
          <p:cNvSpPr/>
          <p:nvPr/>
        </p:nvSpPr>
        <p:spPr>
          <a:xfrm>
            <a:off x="8138160" y="4572000"/>
            <a:ext cx="256032" cy="256032"/>
          </a:xfrm>
          <a:prstGeom prst="star5">
            <a:avLst/>
          </a:prstGeom>
          <a:solidFill>
            <a:srgbClr val="FFFFFF"/>
          </a:solidFill>
          <a:ln w="12700">
            <a:solidFill>
              <a:srgbClr val="FFFFFF"/>
            </a:solidFill>
            <a:prstDash val="solid"/>
          </a:ln>
        </p:spPr>
      </p:sp>
      <p:sp>
        <p:nvSpPr>
          <p:cNvPr id="14" name="Deco moon surface"/>
          <p:cNvSpPr/>
          <p:nvPr/>
        </p:nvSpPr>
        <p:spPr>
          <a:xfrm>
            <a:off x="3200400" y="4709160"/>
            <a:ext cx="2743200" cy="1097280"/>
          </a:xfrm>
          <a:prstGeom prst="ellipse">
            <a:avLst/>
          </a:prstGeom>
          <a:solidFill>
            <a:srgbClr val="4C8547"/>
          </a:solidFill>
          <a:ln w="12700">
            <a:solidFill>
              <a:srgbClr val="4C8547"/>
            </a:solidFill>
            <a:prstDash val="solid"/>
          </a:ln>
        </p:spPr>
      </p:sp>
      <p:sp>
        <p:nvSpPr>
          <p:cNvPr id="15" name="Title box"/>
          <p:cNvSpPr/>
          <p:nvPr/>
        </p:nvSpPr>
        <p:spPr>
          <a:xfrm>
            <a:off x="365760" y="896112"/>
            <a:ext cx="8412480" cy="530352"/>
          </a:xfrm>
          <a:prstGeom prst="roundRect">
            <a:avLst>
              <a:gd name="adj" fmla="val 34483"/>
            </a:avLst>
          </a:prstGeom>
          <a:solidFill>
            <a:srgbClr val="C2255C"/>
          </a:solidFill>
          <a:ln w="12700">
            <a:solidFill>
              <a:srgbClr val="333333"/>
            </a:solidFill>
            <a:prstDash val="solid"/>
          </a:ln>
        </p:spPr>
      </p:sp>
      <p:sp>
        <p:nvSpPr>
          <p:cNvPr id="16" name="Title"/>
          <p:cNvSpPr txBox="1"/>
          <p:nvPr/>
        </p:nvSpPr>
        <p:spPr>
          <a:xfrm>
            <a:off x="365760" y="902716"/>
            <a:ext cx="8412480" cy="530352"/>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Small circle: never read</a:t>
            </a:r>
            <a:endParaRPr lang="en-US" sz="2600" dirty="0"/>
          </a:p>
        </p:txBody>
      </p:sp>
      <p:sp>
        <p:nvSpPr>
          <p:cNvPr id="17" name="Panel written"/>
          <p:cNvSpPr/>
          <p:nvPr/>
        </p:nvSpPr>
        <p:spPr>
          <a:xfrm>
            <a:off x="4892040" y="1554480"/>
            <a:ext cx="3886200" cy="1874520"/>
          </a:xfrm>
          <a:prstGeom prst="roundRect">
            <a:avLst>
              <a:gd name="adj" fmla="val 12195"/>
            </a:avLst>
          </a:prstGeom>
          <a:solidFill>
            <a:srgbClr val="FFFFFF"/>
          </a:solidFill>
          <a:ln w="88900">
            <a:solidFill>
              <a:srgbClr val="C2255C"/>
            </a:solidFill>
            <a:prstDash val="solid"/>
          </a:ln>
        </p:spPr>
      </p:sp>
      <p:sp>
        <p:nvSpPr>
          <p:cNvPr id="18" name="C1 written"/>
          <p:cNvSpPr txBox="1"/>
          <p:nvPr/>
        </p:nvSpPr>
        <p:spPr>
          <a:xfrm>
            <a:off x="4892040" y="1609606"/>
            <a:ext cx="3886200" cy="1874520"/>
          </a:xfrm>
          <a:prstGeom prst="rect">
            <a:avLst/>
          </a:prstGeom>
          <a:noFill/>
          <a:ln/>
        </p:spPr>
        <p:txBody>
          <a:bodyPr wrap="none" lIns="0" tIns="0" rIns="0" bIns="0" rtlCol="0" anchor="ctr"/>
          <a:lstStyle/>
          <a:p>
            <a:pPr algn="ctr" indent="0" marL="0">
              <a:buNone/>
            </a:pPr>
            <a:r>
              <a:rPr lang="ar-SA" altLang="en-US" sz="3800" dirty="0">
                <a:solidFill>
                  <a:srgbClr val="16213E"/>
                </a:solidFill>
                <a:latin typeface="Traditional Arabic" pitchFamily="34" charset="0"/>
                <a:ea typeface="Traditional Arabic" pitchFamily="34" charset="-122"/>
                <a:cs typeface="Traditional Arabic" pitchFamily="34" charset="-120"/>
              </a:rPr>
              <a:t>أُ</a:t>
            </a:r>
            <a:r>
              <a:rPr lang="ar-SA" altLang="en-US" sz="3800" dirty="0">
                <a:solidFill>
                  <a:srgbClr val="E03131"/>
                </a:solidFill>
                <a:latin typeface="Traditional Arabic" pitchFamily="34" charset="0"/>
                <a:ea typeface="Traditional Arabic" pitchFamily="34" charset="-122"/>
                <a:cs typeface="Traditional Arabic" pitchFamily="34" charset="-120"/>
              </a:rPr>
              <a:t>و۟</a:t>
            </a:r>
            <a:r>
              <a:rPr lang="ar-SA" altLang="en-US" sz="3800" dirty="0">
                <a:solidFill>
                  <a:srgbClr val="16213E"/>
                </a:solidFill>
                <a:latin typeface="Traditional Arabic" pitchFamily="34" charset="0"/>
                <a:ea typeface="Traditional Arabic" pitchFamily="34" charset="-122"/>
                <a:cs typeface="Traditional Arabic" pitchFamily="34" charset="-120"/>
              </a:rPr>
              <a:t>لُو</a:t>
            </a:r>
            <a:r>
              <a:rPr lang="ar-SA" altLang="en-US" sz="3800" dirty="0">
                <a:solidFill>
                  <a:srgbClr val="E03131"/>
                </a:solidFill>
                <a:latin typeface="Traditional Arabic" pitchFamily="34" charset="0"/>
                <a:ea typeface="Traditional Arabic" pitchFamily="34" charset="-122"/>
                <a:cs typeface="Traditional Arabic" pitchFamily="34" charset="-120"/>
              </a:rPr>
              <a:t>ا۟</a:t>
            </a:r>
            <a:r>
              <a:rPr lang="ar-SA" altLang="en-US" sz="3800" dirty="0">
                <a:solidFill>
                  <a:srgbClr val="16213E"/>
                </a:solidFill>
                <a:latin typeface="Traditional Arabic" pitchFamily="34" charset="0"/>
                <a:ea typeface="Traditional Arabic" pitchFamily="34" charset="-122"/>
                <a:cs typeface="Traditional Arabic" pitchFamily="34" charset="-120"/>
              </a:rPr>
              <a:t> ٱلۡأَلۡبَٰبِ</a:t>
            </a:r>
            <a:endParaRPr lang="ar-SA" sz="3800" dirty="0"/>
          </a:p>
        </p:txBody>
      </p:sp>
      <p:sp>
        <p:nvSpPr>
          <p:cNvPr id="19" name="C2 arrow"/>
          <p:cNvSpPr/>
          <p:nvPr/>
        </p:nvSpPr>
        <p:spPr>
          <a:xfrm>
            <a:off x="4315968" y="2263140"/>
            <a:ext cx="512064" cy="457200"/>
          </a:xfrm>
          <a:prstGeom prst="leftArrow">
            <a:avLst/>
          </a:prstGeom>
          <a:solidFill>
            <a:srgbClr val="95B82E"/>
          </a:solidFill>
          <a:ln w="12700">
            <a:solidFill>
              <a:srgbClr val="333333"/>
            </a:solidFill>
            <a:prstDash val="solid"/>
          </a:ln>
        </p:spPr>
      </p:sp>
      <p:sp>
        <p:nvSpPr>
          <p:cNvPr id="20" name="Panel read"/>
          <p:cNvSpPr/>
          <p:nvPr/>
        </p:nvSpPr>
        <p:spPr>
          <a:xfrm>
            <a:off x="365760" y="1554480"/>
            <a:ext cx="3886200" cy="1874520"/>
          </a:xfrm>
          <a:prstGeom prst="roundRect">
            <a:avLst>
              <a:gd name="adj" fmla="val 12195"/>
            </a:avLst>
          </a:prstGeom>
          <a:solidFill>
            <a:srgbClr val="FFFBE3"/>
          </a:solidFill>
          <a:ln w="88900">
            <a:solidFill>
              <a:srgbClr val="F2B134"/>
            </a:solidFill>
            <a:prstDash val="solid"/>
          </a:ln>
        </p:spPr>
      </p:sp>
      <p:sp>
        <p:nvSpPr>
          <p:cNvPr id="21" name="C2 read"/>
          <p:cNvSpPr txBox="1"/>
          <p:nvPr/>
        </p:nvSpPr>
        <p:spPr>
          <a:xfrm>
            <a:off x="365760" y="1609606"/>
            <a:ext cx="3886200" cy="1237183"/>
          </a:xfrm>
          <a:prstGeom prst="rect">
            <a:avLst/>
          </a:prstGeom>
          <a:noFill/>
          <a:ln/>
        </p:spPr>
        <p:txBody>
          <a:bodyPr wrap="none" lIns="0" tIns="0" rIns="0" bIns="0" rtlCol="0" anchor="ctr"/>
          <a:lstStyle/>
          <a:p>
            <a:pPr algn="ctr" indent="0" marL="0">
              <a:buNone/>
            </a:pPr>
            <a:r>
              <a:rPr lang="ar-SA" altLang="en-US" sz="3800" dirty="0">
                <a:solidFill>
                  <a:srgbClr val="16213E"/>
                </a:solidFill>
                <a:latin typeface="Traditional Arabic" pitchFamily="34" charset="0"/>
                <a:ea typeface="Traditional Arabic" pitchFamily="34" charset="-122"/>
                <a:cs typeface="Traditional Arabic" pitchFamily="34" charset="-120"/>
              </a:rPr>
              <a:t>أُلُلۡ أَلۡبَابِ</a:t>
            </a:r>
            <a:endParaRPr lang="ar-SA" sz="3800" dirty="0"/>
          </a:p>
        </p:txBody>
      </p:sp>
      <p:sp>
        <p:nvSpPr>
          <p:cNvPr id="22" name="C2 sounds"/>
          <p:cNvSpPr/>
          <p:nvPr/>
        </p:nvSpPr>
        <p:spPr>
          <a:xfrm>
            <a:off x="502920" y="2798775"/>
            <a:ext cx="3611880" cy="582473"/>
          </a:xfrm>
          <a:prstGeom prst="rect">
            <a:avLst/>
          </a:prstGeom>
          <a:noFill/>
          <a:ln/>
        </p:spPr>
        <p:txBody>
          <a:bodyPr wrap="square" lIns="0" tIns="0" rIns="0" bIns="0" rtlCol="0" anchor="ctr"/>
          <a:lstStyle/>
          <a:p>
            <a:pPr algn="ctr" indent="0" marL="0">
              <a:buNone/>
            </a:pPr>
            <a:r>
              <a:rPr lang="en-US" sz="2800" b="1" dirty="0">
                <a:solidFill>
                  <a:srgbClr val="D9480F"/>
                </a:solidFill>
                <a:latin typeface="Arial" pitchFamily="34" charset="0"/>
                <a:ea typeface="Arial" pitchFamily="34" charset="-122"/>
                <a:cs typeface="Arial" pitchFamily="34" charset="-120"/>
              </a:rPr>
              <a:t>u-lul al-baab</a:t>
            </a:r>
            <a:endParaRPr lang="en-US" sz="2800" dirty="0"/>
          </a:p>
        </p:txBody>
      </p:sp>
      <p:sp>
        <p:nvSpPr>
          <p:cNvPr id="23" name="C3 tip box"/>
          <p:cNvSpPr/>
          <p:nvPr/>
        </p:nvSpPr>
        <p:spPr>
          <a:xfrm>
            <a:off x="365760" y="3566160"/>
            <a:ext cx="8412480" cy="685800"/>
          </a:xfrm>
          <a:prstGeom prst="roundRect">
            <a:avLst>
              <a:gd name="adj" fmla="val 26667"/>
            </a:avLst>
          </a:prstGeom>
          <a:solidFill>
            <a:srgbClr val="C2255C"/>
          </a:solidFill>
          <a:ln w="12700">
            <a:solidFill>
              <a:srgbClr val="333333"/>
            </a:solidFill>
            <a:prstDash val="solid"/>
          </a:ln>
        </p:spPr>
      </p:sp>
      <p:sp>
        <p:nvSpPr>
          <p:cNvPr id="24" name="C3 tip"/>
          <p:cNvSpPr txBox="1"/>
          <p:nvPr/>
        </p:nvSpPr>
        <p:spPr>
          <a:xfrm>
            <a:off x="365760" y="3572002"/>
            <a:ext cx="8412480" cy="685800"/>
          </a:xfrm>
          <a:prstGeom prst="rect">
            <a:avLst/>
          </a:prstGeom>
          <a:noFill/>
          <a:ln/>
        </p:spPr>
        <p:txBody>
          <a:bodyPr wrap="none" lIns="0" tIns="0" rIns="0" bIns="0" rtlCol="0" anchor="ctr"/>
          <a:lstStyle/>
          <a:p>
            <a:pPr algn="ctr" indent="0" marL="0">
              <a:buNone/>
            </a:pPr>
            <a:r>
              <a:rPr lang="en-US" sz="2300" b="1" dirty="0">
                <a:solidFill>
                  <a:srgbClr val="FFFFFF"/>
                </a:solidFill>
                <a:latin typeface="Arial" pitchFamily="34" charset="0"/>
                <a:ea typeface="Arial" pitchFamily="34" charset="-122"/>
                <a:cs typeface="Arial" pitchFamily="34" charset="-120"/>
              </a:rPr>
              <a:t>Two letters are not read: the first waw and the last alif</a:t>
            </a:r>
            <a:endParaRPr lang="en-US" sz="2300" dirty="0"/>
          </a:p>
        </p:txBody>
      </p:sp>
    </p:spTree>
  </p:cSld>
  <p:clrMapOvr>
    <a:masterClrMapping/>
  </p:clrMapOvr>
  <p:transition spd="med">
    <p:push dir="l"/>
    <p:sndAc>
      <p:stSnd>
        <p:snd r:embed="rIdTrSnd" name="chime.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5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35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35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35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350"/>
                                        <p:tgtEl>
                                          <p:spTgt spid="2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1" grpId="0" animBg="1"/>
      <p:bldP spid="22" grpId="0" animBg="1"/>
      <p:bldP spid="23" grpId="0" animBg="1"/>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C5CB"/>
        </a:solidFill>
      </p:bgPr>
    </p:bg>
    <p:spTree>
      <p:nvGrpSpPr>
        <p:cNvPr id="1" name=""/>
        <p:cNvGrpSpPr/>
        <p:nvPr/>
      </p:nvGrpSpPr>
      <p:grpSpPr>
        <a:xfrm>
          <a:off x="0" y="0"/>
          <a:ext cx="0" cy="0"/>
          <a:chOff x="0" y="0"/>
          <a:chExt cx="0" cy="0"/>
        </a:xfrm>
      </p:grpSpPr>
      <p:sp>
        <p:nvSpPr>
          <p:cNvPr id="2" name="Deco sun low"/>
          <p:cNvSpPr/>
          <p:nvPr/>
        </p:nvSpPr>
        <p:spPr>
          <a:xfrm>
            <a:off x="3566160" y="4343400"/>
            <a:ext cx="2011680" cy="2011680"/>
          </a:xfrm>
          <a:prstGeom prst="ellipse">
            <a:avLst/>
          </a:prstGeom>
          <a:solidFill>
            <a:srgbClr val="FFB347"/>
          </a:solidFill>
          <a:ln w="12700">
            <a:solidFill>
              <a:srgbClr val="FFB347"/>
            </a:solidFill>
            <a:prstDash val="solid"/>
          </a:ln>
        </p:spPr>
      </p:sp>
      <p:sp>
        <p:nvSpPr>
          <p:cNvPr id="3" name="Deco dune left"/>
          <p:cNvSpPr/>
          <p:nvPr/>
        </p:nvSpPr>
        <p:spPr>
          <a:xfrm>
            <a:off x="-1097280" y="4572000"/>
            <a:ext cx="4572000" cy="1280160"/>
          </a:xfrm>
          <a:prstGeom prst="ellipse">
            <a:avLst/>
          </a:prstGeom>
          <a:solidFill>
            <a:srgbClr val="D88664"/>
          </a:solidFill>
          <a:ln w="12700">
            <a:solidFill>
              <a:srgbClr val="D88664"/>
            </a:solidFill>
            <a:prstDash val="solid"/>
          </a:ln>
        </p:spPr>
      </p:sp>
      <p:sp>
        <p:nvSpPr>
          <p:cNvPr id="4" name="Deco dune right"/>
          <p:cNvSpPr/>
          <p:nvPr/>
        </p:nvSpPr>
        <p:spPr>
          <a:xfrm>
            <a:off x="5303520" y="4617720"/>
            <a:ext cx="5120640" cy="1280160"/>
          </a:xfrm>
          <a:prstGeom prst="ellipse">
            <a:avLst/>
          </a:prstGeom>
          <a:solidFill>
            <a:srgbClr val="D15947"/>
          </a:solidFill>
          <a:ln w="12700">
            <a:solidFill>
              <a:srgbClr val="D15947"/>
            </a:solidFill>
            <a:prstDash val="solid"/>
          </a:ln>
        </p:spPr>
      </p:sp>
      <p:sp>
        <p:nvSpPr>
          <p:cNvPr id="5" name="Deco cloud"/>
          <p:cNvSpPr/>
          <p:nvPr/>
        </p:nvSpPr>
        <p:spPr>
          <a:xfrm>
            <a:off x="320040" y="137160"/>
            <a:ext cx="1371600" cy="594360"/>
          </a:xfrm>
          <a:prstGeom prst="cloud">
            <a:avLst/>
          </a:prstGeom>
          <a:solidFill>
            <a:srgbClr val="FFFFFF"/>
          </a:solidFill>
          <a:ln w="12700">
            <a:solidFill>
              <a:srgbClr val="FFFFFF"/>
            </a:solidFill>
            <a:prstDash val="solid"/>
          </a:ln>
        </p:spPr>
      </p:sp>
      <p:sp>
        <p:nvSpPr>
          <p:cNvPr id="6" name="Deco cloud right"/>
          <p:cNvSpPr/>
          <p:nvPr/>
        </p:nvSpPr>
        <p:spPr>
          <a:xfrm>
            <a:off x="7223760" y="182880"/>
            <a:ext cx="1280160" cy="548640"/>
          </a:xfrm>
          <a:prstGeom prst="cloud">
            <a:avLst/>
          </a:prstGeom>
          <a:solidFill>
            <a:srgbClr val="FFF3E8"/>
          </a:solidFill>
          <a:ln w="12700">
            <a:solidFill>
              <a:srgbClr val="FFF3E8"/>
            </a:solidFill>
            <a:prstDash val="solid"/>
          </a:ln>
        </p:spPr>
      </p:sp>
      <p:sp>
        <p:nvSpPr>
          <p:cNvPr id="7" name="Deco bird 0"/>
          <p:cNvSpPr/>
          <p:nvPr/>
        </p:nvSpPr>
        <p:spPr>
          <a:xfrm rot="5400000">
            <a:off x="2926080" y="320040"/>
            <a:ext cx="274320" cy="128016"/>
          </a:xfrm>
          <a:prstGeom prst="chevron">
            <a:avLst/>
          </a:prstGeom>
          <a:solidFill>
            <a:srgbClr val="6B4A3A"/>
          </a:solidFill>
          <a:ln w="12700">
            <a:solidFill>
              <a:srgbClr val="6B4A3A"/>
            </a:solidFill>
            <a:prstDash val="solid"/>
          </a:ln>
        </p:spPr>
      </p:sp>
      <p:sp>
        <p:nvSpPr>
          <p:cNvPr id="8" name="Deco bird 1"/>
          <p:cNvSpPr/>
          <p:nvPr/>
        </p:nvSpPr>
        <p:spPr>
          <a:xfrm rot="5400000">
            <a:off x="3291840" y="228600"/>
            <a:ext cx="274320" cy="128016"/>
          </a:xfrm>
          <a:prstGeom prst="chevron">
            <a:avLst/>
          </a:prstGeom>
          <a:solidFill>
            <a:srgbClr val="6B4A3A"/>
          </a:solidFill>
          <a:ln w="12700">
            <a:solidFill>
              <a:srgbClr val="6B4A3A"/>
            </a:solidFill>
            <a:prstDash val="solid"/>
          </a:ln>
        </p:spPr>
      </p:sp>
      <p:sp>
        <p:nvSpPr>
          <p:cNvPr id="9" name="Deco bird 2"/>
          <p:cNvSpPr/>
          <p:nvPr/>
        </p:nvSpPr>
        <p:spPr>
          <a:xfrm rot="5400000">
            <a:off x="5394960" y="365760"/>
            <a:ext cx="274320" cy="128016"/>
          </a:xfrm>
          <a:prstGeom prst="chevron">
            <a:avLst/>
          </a:prstGeom>
          <a:solidFill>
            <a:srgbClr val="6B4A3A"/>
          </a:solidFill>
          <a:ln w="12700">
            <a:solidFill>
              <a:srgbClr val="6B4A3A"/>
            </a:solidFill>
            <a:prstDash val="solid"/>
          </a:ln>
        </p:spPr>
      </p:sp>
      <p:sp>
        <p:nvSpPr>
          <p:cNvPr id="10" name="Title box"/>
          <p:cNvSpPr/>
          <p:nvPr/>
        </p:nvSpPr>
        <p:spPr>
          <a:xfrm>
            <a:off x="365760" y="896112"/>
            <a:ext cx="8412480" cy="530352"/>
          </a:xfrm>
          <a:prstGeom prst="roundRect">
            <a:avLst>
              <a:gd name="adj" fmla="val 34483"/>
            </a:avLst>
          </a:prstGeom>
          <a:solidFill>
            <a:srgbClr val="C2255C"/>
          </a:solidFill>
          <a:ln w="12700">
            <a:solidFill>
              <a:srgbClr val="333333"/>
            </a:solidFill>
            <a:prstDash val="solid"/>
          </a:ln>
        </p:spPr>
      </p:sp>
      <p:sp>
        <p:nvSpPr>
          <p:cNvPr id="11" name="Title"/>
          <p:cNvSpPr txBox="1"/>
          <p:nvPr/>
        </p:nvSpPr>
        <p:spPr>
          <a:xfrm>
            <a:off x="365760" y="902716"/>
            <a:ext cx="8412480" cy="530352"/>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Small circle: never read</a:t>
            </a:r>
            <a:endParaRPr lang="en-US" sz="2600" dirty="0"/>
          </a:p>
        </p:txBody>
      </p:sp>
      <p:sp>
        <p:nvSpPr>
          <p:cNvPr id="12" name="Panel written"/>
          <p:cNvSpPr/>
          <p:nvPr/>
        </p:nvSpPr>
        <p:spPr>
          <a:xfrm>
            <a:off x="4892040" y="1554480"/>
            <a:ext cx="3886200" cy="1874520"/>
          </a:xfrm>
          <a:prstGeom prst="roundRect">
            <a:avLst>
              <a:gd name="adj" fmla="val 12195"/>
            </a:avLst>
          </a:prstGeom>
          <a:solidFill>
            <a:srgbClr val="FFFFFF"/>
          </a:solidFill>
          <a:ln w="88900">
            <a:solidFill>
              <a:srgbClr val="C2255C"/>
            </a:solidFill>
            <a:prstDash val="solid"/>
          </a:ln>
        </p:spPr>
      </p:sp>
      <p:sp>
        <p:nvSpPr>
          <p:cNvPr id="13" name="C1 written"/>
          <p:cNvSpPr txBox="1"/>
          <p:nvPr/>
        </p:nvSpPr>
        <p:spPr>
          <a:xfrm>
            <a:off x="4892040" y="1524724"/>
            <a:ext cx="3886200" cy="1874520"/>
          </a:xfrm>
          <a:prstGeom prst="rect">
            <a:avLst/>
          </a:prstGeom>
          <a:noFill/>
          <a:ln/>
        </p:spPr>
        <p:txBody>
          <a:bodyPr wrap="none" lIns="0" tIns="0" rIns="0" bIns="0" rtlCol="0" anchor="ctr"/>
          <a:lstStyle/>
          <a:p>
            <a:pPr algn="ctr" indent="0" marL="0">
              <a:buNone/>
            </a:pPr>
            <a:r>
              <a:rPr lang="ar-SA" altLang="en-US" sz="7100" dirty="0">
                <a:solidFill>
                  <a:srgbClr val="16213E"/>
                </a:solidFill>
                <a:latin typeface="Traditional Arabic" pitchFamily="34" charset="0"/>
                <a:ea typeface="Traditional Arabic" pitchFamily="34" charset="-122"/>
                <a:cs typeface="Traditional Arabic" pitchFamily="34" charset="-120"/>
              </a:rPr>
              <a:t>لِشَ</a:t>
            </a:r>
            <a:r>
              <a:rPr lang="ar-SA" altLang="en-US" sz="7100" dirty="0">
                <a:solidFill>
                  <a:srgbClr val="E03131"/>
                </a:solidFill>
                <a:latin typeface="Traditional Arabic" pitchFamily="34" charset="0"/>
                <a:ea typeface="Traditional Arabic" pitchFamily="34" charset="-122"/>
                <a:cs typeface="Traditional Arabic" pitchFamily="34" charset="-120"/>
              </a:rPr>
              <a:t>ا۟</a:t>
            </a:r>
            <a:r>
              <a:rPr lang="ar-SA" altLang="en-US" sz="7100" dirty="0">
                <a:solidFill>
                  <a:srgbClr val="16213E"/>
                </a:solidFill>
                <a:latin typeface="Traditional Arabic" pitchFamily="34" charset="0"/>
                <a:ea typeface="Traditional Arabic" pitchFamily="34" charset="-122"/>
                <a:cs typeface="Traditional Arabic" pitchFamily="34" charset="-120"/>
              </a:rPr>
              <a:t>يۡءٍ</a:t>
            </a:r>
            <a:endParaRPr lang="ar-SA" sz="7100" dirty="0"/>
          </a:p>
        </p:txBody>
      </p:sp>
      <p:sp>
        <p:nvSpPr>
          <p:cNvPr id="14" name="C2 arrow"/>
          <p:cNvSpPr/>
          <p:nvPr/>
        </p:nvSpPr>
        <p:spPr>
          <a:xfrm>
            <a:off x="4315968" y="2263140"/>
            <a:ext cx="512064" cy="457200"/>
          </a:xfrm>
          <a:prstGeom prst="leftArrow">
            <a:avLst/>
          </a:prstGeom>
          <a:solidFill>
            <a:srgbClr val="2E6DB8"/>
          </a:solidFill>
          <a:ln w="12700">
            <a:solidFill>
              <a:srgbClr val="333333"/>
            </a:solidFill>
            <a:prstDash val="solid"/>
          </a:ln>
        </p:spPr>
      </p:sp>
      <p:sp>
        <p:nvSpPr>
          <p:cNvPr id="15" name="Panel read"/>
          <p:cNvSpPr/>
          <p:nvPr/>
        </p:nvSpPr>
        <p:spPr>
          <a:xfrm>
            <a:off x="365760" y="1554480"/>
            <a:ext cx="3886200" cy="1874520"/>
          </a:xfrm>
          <a:prstGeom prst="roundRect">
            <a:avLst>
              <a:gd name="adj" fmla="val 12195"/>
            </a:avLst>
          </a:prstGeom>
          <a:solidFill>
            <a:srgbClr val="FFFBE3"/>
          </a:solidFill>
          <a:ln w="88900">
            <a:solidFill>
              <a:srgbClr val="F2B134"/>
            </a:solidFill>
            <a:prstDash val="solid"/>
          </a:ln>
        </p:spPr>
      </p:sp>
      <p:sp>
        <p:nvSpPr>
          <p:cNvPr id="16" name="C2 read"/>
          <p:cNvSpPr txBox="1"/>
          <p:nvPr/>
        </p:nvSpPr>
        <p:spPr>
          <a:xfrm>
            <a:off x="365760" y="1491691"/>
            <a:ext cx="3886200" cy="1237183"/>
          </a:xfrm>
          <a:prstGeom prst="rect">
            <a:avLst/>
          </a:prstGeom>
          <a:noFill/>
          <a:ln/>
        </p:spPr>
        <p:txBody>
          <a:bodyPr wrap="none" lIns="0" tIns="0" rIns="0" bIns="0" rtlCol="0" anchor="ctr"/>
          <a:lstStyle/>
          <a:p>
            <a:pPr algn="ctr" indent="0" marL="0">
              <a:buNone/>
            </a:pPr>
            <a:r>
              <a:rPr lang="ar-SA" altLang="en-US" sz="4800" dirty="0">
                <a:solidFill>
                  <a:srgbClr val="16213E"/>
                </a:solidFill>
                <a:latin typeface="Traditional Arabic" pitchFamily="34" charset="0"/>
                <a:ea typeface="Traditional Arabic" pitchFamily="34" charset="-122"/>
                <a:cs typeface="Traditional Arabic" pitchFamily="34" charset="-120"/>
              </a:rPr>
              <a:t>لِشَيۡءٍ</a:t>
            </a:r>
            <a:endParaRPr lang="ar-SA" sz="4800" dirty="0"/>
          </a:p>
        </p:txBody>
      </p:sp>
      <p:sp>
        <p:nvSpPr>
          <p:cNvPr id="17" name="C2 sounds"/>
          <p:cNvSpPr/>
          <p:nvPr/>
        </p:nvSpPr>
        <p:spPr>
          <a:xfrm>
            <a:off x="502920" y="2763215"/>
            <a:ext cx="3611880" cy="582473"/>
          </a:xfrm>
          <a:prstGeom prst="rect">
            <a:avLst/>
          </a:prstGeom>
          <a:noFill/>
          <a:ln/>
        </p:spPr>
        <p:txBody>
          <a:bodyPr wrap="square" lIns="0" tIns="0" rIns="0" bIns="0" rtlCol="0" anchor="ctr"/>
          <a:lstStyle/>
          <a:p>
            <a:pPr algn="ctr" indent="0" marL="0">
              <a:buNone/>
            </a:pPr>
            <a:r>
              <a:rPr lang="en-US" sz="2800" b="1" dirty="0">
                <a:solidFill>
                  <a:srgbClr val="D9480F"/>
                </a:solidFill>
                <a:latin typeface="Arial" pitchFamily="34" charset="0"/>
                <a:ea typeface="Arial" pitchFamily="34" charset="-122"/>
                <a:cs typeface="Arial" pitchFamily="34" charset="-120"/>
              </a:rPr>
              <a:t>li-shay-'in</a:t>
            </a:r>
            <a:endParaRPr lang="en-US" sz="2800" dirty="0"/>
          </a:p>
        </p:txBody>
      </p:sp>
      <p:sp>
        <p:nvSpPr>
          <p:cNvPr id="18" name="C3 tip box"/>
          <p:cNvSpPr/>
          <p:nvPr/>
        </p:nvSpPr>
        <p:spPr>
          <a:xfrm>
            <a:off x="365760" y="3566160"/>
            <a:ext cx="8412480" cy="685800"/>
          </a:xfrm>
          <a:prstGeom prst="roundRect">
            <a:avLst>
              <a:gd name="adj" fmla="val 26667"/>
            </a:avLst>
          </a:prstGeom>
          <a:solidFill>
            <a:srgbClr val="C2255C"/>
          </a:solidFill>
          <a:ln w="12700">
            <a:solidFill>
              <a:srgbClr val="333333"/>
            </a:solidFill>
            <a:prstDash val="solid"/>
          </a:ln>
        </p:spPr>
      </p:sp>
      <p:sp>
        <p:nvSpPr>
          <p:cNvPr id="19" name="C3 tip"/>
          <p:cNvSpPr txBox="1"/>
          <p:nvPr/>
        </p:nvSpPr>
        <p:spPr>
          <a:xfrm>
            <a:off x="365760" y="3539744"/>
            <a:ext cx="8412480" cy="685800"/>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The alif in li-shay'in is not read</a:t>
            </a:r>
            <a:endParaRPr lang="en-US" sz="2600" dirty="0"/>
          </a:p>
        </p:txBody>
      </p:sp>
    </p:spTree>
  </p:cSld>
  <p:clrMapOvr>
    <a:masterClrMapping/>
  </p:clrMapOvr>
  <p:transition spd="med">
    <p:split orient="vert" dir="out"/>
    <p:sndAc>
      <p:stSnd>
        <p:snd r:embed="rIdTrSnd" name="whoosh.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350"/>
                                        <p:tgtEl>
                                          <p:spTgt spid="1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35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35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17" grpId="0" animBg="1"/>
      <p:bldP spid="18"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C5F7CD"/>
        </a:solidFill>
      </p:bgPr>
    </p:bg>
    <p:spTree>
      <p:nvGrpSpPr>
        <p:cNvPr id="1" name=""/>
        <p:cNvGrpSpPr/>
        <p:nvPr/>
      </p:nvGrpSpPr>
      <p:grpSpPr>
        <a:xfrm>
          <a:off x="0" y="0"/>
          <a:ext cx="0" cy="0"/>
          <a:chOff x="0" y="0"/>
          <a:chExt cx="0" cy="0"/>
        </a:xfrm>
      </p:grpSpPr>
      <p:sp>
        <p:nvSpPr>
          <p:cNvPr id="2" name="Deco hill left"/>
          <p:cNvSpPr/>
          <p:nvPr/>
        </p:nvSpPr>
        <p:spPr>
          <a:xfrm>
            <a:off x="-914400" y="4434840"/>
            <a:ext cx="4754880" cy="1463040"/>
          </a:xfrm>
          <a:prstGeom prst="ellipse">
            <a:avLst/>
          </a:prstGeom>
          <a:solidFill>
            <a:srgbClr val="6666CC"/>
          </a:solidFill>
          <a:ln w="12700">
            <a:solidFill>
              <a:srgbClr val="6666CC"/>
            </a:solidFill>
            <a:prstDash val="solid"/>
          </a:ln>
        </p:spPr>
      </p:sp>
      <p:sp>
        <p:nvSpPr>
          <p:cNvPr id="3" name="Deco hill right"/>
          <p:cNvSpPr/>
          <p:nvPr/>
        </p:nvSpPr>
        <p:spPr>
          <a:xfrm>
            <a:off x="4023360" y="4526280"/>
            <a:ext cx="5852160" cy="1463040"/>
          </a:xfrm>
          <a:prstGeom prst="ellipse">
            <a:avLst/>
          </a:prstGeom>
          <a:solidFill>
            <a:srgbClr val="6A40BF"/>
          </a:solidFill>
          <a:ln w="12700">
            <a:solidFill>
              <a:srgbClr val="6A40BF"/>
            </a:solidFill>
            <a:prstDash val="solid"/>
          </a:ln>
        </p:spPr>
      </p:sp>
      <p:sp>
        <p:nvSpPr>
          <p:cNvPr id="4" name="Deco sun"/>
          <p:cNvSpPr/>
          <p:nvPr/>
        </p:nvSpPr>
        <p:spPr>
          <a:xfrm>
            <a:off x="274320" y="91440"/>
            <a:ext cx="731520" cy="731520"/>
          </a:xfrm>
          <a:prstGeom prst="sun">
            <a:avLst/>
          </a:prstGeom>
          <a:solidFill>
            <a:srgbClr val="FFD23F"/>
          </a:solidFill>
          <a:ln w="12700">
            <a:solidFill>
              <a:srgbClr val="FFD23F"/>
            </a:solidFill>
            <a:prstDash val="solid"/>
          </a:ln>
        </p:spPr>
      </p:sp>
      <p:sp>
        <p:nvSpPr>
          <p:cNvPr id="5" name="Deco cloud"/>
          <p:cNvSpPr/>
          <p:nvPr/>
        </p:nvSpPr>
        <p:spPr>
          <a:xfrm>
            <a:off x="6858000" y="109728"/>
            <a:ext cx="1463040" cy="640080"/>
          </a:xfrm>
          <a:prstGeom prst="cloud">
            <a:avLst/>
          </a:prstGeom>
          <a:solidFill>
            <a:srgbClr val="FFFFFF"/>
          </a:solidFill>
          <a:ln w="12700">
            <a:solidFill>
              <a:srgbClr val="FFFFFF"/>
            </a:solidFill>
            <a:prstDash val="solid"/>
          </a:ln>
        </p:spPr>
      </p:sp>
      <p:sp>
        <p:nvSpPr>
          <p:cNvPr id="6" name="Deco cloud small"/>
          <p:cNvSpPr/>
          <p:nvPr/>
        </p:nvSpPr>
        <p:spPr>
          <a:xfrm>
            <a:off x="7863840" y="457200"/>
            <a:ext cx="822960" cy="365760"/>
          </a:xfrm>
          <a:prstGeom prst="cloud">
            <a:avLst/>
          </a:prstGeom>
          <a:solidFill>
            <a:srgbClr val="F4FAFF"/>
          </a:solidFill>
          <a:ln w="12700">
            <a:solidFill>
              <a:srgbClr val="F4FAFF"/>
            </a:solidFill>
            <a:prstDash val="solid"/>
          </a:ln>
        </p:spPr>
      </p:sp>
      <p:sp>
        <p:nvSpPr>
          <p:cNvPr id="7" name="Deco flower 0"/>
          <p:cNvSpPr/>
          <p:nvPr/>
        </p:nvSpPr>
        <p:spPr>
          <a:xfrm>
            <a:off x="1280160" y="4526280"/>
            <a:ext cx="292608" cy="292608"/>
          </a:xfrm>
          <a:prstGeom prst="star5">
            <a:avLst/>
          </a:prstGeom>
          <a:solidFill>
            <a:srgbClr val="FF7A90"/>
          </a:solidFill>
          <a:ln w="12700">
            <a:solidFill>
              <a:srgbClr val="FF7A90"/>
            </a:solidFill>
            <a:prstDash val="solid"/>
          </a:ln>
        </p:spPr>
      </p:sp>
      <p:sp>
        <p:nvSpPr>
          <p:cNvPr id="8" name="Deco flower 1"/>
          <p:cNvSpPr/>
          <p:nvPr/>
        </p:nvSpPr>
        <p:spPr>
          <a:xfrm>
            <a:off x="1828800" y="4526280"/>
            <a:ext cx="292608" cy="292608"/>
          </a:xfrm>
          <a:prstGeom prst="star5">
            <a:avLst/>
          </a:prstGeom>
          <a:solidFill>
            <a:srgbClr val="FFB347"/>
          </a:solidFill>
          <a:ln w="12700">
            <a:solidFill>
              <a:srgbClr val="FFB347"/>
            </a:solidFill>
            <a:prstDash val="solid"/>
          </a:ln>
        </p:spPr>
      </p:sp>
      <p:sp>
        <p:nvSpPr>
          <p:cNvPr id="9" name="Deco flower 2"/>
          <p:cNvSpPr/>
          <p:nvPr/>
        </p:nvSpPr>
        <p:spPr>
          <a:xfrm>
            <a:off x="7315200" y="4526280"/>
            <a:ext cx="292608" cy="292608"/>
          </a:xfrm>
          <a:prstGeom prst="star5">
            <a:avLst/>
          </a:prstGeom>
          <a:solidFill>
            <a:srgbClr val="8E5BD0"/>
          </a:solidFill>
          <a:ln w="12700">
            <a:solidFill>
              <a:srgbClr val="8E5BD0"/>
            </a:solidFill>
            <a:prstDash val="solid"/>
          </a:ln>
        </p:spPr>
      </p:sp>
      <p:sp>
        <p:nvSpPr>
          <p:cNvPr id="10" name="Deco flower 3"/>
          <p:cNvSpPr/>
          <p:nvPr/>
        </p:nvSpPr>
        <p:spPr>
          <a:xfrm>
            <a:off x="7955280" y="4526280"/>
            <a:ext cx="292608" cy="292608"/>
          </a:xfrm>
          <a:prstGeom prst="star5">
            <a:avLst/>
          </a:prstGeom>
          <a:solidFill>
            <a:srgbClr val="FF7A90"/>
          </a:solidFill>
          <a:ln w="12700">
            <a:solidFill>
              <a:srgbClr val="FF7A90"/>
            </a:solidFill>
            <a:prstDash val="solid"/>
          </a:ln>
        </p:spPr>
      </p:sp>
      <p:sp>
        <p:nvSpPr>
          <p:cNvPr id="11" name="Title box"/>
          <p:cNvSpPr/>
          <p:nvPr/>
        </p:nvSpPr>
        <p:spPr>
          <a:xfrm>
            <a:off x="365760" y="896112"/>
            <a:ext cx="8412480" cy="530352"/>
          </a:xfrm>
          <a:prstGeom prst="roundRect">
            <a:avLst>
              <a:gd name="adj" fmla="val 34483"/>
            </a:avLst>
          </a:prstGeom>
          <a:solidFill>
            <a:srgbClr val="C2255C"/>
          </a:solidFill>
          <a:ln w="12700">
            <a:solidFill>
              <a:srgbClr val="333333"/>
            </a:solidFill>
            <a:prstDash val="solid"/>
          </a:ln>
        </p:spPr>
      </p:sp>
      <p:sp>
        <p:nvSpPr>
          <p:cNvPr id="12" name="Title"/>
          <p:cNvSpPr txBox="1"/>
          <p:nvPr/>
        </p:nvSpPr>
        <p:spPr>
          <a:xfrm>
            <a:off x="365760" y="902716"/>
            <a:ext cx="8412480" cy="530352"/>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Small circle: never read</a:t>
            </a:r>
            <a:endParaRPr lang="en-US" sz="2600" dirty="0"/>
          </a:p>
        </p:txBody>
      </p:sp>
      <p:sp>
        <p:nvSpPr>
          <p:cNvPr id="13" name="Panel written"/>
          <p:cNvSpPr/>
          <p:nvPr/>
        </p:nvSpPr>
        <p:spPr>
          <a:xfrm>
            <a:off x="4892040" y="1554480"/>
            <a:ext cx="3886200" cy="1874520"/>
          </a:xfrm>
          <a:prstGeom prst="roundRect">
            <a:avLst>
              <a:gd name="adj" fmla="val 12195"/>
            </a:avLst>
          </a:prstGeom>
          <a:solidFill>
            <a:srgbClr val="FFFFFF"/>
          </a:solidFill>
          <a:ln w="88900">
            <a:solidFill>
              <a:srgbClr val="C2255C"/>
            </a:solidFill>
            <a:prstDash val="solid"/>
          </a:ln>
        </p:spPr>
      </p:sp>
      <p:sp>
        <p:nvSpPr>
          <p:cNvPr id="14" name="C1 written"/>
          <p:cNvSpPr txBox="1"/>
          <p:nvPr/>
        </p:nvSpPr>
        <p:spPr>
          <a:xfrm>
            <a:off x="4892040" y="1513732"/>
            <a:ext cx="3886200" cy="1874520"/>
          </a:xfrm>
          <a:prstGeom prst="rect">
            <a:avLst/>
          </a:prstGeom>
          <a:noFill/>
          <a:ln/>
        </p:spPr>
        <p:txBody>
          <a:bodyPr wrap="none" lIns="0" tIns="0" rIns="0" bIns="0" rtlCol="0" anchor="ctr"/>
          <a:lstStyle/>
          <a:p>
            <a:pPr algn="ctr" indent="0" marL="0">
              <a:buNone/>
            </a:pPr>
            <a:r>
              <a:rPr lang="ar-SA" altLang="en-US" sz="6900" dirty="0">
                <a:solidFill>
                  <a:srgbClr val="16213E"/>
                </a:solidFill>
                <a:latin typeface="Traditional Arabic" pitchFamily="34" charset="0"/>
                <a:ea typeface="Traditional Arabic" pitchFamily="34" charset="-122"/>
                <a:cs typeface="Traditional Arabic" pitchFamily="34" charset="-120"/>
              </a:rPr>
              <a:t>إِنَّ ثَمُودَ</a:t>
            </a:r>
            <a:r>
              <a:rPr lang="ar-SA" altLang="en-US" sz="6900" dirty="0">
                <a:solidFill>
                  <a:srgbClr val="E03131"/>
                </a:solidFill>
                <a:latin typeface="Traditional Arabic" pitchFamily="34" charset="0"/>
                <a:ea typeface="Traditional Arabic" pitchFamily="34" charset="-122"/>
                <a:cs typeface="Traditional Arabic" pitchFamily="34" charset="-120"/>
              </a:rPr>
              <a:t>ا۟</a:t>
            </a:r>
            <a:endParaRPr lang="ar-SA" sz="6900" dirty="0"/>
          </a:p>
        </p:txBody>
      </p:sp>
      <p:sp>
        <p:nvSpPr>
          <p:cNvPr id="15" name="C2 arrow"/>
          <p:cNvSpPr/>
          <p:nvPr/>
        </p:nvSpPr>
        <p:spPr>
          <a:xfrm>
            <a:off x="4315968" y="2263140"/>
            <a:ext cx="512064" cy="457200"/>
          </a:xfrm>
          <a:prstGeom prst="leftArrow">
            <a:avLst/>
          </a:prstGeom>
          <a:solidFill>
            <a:srgbClr val="B82E45"/>
          </a:solidFill>
          <a:ln w="12700">
            <a:solidFill>
              <a:srgbClr val="333333"/>
            </a:solidFill>
            <a:prstDash val="solid"/>
          </a:ln>
        </p:spPr>
      </p:sp>
      <p:sp>
        <p:nvSpPr>
          <p:cNvPr id="16" name="Panel read"/>
          <p:cNvSpPr/>
          <p:nvPr/>
        </p:nvSpPr>
        <p:spPr>
          <a:xfrm>
            <a:off x="365760" y="1554480"/>
            <a:ext cx="3886200" cy="1874520"/>
          </a:xfrm>
          <a:prstGeom prst="roundRect">
            <a:avLst>
              <a:gd name="adj" fmla="val 12195"/>
            </a:avLst>
          </a:prstGeom>
          <a:solidFill>
            <a:srgbClr val="FFFBE3"/>
          </a:solidFill>
          <a:ln w="88900">
            <a:solidFill>
              <a:srgbClr val="F2B134"/>
            </a:solidFill>
            <a:prstDash val="solid"/>
          </a:ln>
        </p:spPr>
      </p:sp>
      <p:sp>
        <p:nvSpPr>
          <p:cNvPr id="17" name="C2 read"/>
          <p:cNvSpPr txBox="1"/>
          <p:nvPr/>
        </p:nvSpPr>
        <p:spPr>
          <a:xfrm>
            <a:off x="365760" y="1508474"/>
            <a:ext cx="3886200" cy="1237183"/>
          </a:xfrm>
          <a:prstGeom prst="rect">
            <a:avLst/>
          </a:prstGeom>
          <a:noFill/>
          <a:ln/>
        </p:spPr>
        <p:txBody>
          <a:bodyPr wrap="none" lIns="0" tIns="0" rIns="0" bIns="0" rtlCol="0" anchor="ctr"/>
          <a:lstStyle/>
          <a:p>
            <a:pPr algn="ctr" indent="0" marL="0">
              <a:buNone/>
            </a:pPr>
            <a:r>
              <a:rPr lang="ar-SA" altLang="en-US" sz="4500" dirty="0">
                <a:solidFill>
                  <a:srgbClr val="16213E"/>
                </a:solidFill>
                <a:latin typeface="Traditional Arabic" pitchFamily="34" charset="0"/>
                <a:ea typeface="Traditional Arabic" pitchFamily="34" charset="-122"/>
                <a:cs typeface="Traditional Arabic" pitchFamily="34" charset="-120"/>
              </a:rPr>
              <a:t>إِنَّ ثَمُودَ</a:t>
            </a:r>
            <a:endParaRPr lang="ar-SA" sz="4500" dirty="0"/>
          </a:p>
        </p:txBody>
      </p:sp>
      <p:sp>
        <p:nvSpPr>
          <p:cNvPr id="18" name="C2 sounds"/>
          <p:cNvSpPr/>
          <p:nvPr/>
        </p:nvSpPr>
        <p:spPr>
          <a:xfrm>
            <a:off x="502920" y="2798775"/>
            <a:ext cx="3611880" cy="582473"/>
          </a:xfrm>
          <a:prstGeom prst="rect">
            <a:avLst/>
          </a:prstGeom>
          <a:noFill/>
          <a:ln/>
        </p:spPr>
        <p:txBody>
          <a:bodyPr wrap="square" lIns="0" tIns="0" rIns="0" bIns="0" rtlCol="0" anchor="ctr"/>
          <a:lstStyle/>
          <a:p>
            <a:pPr algn="ctr" indent="0" marL="0">
              <a:buNone/>
            </a:pPr>
            <a:r>
              <a:rPr lang="en-US" sz="2800" b="1" dirty="0">
                <a:solidFill>
                  <a:srgbClr val="D9480F"/>
                </a:solidFill>
                <a:latin typeface="Arial" pitchFamily="34" charset="0"/>
                <a:ea typeface="Arial" pitchFamily="34" charset="-122"/>
                <a:cs typeface="Arial" pitchFamily="34" charset="-120"/>
              </a:rPr>
              <a:t>in-na tha-moo-da</a:t>
            </a:r>
            <a:endParaRPr lang="en-US" sz="2800" dirty="0"/>
          </a:p>
        </p:txBody>
      </p:sp>
      <p:sp>
        <p:nvSpPr>
          <p:cNvPr id="19" name="C3 tip box"/>
          <p:cNvSpPr/>
          <p:nvPr/>
        </p:nvSpPr>
        <p:spPr>
          <a:xfrm>
            <a:off x="365760" y="3566160"/>
            <a:ext cx="8412480" cy="685800"/>
          </a:xfrm>
          <a:prstGeom prst="roundRect">
            <a:avLst>
              <a:gd name="adj" fmla="val 26667"/>
            </a:avLst>
          </a:prstGeom>
          <a:solidFill>
            <a:srgbClr val="C2255C"/>
          </a:solidFill>
          <a:ln w="12700">
            <a:solidFill>
              <a:srgbClr val="333333"/>
            </a:solidFill>
            <a:prstDash val="solid"/>
          </a:ln>
        </p:spPr>
      </p:sp>
      <p:sp>
        <p:nvSpPr>
          <p:cNvPr id="20" name="C3 tip"/>
          <p:cNvSpPr txBox="1"/>
          <p:nvPr/>
        </p:nvSpPr>
        <p:spPr>
          <a:xfrm>
            <a:off x="365760" y="3572764"/>
            <a:ext cx="8412480" cy="685800"/>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The alif of Thamooda is not read</a:t>
            </a:r>
            <a:endParaRPr lang="en-US" sz="2600" dirty="0"/>
          </a:p>
        </p:txBody>
      </p:sp>
    </p:spTree>
  </p:cSld>
  <p:clrMapOvr>
    <a:masterClrMapping/>
  </p:clrMapOvr>
  <p:transition spd="med">
    <p:pull dir="l"/>
    <p:sndAc>
      <p:stSnd>
        <p:snd r:embed="rIdTrSnd" name="bubbles.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35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35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35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35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7" grpId="0" animBg="1"/>
      <p:bldP spid="18" grpId="0" animBg="1"/>
      <p:bldP spid="19" grpId="0" animBg="1"/>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91443"/>
        </a:solidFill>
      </p:bgPr>
    </p:bg>
    <p:spTree>
      <p:nvGrpSpPr>
        <p:cNvPr id="1" name=""/>
        <p:cNvGrpSpPr/>
        <p:nvPr/>
      </p:nvGrpSpPr>
      <p:grpSpPr>
        <a:xfrm>
          <a:off x="0" y="0"/>
          <a:ext cx="0" cy="0"/>
          <a:chOff x="0" y="0"/>
          <a:chExt cx="0" cy="0"/>
        </a:xfrm>
      </p:grpSpPr>
      <p:sp>
        <p:nvSpPr>
          <p:cNvPr id="2" name="Deco moon"/>
          <p:cNvSpPr/>
          <p:nvPr/>
        </p:nvSpPr>
        <p:spPr>
          <a:xfrm>
            <a:off x="365760" y="91440"/>
            <a:ext cx="502920" cy="731520"/>
          </a:xfrm>
          <a:prstGeom prst="moon">
            <a:avLst/>
          </a:prstGeom>
          <a:solidFill>
            <a:srgbClr val="FFE88A"/>
          </a:solidFill>
          <a:ln w="12700">
            <a:solidFill>
              <a:srgbClr val="FFE88A"/>
            </a:solidFill>
            <a:prstDash val="solid"/>
          </a:ln>
        </p:spPr>
      </p:sp>
      <p:sp>
        <p:nvSpPr>
          <p:cNvPr id="3" name="Deco star 0"/>
          <p:cNvSpPr/>
          <p:nvPr/>
        </p:nvSpPr>
        <p:spPr>
          <a:xfrm>
            <a:off x="1280160" y="182880"/>
            <a:ext cx="365760" cy="365760"/>
          </a:xfrm>
          <a:prstGeom prst="star5">
            <a:avLst/>
          </a:prstGeom>
          <a:solidFill>
            <a:srgbClr val="FFF3A3"/>
          </a:solidFill>
          <a:ln w="12700">
            <a:solidFill>
              <a:srgbClr val="FFF3A3"/>
            </a:solidFill>
            <a:prstDash val="solid"/>
          </a:ln>
        </p:spPr>
      </p:sp>
      <p:sp>
        <p:nvSpPr>
          <p:cNvPr id="4" name="Deco star 1"/>
          <p:cNvSpPr/>
          <p:nvPr/>
        </p:nvSpPr>
        <p:spPr>
          <a:xfrm>
            <a:off x="2194560" y="502920"/>
            <a:ext cx="274320" cy="274320"/>
          </a:xfrm>
          <a:prstGeom prst="star4">
            <a:avLst/>
          </a:prstGeom>
          <a:solidFill>
            <a:srgbClr val="FFF3A3"/>
          </a:solidFill>
          <a:ln w="12700">
            <a:solidFill>
              <a:srgbClr val="FFF3A3"/>
            </a:solidFill>
            <a:prstDash val="solid"/>
          </a:ln>
        </p:spPr>
      </p:sp>
      <p:sp>
        <p:nvSpPr>
          <p:cNvPr id="5" name="Deco star 2"/>
          <p:cNvSpPr/>
          <p:nvPr/>
        </p:nvSpPr>
        <p:spPr>
          <a:xfrm>
            <a:off x="3291840" y="137160"/>
            <a:ext cx="274320" cy="274320"/>
          </a:xfrm>
          <a:prstGeom prst="star5">
            <a:avLst/>
          </a:prstGeom>
          <a:solidFill>
            <a:srgbClr val="FFF3A3"/>
          </a:solidFill>
          <a:ln w="12700">
            <a:solidFill>
              <a:srgbClr val="FFF3A3"/>
            </a:solidFill>
            <a:prstDash val="solid"/>
          </a:ln>
        </p:spPr>
      </p:sp>
      <p:sp>
        <p:nvSpPr>
          <p:cNvPr id="6" name="Deco star 3"/>
          <p:cNvSpPr/>
          <p:nvPr/>
        </p:nvSpPr>
        <p:spPr>
          <a:xfrm>
            <a:off x="5760720" y="457200"/>
            <a:ext cx="365760" cy="365760"/>
          </a:xfrm>
          <a:prstGeom prst="star4">
            <a:avLst/>
          </a:prstGeom>
          <a:solidFill>
            <a:srgbClr val="FFF3A3"/>
          </a:solidFill>
          <a:ln w="12700">
            <a:solidFill>
              <a:srgbClr val="FFF3A3"/>
            </a:solidFill>
            <a:prstDash val="solid"/>
          </a:ln>
        </p:spPr>
      </p:sp>
      <p:sp>
        <p:nvSpPr>
          <p:cNvPr id="7" name="Deco star 4"/>
          <p:cNvSpPr/>
          <p:nvPr/>
        </p:nvSpPr>
        <p:spPr>
          <a:xfrm>
            <a:off x="6766560" y="109728"/>
            <a:ext cx="274320" cy="274320"/>
          </a:xfrm>
          <a:prstGeom prst="star5">
            <a:avLst/>
          </a:prstGeom>
          <a:solidFill>
            <a:srgbClr val="FFF3A3"/>
          </a:solidFill>
          <a:ln w="12700">
            <a:solidFill>
              <a:srgbClr val="FFF3A3"/>
            </a:solidFill>
            <a:prstDash val="solid"/>
          </a:ln>
        </p:spPr>
      </p:sp>
      <p:sp>
        <p:nvSpPr>
          <p:cNvPr id="8" name="Deco star 5"/>
          <p:cNvSpPr/>
          <p:nvPr/>
        </p:nvSpPr>
        <p:spPr>
          <a:xfrm>
            <a:off x="7772400" y="411480"/>
            <a:ext cx="274320" cy="274320"/>
          </a:xfrm>
          <a:prstGeom prst="star4">
            <a:avLst/>
          </a:prstGeom>
          <a:solidFill>
            <a:srgbClr val="FFF3A3"/>
          </a:solidFill>
          <a:ln w="12700">
            <a:solidFill>
              <a:srgbClr val="FFF3A3"/>
            </a:solidFill>
            <a:prstDash val="solid"/>
          </a:ln>
        </p:spPr>
      </p:sp>
      <p:sp>
        <p:nvSpPr>
          <p:cNvPr id="9" name="Deco star 6"/>
          <p:cNvSpPr/>
          <p:nvPr/>
        </p:nvSpPr>
        <p:spPr>
          <a:xfrm>
            <a:off x="8503920" y="137160"/>
            <a:ext cx="365760" cy="365760"/>
          </a:xfrm>
          <a:prstGeom prst="star5">
            <a:avLst/>
          </a:prstGeom>
          <a:solidFill>
            <a:srgbClr val="FFF3A3"/>
          </a:solidFill>
          <a:ln w="12700">
            <a:solidFill>
              <a:srgbClr val="FFF3A3"/>
            </a:solidFill>
            <a:prstDash val="solid"/>
          </a:ln>
        </p:spPr>
      </p:sp>
      <p:sp>
        <p:nvSpPr>
          <p:cNvPr id="10" name="Deco hill left"/>
          <p:cNvSpPr/>
          <p:nvPr/>
        </p:nvSpPr>
        <p:spPr>
          <a:xfrm>
            <a:off x="-914400" y="4480560"/>
            <a:ext cx="4937760" cy="1463040"/>
          </a:xfrm>
          <a:prstGeom prst="ellipse">
            <a:avLst/>
          </a:prstGeom>
          <a:solidFill>
            <a:srgbClr val="622B64"/>
          </a:solidFill>
          <a:ln w="12700">
            <a:solidFill>
              <a:srgbClr val="622B64"/>
            </a:solidFill>
            <a:prstDash val="solid"/>
          </a:ln>
        </p:spPr>
      </p:sp>
      <p:sp>
        <p:nvSpPr>
          <p:cNvPr id="11" name="Deco hill right"/>
          <p:cNvSpPr/>
          <p:nvPr/>
        </p:nvSpPr>
        <p:spPr>
          <a:xfrm>
            <a:off x="4206240" y="4572000"/>
            <a:ext cx="5669280" cy="1463040"/>
          </a:xfrm>
          <a:prstGeom prst="ellipse">
            <a:avLst/>
          </a:prstGeom>
          <a:solidFill>
            <a:srgbClr val="79345A"/>
          </a:solidFill>
          <a:ln w="12700">
            <a:solidFill>
              <a:srgbClr val="79345A"/>
            </a:solidFill>
            <a:prstDash val="solid"/>
          </a:ln>
        </p:spPr>
      </p:sp>
      <p:sp>
        <p:nvSpPr>
          <p:cNvPr id="12" name="Title box"/>
          <p:cNvSpPr/>
          <p:nvPr/>
        </p:nvSpPr>
        <p:spPr>
          <a:xfrm>
            <a:off x="365760" y="896112"/>
            <a:ext cx="8412480" cy="530352"/>
          </a:xfrm>
          <a:prstGeom prst="roundRect">
            <a:avLst>
              <a:gd name="adj" fmla="val 34483"/>
            </a:avLst>
          </a:prstGeom>
          <a:solidFill>
            <a:srgbClr val="C2255C"/>
          </a:solidFill>
          <a:ln w="12700">
            <a:solidFill>
              <a:srgbClr val="333333"/>
            </a:solidFill>
            <a:prstDash val="solid"/>
          </a:ln>
        </p:spPr>
      </p:sp>
      <p:sp>
        <p:nvSpPr>
          <p:cNvPr id="13" name="Title"/>
          <p:cNvSpPr txBox="1"/>
          <p:nvPr/>
        </p:nvSpPr>
        <p:spPr>
          <a:xfrm>
            <a:off x="365760" y="902716"/>
            <a:ext cx="8412480" cy="530352"/>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Small circle: never read</a:t>
            </a:r>
            <a:endParaRPr lang="en-US" sz="2600" dirty="0"/>
          </a:p>
        </p:txBody>
      </p:sp>
      <p:sp>
        <p:nvSpPr>
          <p:cNvPr id="14" name="Panel written"/>
          <p:cNvSpPr/>
          <p:nvPr/>
        </p:nvSpPr>
        <p:spPr>
          <a:xfrm>
            <a:off x="4892040" y="1554480"/>
            <a:ext cx="3886200" cy="1874520"/>
          </a:xfrm>
          <a:prstGeom prst="roundRect">
            <a:avLst>
              <a:gd name="adj" fmla="val 12195"/>
            </a:avLst>
          </a:prstGeom>
          <a:solidFill>
            <a:srgbClr val="FFFFFF"/>
          </a:solidFill>
          <a:ln w="88900">
            <a:solidFill>
              <a:srgbClr val="C2255C"/>
            </a:solidFill>
            <a:prstDash val="solid"/>
          </a:ln>
        </p:spPr>
      </p:sp>
      <p:sp>
        <p:nvSpPr>
          <p:cNvPr id="15" name="C1 written"/>
          <p:cNvSpPr txBox="1"/>
          <p:nvPr/>
        </p:nvSpPr>
        <p:spPr>
          <a:xfrm>
            <a:off x="4892040" y="1611056"/>
            <a:ext cx="3886200" cy="1874520"/>
          </a:xfrm>
          <a:prstGeom prst="rect">
            <a:avLst/>
          </a:prstGeom>
          <a:noFill/>
          <a:ln/>
        </p:spPr>
        <p:txBody>
          <a:bodyPr wrap="none" lIns="0" tIns="0" rIns="0" bIns="0" rtlCol="0" anchor="ctr"/>
          <a:lstStyle/>
          <a:p>
            <a:pPr algn="ctr" indent="0" marL="0">
              <a:buNone/>
            </a:pPr>
            <a:r>
              <a:rPr lang="ar-SA" altLang="en-US" sz="7000" dirty="0">
                <a:solidFill>
                  <a:srgbClr val="16213E"/>
                </a:solidFill>
                <a:latin typeface="Traditional Arabic" pitchFamily="34" charset="0"/>
                <a:ea typeface="Traditional Arabic" pitchFamily="34" charset="-122"/>
                <a:cs typeface="Traditional Arabic" pitchFamily="34" charset="-120"/>
              </a:rPr>
              <a:t>بِأَيۡ</a:t>
            </a:r>
            <a:r>
              <a:rPr lang="ar-SA" altLang="en-US" sz="7000" dirty="0">
                <a:solidFill>
                  <a:srgbClr val="E03131"/>
                </a:solidFill>
                <a:latin typeface="Traditional Arabic" pitchFamily="34" charset="0"/>
                <a:ea typeface="Traditional Arabic" pitchFamily="34" charset="-122"/>
                <a:cs typeface="Traditional Arabic" pitchFamily="34" charset="-120"/>
              </a:rPr>
              <a:t>ي۟</a:t>
            </a:r>
            <a:r>
              <a:rPr lang="ar-SA" altLang="en-US" sz="7000" dirty="0">
                <a:solidFill>
                  <a:srgbClr val="16213E"/>
                </a:solidFill>
                <a:latin typeface="Traditional Arabic" pitchFamily="34" charset="0"/>
                <a:ea typeface="Traditional Arabic" pitchFamily="34" charset="-122"/>
                <a:cs typeface="Traditional Arabic" pitchFamily="34" charset="-120"/>
              </a:rPr>
              <a:t>دٍ</a:t>
            </a:r>
            <a:endParaRPr lang="ar-SA" sz="7000" dirty="0"/>
          </a:p>
        </p:txBody>
      </p:sp>
      <p:sp>
        <p:nvSpPr>
          <p:cNvPr id="16" name="C2 arrow"/>
          <p:cNvSpPr/>
          <p:nvPr/>
        </p:nvSpPr>
        <p:spPr>
          <a:xfrm>
            <a:off x="4315968" y="2263140"/>
            <a:ext cx="512064" cy="457200"/>
          </a:xfrm>
          <a:prstGeom prst="leftArrow">
            <a:avLst/>
          </a:prstGeom>
          <a:solidFill>
            <a:srgbClr val="2EB83F"/>
          </a:solidFill>
          <a:ln w="12700">
            <a:solidFill>
              <a:srgbClr val="333333"/>
            </a:solidFill>
            <a:prstDash val="solid"/>
          </a:ln>
        </p:spPr>
      </p:sp>
      <p:sp>
        <p:nvSpPr>
          <p:cNvPr id="17" name="Panel read"/>
          <p:cNvSpPr/>
          <p:nvPr/>
        </p:nvSpPr>
        <p:spPr>
          <a:xfrm>
            <a:off x="365760" y="1554480"/>
            <a:ext cx="3886200" cy="1874520"/>
          </a:xfrm>
          <a:prstGeom prst="roundRect">
            <a:avLst>
              <a:gd name="adj" fmla="val 12195"/>
            </a:avLst>
          </a:prstGeom>
          <a:solidFill>
            <a:srgbClr val="FFFBE3"/>
          </a:solidFill>
          <a:ln w="88900">
            <a:solidFill>
              <a:srgbClr val="F2B134"/>
            </a:solidFill>
            <a:prstDash val="solid"/>
          </a:ln>
        </p:spPr>
      </p:sp>
      <p:sp>
        <p:nvSpPr>
          <p:cNvPr id="18" name="C2 read"/>
          <p:cNvSpPr txBox="1"/>
          <p:nvPr/>
        </p:nvSpPr>
        <p:spPr>
          <a:xfrm>
            <a:off x="365760" y="1588426"/>
            <a:ext cx="3886200" cy="1237183"/>
          </a:xfrm>
          <a:prstGeom prst="rect">
            <a:avLst/>
          </a:prstGeom>
          <a:noFill/>
          <a:ln/>
        </p:spPr>
        <p:txBody>
          <a:bodyPr wrap="none" lIns="0" tIns="0" rIns="0" bIns="0" rtlCol="0" anchor="ctr"/>
          <a:lstStyle/>
          <a:p>
            <a:pPr algn="ctr" indent="0" marL="0">
              <a:buNone/>
            </a:pPr>
            <a:r>
              <a:rPr lang="ar-SA" altLang="en-US" sz="4200" dirty="0">
                <a:solidFill>
                  <a:srgbClr val="16213E"/>
                </a:solidFill>
                <a:latin typeface="Traditional Arabic" pitchFamily="34" charset="0"/>
                <a:ea typeface="Traditional Arabic" pitchFamily="34" charset="-122"/>
                <a:cs typeface="Traditional Arabic" pitchFamily="34" charset="-120"/>
              </a:rPr>
              <a:t>بِأَيۡدٍ</a:t>
            </a:r>
            <a:endParaRPr lang="ar-SA" sz="4200" dirty="0"/>
          </a:p>
        </p:txBody>
      </p:sp>
      <p:sp>
        <p:nvSpPr>
          <p:cNvPr id="19" name="C2 sounds"/>
          <p:cNvSpPr/>
          <p:nvPr/>
        </p:nvSpPr>
        <p:spPr>
          <a:xfrm>
            <a:off x="502920" y="2763215"/>
            <a:ext cx="3611880" cy="582473"/>
          </a:xfrm>
          <a:prstGeom prst="rect">
            <a:avLst/>
          </a:prstGeom>
          <a:noFill/>
          <a:ln/>
        </p:spPr>
        <p:txBody>
          <a:bodyPr wrap="square" lIns="0" tIns="0" rIns="0" bIns="0" rtlCol="0" anchor="ctr"/>
          <a:lstStyle/>
          <a:p>
            <a:pPr algn="ctr" indent="0" marL="0">
              <a:buNone/>
            </a:pPr>
            <a:r>
              <a:rPr lang="en-US" sz="2800" b="1" dirty="0">
                <a:solidFill>
                  <a:srgbClr val="D9480F"/>
                </a:solidFill>
                <a:latin typeface="Arial" pitchFamily="34" charset="0"/>
                <a:ea typeface="Arial" pitchFamily="34" charset="-122"/>
                <a:cs typeface="Arial" pitchFamily="34" charset="-120"/>
              </a:rPr>
              <a:t>bi-ay-din</a:t>
            </a:r>
            <a:endParaRPr lang="en-US" sz="2800" dirty="0"/>
          </a:p>
        </p:txBody>
      </p:sp>
      <p:sp>
        <p:nvSpPr>
          <p:cNvPr id="20" name="C3 tip box"/>
          <p:cNvSpPr/>
          <p:nvPr/>
        </p:nvSpPr>
        <p:spPr>
          <a:xfrm>
            <a:off x="365760" y="3566160"/>
            <a:ext cx="8412480" cy="685800"/>
          </a:xfrm>
          <a:prstGeom prst="roundRect">
            <a:avLst>
              <a:gd name="adj" fmla="val 26667"/>
            </a:avLst>
          </a:prstGeom>
          <a:solidFill>
            <a:srgbClr val="C2255C"/>
          </a:solidFill>
          <a:ln w="12700">
            <a:solidFill>
              <a:srgbClr val="333333"/>
            </a:solidFill>
            <a:prstDash val="solid"/>
          </a:ln>
        </p:spPr>
      </p:sp>
      <p:sp>
        <p:nvSpPr>
          <p:cNvPr id="21" name="C3 tip"/>
          <p:cNvSpPr txBox="1"/>
          <p:nvPr/>
        </p:nvSpPr>
        <p:spPr>
          <a:xfrm>
            <a:off x="365760" y="3539744"/>
            <a:ext cx="8412480" cy="685800"/>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The second yaa of bi-aydin is not read</a:t>
            </a:r>
            <a:endParaRPr lang="en-US" sz="2600" dirty="0"/>
          </a:p>
        </p:txBody>
      </p:sp>
    </p:spTree>
  </p:cSld>
  <p:clrMapOvr>
    <a:masterClrMapping/>
  </p:clrMapOvr>
  <p:transition spd="med">
    <p:fade/>
    <p:sndAc>
      <p:stSnd>
        <p:snd r:embed="rIdTrSnd" name="sparkle.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35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35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35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35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8" grpId="0" animBg="1"/>
      <p:bldP spid="19" grpId="0" animBg="1"/>
      <p:bldP spid="20" grpId="0" animBg="1"/>
      <p:bldP spid="2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EAC5"/>
        </a:solidFill>
      </p:bgPr>
    </p:bg>
    <p:spTree>
      <p:nvGrpSpPr>
        <p:cNvPr id="1" name=""/>
        <p:cNvGrpSpPr/>
        <p:nvPr/>
      </p:nvGrpSpPr>
      <p:grpSpPr>
        <a:xfrm>
          <a:off x="0" y="0"/>
          <a:ext cx="0" cy="0"/>
          <a:chOff x="0" y="0"/>
          <a:chExt cx="0" cy="0"/>
        </a:xfrm>
      </p:grpSpPr>
      <p:sp>
        <p:nvSpPr>
          <p:cNvPr id="2" name="Deco wave back"/>
          <p:cNvSpPr/>
          <p:nvPr/>
        </p:nvSpPr>
        <p:spPr>
          <a:xfrm>
            <a:off x="-182880" y="4389120"/>
            <a:ext cx="9509760" cy="548640"/>
          </a:xfrm>
          <a:prstGeom prst="wave">
            <a:avLst/>
          </a:prstGeom>
          <a:solidFill>
            <a:srgbClr val="5C70D6"/>
          </a:solidFill>
          <a:ln w="12700">
            <a:solidFill>
              <a:srgbClr val="5C70D6"/>
            </a:solidFill>
            <a:prstDash val="solid"/>
          </a:ln>
        </p:spPr>
      </p:sp>
      <p:sp>
        <p:nvSpPr>
          <p:cNvPr id="3" name="Deco sea floor"/>
          <p:cNvSpPr/>
          <p:nvPr/>
        </p:nvSpPr>
        <p:spPr>
          <a:xfrm>
            <a:off x="0" y="4709160"/>
            <a:ext cx="9144000" cy="457200"/>
          </a:xfrm>
          <a:prstGeom prst="rect">
            <a:avLst/>
          </a:prstGeom>
          <a:solidFill>
            <a:srgbClr val="3340CC"/>
          </a:solidFill>
          <a:ln w="12700">
            <a:solidFill>
              <a:srgbClr val="3340CC"/>
            </a:solidFill>
            <a:prstDash val="solid"/>
          </a:ln>
        </p:spPr>
      </p:sp>
      <p:sp>
        <p:nvSpPr>
          <p:cNvPr id="4" name="Deco bubble 0"/>
          <p:cNvSpPr/>
          <p:nvPr/>
        </p:nvSpPr>
        <p:spPr>
          <a:xfrm>
            <a:off x="365760" y="182880"/>
            <a:ext cx="411480" cy="411480"/>
          </a:xfrm>
          <a:prstGeom prst="ellipse">
            <a:avLst/>
          </a:prstGeom>
          <a:solidFill>
            <a:srgbClr val="FFFFFF">
              <a:alpha val="55000"/>
            </a:srgbClr>
          </a:solidFill>
          <a:ln w="19050">
            <a:solidFill>
              <a:srgbClr val="FFFFFF"/>
            </a:solidFill>
            <a:prstDash val="solid"/>
          </a:ln>
        </p:spPr>
      </p:sp>
      <p:sp>
        <p:nvSpPr>
          <p:cNvPr id="5" name="Deco bubble 1"/>
          <p:cNvSpPr/>
          <p:nvPr/>
        </p:nvSpPr>
        <p:spPr>
          <a:xfrm>
            <a:off x="914400" y="502920"/>
            <a:ext cx="256032" cy="256032"/>
          </a:xfrm>
          <a:prstGeom prst="ellipse">
            <a:avLst/>
          </a:prstGeom>
          <a:solidFill>
            <a:srgbClr val="FFFFFF">
              <a:alpha val="55000"/>
            </a:srgbClr>
          </a:solidFill>
          <a:ln w="19050">
            <a:solidFill>
              <a:srgbClr val="FFFFFF"/>
            </a:solidFill>
            <a:prstDash val="solid"/>
          </a:ln>
        </p:spPr>
      </p:sp>
      <p:sp>
        <p:nvSpPr>
          <p:cNvPr id="6" name="Deco bubble 2"/>
          <p:cNvSpPr/>
          <p:nvPr/>
        </p:nvSpPr>
        <p:spPr>
          <a:xfrm>
            <a:off x="8138160" y="137160"/>
            <a:ext cx="457200" cy="457200"/>
          </a:xfrm>
          <a:prstGeom prst="ellipse">
            <a:avLst/>
          </a:prstGeom>
          <a:solidFill>
            <a:srgbClr val="FFFFFF">
              <a:alpha val="55000"/>
            </a:srgbClr>
          </a:solidFill>
          <a:ln w="19050">
            <a:solidFill>
              <a:srgbClr val="FFFFFF"/>
            </a:solidFill>
            <a:prstDash val="solid"/>
          </a:ln>
        </p:spPr>
      </p:sp>
      <p:sp>
        <p:nvSpPr>
          <p:cNvPr id="7" name="Deco bubble 3"/>
          <p:cNvSpPr/>
          <p:nvPr/>
        </p:nvSpPr>
        <p:spPr>
          <a:xfrm>
            <a:off x="7680960" y="548640"/>
            <a:ext cx="228600" cy="228600"/>
          </a:xfrm>
          <a:prstGeom prst="ellipse">
            <a:avLst/>
          </a:prstGeom>
          <a:solidFill>
            <a:srgbClr val="FFFFFF">
              <a:alpha val="55000"/>
            </a:srgbClr>
          </a:solidFill>
          <a:ln w="19050">
            <a:solidFill>
              <a:srgbClr val="FFFFFF"/>
            </a:solidFill>
            <a:prstDash val="solid"/>
          </a:ln>
        </p:spPr>
      </p:sp>
      <p:sp>
        <p:nvSpPr>
          <p:cNvPr id="8" name="Deco bubble 4"/>
          <p:cNvSpPr/>
          <p:nvPr/>
        </p:nvSpPr>
        <p:spPr>
          <a:xfrm>
            <a:off x="8686800" y="566928"/>
            <a:ext cx="182880" cy="182880"/>
          </a:xfrm>
          <a:prstGeom prst="ellipse">
            <a:avLst/>
          </a:prstGeom>
          <a:solidFill>
            <a:srgbClr val="FFFFFF">
              <a:alpha val="55000"/>
            </a:srgbClr>
          </a:solidFill>
          <a:ln w="19050">
            <a:solidFill>
              <a:srgbClr val="FFFFFF"/>
            </a:solidFill>
            <a:prstDash val="solid"/>
          </a:ln>
        </p:spPr>
      </p:sp>
      <p:sp>
        <p:nvSpPr>
          <p:cNvPr id="9" name="Deco sun"/>
          <p:cNvSpPr/>
          <p:nvPr/>
        </p:nvSpPr>
        <p:spPr>
          <a:xfrm>
            <a:off x="4206240" y="109728"/>
            <a:ext cx="685800" cy="685800"/>
          </a:xfrm>
          <a:prstGeom prst="sun">
            <a:avLst/>
          </a:prstGeom>
          <a:solidFill>
            <a:srgbClr val="FFD23F"/>
          </a:solidFill>
          <a:ln w="12700">
            <a:solidFill>
              <a:srgbClr val="FFD23F"/>
            </a:solidFill>
            <a:prstDash val="solid"/>
          </a:ln>
        </p:spPr>
      </p:sp>
      <p:sp>
        <p:nvSpPr>
          <p:cNvPr id="10" name="Title box"/>
          <p:cNvSpPr/>
          <p:nvPr/>
        </p:nvSpPr>
        <p:spPr>
          <a:xfrm>
            <a:off x="365760" y="896112"/>
            <a:ext cx="8412480" cy="530352"/>
          </a:xfrm>
          <a:prstGeom prst="roundRect">
            <a:avLst>
              <a:gd name="adj" fmla="val 34483"/>
            </a:avLst>
          </a:prstGeom>
          <a:solidFill>
            <a:srgbClr val="5F3DC4"/>
          </a:solidFill>
          <a:ln w="12700">
            <a:solidFill>
              <a:srgbClr val="333333"/>
            </a:solidFill>
            <a:prstDash val="solid"/>
          </a:ln>
        </p:spPr>
      </p:sp>
      <p:sp>
        <p:nvSpPr>
          <p:cNvPr id="11" name="Title"/>
          <p:cNvSpPr txBox="1"/>
          <p:nvPr/>
        </p:nvSpPr>
        <p:spPr>
          <a:xfrm>
            <a:off x="365760" y="870712"/>
            <a:ext cx="8412480" cy="530352"/>
          </a:xfrm>
          <a:prstGeom prst="rect">
            <a:avLst/>
          </a:prstGeom>
          <a:noFill/>
          <a:ln/>
        </p:spPr>
        <p:txBody>
          <a:bodyPr wrap="none" lIns="0" tIns="0" rIns="0" bIns="0" rtlCol="0" anchor="ctr"/>
          <a:lstStyle/>
          <a:p>
            <a:pPr algn="ctr" indent="0" marL="0">
              <a:buNone/>
            </a:pPr>
            <a:r>
              <a:rPr lang="en-US" sz="2500" b="1" dirty="0">
                <a:solidFill>
                  <a:srgbClr val="FFFFFF"/>
                </a:solidFill>
                <a:latin typeface="Arial" pitchFamily="34" charset="0"/>
                <a:ea typeface="Arial" pitchFamily="34" charset="-122"/>
                <a:cs typeface="Arial" pitchFamily="34" charset="-120"/>
              </a:rPr>
              <a:t>Upright oval: read only when you stop</a:t>
            </a:r>
            <a:endParaRPr lang="en-US" sz="2500" dirty="0"/>
          </a:p>
        </p:txBody>
      </p:sp>
      <p:sp>
        <p:nvSpPr>
          <p:cNvPr id="12" name="Panel written"/>
          <p:cNvSpPr/>
          <p:nvPr/>
        </p:nvSpPr>
        <p:spPr>
          <a:xfrm>
            <a:off x="4892040" y="1554480"/>
            <a:ext cx="3886200" cy="1874520"/>
          </a:xfrm>
          <a:prstGeom prst="roundRect">
            <a:avLst>
              <a:gd name="adj" fmla="val 12195"/>
            </a:avLst>
          </a:prstGeom>
          <a:solidFill>
            <a:srgbClr val="FFFFFF"/>
          </a:solidFill>
          <a:ln w="88900">
            <a:solidFill>
              <a:srgbClr val="5F3DC4"/>
            </a:solidFill>
            <a:prstDash val="solid"/>
          </a:ln>
        </p:spPr>
      </p:sp>
      <p:sp>
        <p:nvSpPr>
          <p:cNvPr id="13" name="C1 written"/>
          <p:cNvSpPr txBox="1"/>
          <p:nvPr/>
        </p:nvSpPr>
        <p:spPr>
          <a:xfrm>
            <a:off x="4892040" y="1693073"/>
            <a:ext cx="3886200" cy="1874520"/>
          </a:xfrm>
          <a:prstGeom prst="rect">
            <a:avLst/>
          </a:prstGeom>
          <a:noFill/>
          <a:ln/>
        </p:spPr>
        <p:txBody>
          <a:bodyPr wrap="none" lIns="0" tIns="0" rIns="0" bIns="0" rtlCol="0" anchor="ctr"/>
          <a:lstStyle/>
          <a:p>
            <a:pPr algn="ctr" indent="0" marL="0">
              <a:buNone/>
            </a:pPr>
            <a:r>
              <a:rPr lang="ar-SA" altLang="en-US" sz="8100" dirty="0">
                <a:solidFill>
                  <a:srgbClr val="16213E"/>
                </a:solidFill>
                <a:latin typeface="Traditional Arabic" pitchFamily="34" charset="0"/>
                <a:ea typeface="Traditional Arabic" pitchFamily="34" charset="-122"/>
                <a:cs typeface="Traditional Arabic" pitchFamily="34" charset="-120"/>
              </a:rPr>
              <a:t>أَنَ</a:t>
            </a:r>
            <a:r>
              <a:rPr lang="ar-SA" altLang="en-US" sz="8100" dirty="0">
                <a:solidFill>
                  <a:srgbClr val="E03131"/>
                </a:solidFill>
                <a:latin typeface="Traditional Arabic" pitchFamily="34" charset="0"/>
                <a:ea typeface="Traditional Arabic" pitchFamily="34" charset="-122"/>
                <a:cs typeface="Traditional Arabic" pitchFamily="34" charset="-120"/>
              </a:rPr>
              <a:t>ا۠</a:t>
            </a:r>
            <a:endParaRPr lang="ar-SA" sz="8100" dirty="0"/>
          </a:p>
        </p:txBody>
      </p:sp>
      <p:sp>
        <p:nvSpPr>
          <p:cNvPr id="14" name="C2 arrow"/>
          <p:cNvSpPr/>
          <p:nvPr/>
        </p:nvSpPr>
        <p:spPr>
          <a:xfrm>
            <a:off x="4315968" y="2263140"/>
            <a:ext cx="512064" cy="457200"/>
          </a:xfrm>
          <a:prstGeom prst="leftArrow">
            <a:avLst/>
          </a:prstGeom>
          <a:solidFill>
            <a:srgbClr val="672EB8"/>
          </a:solidFill>
          <a:ln w="12700">
            <a:solidFill>
              <a:srgbClr val="333333"/>
            </a:solidFill>
            <a:prstDash val="solid"/>
          </a:ln>
        </p:spPr>
      </p:sp>
      <p:sp>
        <p:nvSpPr>
          <p:cNvPr id="15" name="C2 row 1"/>
          <p:cNvSpPr/>
          <p:nvPr/>
        </p:nvSpPr>
        <p:spPr>
          <a:xfrm>
            <a:off x="365760" y="1554480"/>
            <a:ext cx="3886200" cy="891540"/>
          </a:xfrm>
          <a:prstGeom prst="roundRect">
            <a:avLst>
              <a:gd name="adj" fmla="val 25641"/>
            </a:avLst>
          </a:prstGeom>
          <a:solidFill>
            <a:srgbClr val="FFFBE3"/>
          </a:solidFill>
          <a:ln w="88900">
            <a:solidFill>
              <a:srgbClr val="868E96"/>
            </a:solidFill>
            <a:prstDash val="solid"/>
          </a:ln>
        </p:spPr>
      </p:sp>
      <p:sp>
        <p:nvSpPr>
          <p:cNvPr id="16" name="C2 label 1 box"/>
          <p:cNvSpPr/>
          <p:nvPr/>
        </p:nvSpPr>
        <p:spPr>
          <a:xfrm>
            <a:off x="457200" y="1664208"/>
            <a:ext cx="1325880" cy="672084"/>
          </a:xfrm>
          <a:prstGeom prst="roundRect">
            <a:avLst>
              <a:gd name="adj" fmla="val 27211"/>
            </a:avLst>
          </a:prstGeom>
          <a:solidFill>
            <a:srgbClr val="868E96"/>
          </a:solidFill>
          <a:ln w="12700">
            <a:solidFill>
              <a:srgbClr val="333333"/>
            </a:solidFill>
            <a:prstDash val="solid"/>
          </a:ln>
        </p:spPr>
      </p:sp>
      <p:sp>
        <p:nvSpPr>
          <p:cNvPr id="17" name="C2 label 1"/>
          <p:cNvSpPr txBox="1"/>
          <p:nvPr/>
        </p:nvSpPr>
        <p:spPr>
          <a:xfrm>
            <a:off x="457200" y="1647952"/>
            <a:ext cx="1325880" cy="672084"/>
          </a:xfrm>
          <a:prstGeom prst="rect">
            <a:avLst/>
          </a:prstGeom>
          <a:noFill/>
          <a:ln/>
        </p:spPr>
        <p:txBody>
          <a:bodyPr wrap="non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Connecting</a:t>
            </a:r>
            <a:endParaRPr lang="en-US" sz="1600" dirty="0"/>
          </a:p>
        </p:txBody>
      </p:sp>
      <p:sp>
        <p:nvSpPr>
          <p:cNvPr id="18" name="C2 read 1"/>
          <p:cNvSpPr txBox="1"/>
          <p:nvPr/>
        </p:nvSpPr>
        <p:spPr>
          <a:xfrm>
            <a:off x="1828800" y="1594892"/>
            <a:ext cx="2331720" cy="891540"/>
          </a:xfrm>
          <a:prstGeom prst="rect">
            <a:avLst/>
          </a:prstGeom>
          <a:noFill/>
          <a:ln/>
        </p:spPr>
        <p:txBody>
          <a:bodyPr wrap="none" lIns="0" tIns="0" rIns="0" bIns="0" rtlCol="0" anchor="ctr"/>
          <a:lstStyle/>
          <a:p>
            <a:pPr algn="ctr" indent="0" marL="0">
              <a:buNone/>
            </a:pPr>
            <a:r>
              <a:rPr lang="ar-SA" altLang="en-US" sz="2900" dirty="0">
                <a:solidFill>
                  <a:srgbClr val="16213E"/>
                </a:solidFill>
                <a:latin typeface="Traditional Arabic" pitchFamily="34" charset="0"/>
                <a:ea typeface="Traditional Arabic" pitchFamily="34" charset="-122"/>
                <a:cs typeface="Traditional Arabic" pitchFamily="34" charset="-120"/>
              </a:rPr>
              <a:t>أَنَ</a:t>
            </a:r>
            <a:endParaRPr lang="ar-SA" sz="2900" dirty="0"/>
          </a:p>
        </p:txBody>
      </p:sp>
      <p:sp>
        <p:nvSpPr>
          <p:cNvPr id="19" name="C3 row 2"/>
          <p:cNvSpPr/>
          <p:nvPr/>
        </p:nvSpPr>
        <p:spPr>
          <a:xfrm>
            <a:off x="365760" y="2537460"/>
            <a:ext cx="3886200" cy="891540"/>
          </a:xfrm>
          <a:prstGeom prst="roundRect">
            <a:avLst>
              <a:gd name="adj" fmla="val 25641"/>
            </a:avLst>
          </a:prstGeom>
          <a:solidFill>
            <a:srgbClr val="FFFBE3"/>
          </a:solidFill>
          <a:ln w="88900">
            <a:solidFill>
              <a:srgbClr val="2F9E44"/>
            </a:solidFill>
            <a:prstDash val="solid"/>
          </a:ln>
        </p:spPr>
      </p:sp>
      <p:sp>
        <p:nvSpPr>
          <p:cNvPr id="20" name="C3 label 2 box"/>
          <p:cNvSpPr/>
          <p:nvPr/>
        </p:nvSpPr>
        <p:spPr>
          <a:xfrm>
            <a:off x="457200" y="2647188"/>
            <a:ext cx="1325880" cy="672084"/>
          </a:xfrm>
          <a:prstGeom prst="roundRect">
            <a:avLst>
              <a:gd name="adj" fmla="val 27211"/>
            </a:avLst>
          </a:prstGeom>
          <a:solidFill>
            <a:srgbClr val="2F9E44"/>
          </a:solidFill>
          <a:ln w="12700">
            <a:solidFill>
              <a:srgbClr val="333333"/>
            </a:solidFill>
            <a:prstDash val="solid"/>
          </a:ln>
        </p:spPr>
      </p:sp>
      <p:sp>
        <p:nvSpPr>
          <p:cNvPr id="21" name="C3 label 2"/>
          <p:cNvSpPr txBox="1"/>
          <p:nvPr/>
        </p:nvSpPr>
        <p:spPr>
          <a:xfrm>
            <a:off x="457200" y="2625852"/>
            <a:ext cx="1325880" cy="672084"/>
          </a:xfrm>
          <a:prstGeom prst="rect">
            <a:avLst/>
          </a:prstGeom>
          <a:noFill/>
          <a:ln/>
        </p:spPr>
        <p:txBody>
          <a:bodyPr wrap="non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Stopping</a:t>
            </a:r>
            <a:endParaRPr lang="en-US" sz="2100" dirty="0"/>
          </a:p>
        </p:txBody>
      </p:sp>
      <p:sp>
        <p:nvSpPr>
          <p:cNvPr id="22" name="C3 read 2"/>
          <p:cNvSpPr txBox="1"/>
          <p:nvPr/>
        </p:nvSpPr>
        <p:spPr>
          <a:xfrm>
            <a:off x="1828800" y="2632338"/>
            <a:ext cx="2331720" cy="891540"/>
          </a:xfrm>
          <a:prstGeom prst="rect">
            <a:avLst/>
          </a:prstGeom>
          <a:noFill/>
          <a:ln/>
        </p:spPr>
        <p:txBody>
          <a:bodyPr wrap="none" lIns="0" tIns="0" rIns="0" bIns="0" rtlCol="0" anchor="ctr"/>
          <a:lstStyle/>
          <a:p>
            <a:pPr algn="ctr" indent="0" marL="0">
              <a:buNone/>
            </a:pPr>
            <a:r>
              <a:rPr lang="ar-SA" altLang="en-US" sz="3400" dirty="0">
                <a:solidFill>
                  <a:srgbClr val="16213E"/>
                </a:solidFill>
                <a:latin typeface="Traditional Arabic" pitchFamily="34" charset="0"/>
                <a:ea typeface="Traditional Arabic" pitchFamily="34" charset="-122"/>
                <a:cs typeface="Traditional Arabic" pitchFamily="34" charset="-120"/>
              </a:rPr>
              <a:t>أَنَ</a:t>
            </a:r>
            <a:r>
              <a:rPr lang="ar-SA" altLang="en-US" sz="3400" dirty="0">
                <a:solidFill>
                  <a:srgbClr val="2F9E44"/>
                </a:solidFill>
                <a:latin typeface="Traditional Arabic" pitchFamily="34" charset="0"/>
                <a:ea typeface="Traditional Arabic" pitchFamily="34" charset="-122"/>
                <a:cs typeface="Traditional Arabic" pitchFamily="34" charset="-120"/>
              </a:rPr>
              <a:t>ا</a:t>
            </a:r>
            <a:endParaRPr lang="ar-SA" sz="3400" dirty="0"/>
          </a:p>
        </p:txBody>
      </p:sp>
      <p:sp>
        <p:nvSpPr>
          <p:cNvPr id="23" name="C4 tip box"/>
          <p:cNvSpPr/>
          <p:nvPr/>
        </p:nvSpPr>
        <p:spPr>
          <a:xfrm>
            <a:off x="365760" y="3566160"/>
            <a:ext cx="8412480" cy="685800"/>
          </a:xfrm>
          <a:prstGeom prst="roundRect">
            <a:avLst>
              <a:gd name="adj" fmla="val 26667"/>
            </a:avLst>
          </a:prstGeom>
          <a:solidFill>
            <a:srgbClr val="5F3DC4"/>
          </a:solidFill>
          <a:ln w="12700">
            <a:solidFill>
              <a:srgbClr val="333333"/>
            </a:solidFill>
            <a:prstDash val="solid"/>
          </a:ln>
        </p:spPr>
      </p:sp>
      <p:sp>
        <p:nvSpPr>
          <p:cNvPr id="24" name="C4 tip"/>
          <p:cNvSpPr txBox="1"/>
          <p:nvPr/>
        </p:nvSpPr>
        <p:spPr>
          <a:xfrm>
            <a:off x="365760" y="3539744"/>
            <a:ext cx="8412480" cy="685800"/>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Connecting: no alif.  Stopping: say the alif</a:t>
            </a:r>
            <a:endParaRPr lang="en-US" sz="2600" dirty="0"/>
          </a:p>
        </p:txBody>
      </p:sp>
    </p:spTree>
  </p:cSld>
  <p:clrMapOvr>
    <a:masterClrMapping/>
  </p:clrMapOvr>
  <p:transition spd="med">
    <p:cover dir="l"/>
    <p:sndAc>
      <p:stSnd>
        <p:snd r:embed="rIdTrSnd" name="marimb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350"/>
                                        <p:tgtEl>
                                          <p:spTgt spid="1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350"/>
                                        <p:tgtEl>
                                          <p:spTgt spid="1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350"/>
                                        <p:tgtEl>
                                          <p:spTgt spid="1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35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35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350"/>
                                        <p:tgtEl>
                                          <p:spTgt spid="1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350"/>
                                        <p:tgtEl>
                                          <p:spTgt spid="2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35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350"/>
                                        <p:tgtEl>
                                          <p:spTgt spid="2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35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C5F5F7"/>
        </a:solidFill>
      </p:bgPr>
    </p:bg>
    <p:spTree>
      <p:nvGrpSpPr>
        <p:cNvPr id="1" name=""/>
        <p:cNvGrpSpPr/>
        <p:nvPr/>
      </p:nvGrpSpPr>
      <p:grpSpPr>
        <a:xfrm>
          <a:off x="0" y="0"/>
          <a:ext cx="0" cy="0"/>
          <a:chOff x="0" y="0"/>
          <a:chExt cx="0" cy="0"/>
        </a:xfrm>
      </p:grpSpPr>
      <p:sp>
        <p:nvSpPr>
          <p:cNvPr id="2" name="Deco grass"/>
          <p:cNvSpPr/>
          <p:nvPr/>
        </p:nvSpPr>
        <p:spPr>
          <a:xfrm>
            <a:off x="0" y="4617720"/>
            <a:ext cx="9144000" cy="548640"/>
          </a:xfrm>
          <a:prstGeom prst="rect">
            <a:avLst/>
          </a:prstGeom>
          <a:solidFill>
            <a:srgbClr val="8C53C6"/>
          </a:solidFill>
          <a:ln w="12700">
            <a:solidFill>
              <a:srgbClr val="8C53C6"/>
            </a:solidFill>
            <a:prstDash val="solid"/>
          </a:ln>
        </p:spPr>
      </p:sp>
      <p:sp>
        <p:nvSpPr>
          <p:cNvPr id="3" name="Deco stem 0"/>
          <p:cNvSpPr/>
          <p:nvPr/>
        </p:nvSpPr>
        <p:spPr>
          <a:xfrm>
            <a:off x="576072" y="4736592"/>
            <a:ext cx="36576" cy="365760"/>
          </a:xfrm>
          <a:prstGeom prst="ellipse">
            <a:avLst/>
          </a:prstGeom>
          <a:solidFill>
            <a:srgbClr val="3C8D40"/>
          </a:solidFill>
          <a:ln w="12700">
            <a:solidFill>
              <a:srgbClr val="3C8D40"/>
            </a:solidFill>
            <a:prstDash val="solid"/>
          </a:ln>
        </p:spPr>
      </p:sp>
      <p:sp>
        <p:nvSpPr>
          <p:cNvPr id="4" name="Deco flower 0"/>
          <p:cNvSpPr/>
          <p:nvPr/>
        </p:nvSpPr>
        <p:spPr>
          <a:xfrm>
            <a:off x="457200" y="4370832"/>
            <a:ext cx="274320" cy="274320"/>
          </a:xfrm>
          <a:prstGeom prst="flowChartConnector">
            <a:avLst/>
          </a:prstGeom>
          <a:solidFill>
            <a:srgbClr val="FF7A90"/>
          </a:solidFill>
          <a:ln w="12700">
            <a:solidFill>
              <a:srgbClr val="FF7A90"/>
            </a:solidFill>
            <a:prstDash val="solid"/>
          </a:ln>
        </p:spPr>
      </p:sp>
      <p:sp>
        <p:nvSpPr>
          <p:cNvPr id="5" name="Deco stem 1"/>
          <p:cNvSpPr/>
          <p:nvPr/>
        </p:nvSpPr>
        <p:spPr>
          <a:xfrm>
            <a:off x="1399032" y="4736592"/>
            <a:ext cx="36576" cy="365760"/>
          </a:xfrm>
          <a:prstGeom prst="ellipse">
            <a:avLst/>
          </a:prstGeom>
          <a:solidFill>
            <a:srgbClr val="3C8D40"/>
          </a:solidFill>
          <a:ln w="12700">
            <a:solidFill>
              <a:srgbClr val="3C8D40"/>
            </a:solidFill>
            <a:prstDash val="solid"/>
          </a:ln>
        </p:spPr>
      </p:sp>
      <p:sp>
        <p:nvSpPr>
          <p:cNvPr id="6" name="Deco flower 1"/>
          <p:cNvSpPr/>
          <p:nvPr/>
        </p:nvSpPr>
        <p:spPr>
          <a:xfrm>
            <a:off x="1280160" y="4370832"/>
            <a:ext cx="274320" cy="274320"/>
          </a:xfrm>
          <a:prstGeom prst="flowChartConnector">
            <a:avLst/>
          </a:prstGeom>
          <a:solidFill>
            <a:srgbClr val="FFB347"/>
          </a:solidFill>
          <a:ln w="12700">
            <a:solidFill>
              <a:srgbClr val="FFB347"/>
            </a:solidFill>
            <a:prstDash val="solid"/>
          </a:ln>
        </p:spPr>
      </p:sp>
      <p:sp>
        <p:nvSpPr>
          <p:cNvPr id="7" name="Deco stem 2"/>
          <p:cNvSpPr/>
          <p:nvPr/>
        </p:nvSpPr>
        <p:spPr>
          <a:xfrm>
            <a:off x="2221992" y="4736592"/>
            <a:ext cx="36576" cy="365760"/>
          </a:xfrm>
          <a:prstGeom prst="ellipse">
            <a:avLst/>
          </a:prstGeom>
          <a:solidFill>
            <a:srgbClr val="3C8D40"/>
          </a:solidFill>
          <a:ln w="12700">
            <a:solidFill>
              <a:srgbClr val="3C8D40"/>
            </a:solidFill>
            <a:prstDash val="solid"/>
          </a:ln>
        </p:spPr>
      </p:sp>
      <p:sp>
        <p:nvSpPr>
          <p:cNvPr id="8" name="Deco flower 2"/>
          <p:cNvSpPr/>
          <p:nvPr/>
        </p:nvSpPr>
        <p:spPr>
          <a:xfrm>
            <a:off x="2103120" y="4370832"/>
            <a:ext cx="274320" cy="274320"/>
          </a:xfrm>
          <a:prstGeom prst="flowChartConnector">
            <a:avLst/>
          </a:prstGeom>
          <a:solidFill>
            <a:srgbClr val="B892FF"/>
          </a:solidFill>
          <a:ln w="12700">
            <a:solidFill>
              <a:srgbClr val="B892FF"/>
            </a:solidFill>
            <a:prstDash val="solid"/>
          </a:ln>
        </p:spPr>
      </p:sp>
      <p:sp>
        <p:nvSpPr>
          <p:cNvPr id="9" name="Deco stem 3"/>
          <p:cNvSpPr/>
          <p:nvPr/>
        </p:nvSpPr>
        <p:spPr>
          <a:xfrm>
            <a:off x="6885432" y="4736592"/>
            <a:ext cx="36576" cy="365760"/>
          </a:xfrm>
          <a:prstGeom prst="ellipse">
            <a:avLst/>
          </a:prstGeom>
          <a:solidFill>
            <a:srgbClr val="3C8D40"/>
          </a:solidFill>
          <a:ln w="12700">
            <a:solidFill>
              <a:srgbClr val="3C8D40"/>
            </a:solidFill>
            <a:prstDash val="solid"/>
          </a:ln>
        </p:spPr>
      </p:sp>
      <p:sp>
        <p:nvSpPr>
          <p:cNvPr id="10" name="Deco flower 3"/>
          <p:cNvSpPr/>
          <p:nvPr/>
        </p:nvSpPr>
        <p:spPr>
          <a:xfrm>
            <a:off x="6766560" y="4370832"/>
            <a:ext cx="274320" cy="274320"/>
          </a:xfrm>
          <a:prstGeom prst="flowChartConnector">
            <a:avLst/>
          </a:prstGeom>
          <a:solidFill>
            <a:srgbClr val="FF6F91"/>
          </a:solidFill>
          <a:ln w="12700">
            <a:solidFill>
              <a:srgbClr val="FF6F91"/>
            </a:solidFill>
            <a:prstDash val="solid"/>
          </a:ln>
        </p:spPr>
      </p:sp>
      <p:sp>
        <p:nvSpPr>
          <p:cNvPr id="11" name="Deco stem 4"/>
          <p:cNvSpPr/>
          <p:nvPr/>
        </p:nvSpPr>
        <p:spPr>
          <a:xfrm>
            <a:off x="7708392" y="4736592"/>
            <a:ext cx="36576" cy="365760"/>
          </a:xfrm>
          <a:prstGeom prst="ellipse">
            <a:avLst/>
          </a:prstGeom>
          <a:solidFill>
            <a:srgbClr val="3C8D40"/>
          </a:solidFill>
          <a:ln w="12700">
            <a:solidFill>
              <a:srgbClr val="3C8D40"/>
            </a:solidFill>
            <a:prstDash val="solid"/>
          </a:ln>
        </p:spPr>
      </p:sp>
      <p:sp>
        <p:nvSpPr>
          <p:cNvPr id="12" name="Deco flower 4"/>
          <p:cNvSpPr/>
          <p:nvPr/>
        </p:nvSpPr>
        <p:spPr>
          <a:xfrm>
            <a:off x="7589520" y="4370832"/>
            <a:ext cx="274320" cy="274320"/>
          </a:xfrm>
          <a:prstGeom prst="flowChartConnector">
            <a:avLst/>
          </a:prstGeom>
          <a:solidFill>
            <a:srgbClr val="FFD23F"/>
          </a:solidFill>
          <a:ln w="12700">
            <a:solidFill>
              <a:srgbClr val="FFD23F"/>
            </a:solidFill>
            <a:prstDash val="solid"/>
          </a:ln>
        </p:spPr>
      </p:sp>
      <p:sp>
        <p:nvSpPr>
          <p:cNvPr id="13" name="Deco stem 5"/>
          <p:cNvSpPr/>
          <p:nvPr/>
        </p:nvSpPr>
        <p:spPr>
          <a:xfrm>
            <a:off x="8439912" y="4736592"/>
            <a:ext cx="36576" cy="365760"/>
          </a:xfrm>
          <a:prstGeom prst="ellipse">
            <a:avLst/>
          </a:prstGeom>
          <a:solidFill>
            <a:srgbClr val="3C8D40"/>
          </a:solidFill>
          <a:ln w="12700">
            <a:solidFill>
              <a:srgbClr val="3C8D40"/>
            </a:solidFill>
            <a:prstDash val="solid"/>
          </a:ln>
        </p:spPr>
      </p:sp>
      <p:sp>
        <p:nvSpPr>
          <p:cNvPr id="14" name="Deco flower 5"/>
          <p:cNvSpPr/>
          <p:nvPr/>
        </p:nvSpPr>
        <p:spPr>
          <a:xfrm>
            <a:off x="8321040" y="4370832"/>
            <a:ext cx="274320" cy="274320"/>
          </a:xfrm>
          <a:prstGeom prst="flowChartConnector">
            <a:avLst/>
          </a:prstGeom>
          <a:solidFill>
            <a:srgbClr val="7EC8FF"/>
          </a:solidFill>
          <a:ln w="12700">
            <a:solidFill>
              <a:srgbClr val="7EC8FF"/>
            </a:solidFill>
            <a:prstDash val="solid"/>
          </a:ln>
        </p:spPr>
      </p:sp>
      <p:sp>
        <p:nvSpPr>
          <p:cNvPr id="15" name="Deco heart"/>
          <p:cNvSpPr/>
          <p:nvPr/>
        </p:nvSpPr>
        <p:spPr>
          <a:xfrm>
            <a:off x="411480" y="228600"/>
            <a:ext cx="457200" cy="411480"/>
          </a:xfrm>
          <a:prstGeom prst="heart">
            <a:avLst/>
          </a:prstGeom>
          <a:solidFill>
            <a:srgbClr val="5EEDC4"/>
          </a:solidFill>
          <a:ln w="12700">
            <a:solidFill>
              <a:srgbClr val="5EEDC4"/>
            </a:solidFill>
            <a:prstDash val="solid"/>
          </a:ln>
        </p:spPr>
      </p:sp>
      <p:sp>
        <p:nvSpPr>
          <p:cNvPr id="16" name="Deco cloud"/>
          <p:cNvSpPr/>
          <p:nvPr/>
        </p:nvSpPr>
        <p:spPr>
          <a:xfrm>
            <a:off x="7132320" y="109728"/>
            <a:ext cx="1463040" cy="640080"/>
          </a:xfrm>
          <a:prstGeom prst="cloud">
            <a:avLst/>
          </a:prstGeom>
          <a:solidFill>
            <a:srgbClr val="FFFFFF"/>
          </a:solidFill>
          <a:ln w="12700">
            <a:solidFill>
              <a:srgbClr val="FFFFFF"/>
            </a:solidFill>
            <a:prstDash val="solid"/>
          </a:ln>
        </p:spPr>
      </p:sp>
      <p:sp>
        <p:nvSpPr>
          <p:cNvPr id="17" name="Deco friend"/>
          <p:cNvSpPr/>
          <p:nvPr/>
        </p:nvSpPr>
        <p:spPr>
          <a:xfrm>
            <a:off x="6309360" y="182880"/>
            <a:ext cx="548640" cy="548640"/>
          </a:xfrm>
          <a:prstGeom prst="smileyFace">
            <a:avLst/>
          </a:prstGeom>
          <a:solidFill>
            <a:srgbClr val="FFD166"/>
          </a:solidFill>
          <a:ln w="12700">
            <a:solidFill>
              <a:srgbClr val="FFD166"/>
            </a:solidFill>
            <a:prstDash val="solid"/>
          </a:ln>
        </p:spPr>
      </p:sp>
      <p:sp>
        <p:nvSpPr>
          <p:cNvPr id="18" name="Title box"/>
          <p:cNvSpPr/>
          <p:nvPr/>
        </p:nvSpPr>
        <p:spPr>
          <a:xfrm>
            <a:off x="365760" y="896112"/>
            <a:ext cx="8412480" cy="530352"/>
          </a:xfrm>
          <a:prstGeom prst="roundRect">
            <a:avLst>
              <a:gd name="adj" fmla="val 34483"/>
            </a:avLst>
          </a:prstGeom>
          <a:solidFill>
            <a:srgbClr val="5F3DC4"/>
          </a:solidFill>
          <a:ln w="12700">
            <a:solidFill>
              <a:srgbClr val="333333"/>
            </a:solidFill>
            <a:prstDash val="solid"/>
          </a:ln>
        </p:spPr>
      </p:sp>
      <p:sp>
        <p:nvSpPr>
          <p:cNvPr id="19" name="Title"/>
          <p:cNvSpPr txBox="1"/>
          <p:nvPr/>
        </p:nvSpPr>
        <p:spPr>
          <a:xfrm>
            <a:off x="365760" y="870712"/>
            <a:ext cx="8412480" cy="530352"/>
          </a:xfrm>
          <a:prstGeom prst="rect">
            <a:avLst/>
          </a:prstGeom>
          <a:noFill/>
          <a:ln/>
        </p:spPr>
        <p:txBody>
          <a:bodyPr wrap="none" lIns="0" tIns="0" rIns="0" bIns="0" rtlCol="0" anchor="ctr"/>
          <a:lstStyle/>
          <a:p>
            <a:pPr algn="ctr" indent="0" marL="0">
              <a:buNone/>
            </a:pPr>
            <a:r>
              <a:rPr lang="en-US" sz="2500" b="1" dirty="0">
                <a:solidFill>
                  <a:srgbClr val="FFFFFF"/>
                </a:solidFill>
                <a:latin typeface="Arial" pitchFamily="34" charset="0"/>
                <a:ea typeface="Arial" pitchFamily="34" charset="-122"/>
                <a:cs typeface="Arial" pitchFamily="34" charset="-120"/>
              </a:rPr>
              <a:t>Upright oval: read only when you stop</a:t>
            </a:r>
            <a:endParaRPr lang="en-US" sz="2500" dirty="0"/>
          </a:p>
        </p:txBody>
      </p:sp>
      <p:sp>
        <p:nvSpPr>
          <p:cNvPr id="20" name="Panel written"/>
          <p:cNvSpPr/>
          <p:nvPr/>
        </p:nvSpPr>
        <p:spPr>
          <a:xfrm>
            <a:off x="4892040" y="1554480"/>
            <a:ext cx="3886200" cy="1874520"/>
          </a:xfrm>
          <a:prstGeom prst="roundRect">
            <a:avLst>
              <a:gd name="adj" fmla="val 12195"/>
            </a:avLst>
          </a:prstGeom>
          <a:solidFill>
            <a:srgbClr val="FFFFFF"/>
          </a:solidFill>
          <a:ln w="88900">
            <a:solidFill>
              <a:srgbClr val="5F3DC4"/>
            </a:solidFill>
            <a:prstDash val="solid"/>
          </a:ln>
        </p:spPr>
      </p:sp>
      <p:sp>
        <p:nvSpPr>
          <p:cNvPr id="21" name="C1 written"/>
          <p:cNvSpPr txBox="1"/>
          <p:nvPr/>
        </p:nvSpPr>
        <p:spPr>
          <a:xfrm>
            <a:off x="4892040" y="1770707"/>
            <a:ext cx="3886200" cy="1874520"/>
          </a:xfrm>
          <a:prstGeom prst="rect">
            <a:avLst/>
          </a:prstGeom>
          <a:noFill/>
          <a:ln/>
        </p:spPr>
        <p:txBody>
          <a:bodyPr wrap="none" lIns="0" tIns="0" rIns="0" bIns="0" rtlCol="0" anchor="ctr"/>
          <a:lstStyle/>
          <a:p>
            <a:pPr algn="ctr" indent="0" marL="0">
              <a:buNone/>
            </a:pPr>
            <a:r>
              <a:rPr lang="ar-SA" altLang="en-US" sz="6800" dirty="0">
                <a:solidFill>
                  <a:srgbClr val="16213E"/>
                </a:solidFill>
                <a:latin typeface="Traditional Arabic" pitchFamily="34" charset="0"/>
                <a:ea typeface="Traditional Arabic" pitchFamily="34" charset="-122"/>
                <a:cs typeface="Traditional Arabic" pitchFamily="34" charset="-120"/>
              </a:rPr>
              <a:t>لَّٰكِنَّ</a:t>
            </a:r>
            <a:r>
              <a:rPr lang="ar-SA" altLang="en-US" sz="6800" dirty="0">
                <a:solidFill>
                  <a:srgbClr val="E03131"/>
                </a:solidFill>
                <a:latin typeface="Traditional Arabic" pitchFamily="34" charset="0"/>
                <a:ea typeface="Traditional Arabic" pitchFamily="34" charset="-122"/>
                <a:cs typeface="Traditional Arabic" pitchFamily="34" charset="-120"/>
              </a:rPr>
              <a:t>ا۠</a:t>
            </a:r>
            <a:endParaRPr lang="ar-SA" sz="6800" dirty="0"/>
          </a:p>
        </p:txBody>
      </p:sp>
      <p:sp>
        <p:nvSpPr>
          <p:cNvPr id="22" name="C2 arrow"/>
          <p:cNvSpPr/>
          <p:nvPr/>
        </p:nvSpPr>
        <p:spPr>
          <a:xfrm>
            <a:off x="4315968" y="2263140"/>
            <a:ext cx="512064" cy="457200"/>
          </a:xfrm>
          <a:prstGeom prst="leftArrow">
            <a:avLst/>
          </a:prstGeom>
          <a:solidFill>
            <a:srgbClr val="B8902E"/>
          </a:solidFill>
          <a:ln w="12700">
            <a:solidFill>
              <a:srgbClr val="333333"/>
            </a:solidFill>
            <a:prstDash val="solid"/>
          </a:ln>
        </p:spPr>
      </p:sp>
      <p:sp>
        <p:nvSpPr>
          <p:cNvPr id="23" name="C2 row 1"/>
          <p:cNvSpPr/>
          <p:nvPr/>
        </p:nvSpPr>
        <p:spPr>
          <a:xfrm>
            <a:off x="365760" y="1554480"/>
            <a:ext cx="3886200" cy="891540"/>
          </a:xfrm>
          <a:prstGeom prst="roundRect">
            <a:avLst>
              <a:gd name="adj" fmla="val 25641"/>
            </a:avLst>
          </a:prstGeom>
          <a:solidFill>
            <a:srgbClr val="FFFBE3"/>
          </a:solidFill>
          <a:ln w="88900">
            <a:solidFill>
              <a:srgbClr val="868E96"/>
            </a:solidFill>
            <a:prstDash val="solid"/>
          </a:ln>
        </p:spPr>
      </p:sp>
      <p:sp>
        <p:nvSpPr>
          <p:cNvPr id="24" name="C2 label 1 box"/>
          <p:cNvSpPr/>
          <p:nvPr/>
        </p:nvSpPr>
        <p:spPr>
          <a:xfrm>
            <a:off x="457200" y="1664208"/>
            <a:ext cx="1325880" cy="672084"/>
          </a:xfrm>
          <a:prstGeom prst="roundRect">
            <a:avLst>
              <a:gd name="adj" fmla="val 27211"/>
            </a:avLst>
          </a:prstGeom>
          <a:solidFill>
            <a:srgbClr val="868E96"/>
          </a:solidFill>
          <a:ln w="12700">
            <a:solidFill>
              <a:srgbClr val="333333"/>
            </a:solidFill>
            <a:prstDash val="solid"/>
          </a:ln>
        </p:spPr>
      </p:sp>
      <p:sp>
        <p:nvSpPr>
          <p:cNvPr id="25" name="C2 label 1"/>
          <p:cNvSpPr txBox="1"/>
          <p:nvPr/>
        </p:nvSpPr>
        <p:spPr>
          <a:xfrm>
            <a:off x="457200" y="1647952"/>
            <a:ext cx="1325880" cy="672084"/>
          </a:xfrm>
          <a:prstGeom prst="rect">
            <a:avLst/>
          </a:prstGeom>
          <a:noFill/>
          <a:ln/>
        </p:spPr>
        <p:txBody>
          <a:bodyPr wrap="non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Connecting</a:t>
            </a:r>
            <a:endParaRPr lang="en-US" sz="1600" dirty="0"/>
          </a:p>
        </p:txBody>
      </p:sp>
      <p:sp>
        <p:nvSpPr>
          <p:cNvPr id="26" name="C2 read 1"/>
          <p:cNvSpPr txBox="1"/>
          <p:nvPr/>
        </p:nvSpPr>
        <p:spPr>
          <a:xfrm>
            <a:off x="1828800" y="1601419"/>
            <a:ext cx="2331720" cy="891540"/>
          </a:xfrm>
          <a:prstGeom prst="rect">
            <a:avLst/>
          </a:prstGeom>
          <a:noFill/>
          <a:ln/>
        </p:spPr>
        <p:txBody>
          <a:bodyPr wrap="none" lIns="0" tIns="0" rIns="0" bIns="0" rtlCol="0" anchor="ctr"/>
          <a:lstStyle/>
          <a:p>
            <a:pPr algn="ctr" indent="0" marL="0">
              <a:buNone/>
            </a:pPr>
            <a:r>
              <a:rPr lang="ar-SA" altLang="en-US" sz="2800" dirty="0">
                <a:solidFill>
                  <a:srgbClr val="16213E"/>
                </a:solidFill>
                <a:latin typeface="Traditional Arabic" pitchFamily="34" charset="0"/>
                <a:ea typeface="Traditional Arabic" pitchFamily="34" charset="-122"/>
                <a:cs typeface="Traditional Arabic" pitchFamily="34" charset="-120"/>
              </a:rPr>
              <a:t>لَٰكِنَّ</a:t>
            </a:r>
            <a:endParaRPr lang="ar-SA" sz="2800" dirty="0"/>
          </a:p>
        </p:txBody>
      </p:sp>
      <p:sp>
        <p:nvSpPr>
          <p:cNvPr id="27" name="C3 row 2"/>
          <p:cNvSpPr/>
          <p:nvPr/>
        </p:nvSpPr>
        <p:spPr>
          <a:xfrm>
            <a:off x="365760" y="2537460"/>
            <a:ext cx="3886200" cy="891540"/>
          </a:xfrm>
          <a:prstGeom prst="roundRect">
            <a:avLst>
              <a:gd name="adj" fmla="val 25641"/>
            </a:avLst>
          </a:prstGeom>
          <a:solidFill>
            <a:srgbClr val="FFFBE3"/>
          </a:solidFill>
          <a:ln w="88900">
            <a:solidFill>
              <a:srgbClr val="2F9E44"/>
            </a:solidFill>
            <a:prstDash val="solid"/>
          </a:ln>
        </p:spPr>
      </p:sp>
      <p:sp>
        <p:nvSpPr>
          <p:cNvPr id="28" name="C3 label 2 box"/>
          <p:cNvSpPr/>
          <p:nvPr/>
        </p:nvSpPr>
        <p:spPr>
          <a:xfrm>
            <a:off x="457200" y="2647188"/>
            <a:ext cx="1325880" cy="672084"/>
          </a:xfrm>
          <a:prstGeom prst="roundRect">
            <a:avLst>
              <a:gd name="adj" fmla="val 27211"/>
            </a:avLst>
          </a:prstGeom>
          <a:solidFill>
            <a:srgbClr val="2F9E44"/>
          </a:solidFill>
          <a:ln w="12700">
            <a:solidFill>
              <a:srgbClr val="333333"/>
            </a:solidFill>
            <a:prstDash val="solid"/>
          </a:ln>
        </p:spPr>
      </p:sp>
      <p:sp>
        <p:nvSpPr>
          <p:cNvPr id="29" name="C3 label 2"/>
          <p:cNvSpPr txBox="1"/>
          <p:nvPr/>
        </p:nvSpPr>
        <p:spPr>
          <a:xfrm>
            <a:off x="457200" y="2625852"/>
            <a:ext cx="1325880" cy="672084"/>
          </a:xfrm>
          <a:prstGeom prst="rect">
            <a:avLst/>
          </a:prstGeom>
          <a:noFill/>
          <a:ln/>
        </p:spPr>
        <p:txBody>
          <a:bodyPr wrap="non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Stopping</a:t>
            </a:r>
            <a:endParaRPr lang="en-US" sz="2100" dirty="0"/>
          </a:p>
        </p:txBody>
      </p:sp>
      <p:sp>
        <p:nvSpPr>
          <p:cNvPr id="30" name="C3 read 2"/>
          <p:cNvSpPr txBox="1"/>
          <p:nvPr/>
        </p:nvSpPr>
        <p:spPr>
          <a:xfrm>
            <a:off x="1828800" y="2590935"/>
            <a:ext cx="2331720" cy="891540"/>
          </a:xfrm>
          <a:prstGeom prst="rect">
            <a:avLst/>
          </a:prstGeom>
          <a:noFill/>
          <a:ln/>
        </p:spPr>
        <p:txBody>
          <a:bodyPr wrap="none" lIns="0" tIns="0" rIns="0" bIns="0" rtlCol="0" anchor="ctr"/>
          <a:lstStyle/>
          <a:p>
            <a:pPr algn="ctr" indent="0" marL="0">
              <a:buNone/>
            </a:pPr>
            <a:r>
              <a:rPr lang="ar-SA" altLang="en-US" sz="2800" dirty="0">
                <a:solidFill>
                  <a:srgbClr val="16213E"/>
                </a:solidFill>
                <a:latin typeface="Traditional Arabic" pitchFamily="34" charset="0"/>
                <a:ea typeface="Traditional Arabic" pitchFamily="34" charset="-122"/>
                <a:cs typeface="Traditional Arabic" pitchFamily="34" charset="-120"/>
              </a:rPr>
              <a:t>لَٰكِنَّ</a:t>
            </a:r>
            <a:r>
              <a:rPr lang="ar-SA" altLang="en-US" sz="2800" dirty="0">
                <a:solidFill>
                  <a:srgbClr val="2F9E44"/>
                </a:solidFill>
                <a:latin typeface="Traditional Arabic" pitchFamily="34" charset="0"/>
                <a:ea typeface="Traditional Arabic" pitchFamily="34" charset="-122"/>
                <a:cs typeface="Traditional Arabic" pitchFamily="34" charset="-120"/>
              </a:rPr>
              <a:t>ا</a:t>
            </a:r>
            <a:endParaRPr lang="ar-SA" sz="2800" dirty="0"/>
          </a:p>
        </p:txBody>
      </p:sp>
      <p:sp>
        <p:nvSpPr>
          <p:cNvPr id="31" name="C4 tip box"/>
          <p:cNvSpPr/>
          <p:nvPr/>
        </p:nvSpPr>
        <p:spPr>
          <a:xfrm>
            <a:off x="365760" y="3566160"/>
            <a:ext cx="8412480" cy="685800"/>
          </a:xfrm>
          <a:prstGeom prst="roundRect">
            <a:avLst>
              <a:gd name="adj" fmla="val 26667"/>
            </a:avLst>
          </a:prstGeom>
          <a:solidFill>
            <a:srgbClr val="5F3DC4"/>
          </a:solidFill>
          <a:ln w="12700">
            <a:solidFill>
              <a:srgbClr val="333333"/>
            </a:solidFill>
            <a:prstDash val="solid"/>
          </a:ln>
        </p:spPr>
      </p:sp>
      <p:sp>
        <p:nvSpPr>
          <p:cNvPr id="32" name="C4 tip"/>
          <p:cNvSpPr txBox="1"/>
          <p:nvPr/>
        </p:nvSpPr>
        <p:spPr>
          <a:xfrm>
            <a:off x="365760" y="3572764"/>
            <a:ext cx="8412480" cy="685800"/>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From al-Kahf 38: laakinna huwa-llaahu rabbee</a:t>
            </a:r>
            <a:endParaRPr lang="en-US" sz="2600" dirty="0"/>
          </a:p>
        </p:txBody>
      </p:sp>
    </p:spTree>
  </p:cSld>
  <p:clrMapOvr>
    <a:masterClrMapping/>
  </p:clrMapOvr>
  <p:transition spd="med">
    <p:zoom/>
    <p:sndAc>
      <p:stSnd>
        <p:snd r:embed="rIdTrSnd" name="harp.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35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350"/>
                                        <p:tgtEl>
                                          <p:spTgt spid="2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350"/>
                                        <p:tgtEl>
                                          <p:spTgt spid="2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350"/>
                                        <p:tgtEl>
                                          <p:spTgt spid="2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350"/>
                                        <p:tgtEl>
                                          <p:spTgt spid="2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350"/>
                                        <p:tgtEl>
                                          <p:spTgt spid="2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350"/>
                                        <p:tgtEl>
                                          <p:spTgt spid="2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350"/>
                                        <p:tgtEl>
                                          <p:spTgt spid="2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350"/>
                                        <p:tgtEl>
                                          <p:spTgt spid="2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350"/>
                                        <p:tgtEl>
                                          <p:spTgt spid="3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350"/>
                                        <p:tgtEl>
                                          <p:spTgt spid="3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3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431433"/>
        </a:solidFill>
      </p:bgPr>
    </p:bg>
    <p:spTree>
      <p:nvGrpSpPr>
        <p:cNvPr id="1" name=""/>
        <p:cNvGrpSpPr/>
        <p:nvPr/>
      </p:nvGrpSpPr>
      <p:grpSpPr>
        <a:xfrm>
          <a:off x="0" y="0"/>
          <a:ext cx="0" cy="0"/>
          <a:chOff x="0" y="0"/>
          <a:chExt cx="0" cy="0"/>
        </a:xfrm>
      </p:grpSpPr>
      <p:sp>
        <p:nvSpPr>
          <p:cNvPr id="2" name="Deco planet"/>
          <p:cNvSpPr/>
          <p:nvPr/>
        </p:nvSpPr>
        <p:spPr>
          <a:xfrm>
            <a:off x="7680960" y="91440"/>
            <a:ext cx="731520" cy="731520"/>
          </a:xfrm>
          <a:prstGeom prst="ellipse">
            <a:avLst/>
          </a:prstGeom>
          <a:solidFill>
            <a:srgbClr val="E05269"/>
          </a:solidFill>
          <a:ln w="12700">
            <a:solidFill>
              <a:srgbClr val="E05269"/>
            </a:solidFill>
            <a:prstDash val="solid"/>
          </a:ln>
        </p:spPr>
      </p:sp>
      <p:sp>
        <p:nvSpPr>
          <p:cNvPr id="3" name="Deco planet ring"/>
          <p:cNvSpPr/>
          <p:nvPr/>
        </p:nvSpPr>
        <p:spPr>
          <a:xfrm>
            <a:off x="7452360" y="384048"/>
            <a:ext cx="1188720" cy="164592"/>
          </a:xfrm>
          <a:prstGeom prst="ellipse">
            <a:avLst/>
          </a:prstGeom>
          <a:solidFill>
            <a:srgbClr val="FFFFFF">
              <a:alpha val="0"/>
            </a:srgbClr>
          </a:solidFill>
          <a:ln w="25400">
            <a:solidFill>
              <a:srgbClr val="F2AE8C"/>
            </a:solidFill>
            <a:prstDash val="solid"/>
          </a:ln>
        </p:spPr>
      </p:sp>
      <p:sp>
        <p:nvSpPr>
          <p:cNvPr id="4" name="Deco small planet"/>
          <p:cNvSpPr/>
          <p:nvPr/>
        </p:nvSpPr>
        <p:spPr>
          <a:xfrm>
            <a:off x="274320" y="182880"/>
            <a:ext cx="502920" cy="502920"/>
          </a:xfrm>
          <a:prstGeom prst="ellipse">
            <a:avLst/>
          </a:prstGeom>
          <a:solidFill>
            <a:srgbClr val="70DB94"/>
          </a:solidFill>
          <a:ln w="12700">
            <a:solidFill>
              <a:srgbClr val="70DB94"/>
            </a:solidFill>
            <a:prstDash val="solid"/>
          </a:ln>
        </p:spPr>
      </p:sp>
      <p:sp>
        <p:nvSpPr>
          <p:cNvPr id="5" name="Deco star 0"/>
          <p:cNvSpPr/>
          <p:nvPr/>
        </p:nvSpPr>
        <p:spPr>
          <a:xfrm>
            <a:off x="1371600" y="274320"/>
            <a:ext cx="256032" cy="256032"/>
          </a:xfrm>
          <a:prstGeom prst="star5">
            <a:avLst/>
          </a:prstGeom>
          <a:solidFill>
            <a:srgbClr val="FFE066"/>
          </a:solidFill>
          <a:ln w="12700">
            <a:solidFill>
              <a:srgbClr val="FFE066"/>
            </a:solidFill>
            <a:prstDash val="solid"/>
          </a:ln>
        </p:spPr>
      </p:sp>
      <p:sp>
        <p:nvSpPr>
          <p:cNvPr id="6" name="Deco star 1"/>
          <p:cNvSpPr/>
          <p:nvPr/>
        </p:nvSpPr>
        <p:spPr>
          <a:xfrm>
            <a:off x="2468880" y="91440"/>
            <a:ext cx="256032" cy="256032"/>
          </a:xfrm>
          <a:prstGeom prst="star4">
            <a:avLst/>
          </a:prstGeom>
          <a:solidFill>
            <a:srgbClr val="FFFFFF"/>
          </a:solidFill>
          <a:ln w="12700">
            <a:solidFill>
              <a:srgbClr val="FFFFFF"/>
            </a:solidFill>
            <a:prstDash val="solid"/>
          </a:ln>
        </p:spPr>
      </p:sp>
      <p:sp>
        <p:nvSpPr>
          <p:cNvPr id="7" name="Deco star 2"/>
          <p:cNvSpPr/>
          <p:nvPr/>
        </p:nvSpPr>
        <p:spPr>
          <a:xfrm>
            <a:off x="3840480" y="502920"/>
            <a:ext cx="256032" cy="256032"/>
          </a:xfrm>
          <a:prstGeom prst="star5">
            <a:avLst/>
          </a:prstGeom>
          <a:solidFill>
            <a:srgbClr val="FFFFFF"/>
          </a:solidFill>
          <a:ln w="12700">
            <a:solidFill>
              <a:srgbClr val="FFFFFF"/>
            </a:solidFill>
            <a:prstDash val="solid"/>
          </a:ln>
        </p:spPr>
      </p:sp>
      <p:sp>
        <p:nvSpPr>
          <p:cNvPr id="8" name="Deco star 3"/>
          <p:cNvSpPr/>
          <p:nvPr/>
        </p:nvSpPr>
        <p:spPr>
          <a:xfrm>
            <a:off x="5120640" y="137160"/>
            <a:ext cx="256032" cy="256032"/>
          </a:xfrm>
          <a:prstGeom prst="star4">
            <a:avLst/>
          </a:prstGeom>
          <a:solidFill>
            <a:srgbClr val="FFE066"/>
          </a:solidFill>
          <a:ln w="12700">
            <a:solidFill>
              <a:srgbClr val="FFE066"/>
            </a:solidFill>
            <a:prstDash val="solid"/>
          </a:ln>
        </p:spPr>
      </p:sp>
      <p:sp>
        <p:nvSpPr>
          <p:cNvPr id="9" name="Deco star 4"/>
          <p:cNvSpPr/>
          <p:nvPr/>
        </p:nvSpPr>
        <p:spPr>
          <a:xfrm>
            <a:off x="6583680" y="457200"/>
            <a:ext cx="256032" cy="256032"/>
          </a:xfrm>
          <a:prstGeom prst="star5">
            <a:avLst/>
          </a:prstGeom>
          <a:solidFill>
            <a:srgbClr val="FFFFFF"/>
          </a:solidFill>
          <a:ln w="12700">
            <a:solidFill>
              <a:srgbClr val="FFFFFF"/>
            </a:solidFill>
            <a:prstDash val="solid"/>
          </a:ln>
        </p:spPr>
      </p:sp>
      <p:sp>
        <p:nvSpPr>
          <p:cNvPr id="10" name="Deco star 5"/>
          <p:cNvSpPr/>
          <p:nvPr/>
        </p:nvSpPr>
        <p:spPr>
          <a:xfrm>
            <a:off x="1097280" y="4572000"/>
            <a:ext cx="256032" cy="256032"/>
          </a:xfrm>
          <a:prstGeom prst="star4">
            <a:avLst/>
          </a:prstGeom>
          <a:solidFill>
            <a:srgbClr val="FFFFFF"/>
          </a:solidFill>
          <a:ln w="12700">
            <a:solidFill>
              <a:srgbClr val="FFFFFF"/>
            </a:solidFill>
            <a:prstDash val="solid"/>
          </a:ln>
        </p:spPr>
      </p:sp>
      <p:sp>
        <p:nvSpPr>
          <p:cNvPr id="11" name="Deco star 6"/>
          <p:cNvSpPr/>
          <p:nvPr/>
        </p:nvSpPr>
        <p:spPr>
          <a:xfrm>
            <a:off x="2743200" y="4754880"/>
            <a:ext cx="256032" cy="256032"/>
          </a:xfrm>
          <a:prstGeom prst="star5">
            <a:avLst/>
          </a:prstGeom>
          <a:solidFill>
            <a:srgbClr val="FFE066"/>
          </a:solidFill>
          <a:ln w="12700">
            <a:solidFill>
              <a:srgbClr val="FFE066"/>
            </a:solidFill>
            <a:prstDash val="solid"/>
          </a:ln>
        </p:spPr>
      </p:sp>
      <p:sp>
        <p:nvSpPr>
          <p:cNvPr id="12" name="Deco star 7"/>
          <p:cNvSpPr/>
          <p:nvPr/>
        </p:nvSpPr>
        <p:spPr>
          <a:xfrm>
            <a:off x="6217920" y="4663440"/>
            <a:ext cx="256032" cy="256032"/>
          </a:xfrm>
          <a:prstGeom prst="star4">
            <a:avLst/>
          </a:prstGeom>
          <a:solidFill>
            <a:srgbClr val="FFFFFF"/>
          </a:solidFill>
          <a:ln w="12700">
            <a:solidFill>
              <a:srgbClr val="FFFFFF"/>
            </a:solidFill>
            <a:prstDash val="solid"/>
          </a:ln>
        </p:spPr>
      </p:sp>
      <p:sp>
        <p:nvSpPr>
          <p:cNvPr id="13" name="Deco star 8"/>
          <p:cNvSpPr/>
          <p:nvPr/>
        </p:nvSpPr>
        <p:spPr>
          <a:xfrm>
            <a:off x="8138160" y="4572000"/>
            <a:ext cx="256032" cy="256032"/>
          </a:xfrm>
          <a:prstGeom prst="star5">
            <a:avLst/>
          </a:prstGeom>
          <a:solidFill>
            <a:srgbClr val="FFFFFF"/>
          </a:solidFill>
          <a:ln w="12700">
            <a:solidFill>
              <a:srgbClr val="FFFFFF"/>
            </a:solidFill>
            <a:prstDash val="solid"/>
          </a:ln>
        </p:spPr>
      </p:sp>
      <p:sp>
        <p:nvSpPr>
          <p:cNvPr id="14" name="Deco moon surface"/>
          <p:cNvSpPr/>
          <p:nvPr/>
        </p:nvSpPr>
        <p:spPr>
          <a:xfrm>
            <a:off x="3200400" y="4709160"/>
            <a:ext cx="2743200" cy="1097280"/>
          </a:xfrm>
          <a:prstGeom prst="ellipse">
            <a:avLst/>
          </a:prstGeom>
          <a:solidFill>
            <a:srgbClr val="475C85"/>
          </a:solidFill>
          <a:ln w="12700">
            <a:solidFill>
              <a:srgbClr val="475C85"/>
            </a:solidFill>
            <a:prstDash val="solid"/>
          </a:ln>
        </p:spPr>
      </p:sp>
      <p:sp>
        <p:nvSpPr>
          <p:cNvPr id="15" name="Title box"/>
          <p:cNvSpPr/>
          <p:nvPr/>
        </p:nvSpPr>
        <p:spPr>
          <a:xfrm>
            <a:off x="365760" y="896112"/>
            <a:ext cx="8412480" cy="530352"/>
          </a:xfrm>
          <a:prstGeom prst="roundRect">
            <a:avLst>
              <a:gd name="adj" fmla="val 34483"/>
            </a:avLst>
          </a:prstGeom>
          <a:solidFill>
            <a:srgbClr val="5F3DC4"/>
          </a:solidFill>
          <a:ln w="12700">
            <a:solidFill>
              <a:srgbClr val="333333"/>
            </a:solidFill>
            <a:prstDash val="solid"/>
          </a:ln>
        </p:spPr>
      </p:sp>
      <p:sp>
        <p:nvSpPr>
          <p:cNvPr id="16" name="Title"/>
          <p:cNvSpPr txBox="1"/>
          <p:nvPr/>
        </p:nvSpPr>
        <p:spPr>
          <a:xfrm>
            <a:off x="365760" y="870712"/>
            <a:ext cx="8412480" cy="530352"/>
          </a:xfrm>
          <a:prstGeom prst="rect">
            <a:avLst/>
          </a:prstGeom>
          <a:noFill/>
          <a:ln/>
        </p:spPr>
        <p:txBody>
          <a:bodyPr wrap="none" lIns="0" tIns="0" rIns="0" bIns="0" rtlCol="0" anchor="ctr"/>
          <a:lstStyle/>
          <a:p>
            <a:pPr algn="ctr" indent="0" marL="0">
              <a:buNone/>
            </a:pPr>
            <a:r>
              <a:rPr lang="en-US" sz="2500" b="1" dirty="0">
                <a:solidFill>
                  <a:srgbClr val="FFFFFF"/>
                </a:solidFill>
                <a:latin typeface="Arial" pitchFamily="34" charset="0"/>
                <a:ea typeface="Arial" pitchFamily="34" charset="-122"/>
                <a:cs typeface="Arial" pitchFamily="34" charset="-120"/>
              </a:rPr>
              <a:t>Upright oval: read only when you stop</a:t>
            </a:r>
            <a:endParaRPr lang="en-US" sz="2500" dirty="0"/>
          </a:p>
        </p:txBody>
      </p:sp>
      <p:sp>
        <p:nvSpPr>
          <p:cNvPr id="17" name="Panel written"/>
          <p:cNvSpPr/>
          <p:nvPr/>
        </p:nvSpPr>
        <p:spPr>
          <a:xfrm>
            <a:off x="4892040" y="1554480"/>
            <a:ext cx="3886200" cy="1874520"/>
          </a:xfrm>
          <a:prstGeom prst="roundRect">
            <a:avLst>
              <a:gd name="adj" fmla="val 12195"/>
            </a:avLst>
          </a:prstGeom>
          <a:solidFill>
            <a:srgbClr val="FFFFFF"/>
          </a:solidFill>
          <a:ln w="88900">
            <a:solidFill>
              <a:srgbClr val="5F3DC4"/>
            </a:solidFill>
            <a:prstDash val="solid"/>
          </a:ln>
        </p:spPr>
      </p:sp>
      <p:sp>
        <p:nvSpPr>
          <p:cNvPr id="18" name="C1 written"/>
          <p:cNvSpPr txBox="1"/>
          <p:nvPr/>
        </p:nvSpPr>
        <p:spPr>
          <a:xfrm>
            <a:off x="4892040" y="1741562"/>
            <a:ext cx="3886200" cy="1874520"/>
          </a:xfrm>
          <a:prstGeom prst="rect">
            <a:avLst/>
          </a:prstGeom>
          <a:noFill/>
          <a:ln/>
        </p:spPr>
        <p:txBody>
          <a:bodyPr wrap="none" lIns="0" tIns="0" rIns="0" bIns="0" rtlCol="0" anchor="ctr"/>
          <a:lstStyle/>
          <a:p>
            <a:pPr algn="ctr" indent="0" marL="0">
              <a:buNone/>
            </a:pPr>
            <a:r>
              <a:rPr lang="ar-SA" altLang="en-US" sz="6700" dirty="0">
                <a:solidFill>
                  <a:srgbClr val="16213E"/>
                </a:solidFill>
                <a:latin typeface="Traditional Arabic" pitchFamily="34" charset="0"/>
                <a:ea typeface="Traditional Arabic" pitchFamily="34" charset="-122"/>
                <a:cs typeface="Traditional Arabic" pitchFamily="34" charset="-120"/>
              </a:rPr>
              <a:t>ٱلظُّنُونَ</a:t>
            </a:r>
            <a:r>
              <a:rPr lang="ar-SA" altLang="en-US" sz="6700" dirty="0">
                <a:solidFill>
                  <a:srgbClr val="E03131"/>
                </a:solidFill>
                <a:latin typeface="Traditional Arabic" pitchFamily="34" charset="0"/>
                <a:ea typeface="Traditional Arabic" pitchFamily="34" charset="-122"/>
                <a:cs typeface="Traditional Arabic" pitchFamily="34" charset="-120"/>
              </a:rPr>
              <a:t>ا۠</a:t>
            </a:r>
            <a:endParaRPr lang="ar-SA" sz="6700" dirty="0"/>
          </a:p>
        </p:txBody>
      </p:sp>
      <p:sp>
        <p:nvSpPr>
          <p:cNvPr id="19" name="C2 arrow"/>
          <p:cNvSpPr/>
          <p:nvPr/>
        </p:nvSpPr>
        <p:spPr>
          <a:xfrm>
            <a:off x="4315968" y="2263140"/>
            <a:ext cx="512064" cy="457200"/>
          </a:xfrm>
          <a:prstGeom prst="leftArrow">
            <a:avLst/>
          </a:prstGeom>
          <a:solidFill>
            <a:srgbClr val="2EB7B8"/>
          </a:solidFill>
          <a:ln w="12700">
            <a:solidFill>
              <a:srgbClr val="333333"/>
            </a:solidFill>
            <a:prstDash val="solid"/>
          </a:ln>
        </p:spPr>
      </p:sp>
      <p:sp>
        <p:nvSpPr>
          <p:cNvPr id="20" name="C2 row 1"/>
          <p:cNvSpPr/>
          <p:nvPr/>
        </p:nvSpPr>
        <p:spPr>
          <a:xfrm>
            <a:off x="365760" y="1554480"/>
            <a:ext cx="3886200" cy="891540"/>
          </a:xfrm>
          <a:prstGeom prst="roundRect">
            <a:avLst>
              <a:gd name="adj" fmla="val 25641"/>
            </a:avLst>
          </a:prstGeom>
          <a:solidFill>
            <a:srgbClr val="FFFBE3"/>
          </a:solidFill>
          <a:ln w="88900">
            <a:solidFill>
              <a:srgbClr val="868E96"/>
            </a:solidFill>
            <a:prstDash val="solid"/>
          </a:ln>
        </p:spPr>
      </p:sp>
      <p:sp>
        <p:nvSpPr>
          <p:cNvPr id="21" name="C2 label 1 box"/>
          <p:cNvSpPr/>
          <p:nvPr/>
        </p:nvSpPr>
        <p:spPr>
          <a:xfrm>
            <a:off x="457200" y="1664208"/>
            <a:ext cx="1325880" cy="672084"/>
          </a:xfrm>
          <a:prstGeom prst="roundRect">
            <a:avLst>
              <a:gd name="adj" fmla="val 27211"/>
            </a:avLst>
          </a:prstGeom>
          <a:solidFill>
            <a:srgbClr val="868E96"/>
          </a:solidFill>
          <a:ln w="12700">
            <a:solidFill>
              <a:srgbClr val="333333"/>
            </a:solidFill>
            <a:prstDash val="solid"/>
          </a:ln>
        </p:spPr>
      </p:sp>
      <p:sp>
        <p:nvSpPr>
          <p:cNvPr id="22" name="C2 label 1"/>
          <p:cNvSpPr txBox="1"/>
          <p:nvPr/>
        </p:nvSpPr>
        <p:spPr>
          <a:xfrm>
            <a:off x="457200" y="1647952"/>
            <a:ext cx="1325880" cy="672084"/>
          </a:xfrm>
          <a:prstGeom prst="rect">
            <a:avLst/>
          </a:prstGeom>
          <a:noFill/>
          <a:ln/>
        </p:spPr>
        <p:txBody>
          <a:bodyPr wrap="non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Connecting</a:t>
            </a:r>
            <a:endParaRPr lang="en-US" sz="1600" dirty="0"/>
          </a:p>
        </p:txBody>
      </p:sp>
      <p:sp>
        <p:nvSpPr>
          <p:cNvPr id="23" name="C2 read 1"/>
          <p:cNvSpPr txBox="1"/>
          <p:nvPr/>
        </p:nvSpPr>
        <p:spPr>
          <a:xfrm>
            <a:off x="1828800" y="1624287"/>
            <a:ext cx="2331720" cy="891540"/>
          </a:xfrm>
          <a:prstGeom prst="rect">
            <a:avLst/>
          </a:prstGeom>
          <a:noFill/>
          <a:ln/>
        </p:spPr>
        <p:txBody>
          <a:bodyPr wrap="none" lIns="0" tIns="0" rIns="0" bIns="0" rtlCol="0" anchor="ctr"/>
          <a:lstStyle/>
          <a:p>
            <a:pPr algn="ctr" indent="0" marL="0">
              <a:buNone/>
            </a:pPr>
            <a:r>
              <a:rPr lang="ar-SA" altLang="en-US" sz="2500" dirty="0">
                <a:solidFill>
                  <a:srgbClr val="16213E"/>
                </a:solidFill>
                <a:latin typeface="Traditional Arabic" pitchFamily="34" charset="0"/>
                <a:ea typeface="Traditional Arabic" pitchFamily="34" charset="-122"/>
                <a:cs typeface="Traditional Arabic" pitchFamily="34" charset="-120"/>
              </a:rPr>
              <a:t>ٱلظُّنُونَ</a:t>
            </a:r>
            <a:endParaRPr lang="ar-SA" sz="2500" dirty="0"/>
          </a:p>
        </p:txBody>
      </p:sp>
      <p:sp>
        <p:nvSpPr>
          <p:cNvPr id="24" name="C3 row 2"/>
          <p:cNvSpPr/>
          <p:nvPr/>
        </p:nvSpPr>
        <p:spPr>
          <a:xfrm>
            <a:off x="365760" y="2537460"/>
            <a:ext cx="3886200" cy="891540"/>
          </a:xfrm>
          <a:prstGeom prst="roundRect">
            <a:avLst>
              <a:gd name="adj" fmla="val 25641"/>
            </a:avLst>
          </a:prstGeom>
          <a:solidFill>
            <a:srgbClr val="FFFBE3"/>
          </a:solidFill>
          <a:ln w="88900">
            <a:solidFill>
              <a:srgbClr val="2F9E44"/>
            </a:solidFill>
            <a:prstDash val="solid"/>
          </a:ln>
        </p:spPr>
      </p:sp>
      <p:sp>
        <p:nvSpPr>
          <p:cNvPr id="25" name="C3 label 2 box"/>
          <p:cNvSpPr/>
          <p:nvPr/>
        </p:nvSpPr>
        <p:spPr>
          <a:xfrm>
            <a:off x="457200" y="2647188"/>
            <a:ext cx="1325880" cy="672084"/>
          </a:xfrm>
          <a:prstGeom prst="roundRect">
            <a:avLst>
              <a:gd name="adj" fmla="val 27211"/>
            </a:avLst>
          </a:prstGeom>
          <a:solidFill>
            <a:srgbClr val="2F9E44"/>
          </a:solidFill>
          <a:ln w="12700">
            <a:solidFill>
              <a:srgbClr val="333333"/>
            </a:solidFill>
            <a:prstDash val="solid"/>
          </a:ln>
        </p:spPr>
      </p:sp>
      <p:sp>
        <p:nvSpPr>
          <p:cNvPr id="26" name="C3 label 2"/>
          <p:cNvSpPr txBox="1"/>
          <p:nvPr/>
        </p:nvSpPr>
        <p:spPr>
          <a:xfrm>
            <a:off x="457200" y="2625852"/>
            <a:ext cx="1325880" cy="672084"/>
          </a:xfrm>
          <a:prstGeom prst="rect">
            <a:avLst/>
          </a:prstGeom>
          <a:noFill/>
          <a:ln/>
        </p:spPr>
        <p:txBody>
          <a:bodyPr wrap="non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Stopping</a:t>
            </a:r>
            <a:endParaRPr lang="en-US" sz="2100" dirty="0"/>
          </a:p>
        </p:txBody>
      </p:sp>
      <p:sp>
        <p:nvSpPr>
          <p:cNvPr id="27" name="C3 read 2"/>
          <p:cNvSpPr txBox="1"/>
          <p:nvPr/>
        </p:nvSpPr>
        <p:spPr>
          <a:xfrm>
            <a:off x="1828800" y="2607267"/>
            <a:ext cx="2331720" cy="891540"/>
          </a:xfrm>
          <a:prstGeom prst="rect">
            <a:avLst/>
          </a:prstGeom>
          <a:noFill/>
          <a:ln/>
        </p:spPr>
        <p:txBody>
          <a:bodyPr wrap="none" lIns="0" tIns="0" rIns="0" bIns="0" rtlCol="0" anchor="ctr"/>
          <a:lstStyle/>
          <a:p>
            <a:pPr algn="ctr" indent="0" marL="0">
              <a:buNone/>
            </a:pPr>
            <a:r>
              <a:rPr lang="ar-SA" altLang="en-US" sz="2500" dirty="0">
                <a:solidFill>
                  <a:srgbClr val="16213E"/>
                </a:solidFill>
                <a:latin typeface="Traditional Arabic" pitchFamily="34" charset="0"/>
                <a:ea typeface="Traditional Arabic" pitchFamily="34" charset="-122"/>
                <a:cs typeface="Traditional Arabic" pitchFamily="34" charset="-120"/>
              </a:rPr>
              <a:t>ٱلظُّنُونَ</a:t>
            </a:r>
            <a:r>
              <a:rPr lang="ar-SA" altLang="en-US" sz="2500" dirty="0">
                <a:solidFill>
                  <a:srgbClr val="2F9E44"/>
                </a:solidFill>
                <a:latin typeface="Traditional Arabic" pitchFamily="34" charset="0"/>
                <a:ea typeface="Traditional Arabic" pitchFamily="34" charset="-122"/>
                <a:cs typeface="Traditional Arabic" pitchFamily="34" charset="-120"/>
              </a:rPr>
              <a:t>ا</a:t>
            </a:r>
            <a:endParaRPr lang="ar-SA" sz="2500" dirty="0"/>
          </a:p>
        </p:txBody>
      </p:sp>
      <p:sp>
        <p:nvSpPr>
          <p:cNvPr id="28" name="C4 tip box"/>
          <p:cNvSpPr/>
          <p:nvPr/>
        </p:nvSpPr>
        <p:spPr>
          <a:xfrm>
            <a:off x="365760" y="3566160"/>
            <a:ext cx="8412480" cy="685800"/>
          </a:xfrm>
          <a:prstGeom prst="roundRect">
            <a:avLst>
              <a:gd name="adj" fmla="val 26667"/>
            </a:avLst>
          </a:prstGeom>
          <a:solidFill>
            <a:srgbClr val="5F3DC4"/>
          </a:solidFill>
          <a:ln w="12700">
            <a:solidFill>
              <a:srgbClr val="333333"/>
            </a:solidFill>
            <a:prstDash val="solid"/>
          </a:ln>
        </p:spPr>
      </p:sp>
      <p:sp>
        <p:nvSpPr>
          <p:cNvPr id="29" name="C4 tip"/>
          <p:cNvSpPr txBox="1"/>
          <p:nvPr/>
        </p:nvSpPr>
        <p:spPr>
          <a:xfrm>
            <a:off x="365760" y="3539744"/>
            <a:ext cx="8412480" cy="685800"/>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At the end of the verse we stop with the alif</a:t>
            </a:r>
            <a:endParaRPr lang="en-US" sz="2600" dirty="0"/>
          </a:p>
        </p:txBody>
      </p:sp>
    </p:spTree>
  </p:cSld>
  <p:clrMapOvr>
    <a:masterClrMapping/>
  </p:clrMapOvr>
  <p:transition spd="med">
    <p:wheel spokes="4"/>
    <p:sndAc>
      <p:stSnd>
        <p:snd r:embed="rIdTrSnd" name="chime.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5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35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35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35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350"/>
                                        <p:tgtEl>
                                          <p:spTgt spid="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350"/>
                                        <p:tgtEl>
                                          <p:spTgt spid="2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35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350"/>
                                        <p:tgtEl>
                                          <p:spTgt spid="2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350"/>
                                        <p:tgtEl>
                                          <p:spTgt spid="2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350"/>
                                        <p:tgtEl>
                                          <p:spTgt spid="2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35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3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D8F7C5"/>
        </a:solidFill>
      </p:bgPr>
    </p:bg>
    <p:spTree>
      <p:nvGrpSpPr>
        <p:cNvPr id="1" name=""/>
        <p:cNvGrpSpPr/>
        <p:nvPr/>
      </p:nvGrpSpPr>
      <p:grpSpPr>
        <a:xfrm>
          <a:off x="0" y="0"/>
          <a:ext cx="0" cy="0"/>
          <a:chOff x="0" y="0"/>
          <a:chExt cx="0" cy="0"/>
        </a:xfrm>
      </p:grpSpPr>
      <p:sp>
        <p:nvSpPr>
          <p:cNvPr id="2" name="Deco sun low"/>
          <p:cNvSpPr/>
          <p:nvPr/>
        </p:nvSpPr>
        <p:spPr>
          <a:xfrm>
            <a:off x="3566160" y="4343400"/>
            <a:ext cx="2011680" cy="2011680"/>
          </a:xfrm>
          <a:prstGeom prst="ellipse">
            <a:avLst/>
          </a:prstGeom>
          <a:solidFill>
            <a:srgbClr val="FFB347"/>
          </a:solidFill>
          <a:ln w="12700">
            <a:solidFill>
              <a:srgbClr val="FFB347"/>
            </a:solidFill>
            <a:prstDash val="solid"/>
          </a:ln>
        </p:spPr>
      </p:sp>
      <p:sp>
        <p:nvSpPr>
          <p:cNvPr id="3" name="Deco dune left"/>
          <p:cNvSpPr/>
          <p:nvPr/>
        </p:nvSpPr>
        <p:spPr>
          <a:xfrm>
            <a:off x="-1097280" y="4572000"/>
            <a:ext cx="4572000" cy="1280160"/>
          </a:xfrm>
          <a:prstGeom prst="ellipse">
            <a:avLst/>
          </a:prstGeom>
          <a:solidFill>
            <a:srgbClr val="64D869"/>
          </a:solidFill>
          <a:ln w="12700">
            <a:solidFill>
              <a:srgbClr val="64D869"/>
            </a:solidFill>
            <a:prstDash val="solid"/>
          </a:ln>
        </p:spPr>
      </p:sp>
      <p:sp>
        <p:nvSpPr>
          <p:cNvPr id="4" name="Deco dune right"/>
          <p:cNvSpPr/>
          <p:nvPr/>
        </p:nvSpPr>
        <p:spPr>
          <a:xfrm>
            <a:off x="5303520" y="4617720"/>
            <a:ext cx="5120640" cy="1280160"/>
          </a:xfrm>
          <a:prstGeom prst="ellipse">
            <a:avLst/>
          </a:prstGeom>
          <a:solidFill>
            <a:srgbClr val="58D147"/>
          </a:solidFill>
          <a:ln w="12700">
            <a:solidFill>
              <a:srgbClr val="58D147"/>
            </a:solidFill>
            <a:prstDash val="solid"/>
          </a:ln>
        </p:spPr>
      </p:sp>
      <p:sp>
        <p:nvSpPr>
          <p:cNvPr id="5" name="Deco cloud"/>
          <p:cNvSpPr/>
          <p:nvPr/>
        </p:nvSpPr>
        <p:spPr>
          <a:xfrm>
            <a:off x="320040" y="137160"/>
            <a:ext cx="1371600" cy="594360"/>
          </a:xfrm>
          <a:prstGeom prst="cloud">
            <a:avLst/>
          </a:prstGeom>
          <a:solidFill>
            <a:srgbClr val="FFFFFF"/>
          </a:solidFill>
          <a:ln w="12700">
            <a:solidFill>
              <a:srgbClr val="FFFFFF"/>
            </a:solidFill>
            <a:prstDash val="solid"/>
          </a:ln>
        </p:spPr>
      </p:sp>
      <p:sp>
        <p:nvSpPr>
          <p:cNvPr id="6" name="Deco cloud right"/>
          <p:cNvSpPr/>
          <p:nvPr/>
        </p:nvSpPr>
        <p:spPr>
          <a:xfrm>
            <a:off x="7223760" y="182880"/>
            <a:ext cx="1280160" cy="548640"/>
          </a:xfrm>
          <a:prstGeom prst="cloud">
            <a:avLst/>
          </a:prstGeom>
          <a:solidFill>
            <a:srgbClr val="FFF3E8"/>
          </a:solidFill>
          <a:ln w="12700">
            <a:solidFill>
              <a:srgbClr val="FFF3E8"/>
            </a:solidFill>
            <a:prstDash val="solid"/>
          </a:ln>
        </p:spPr>
      </p:sp>
      <p:sp>
        <p:nvSpPr>
          <p:cNvPr id="7" name="Deco bird 0"/>
          <p:cNvSpPr/>
          <p:nvPr/>
        </p:nvSpPr>
        <p:spPr>
          <a:xfrm rot="5400000">
            <a:off x="2926080" y="320040"/>
            <a:ext cx="274320" cy="128016"/>
          </a:xfrm>
          <a:prstGeom prst="chevron">
            <a:avLst/>
          </a:prstGeom>
          <a:solidFill>
            <a:srgbClr val="6B4A3A"/>
          </a:solidFill>
          <a:ln w="12700">
            <a:solidFill>
              <a:srgbClr val="6B4A3A"/>
            </a:solidFill>
            <a:prstDash val="solid"/>
          </a:ln>
        </p:spPr>
      </p:sp>
      <p:sp>
        <p:nvSpPr>
          <p:cNvPr id="8" name="Deco bird 1"/>
          <p:cNvSpPr/>
          <p:nvPr/>
        </p:nvSpPr>
        <p:spPr>
          <a:xfrm rot="5400000">
            <a:off x="3291840" y="228600"/>
            <a:ext cx="274320" cy="128016"/>
          </a:xfrm>
          <a:prstGeom prst="chevron">
            <a:avLst/>
          </a:prstGeom>
          <a:solidFill>
            <a:srgbClr val="6B4A3A"/>
          </a:solidFill>
          <a:ln w="12700">
            <a:solidFill>
              <a:srgbClr val="6B4A3A"/>
            </a:solidFill>
            <a:prstDash val="solid"/>
          </a:ln>
        </p:spPr>
      </p:sp>
      <p:sp>
        <p:nvSpPr>
          <p:cNvPr id="9" name="Deco bird 2"/>
          <p:cNvSpPr/>
          <p:nvPr/>
        </p:nvSpPr>
        <p:spPr>
          <a:xfrm rot="5400000">
            <a:off x="5394960" y="365760"/>
            <a:ext cx="274320" cy="128016"/>
          </a:xfrm>
          <a:prstGeom prst="chevron">
            <a:avLst/>
          </a:prstGeom>
          <a:solidFill>
            <a:srgbClr val="6B4A3A"/>
          </a:solidFill>
          <a:ln w="12700">
            <a:solidFill>
              <a:srgbClr val="6B4A3A"/>
            </a:solidFill>
            <a:prstDash val="solid"/>
          </a:ln>
        </p:spPr>
      </p:sp>
      <p:sp>
        <p:nvSpPr>
          <p:cNvPr id="10" name="Title box"/>
          <p:cNvSpPr/>
          <p:nvPr/>
        </p:nvSpPr>
        <p:spPr>
          <a:xfrm>
            <a:off x="365760" y="896112"/>
            <a:ext cx="8412480" cy="530352"/>
          </a:xfrm>
          <a:prstGeom prst="roundRect">
            <a:avLst>
              <a:gd name="adj" fmla="val 34483"/>
            </a:avLst>
          </a:prstGeom>
          <a:solidFill>
            <a:srgbClr val="5F3DC4"/>
          </a:solidFill>
          <a:ln w="12700">
            <a:solidFill>
              <a:srgbClr val="333333"/>
            </a:solidFill>
            <a:prstDash val="solid"/>
          </a:ln>
        </p:spPr>
      </p:sp>
      <p:sp>
        <p:nvSpPr>
          <p:cNvPr id="11" name="Title"/>
          <p:cNvSpPr txBox="1"/>
          <p:nvPr/>
        </p:nvSpPr>
        <p:spPr>
          <a:xfrm>
            <a:off x="365760" y="870712"/>
            <a:ext cx="8412480" cy="530352"/>
          </a:xfrm>
          <a:prstGeom prst="rect">
            <a:avLst/>
          </a:prstGeom>
          <a:noFill/>
          <a:ln/>
        </p:spPr>
        <p:txBody>
          <a:bodyPr wrap="none" lIns="0" tIns="0" rIns="0" bIns="0" rtlCol="0" anchor="ctr"/>
          <a:lstStyle/>
          <a:p>
            <a:pPr algn="ctr" indent="0" marL="0">
              <a:buNone/>
            </a:pPr>
            <a:r>
              <a:rPr lang="en-US" sz="2500" b="1" dirty="0">
                <a:solidFill>
                  <a:srgbClr val="FFFFFF"/>
                </a:solidFill>
                <a:latin typeface="Arial" pitchFamily="34" charset="0"/>
                <a:ea typeface="Arial" pitchFamily="34" charset="-122"/>
                <a:cs typeface="Arial" pitchFamily="34" charset="-120"/>
              </a:rPr>
              <a:t>Upright oval: read only when you stop</a:t>
            </a:r>
            <a:endParaRPr lang="en-US" sz="2500" dirty="0"/>
          </a:p>
        </p:txBody>
      </p:sp>
      <p:sp>
        <p:nvSpPr>
          <p:cNvPr id="12" name="Panel written"/>
          <p:cNvSpPr/>
          <p:nvPr/>
        </p:nvSpPr>
        <p:spPr>
          <a:xfrm>
            <a:off x="4892040" y="1554480"/>
            <a:ext cx="3886200" cy="1874520"/>
          </a:xfrm>
          <a:prstGeom prst="roundRect">
            <a:avLst>
              <a:gd name="adj" fmla="val 12195"/>
            </a:avLst>
          </a:prstGeom>
          <a:solidFill>
            <a:srgbClr val="FFFFFF"/>
          </a:solidFill>
          <a:ln w="88900">
            <a:solidFill>
              <a:srgbClr val="5F3DC4"/>
            </a:solidFill>
            <a:prstDash val="solid"/>
          </a:ln>
        </p:spPr>
      </p:sp>
      <p:sp>
        <p:nvSpPr>
          <p:cNvPr id="13" name="C1 written"/>
          <p:cNvSpPr txBox="1"/>
          <p:nvPr/>
        </p:nvSpPr>
        <p:spPr>
          <a:xfrm>
            <a:off x="4892040" y="1511840"/>
            <a:ext cx="3886200" cy="1874520"/>
          </a:xfrm>
          <a:prstGeom prst="rect">
            <a:avLst/>
          </a:prstGeom>
          <a:noFill/>
          <a:ln/>
        </p:spPr>
        <p:txBody>
          <a:bodyPr wrap="none" lIns="0" tIns="0" rIns="0" bIns="0" rtlCol="0" anchor="ctr"/>
          <a:lstStyle/>
          <a:p>
            <a:pPr algn="ctr" indent="0" marL="0">
              <a:buNone/>
            </a:pPr>
            <a:r>
              <a:rPr lang="ar-SA" altLang="en-US" sz="7900" dirty="0">
                <a:solidFill>
                  <a:srgbClr val="16213E"/>
                </a:solidFill>
                <a:latin typeface="Traditional Arabic" pitchFamily="34" charset="0"/>
                <a:ea typeface="Traditional Arabic" pitchFamily="34" charset="-122"/>
                <a:cs typeface="Traditional Arabic" pitchFamily="34" charset="-120"/>
              </a:rPr>
              <a:t>ٱلسَّبِيلَ</a:t>
            </a:r>
            <a:r>
              <a:rPr lang="ar-SA" altLang="en-US" sz="7900" dirty="0">
                <a:solidFill>
                  <a:srgbClr val="E03131"/>
                </a:solidFill>
                <a:latin typeface="Traditional Arabic" pitchFamily="34" charset="0"/>
                <a:ea typeface="Traditional Arabic" pitchFamily="34" charset="-122"/>
                <a:cs typeface="Traditional Arabic" pitchFamily="34" charset="-120"/>
              </a:rPr>
              <a:t>ا۠</a:t>
            </a:r>
            <a:endParaRPr lang="ar-SA" sz="7900" dirty="0"/>
          </a:p>
        </p:txBody>
      </p:sp>
      <p:sp>
        <p:nvSpPr>
          <p:cNvPr id="14" name="C2 arrow"/>
          <p:cNvSpPr/>
          <p:nvPr/>
        </p:nvSpPr>
        <p:spPr>
          <a:xfrm>
            <a:off x="4315968" y="2263140"/>
            <a:ext cx="512064" cy="457200"/>
          </a:xfrm>
          <a:prstGeom prst="leftArrow">
            <a:avLst/>
          </a:prstGeom>
          <a:solidFill>
            <a:srgbClr val="B82E8F"/>
          </a:solidFill>
          <a:ln w="12700">
            <a:solidFill>
              <a:srgbClr val="333333"/>
            </a:solidFill>
            <a:prstDash val="solid"/>
          </a:ln>
        </p:spPr>
      </p:sp>
      <p:sp>
        <p:nvSpPr>
          <p:cNvPr id="15" name="C2 row 1"/>
          <p:cNvSpPr/>
          <p:nvPr/>
        </p:nvSpPr>
        <p:spPr>
          <a:xfrm>
            <a:off x="365760" y="1554480"/>
            <a:ext cx="3886200" cy="891540"/>
          </a:xfrm>
          <a:prstGeom prst="roundRect">
            <a:avLst>
              <a:gd name="adj" fmla="val 25641"/>
            </a:avLst>
          </a:prstGeom>
          <a:solidFill>
            <a:srgbClr val="FFFBE3"/>
          </a:solidFill>
          <a:ln w="88900">
            <a:solidFill>
              <a:srgbClr val="868E96"/>
            </a:solidFill>
            <a:prstDash val="solid"/>
          </a:ln>
        </p:spPr>
      </p:sp>
      <p:sp>
        <p:nvSpPr>
          <p:cNvPr id="16" name="C2 label 1 box"/>
          <p:cNvSpPr/>
          <p:nvPr/>
        </p:nvSpPr>
        <p:spPr>
          <a:xfrm>
            <a:off x="457200" y="1664208"/>
            <a:ext cx="1325880" cy="672084"/>
          </a:xfrm>
          <a:prstGeom prst="roundRect">
            <a:avLst>
              <a:gd name="adj" fmla="val 27211"/>
            </a:avLst>
          </a:prstGeom>
          <a:solidFill>
            <a:srgbClr val="868E96"/>
          </a:solidFill>
          <a:ln w="12700">
            <a:solidFill>
              <a:srgbClr val="333333"/>
            </a:solidFill>
            <a:prstDash val="solid"/>
          </a:ln>
        </p:spPr>
      </p:sp>
      <p:sp>
        <p:nvSpPr>
          <p:cNvPr id="17" name="C2 label 1"/>
          <p:cNvSpPr txBox="1"/>
          <p:nvPr/>
        </p:nvSpPr>
        <p:spPr>
          <a:xfrm>
            <a:off x="457200" y="1647952"/>
            <a:ext cx="1325880" cy="672084"/>
          </a:xfrm>
          <a:prstGeom prst="rect">
            <a:avLst/>
          </a:prstGeom>
          <a:noFill/>
          <a:ln/>
        </p:spPr>
        <p:txBody>
          <a:bodyPr wrap="non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Connecting</a:t>
            </a:r>
            <a:endParaRPr lang="en-US" sz="1600" dirty="0"/>
          </a:p>
        </p:txBody>
      </p:sp>
      <p:sp>
        <p:nvSpPr>
          <p:cNvPr id="18" name="C2 read 1"/>
          <p:cNvSpPr txBox="1"/>
          <p:nvPr/>
        </p:nvSpPr>
        <p:spPr>
          <a:xfrm>
            <a:off x="1828800" y="1537525"/>
            <a:ext cx="2331720" cy="891540"/>
          </a:xfrm>
          <a:prstGeom prst="rect">
            <a:avLst/>
          </a:prstGeom>
          <a:noFill/>
          <a:ln/>
        </p:spPr>
        <p:txBody>
          <a:bodyPr wrap="none" lIns="0" tIns="0" rIns="0" bIns="0" rtlCol="0" anchor="ctr"/>
          <a:lstStyle/>
          <a:p>
            <a:pPr algn="ctr" indent="0" marL="0">
              <a:buNone/>
            </a:pPr>
            <a:r>
              <a:rPr lang="ar-SA" altLang="en-US" sz="3000" dirty="0">
                <a:solidFill>
                  <a:srgbClr val="16213E"/>
                </a:solidFill>
                <a:latin typeface="Traditional Arabic" pitchFamily="34" charset="0"/>
                <a:ea typeface="Traditional Arabic" pitchFamily="34" charset="-122"/>
                <a:cs typeface="Traditional Arabic" pitchFamily="34" charset="-120"/>
              </a:rPr>
              <a:t>ٱلسَّبِيلَ</a:t>
            </a:r>
            <a:endParaRPr lang="ar-SA" sz="3000" dirty="0"/>
          </a:p>
        </p:txBody>
      </p:sp>
      <p:sp>
        <p:nvSpPr>
          <p:cNvPr id="19" name="C3 row 2"/>
          <p:cNvSpPr/>
          <p:nvPr/>
        </p:nvSpPr>
        <p:spPr>
          <a:xfrm>
            <a:off x="365760" y="2537460"/>
            <a:ext cx="3886200" cy="891540"/>
          </a:xfrm>
          <a:prstGeom prst="roundRect">
            <a:avLst>
              <a:gd name="adj" fmla="val 25641"/>
            </a:avLst>
          </a:prstGeom>
          <a:solidFill>
            <a:srgbClr val="FFFBE3"/>
          </a:solidFill>
          <a:ln w="88900">
            <a:solidFill>
              <a:srgbClr val="2F9E44"/>
            </a:solidFill>
            <a:prstDash val="solid"/>
          </a:ln>
        </p:spPr>
      </p:sp>
      <p:sp>
        <p:nvSpPr>
          <p:cNvPr id="20" name="C3 label 2 box"/>
          <p:cNvSpPr/>
          <p:nvPr/>
        </p:nvSpPr>
        <p:spPr>
          <a:xfrm>
            <a:off x="457200" y="2647188"/>
            <a:ext cx="1325880" cy="672084"/>
          </a:xfrm>
          <a:prstGeom prst="roundRect">
            <a:avLst>
              <a:gd name="adj" fmla="val 27211"/>
            </a:avLst>
          </a:prstGeom>
          <a:solidFill>
            <a:srgbClr val="2F9E44"/>
          </a:solidFill>
          <a:ln w="12700">
            <a:solidFill>
              <a:srgbClr val="333333"/>
            </a:solidFill>
            <a:prstDash val="solid"/>
          </a:ln>
        </p:spPr>
      </p:sp>
      <p:sp>
        <p:nvSpPr>
          <p:cNvPr id="21" name="C3 label 2"/>
          <p:cNvSpPr txBox="1"/>
          <p:nvPr/>
        </p:nvSpPr>
        <p:spPr>
          <a:xfrm>
            <a:off x="457200" y="2625852"/>
            <a:ext cx="1325880" cy="672084"/>
          </a:xfrm>
          <a:prstGeom prst="rect">
            <a:avLst/>
          </a:prstGeom>
          <a:noFill/>
          <a:ln/>
        </p:spPr>
        <p:txBody>
          <a:bodyPr wrap="non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Stopping</a:t>
            </a:r>
            <a:endParaRPr lang="en-US" sz="2100" dirty="0"/>
          </a:p>
        </p:txBody>
      </p:sp>
      <p:sp>
        <p:nvSpPr>
          <p:cNvPr id="22" name="C3 read 2"/>
          <p:cNvSpPr txBox="1"/>
          <p:nvPr/>
        </p:nvSpPr>
        <p:spPr>
          <a:xfrm>
            <a:off x="1828800" y="2521268"/>
            <a:ext cx="2331720" cy="891540"/>
          </a:xfrm>
          <a:prstGeom prst="rect">
            <a:avLst/>
          </a:prstGeom>
          <a:noFill/>
          <a:ln/>
        </p:spPr>
        <p:txBody>
          <a:bodyPr wrap="none" lIns="0" tIns="0" rIns="0" bIns="0" rtlCol="0" anchor="ctr"/>
          <a:lstStyle/>
          <a:p>
            <a:pPr algn="ctr" indent="0" marL="0">
              <a:buNone/>
            </a:pPr>
            <a:r>
              <a:rPr lang="ar-SA" altLang="en-US" sz="3000" dirty="0">
                <a:solidFill>
                  <a:srgbClr val="16213E"/>
                </a:solidFill>
                <a:latin typeface="Traditional Arabic" pitchFamily="34" charset="0"/>
                <a:ea typeface="Traditional Arabic" pitchFamily="34" charset="-122"/>
                <a:cs typeface="Traditional Arabic" pitchFamily="34" charset="-120"/>
              </a:rPr>
              <a:t>ٱلسَّبِيلَ</a:t>
            </a:r>
            <a:r>
              <a:rPr lang="ar-SA" altLang="en-US" sz="3000" dirty="0">
                <a:solidFill>
                  <a:srgbClr val="2F9E44"/>
                </a:solidFill>
                <a:latin typeface="Traditional Arabic" pitchFamily="34" charset="0"/>
                <a:ea typeface="Traditional Arabic" pitchFamily="34" charset="-122"/>
                <a:cs typeface="Traditional Arabic" pitchFamily="34" charset="-120"/>
              </a:rPr>
              <a:t>ا</a:t>
            </a:r>
            <a:endParaRPr lang="ar-SA" sz="3000" dirty="0"/>
          </a:p>
        </p:txBody>
      </p:sp>
      <p:sp>
        <p:nvSpPr>
          <p:cNvPr id="23" name="C4 tip box"/>
          <p:cNvSpPr/>
          <p:nvPr/>
        </p:nvSpPr>
        <p:spPr>
          <a:xfrm>
            <a:off x="365760" y="3566160"/>
            <a:ext cx="8412480" cy="685800"/>
          </a:xfrm>
          <a:prstGeom prst="roundRect">
            <a:avLst>
              <a:gd name="adj" fmla="val 26667"/>
            </a:avLst>
          </a:prstGeom>
          <a:solidFill>
            <a:srgbClr val="5F3DC4"/>
          </a:solidFill>
          <a:ln w="12700">
            <a:solidFill>
              <a:srgbClr val="333333"/>
            </a:solidFill>
            <a:prstDash val="solid"/>
          </a:ln>
        </p:spPr>
      </p:sp>
      <p:sp>
        <p:nvSpPr>
          <p:cNvPr id="24" name="C4 tip"/>
          <p:cNvSpPr txBox="1"/>
          <p:nvPr/>
        </p:nvSpPr>
        <p:spPr>
          <a:xfrm>
            <a:off x="365760" y="3572764"/>
            <a:ext cx="8412480" cy="685800"/>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Also ar-rasoolaa</a:t>
            </a:r>
            <a:endParaRPr lang="en-US" sz="2600" dirty="0"/>
          </a:p>
        </p:txBody>
      </p:sp>
    </p:spTree>
  </p:cSld>
  <p:clrMapOvr>
    <a:masterClrMapping/>
  </p:clrMapOvr>
  <p:transition spd="med">
    <p:wipe dir="l"/>
    <p:sndAc>
      <p:stSnd>
        <p:snd r:embed="rIdTrSnd" name="whoosh.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350"/>
                                        <p:tgtEl>
                                          <p:spTgt spid="1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350"/>
                                        <p:tgtEl>
                                          <p:spTgt spid="1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350"/>
                                        <p:tgtEl>
                                          <p:spTgt spid="1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35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35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350"/>
                                        <p:tgtEl>
                                          <p:spTgt spid="1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350"/>
                                        <p:tgtEl>
                                          <p:spTgt spid="2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35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350"/>
                                        <p:tgtEl>
                                          <p:spTgt spid="2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35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C5C9F7"/>
        </a:solidFill>
      </p:bgPr>
    </p:bg>
    <p:spTree>
      <p:nvGrpSpPr>
        <p:cNvPr id="1" name=""/>
        <p:cNvGrpSpPr/>
        <p:nvPr/>
      </p:nvGrpSpPr>
      <p:grpSpPr>
        <a:xfrm>
          <a:off x="0" y="0"/>
          <a:ext cx="0" cy="0"/>
          <a:chOff x="0" y="0"/>
          <a:chExt cx="0" cy="0"/>
        </a:xfrm>
      </p:grpSpPr>
      <p:sp>
        <p:nvSpPr>
          <p:cNvPr id="2" name="Deco hill left"/>
          <p:cNvSpPr/>
          <p:nvPr/>
        </p:nvSpPr>
        <p:spPr>
          <a:xfrm>
            <a:off x="-914400" y="4434840"/>
            <a:ext cx="4754880" cy="1463040"/>
          </a:xfrm>
          <a:prstGeom prst="ellipse">
            <a:avLst/>
          </a:prstGeom>
          <a:solidFill>
            <a:srgbClr val="CC66AA"/>
          </a:solidFill>
          <a:ln w="12700">
            <a:solidFill>
              <a:srgbClr val="CC66AA"/>
            </a:solidFill>
            <a:prstDash val="solid"/>
          </a:ln>
        </p:spPr>
      </p:sp>
      <p:sp>
        <p:nvSpPr>
          <p:cNvPr id="3" name="Deco hill right"/>
          <p:cNvSpPr/>
          <p:nvPr/>
        </p:nvSpPr>
        <p:spPr>
          <a:xfrm>
            <a:off x="4023360" y="4526280"/>
            <a:ext cx="5852160" cy="1463040"/>
          </a:xfrm>
          <a:prstGeom prst="ellipse">
            <a:avLst/>
          </a:prstGeom>
          <a:solidFill>
            <a:srgbClr val="BF406A"/>
          </a:solidFill>
          <a:ln w="12700">
            <a:solidFill>
              <a:srgbClr val="BF406A"/>
            </a:solidFill>
            <a:prstDash val="solid"/>
          </a:ln>
        </p:spPr>
      </p:sp>
      <p:sp>
        <p:nvSpPr>
          <p:cNvPr id="4" name="Deco sun"/>
          <p:cNvSpPr/>
          <p:nvPr/>
        </p:nvSpPr>
        <p:spPr>
          <a:xfrm>
            <a:off x="274320" y="91440"/>
            <a:ext cx="731520" cy="731520"/>
          </a:xfrm>
          <a:prstGeom prst="sun">
            <a:avLst/>
          </a:prstGeom>
          <a:solidFill>
            <a:srgbClr val="FFD23F"/>
          </a:solidFill>
          <a:ln w="12700">
            <a:solidFill>
              <a:srgbClr val="FFD23F"/>
            </a:solidFill>
            <a:prstDash val="solid"/>
          </a:ln>
        </p:spPr>
      </p:sp>
      <p:sp>
        <p:nvSpPr>
          <p:cNvPr id="5" name="Deco cloud"/>
          <p:cNvSpPr/>
          <p:nvPr/>
        </p:nvSpPr>
        <p:spPr>
          <a:xfrm>
            <a:off x="6858000" y="109728"/>
            <a:ext cx="1463040" cy="640080"/>
          </a:xfrm>
          <a:prstGeom prst="cloud">
            <a:avLst/>
          </a:prstGeom>
          <a:solidFill>
            <a:srgbClr val="FFFFFF"/>
          </a:solidFill>
          <a:ln w="12700">
            <a:solidFill>
              <a:srgbClr val="FFFFFF"/>
            </a:solidFill>
            <a:prstDash val="solid"/>
          </a:ln>
        </p:spPr>
      </p:sp>
      <p:sp>
        <p:nvSpPr>
          <p:cNvPr id="6" name="Deco cloud small"/>
          <p:cNvSpPr/>
          <p:nvPr/>
        </p:nvSpPr>
        <p:spPr>
          <a:xfrm>
            <a:off x="7863840" y="457200"/>
            <a:ext cx="822960" cy="365760"/>
          </a:xfrm>
          <a:prstGeom prst="cloud">
            <a:avLst/>
          </a:prstGeom>
          <a:solidFill>
            <a:srgbClr val="F4FAFF"/>
          </a:solidFill>
          <a:ln w="12700">
            <a:solidFill>
              <a:srgbClr val="F4FAFF"/>
            </a:solidFill>
            <a:prstDash val="solid"/>
          </a:ln>
        </p:spPr>
      </p:sp>
      <p:sp>
        <p:nvSpPr>
          <p:cNvPr id="7" name="Deco flower 0"/>
          <p:cNvSpPr/>
          <p:nvPr/>
        </p:nvSpPr>
        <p:spPr>
          <a:xfrm>
            <a:off x="1280160" y="4526280"/>
            <a:ext cx="292608" cy="292608"/>
          </a:xfrm>
          <a:prstGeom prst="star5">
            <a:avLst/>
          </a:prstGeom>
          <a:solidFill>
            <a:srgbClr val="FF7A90"/>
          </a:solidFill>
          <a:ln w="12700">
            <a:solidFill>
              <a:srgbClr val="FF7A90"/>
            </a:solidFill>
            <a:prstDash val="solid"/>
          </a:ln>
        </p:spPr>
      </p:sp>
      <p:sp>
        <p:nvSpPr>
          <p:cNvPr id="8" name="Deco flower 1"/>
          <p:cNvSpPr/>
          <p:nvPr/>
        </p:nvSpPr>
        <p:spPr>
          <a:xfrm>
            <a:off x="1828800" y="4526280"/>
            <a:ext cx="292608" cy="292608"/>
          </a:xfrm>
          <a:prstGeom prst="star5">
            <a:avLst/>
          </a:prstGeom>
          <a:solidFill>
            <a:srgbClr val="FFB347"/>
          </a:solidFill>
          <a:ln w="12700">
            <a:solidFill>
              <a:srgbClr val="FFB347"/>
            </a:solidFill>
            <a:prstDash val="solid"/>
          </a:ln>
        </p:spPr>
      </p:sp>
      <p:sp>
        <p:nvSpPr>
          <p:cNvPr id="9" name="Deco flower 2"/>
          <p:cNvSpPr/>
          <p:nvPr/>
        </p:nvSpPr>
        <p:spPr>
          <a:xfrm>
            <a:off x="7315200" y="4526280"/>
            <a:ext cx="292608" cy="292608"/>
          </a:xfrm>
          <a:prstGeom prst="star5">
            <a:avLst/>
          </a:prstGeom>
          <a:solidFill>
            <a:srgbClr val="8E5BD0"/>
          </a:solidFill>
          <a:ln w="12700">
            <a:solidFill>
              <a:srgbClr val="8E5BD0"/>
            </a:solidFill>
            <a:prstDash val="solid"/>
          </a:ln>
        </p:spPr>
      </p:sp>
      <p:sp>
        <p:nvSpPr>
          <p:cNvPr id="10" name="Deco flower 3"/>
          <p:cNvSpPr/>
          <p:nvPr/>
        </p:nvSpPr>
        <p:spPr>
          <a:xfrm>
            <a:off x="7955280" y="4526280"/>
            <a:ext cx="292608" cy="292608"/>
          </a:xfrm>
          <a:prstGeom prst="star5">
            <a:avLst/>
          </a:prstGeom>
          <a:solidFill>
            <a:srgbClr val="FF7A90"/>
          </a:solidFill>
          <a:ln w="12700">
            <a:solidFill>
              <a:srgbClr val="FF7A90"/>
            </a:solidFill>
            <a:prstDash val="solid"/>
          </a:ln>
        </p:spPr>
      </p:sp>
      <p:sp>
        <p:nvSpPr>
          <p:cNvPr id="11" name="Title box"/>
          <p:cNvSpPr/>
          <p:nvPr/>
        </p:nvSpPr>
        <p:spPr>
          <a:xfrm>
            <a:off x="365760" y="896112"/>
            <a:ext cx="8412480" cy="530352"/>
          </a:xfrm>
          <a:prstGeom prst="roundRect">
            <a:avLst>
              <a:gd name="adj" fmla="val 34483"/>
            </a:avLst>
          </a:prstGeom>
          <a:solidFill>
            <a:srgbClr val="E8590C"/>
          </a:solidFill>
          <a:ln w="12700">
            <a:solidFill>
              <a:srgbClr val="333333"/>
            </a:solidFill>
            <a:prstDash val="solid"/>
          </a:ln>
        </p:spPr>
      </p:sp>
      <p:sp>
        <p:nvSpPr>
          <p:cNvPr id="12" name="Title"/>
          <p:cNvSpPr txBox="1"/>
          <p:nvPr/>
        </p:nvSpPr>
        <p:spPr>
          <a:xfrm>
            <a:off x="365760" y="870712"/>
            <a:ext cx="8412480" cy="530352"/>
          </a:xfrm>
          <a:prstGeom prst="rect">
            <a:avLst/>
          </a:prstGeom>
          <a:noFill/>
          <a:ln/>
        </p:spPr>
        <p:txBody>
          <a:bodyPr wrap="none" lIns="0" tIns="0" rIns="0" bIns="0" rtlCol="0" anchor="ctr"/>
          <a:lstStyle/>
          <a:p>
            <a:pPr algn="ctr" indent="0" marL="0">
              <a:buNone/>
            </a:pPr>
            <a:r>
              <a:rPr lang="en-US" sz="2500" b="1" dirty="0">
                <a:solidFill>
                  <a:srgbClr val="FFFFFF"/>
                </a:solidFill>
                <a:latin typeface="Arial" pitchFamily="34" charset="0"/>
                <a:ea typeface="Arial" pitchFamily="34" charset="-122"/>
                <a:cs typeface="Arial" pitchFamily="34" charset="-120"/>
              </a:rPr>
              <a:t>No sign: dropped when connecting</a:t>
            </a:r>
            <a:endParaRPr lang="en-US" sz="2500" dirty="0"/>
          </a:p>
        </p:txBody>
      </p:sp>
      <p:sp>
        <p:nvSpPr>
          <p:cNvPr id="13" name="Panel written"/>
          <p:cNvSpPr/>
          <p:nvPr/>
        </p:nvSpPr>
        <p:spPr>
          <a:xfrm>
            <a:off x="4892040" y="1554480"/>
            <a:ext cx="3886200" cy="1874520"/>
          </a:xfrm>
          <a:prstGeom prst="roundRect">
            <a:avLst>
              <a:gd name="adj" fmla="val 12195"/>
            </a:avLst>
          </a:prstGeom>
          <a:solidFill>
            <a:srgbClr val="FFFFFF"/>
          </a:solidFill>
          <a:ln w="88900">
            <a:solidFill>
              <a:srgbClr val="E8590C"/>
            </a:solidFill>
            <a:prstDash val="solid"/>
          </a:ln>
        </p:spPr>
      </p:sp>
      <p:sp>
        <p:nvSpPr>
          <p:cNvPr id="14" name="C1 written"/>
          <p:cNvSpPr txBox="1"/>
          <p:nvPr/>
        </p:nvSpPr>
        <p:spPr>
          <a:xfrm>
            <a:off x="4892040" y="1595031"/>
            <a:ext cx="3886200" cy="1874520"/>
          </a:xfrm>
          <a:prstGeom prst="rect">
            <a:avLst/>
          </a:prstGeom>
          <a:noFill/>
          <a:ln/>
        </p:spPr>
        <p:txBody>
          <a:bodyPr wrap="none" lIns="0" tIns="0" rIns="0" bIns="0" rtlCol="0" anchor="ctr"/>
          <a:lstStyle/>
          <a:p>
            <a:pPr algn="ctr" indent="0" marL="0">
              <a:buNone/>
            </a:pPr>
            <a:r>
              <a:rPr lang="ar-SA" altLang="en-US" sz="6600" dirty="0">
                <a:solidFill>
                  <a:srgbClr val="16213E"/>
                </a:solidFill>
                <a:latin typeface="Traditional Arabic" pitchFamily="34" charset="0"/>
                <a:ea typeface="Traditional Arabic" pitchFamily="34" charset="-122"/>
                <a:cs typeface="Traditional Arabic" pitchFamily="34" charset="-120"/>
              </a:rPr>
              <a:t>بِسۡمِ </a:t>
            </a:r>
            <a:r>
              <a:rPr lang="ar-SA" altLang="en-US" sz="6600" dirty="0">
                <a:solidFill>
                  <a:srgbClr val="E03131"/>
                </a:solidFill>
                <a:latin typeface="Traditional Arabic" pitchFamily="34" charset="0"/>
                <a:ea typeface="Traditional Arabic" pitchFamily="34" charset="-122"/>
                <a:cs typeface="Traditional Arabic" pitchFamily="34" charset="-120"/>
              </a:rPr>
              <a:t>ٱ</a:t>
            </a:r>
            <a:r>
              <a:rPr lang="ar-SA" altLang="en-US" sz="6600" dirty="0">
                <a:solidFill>
                  <a:srgbClr val="16213E"/>
                </a:solidFill>
                <a:latin typeface="Traditional Arabic" pitchFamily="34" charset="0"/>
                <a:ea typeface="Traditional Arabic" pitchFamily="34" charset="-122"/>
                <a:cs typeface="Traditional Arabic" pitchFamily="34" charset="-120"/>
              </a:rPr>
              <a:t>للَّهِ</a:t>
            </a:r>
            <a:endParaRPr lang="ar-SA" sz="6600" dirty="0"/>
          </a:p>
        </p:txBody>
      </p:sp>
      <p:sp>
        <p:nvSpPr>
          <p:cNvPr id="15" name="C2 arrow"/>
          <p:cNvSpPr/>
          <p:nvPr/>
        </p:nvSpPr>
        <p:spPr>
          <a:xfrm>
            <a:off x="4315968" y="2263140"/>
            <a:ext cx="512064" cy="457200"/>
          </a:xfrm>
          <a:prstGeom prst="leftArrow">
            <a:avLst/>
          </a:prstGeom>
          <a:solidFill>
            <a:srgbClr val="67B82E"/>
          </a:solidFill>
          <a:ln w="12700">
            <a:solidFill>
              <a:srgbClr val="333333"/>
            </a:solidFill>
            <a:prstDash val="solid"/>
          </a:ln>
        </p:spPr>
      </p:sp>
      <p:sp>
        <p:nvSpPr>
          <p:cNvPr id="16" name="Panel read"/>
          <p:cNvSpPr/>
          <p:nvPr/>
        </p:nvSpPr>
        <p:spPr>
          <a:xfrm>
            <a:off x="365760" y="1554480"/>
            <a:ext cx="3886200" cy="1874520"/>
          </a:xfrm>
          <a:prstGeom prst="roundRect">
            <a:avLst>
              <a:gd name="adj" fmla="val 12195"/>
            </a:avLst>
          </a:prstGeom>
          <a:solidFill>
            <a:srgbClr val="FFFBE3"/>
          </a:solidFill>
          <a:ln w="88900">
            <a:solidFill>
              <a:srgbClr val="F2B134"/>
            </a:solidFill>
            <a:prstDash val="solid"/>
          </a:ln>
        </p:spPr>
      </p:sp>
      <p:sp>
        <p:nvSpPr>
          <p:cNvPr id="17" name="C2 read"/>
          <p:cNvSpPr txBox="1"/>
          <p:nvPr/>
        </p:nvSpPr>
        <p:spPr>
          <a:xfrm>
            <a:off x="365760" y="1578442"/>
            <a:ext cx="3886200" cy="1237183"/>
          </a:xfrm>
          <a:prstGeom prst="rect">
            <a:avLst/>
          </a:prstGeom>
          <a:noFill/>
          <a:ln/>
        </p:spPr>
        <p:txBody>
          <a:bodyPr wrap="none" lIns="0" tIns="0" rIns="0" bIns="0" rtlCol="0" anchor="ctr"/>
          <a:lstStyle/>
          <a:p>
            <a:pPr algn="ctr" indent="0" marL="0">
              <a:buNone/>
            </a:pPr>
            <a:r>
              <a:rPr lang="ar-SA" altLang="en-US" sz="3900" dirty="0">
                <a:solidFill>
                  <a:srgbClr val="16213E"/>
                </a:solidFill>
                <a:latin typeface="Traditional Arabic" pitchFamily="34" charset="0"/>
                <a:ea typeface="Traditional Arabic" pitchFamily="34" charset="-122"/>
                <a:cs typeface="Traditional Arabic" pitchFamily="34" charset="-120"/>
              </a:rPr>
              <a:t>بِسۡمِ للَّهِ</a:t>
            </a:r>
            <a:endParaRPr lang="ar-SA" sz="3900" dirty="0"/>
          </a:p>
        </p:txBody>
      </p:sp>
      <p:sp>
        <p:nvSpPr>
          <p:cNvPr id="18" name="C2 sounds"/>
          <p:cNvSpPr/>
          <p:nvPr/>
        </p:nvSpPr>
        <p:spPr>
          <a:xfrm>
            <a:off x="502920" y="2798775"/>
            <a:ext cx="3611880" cy="582473"/>
          </a:xfrm>
          <a:prstGeom prst="rect">
            <a:avLst/>
          </a:prstGeom>
          <a:noFill/>
          <a:ln/>
        </p:spPr>
        <p:txBody>
          <a:bodyPr wrap="square" lIns="0" tIns="0" rIns="0" bIns="0" rtlCol="0" anchor="ctr"/>
          <a:lstStyle/>
          <a:p>
            <a:pPr algn="ctr" indent="0" marL="0">
              <a:buNone/>
            </a:pPr>
            <a:r>
              <a:rPr lang="en-US" sz="2800" b="1" dirty="0">
                <a:solidFill>
                  <a:srgbClr val="D9480F"/>
                </a:solidFill>
                <a:latin typeface="Arial" pitchFamily="34" charset="0"/>
                <a:ea typeface="Arial" pitchFamily="34" charset="-122"/>
                <a:cs typeface="Arial" pitchFamily="34" charset="-120"/>
              </a:rPr>
              <a:t>bis-mil-laah</a:t>
            </a:r>
            <a:endParaRPr lang="en-US" sz="2800" dirty="0"/>
          </a:p>
        </p:txBody>
      </p:sp>
      <p:sp>
        <p:nvSpPr>
          <p:cNvPr id="19" name="C3 tip box"/>
          <p:cNvSpPr/>
          <p:nvPr/>
        </p:nvSpPr>
        <p:spPr>
          <a:xfrm>
            <a:off x="365760" y="3566160"/>
            <a:ext cx="8412480" cy="685800"/>
          </a:xfrm>
          <a:prstGeom prst="roundRect">
            <a:avLst>
              <a:gd name="adj" fmla="val 26667"/>
            </a:avLst>
          </a:prstGeom>
          <a:solidFill>
            <a:srgbClr val="E8590C"/>
          </a:solidFill>
          <a:ln w="12700">
            <a:solidFill>
              <a:srgbClr val="333333"/>
            </a:solidFill>
            <a:prstDash val="solid"/>
          </a:ln>
        </p:spPr>
      </p:sp>
      <p:sp>
        <p:nvSpPr>
          <p:cNvPr id="20" name="C3 tip"/>
          <p:cNvSpPr txBox="1"/>
          <p:nvPr/>
        </p:nvSpPr>
        <p:spPr>
          <a:xfrm>
            <a:off x="365760" y="3540760"/>
            <a:ext cx="8412480" cy="685800"/>
          </a:xfrm>
          <a:prstGeom prst="rect">
            <a:avLst/>
          </a:prstGeom>
          <a:noFill/>
          <a:ln/>
        </p:spPr>
        <p:txBody>
          <a:bodyPr wrap="none" lIns="0" tIns="0" rIns="0" bIns="0" rtlCol="0" anchor="ctr"/>
          <a:lstStyle/>
          <a:p>
            <a:pPr algn="ctr" indent="0" marL="0">
              <a:buNone/>
            </a:pPr>
            <a:r>
              <a:rPr lang="en-US" sz="2500" b="1" dirty="0">
                <a:solidFill>
                  <a:srgbClr val="FFFFFF"/>
                </a:solidFill>
                <a:latin typeface="Arial" pitchFamily="34" charset="0"/>
                <a:ea typeface="Arial" pitchFamily="34" charset="-122"/>
                <a:cs typeface="Arial" pitchFamily="34" charset="-120"/>
              </a:rPr>
              <a:t>Hamzat al-wasl is not read in the middle of speech</a:t>
            </a:r>
            <a:endParaRPr lang="en-US" sz="2500" dirty="0"/>
          </a:p>
        </p:txBody>
      </p:sp>
    </p:spTree>
  </p:cSld>
  <p:clrMapOvr>
    <a:masterClrMapping/>
  </p:clrMapOvr>
  <p:transition spd="med">
    <p:circle/>
    <p:sndAc>
      <p:stSnd>
        <p:snd r:embed="rIdTrSnd" name="bubbles.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35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35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35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35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7" grpId="0" animBg="1"/>
      <p:bldP spid="18" grpId="0" animBg="1"/>
      <p:bldP spid="19" grpId="0" animBg="1"/>
      <p:bldP spid="2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431E14"/>
        </a:solidFill>
      </p:bgPr>
    </p:bg>
    <p:spTree>
      <p:nvGrpSpPr>
        <p:cNvPr id="1" name=""/>
        <p:cNvGrpSpPr/>
        <p:nvPr/>
      </p:nvGrpSpPr>
      <p:grpSpPr>
        <a:xfrm>
          <a:off x="0" y="0"/>
          <a:ext cx="0" cy="0"/>
          <a:chOff x="0" y="0"/>
          <a:chExt cx="0" cy="0"/>
        </a:xfrm>
      </p:grpSpPr>
      <p:sp>
        <p:nvSpPr>
          <p:cNvPr id="2" name="Deco moon"/>
          <p:cNvSpPr/>
          <p:nvPr/>
        </p:nvSpPr>
        <p:spPr>
          <a:xfrm>
            <a:off x="365760" y="91440"/>
            <a:ext cx="502920" cy="731520"/>
          </a:xfrm>
          <a:prstGeom prst="moon">
            <a:avLst/>
          </a:prstGeom>
          <a:solidFill>
            <a:srgbClr val="FFE88A"/>
          </a:solidFill>
          <a:ln w="12700">
            <a:solidFill>
              <a:srgbClr val="FFE88A"/>
            </a:solidFill>
            <a:prstDash val="solid"/>
          </a:ln>
        </p:spPr>
      </p:sp>
      <p:sp>
        <p:nvSpPr>
          <p:cNvPr id="3" name="Deco star 0"/>
          <p:cNvSpPr/>
          <p:nvPr/>
        </p:nvSpPr>
        <p:spPr>
          <a:xfrm>
            <a:off x="1280160" y="182880"/>
            <a:ext cx="365760" cy="365760"/>
          </a:xfrm>
          <a:prstGeom prst="star5">
            <a:avLst/>
          </a:prstGeom>
          <a:solidFill>
            <a:srgbClr val="FFF3A3"/>
          </a:solidFill>
          <a:ln w="12700">
            <a:solidFill>
              <a:srgbClr val="FFF3A3"/>
            </a:solidFill>
            <a:prstDash val="solid"/>
          </a:ln>
        </p:spPr>
      </p:sp>
      <p:sp>
        <p:nvSpPr>
          <p:cNvPr id="4" name="Deco star 1"/>
          <p:cNvSpPr/>
          <p:nvPr/>
        </p:nvSpPr>
        <p:spPr>
          <a:xfrm>
            <a:off x="2194560" y="502920"/>
            <a:ext cx="274320" cy="274320"/>
          </a:xfrm>
          <a:prstGeom prst="star4">
            <a:avLst/>
          </a:prstGeom>
          <a:solidFill>
            <a:srgbClr val="FFF3A3"/>
          </a:solidFill>
          <a:ln w="12700">
            <a:solidFill>
              <a:srgbClr val="FFF3A3"/>
            </a:solidFill>
            <a:prstDash val="solid"/>
          </a:ln>
        </p:spPr>
      </p:sp>
      <p:sp>
        <p:nvSpPr>
          <p:cNvPr id="5" name="Deco star 2"/>
          <p:cNvSpPr/>
          <p:nvPr/>
        </p:nvSpPr>
        <p:spPr>
          <a:xfrm>
            <a:off x="3291840" y="137160"/>
            <a:ext cx="274320" cy="274320"/>
          </a:xfrm>
          <a:prstGeom prst="star5">
            <a:avLst/>
          </a:prstGeom>
          <a:solidFill>
            <a:srgbClr val="FFF3A3"/>
          </a:solidFill>
          <a:ln w="12700">
            <a:solidFill>
              <a:srgbClr val="FFF3A3"/>
            </a:solidFill>
            <a:prstDash val="solid"/>
          </a:ln>
        </p:spPr>
      </p:sp>
      <p:sp>
        <p:nvSpPr>
          <p:cNvPr id="6" name="Deco star 3"/>
          <p:cNvSpPr/>
          <p:nvPr/>
        </p:nvSpPr>
        <p:spPr>
          <a:xfrm>
            <a:off x="5760720" y="457200"/>
            <a:ext cx="365760" cy="365760"/>
          </a:xfrm>
          <a:prstGeom prst="star4">
            <a:avLst/>
          </a:prstGeom>
          <a:solidFill>
            <a:srgbClr val="FFF3A3"/>
          </a:solidFill>
          <a:ln w="12700">
            <a:solidFill>
              <a:srgbClr val="FFF3A3"/>
            </a:solidFill>
            <a:prstDash val="solid"/>
          </a:ln>
        </p:spPr>
      </p:sp>
      <p:sp>
        <p:nvSpPr>
          <p:cNvPr id="7" name="Deco star 4"/>
          <p:cNvSpPr/>
          <p:nvPr/>
        </p:nvSpPr>
        <p:spPr>
          <a:xfrm>
            <a:off x="6766560" y="109728"/>
            <a:ext cx="274320" cy="274320"/>
          </a:xfrm>
          <a:prstGeom prst="star5">
            <a:avLst/>
          </a:prstGeom>
          <a:solidFill>
            <a:srgbClr val="FFF3A3"/>
          </a:solidFill>
          <a:ln w="12700">
            <a:solidFill>
              <a:srgbClr val="FFF3A3"/>
            </a:solidFill>
            <a:prstDash val="solid"/>
          </a:ln>
        </p:spPr>
      </p:sp>
      <p:sp>
        <p:nvSpPr>
          <p:cNvPr id="8" name="Deco star 5"/>
          <p:cNvSpPr/>
          <p:nvPr/>
        </p:nvSpPr>
        <p:spPr>
          <a:xfrm>
            <a:off x="7772400" y="411480"/>
            <a:ext cx="274320" cy="274320"/>
          </a:xfrm>
          <a:prstGeom prst="star4">
            <a:avLst/>
          </a:prstGeom>
          <a:solidFill>
            <a:srgbClr val="FFF3A3"/>
          </a:solidFill>
          <a:ln w="12700">
            <a:solidFill>
              <a:srgbClr val="FFF3A3"/>
            </a:solidFill>
            <a:prstDash val="solid"/>
          </a:ln>
        </p:spPr>
      </p:sp>
      <p:sp>
        <p:nvSpPr>
          <p:cNvPr id="9" name="Deco star 6"/>
          <p:cNvSpPr/>
          <p:nvPr/>
        </p:nvSpPr>
        <p:spPr>
          <a:xfrm>
            <a:off x="8503920" y="137160"/>
            <a:ext cx="365760" cy="365760"/>
          </a:xfrm>
          <a:prstGeom prst="star5">
            <a:avLst/>
          </a:prstGeom>
          <a:solidFill>
            <a:srgbClr val="FFF3A3"/>
          </a:solidFill>
          <a:ln w="12700">
            <a:solidFill>
              <a:srgbClr val="FFF3A3"/>
            </a:solidFill>
            <a:prstDash val="solid"/>
          </a:ln>
        </p:spPr>
      </p:sp>
      <p:sp>
        <p:nvSpPr>
          <p:cNvPr id="10" name="Deco hill left"/>
          <p:cNvSpPr/>
          <p:nvPr/>
        </p:nvSpPr>
        <p:spPr>
          <a:xfrm>
            <a:off x="-914400" y="4480560"/>
            <a:ext cx="4937760" cy="1463040"/>
          </a:xfrm>
          <a:prstGeom prst="ellipse">
            <a:avLst/>
          </a:prstGeom>
          <a:solidFill>
            <a:srgbClr val="64532B"/>
          </a:solidFill>
          <a:ln w="12700">
            <a:solidFill>
              <a:srgbClr val="64532B"/>
            </a:solidFill>
            <a:prstDash val="solid"/>
          </a:ln>
        </p:spPr>
      </p:sp>
      <p:sp>
        <p:nvSpPr>
          <p:cNvPr id="11" name="Deco hill right"/>
          <p:cNvSpPr/>
          <p:nvPr/>
        </p:nvSpPr>
        <p:spPr>
          <a:xfrm>
            <a:off x="4206240" y="4572000"/>
            <a:ext cx="5669280" cy="1463040"/>
          </a:xfrm>
          <a:prstGeom prst="ellipse">
            <a:avLst/>
          </a:prstGeom>
          <a:solidFill>
            <a:srgbClr val="6B7934"/>
          </a:solidFill>
          <a:ln w="12700">
            <a:solidFill>
              <a:srgbClr val="6B7934"/>
            </a:solidFill>
            <a:prstDash val="solid"/>
          </a:ln>
        </p:spPr>
      </p:sp>
      <p:sp>
        <p:nvSpPr>
          <p:cNvPr id="12" name="Title box"/>
          <p:cNvSpPr/>
          <p:nvPr/>
        </p:nvSpPr>
        <p:spPr>
          <a:xfrm>
            <a:off x="365760" y="896112"/>
            <a:ext cx="8412480" cy="530352"/>
          </a:xfrm>
          <a:prstGeom prst="roundRect">
            <a:avLst>
              <a:gd name="adj" fmla="val 34483"/>
            </a:avLst>
          </a:prstGeom>
          <a:solidFill>
            <a:srgbClr val="E8590C"/>
          </a:solidFill>
          <a:ln w="12700">
            <a:solidFill>
              <a:srgbClr val="333333"/>
            </a:solidFill>
            <a:prstDash val="solid"/>
          </a:ln>
        </p:spPr>
      </p:sp>
      <p:sp>
        <p:nvSpPr>
          <p:cNvPr id="13" name="Title"/>
          <p:cNvSpPr txBox="1"/>
          <p:nvPr/>
        </p:nvSpPr>
        <p:spPr>
          <a:xfrm>
            <a:off x="365760" y="870712"/>
            <a:ext cx="8412480" cy="530352"/>
          </a:xfrm>
          <a:prstGeom prst="rect">
            <a:avLst/>
          </a:prstGeom>
          <a:noFill/>
          <a:ln/>
        </p:spPr>
        <p:txBody>
          <a:bodyPr wrap="none" lIns="0" tIns="0" rIns="0" bIns="0" rtlCol="0" anchor="ctr"/>
          <a:lstStyle/>
          <a:p>
            <a:pPr algn="ctr" indent="0" marL="0">
              <a:buNone/>
            </a:pPr>
            <a:r>
              <a:rPr lang="en-US" sz="2500" b="1" dirty="0">
                <a:solidFill>
                  <a:srgbClr val="FFFFFF"/>
                </a:solidFill>
                <a:latin typeface="Arial" pitchFamily="34" charset="0"/>
                <a:ea typeface="Arial" pitchFamily="34" charset="-122"/>
                <a:cs typeface="Arial" pitchFamily="34" charset="-120"/>
              </a:rPr>
              <a:t>No sign: dropped when connecting</a:t>
            </a:r>
            <a:endParaRPr lang="en-US" sz="2500" dirty="0"/>
          </a:p>
        </p:txBody>
      </p:sp>
      <p:sp>
        <p:nvSpPr>
          <p:cNvPr id="14" name="Panel written"/>
          <p:cNvSpPr/>
          <p:nvPr/>
        </p:nvSpPr>
        <p:spPr>
          <a:xfrm>
            <a:off x="4892040" y="1554480"/>
            <a:ext cx="3886200" cy="1874520"/>
          </a:xfrm>
          <a:prstGeom prst="roundRect">
            <a:avLst>
              <a:gd name="adj" fmla="val 12195"/>
            </a:avLst>
          </a:prstGeom>
          <a:solidFill>
            <a:srgbClr val="FFFFFF"/>
          </a:solidFill>
          <a:ln w="88900">
            <a:solidFill>
              <a:srgbClr val="E8590C"/>
            </a:solidFill>
            <a:prstDash val="solid"/>
          </a:ln>
        </p:spPr>
      </p:sp>
      <p:sp>
        <p:nvSpPr>
          <p:cNvPr id="15" name="C1 written"/>
          <p:cNvSpPr txBox="1"/>
          <p:nvPr/>
        </p:nvSpPr>
        <p:spPr>
          <a:xfrm>
            <a:off x="4892040" y="1626159"/>
            <a:ext cx="3886200" cy="1874520"/>
          </a:xfrm>
          <a:prstGeom prst="rect">
            <a:avLst/>
          </a:prstGeom>
          <a:noFill/>
          <a:ln/>
        </p:spPr>
        <p:txBody>
          <a:bodyPr wrap="none" lIns="0" tIns="0" rIns="0" bIns="0" rtlCol="0" anchor="ctr"/>
          <a:lstStyle/>
          <a:p>
            <a:pPr algn="ctr" indent="0" marL="0">
              <a:buNone/>
            </a:pPr>
            <a:r>
              <a:rPr lang="ar-SA" altLang="en-US" sz="6800" dirty="0">
                <a:solidFill>
                  <a:srgbClr val="16213E"/>
                </a:solidFill>
                <a:latin typeface="Traditional Arabic" pitchFamily="34" charset="0"/>
                <a:ea typeface="Traditional Arabic" pitchFamily="34" charset="-122"/>
                <a:cs typeface="Traditional Arabic" pitchFamily="34" charset="-120"/>
              </a:rPr>
              <a:t>ٱ</a:t>
            </a:r>
            <a:r>
              <a:rPr lang="ar-SA" altLang="en-US" sz="6800" dirty="0">
                <a:solidFill>
                  <a:srgbClr val="E03131"/>
                </a:solidFill>
                <a:latin typeface="Traditional Arabic" pitchFamily="34" charset="0"/>
                <a:ea typeface="Traditional Arabic" pitchFamily="34" charset="-122"/>
                <a:cs typeface="Traditional Arabic" pitchFamily="34" charset="-120"/>
              </a:rPr>
              <a:t>ل</a:t>
            </a:r>
            <a:r>
              <a:rPr lang="ar-SA" altLang="en-US" sz="6800" dirty="0">
                <a:solidFill>
                  <a:srgbClr val="16213E"/>
                </a:solidFill>
                <a:latin typeface="Traditional Arabic" pitchFamily="34" charset="0"/>
                <a:ea typeface="Traditional Arabic" pitchFamily="34" charset="-122"/>
                <a:cs typeface="Traditional Arabic" pitchFamily="34" charset="-120"/>
              </a:rPr>
              <a:t>شَّمۡسُ</a:t>
            </a:r>
            <a:endParaRPr lang="ar-SA" sz="6800" dirty="0"/>
          </a:p>
        </p:txBody>
      </p:sp>
      <p:sp>
        <p:nvSpPr>
          <p:cNvPr id="16" name="C2 arrow"/>
          <p:cNvSpPr/>
          <p:nvPr/>
        </p:nvSpPr>
        <p:spPr>
          <a:xfrm>
            <a:off x="4315968" y="2263140"/>
            <a:ext cx="512064" cy="457200"/>
          </a:xfrm>
          <a:prstGeom prst="leftArrow">
            <a:avLst/>
          </a:prstGeom>
          <a:solidFill>
            <a:srgbClr val="2E3FB8"/>
          </a:solidFill>
          <a:ln w="12700">
            <a:solidFill>
              <a:srgbClr val="333333"/>
            </a:solidFill>
            <a:prstDash val="solid"/>
          </a:ln>
        </p:spPr>
      </p:sp>
      <p:sp>
        <p:nvSpPr>
          <p:cNvPr id="17" name="Panel read"/>
          <p:cNvSpPr/>
          <p:nvPr/>
        </p:nvSpPr>
        <p:spPr>
          <a:xfrm>
            <a:off x="365760" y="1554480"/>
            <a:ext cx="3886200" cy="1874520"/>
          </a:xfrm>
          <a:prstGeom prst="roundRect">
            <a:avLst>
              <a:gd name="adj" fmla="val 12195"/>
            </a:avLst>
          </a:prstGeom>
          <a:solidFill>
            <a:srgbClr val="FFFBE3"/>
          </a:solidFill>
          <a:ln w="88900">
            <a:solidFill>
              <a:srgbClr val="F2B134"/>
            </a:solidFill>
            <a:prstDash val="solid"/>
          </a:ln>
        </p:spPr>
      </p:sp>
      <p:sp>
        <p:nvSpPr>
          <p:cNvPr id="18" name="C2 read"/>
          <p:cNvSpPr txBox="1"/>
          <p:nvPr/>
        </p:nvSpPr>
        <p:spPr>
          <a:xfrm>
            <a:off x="365760" y="1604023"/>
            <a:ext cx="3886200" cy="1237183"/>
          </a:xfrm>
          <a:prstGeom prst="rect">
            <a:avLst/>
          </a:prstGeom>
          <a:noFill/>
          <a:ln/>
        </p:spPr>
        <p:txBody>
          <a:bodyPr wrap="none" lIns="0" tIns="0" rIns="0" bIns="0" rtlCol="0" anchor="ctr"/>
          <a:lstStyle/>
          <a:p>
            <a:pPr algn="ctr" indent="0" marL="0">
              <a:buNone/>
            </a:pPr>
            <a:r>
              <a:rPr lang="ar-SA" altLang="en-US" sz="4700" dirty="0">
                <a:solidFill>
                  <a:srgbClr val="16213E"/>
                </a:solidFill>
                <a:latin typeface="Traditional Arabic" pitchFamily="34" charset="0"/>
                <a:ea typeface="Traditional Arabic" pitchFamily="34" charset="-122"/>
                <a:cs typeface="Traditional Arabic" pitchFamily="34" charset="-120"/>
              </a:rPr>
              <a:t>اَشَّمۡسُ</a:t>
            </a:r>
            <a:endParaRPr lang="ar-SA" sz="4700" dirty="0"/>
          </a:p>
        </p:txBody>
      </p:sp>
      <p:sp>
        <p:nvSpPr>
          <p:cNvPr id="19" name="C2 sounds"/>
          <p:cNvSpPr/>
          <p:nvPr/>
        </p:nvSpPr>
        <p:spPr>
          <a:xfrm>
            <a:off x="502920" y="2798775"/>
            <a:ext cx="3611880" cy="582473"/>
          </a:xfrm>
          <a:prstGeom prst="rect">
            <a:avLst/>
          </a:prstGeom>
          <a:noFill/>
          <a:ln/>
        </p:spPr>
        <p:txBody>
          <a:bodyPr wrap="square" lIns="0" tIns="0" rIns="0" bIns="0" rtlCol="0" anchor="ctr"/>
          <a:lstStyle/>
          <a:p>
            <a:pPr algn="ctr" indent="0" marL="0">
              <a:buNone/>
            </a:pPr>
            <a:r>
              <a:rPr lang="en-US" sz="2800" b="1" dirty="0">
                <a:solidFill>
                  <a:srgbClr val="D9480F"/>
                </a:solidFill>
                <a:latin typeface="Arial" pitchFamily="34" charset="0"/>
                <a:ea typeface="Arial" pitchFamily="34" charset="-122"/>
                <a:cs typeface="Arial" pitchFamily="34" charset="-120"/>
              </a:rPr>
              <a:t>ash-sham-su</a:t>
            </a:r>
            <a:endParaRPr lang="en-US" sz="2800" dirty="0"/>
          </a:p>
        </p:txBody>
      </p:sp>
      <p:sp>
        <p:nvSpPr>
          <p:cNvPr id="20" name="C3 tip box"/>
          <p:cNvSpPr/>
          <p:nvPr/>
        </p:nvSpPr>
        <p:spPr>
          <a:xfrm>
            <a:off x="365760" y="3566160"/>
            <a:ext cx="8412480" cy="685800"/>
          </a:xfrm>
          <a:prstGeom prst="roundRect">
            <a:avLst>
              <a:gd name="adj" fmla="val 26667"/>
            </a:avLst>
          </a:prstGeom>
          <a:solidFill>
            <a:srgbClr val="E8590C"/>
          </a:solidFill>
          <a:ln w="12700">
            <a:solidFill>
              <a:srgbClr val="333333"/>
            </a:solidFill>
            <a:prstDash val="solid"/>
          </a:ln>
        </p:spPr>
      </p:sp>
      <p:sp>
        <p:nvSpPr>
          <p:cNvPr id="21" name="C3 tip"/>
          <p:cNvSpPr txBox="1"/>
          <p:nvPr/>
        </p:nvSpPr>
        <p:spPr>
          <a:xfrm>
            <a:off x="365760" y="3549650"/>
            <a:ext cx="8412480" cy="685800"/>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The sun lam is written, not read</a:t>
            </a:r>
            <a:endParaRPr lang="en-US" sz="2600" dirty="0"/>
          </a:p>
        </p:txBody>
      </p:sp>
    </p:spTree>
  </p:cSld>
  <p:clrMapOvr>
    <a:masterClrMapping/>
  </p:clrMapOvr>
  <p:transition spd="med">
    <p:randomBar dir="vert"/>
    <p:sndAc>
      <p:stSnd>
        <p:snd r:embed="rIdTrSnd" name="sparkle.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35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35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35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35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8" grpId="0" animBg="1"/>
      <p:bldP spid="19" grpId="0" animBg="1"/>
      <p:bldP spid="20" grpId="0" animBg="1"/>
      <p:bldP spid="2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C5F7DE"/>
        </a:solidFill>
      </p:bgPr>
    </p:bg>
    <p:spTree>
      <p:nvGrpSpPr>
        <p:cNvPr id="1" name=""/>
        <p:cNvGrpSpPr/>
        <p:nvPr/>
      </p:nvGrpSpPr>
      <p:grpSpPr>
        <a:xfrm>
          <a:off x="0" y="0"/>
          <a:ext cx="0" cy="0"/>
          <a:chOff x="0" y="0"/>
          <a:chExt cx="0" cy="0"/>
        </a:xfrm>
      </p:grpSpPr>
      <p:sp>
        <p:nvSpPr>
          <p:cNvPr id="2" name="Deco wave back"/>
          <p:cNvSpPr/>
          <p:nvPr/>
        </p:nvSpPr>
        <p:spPr>
          <a:xfrm>
            <a:off x="-182880" y="4389120"/>
            <a:ext cx="9509760" cy="548640"/>
          </a:xfrm>
          <a:prstGeom prst="wave">
            <a:avLst/>
          </a:prstGeom>
          <a:solidFill>
            <a:srgbClr val="D65C70"/>
          </a:solidFill>
          <a:ln w="12700">
            <a:solidFill>
              <a:srgbClr val="D65C70"/>
            </a:solidFill>
            <a:prstDash val="solid"/>
          </a:ln>
        </p:spPr>
      </p:sp>
      <p:sp>
        <p:nvSpPr>
          <p:cNvPr id="3" name="Deco sea floor"/>
          <p:cNvSpPr/>
          <p:nvPr/>
        </p:nvSpPr>
        <p:spPr>
          <a:xfrm>
            <a:off x="0" y="4709160"/>
            <a:ext cx="9144000" cy="457200"/>
          </a:xfrm>
          <a:prstGeom prst="rect">
            <a:avLst/>
          </a:prstGeom>
          <a:solidFill>
            <a:srgbClr val="CC3340"/>
          </a:solidFill>
          <a:ln w="12700">
            <a:solidFill>
              <a:srgbClr val="CC3340"/>
            </a:solidFill>
            <a:prstDash val="solid"/>
          </a:ln>
        </p:spPr>
      </p:sp>
      <p:sp>
        <p:nvSpPr>
          <p:cNvPr id="4" name="Deco bubble 0"/>
          <p:cNvSpPr/>
          <p:nvPr/>
        </p:nvSpPr>
        <p:spPr>
          <a:xfrm>
            <a:off x="365760" y="182880"/>
            <a:ext cx="411480" cy="411480"/>
          </a:xfrm>
          <a:prstGeom prst="ellipse">
            <a:avLst/>
          </a:prstGeom>
          <a:solidFill>
            <a:srgbClr val="FFFFFF">
              <a:alpha val="55000"/>
            </a:srgbClr>
          </a:solidFill>
          <a:ln w="19050">
            <a:solidFill>
              <a:srgbClr val="FFFFFF"/>
            </a:solidFill>
            <a:prstDash val="solid"/>
          </a:ln>
        </p:spPr>
      </p:sp>
      <p:sp>
        <p:nvSpPr>
          <p:cNvPr id="5" name="Deco bubble 1"/>
          <p:cNvSpPr/>
          <p:nvPr/>
        </p:nvSpPr>
        <p:spPr>
          <a:xfrm>
            <a:off x="914400" y="502920"/>
            <a:ext cx="256032" cy="256032"/>
          </a:xfrm>
          <a:prstGeom prst="ellipse">
            <a:avLst/>
          </a:prstGeom>
          <a:solidFill>
            <a:srgbClr val="FFFFFF">
              <a:alpha val="55000"/>
            </a:srgbClr>
          </a:solidFill>
          <a:ln w="19050">
            <a:solidFill>
              <a:srgbClr val="FFFFFF"/>
            </a:solidFill>
            <a:prstDash val="solid"/>
          </a:ln>
        </p:spPr>
      </p:sp>
      <p:sp>
        <p:nvSpPr>
          <p:cNvPr id="6" name="Deco bubble 2"/>
          <p:cNvSpPr/>
          <p:nvPr/>
        </p:nvSpPr>
        <p:spPr>
          <a:xfrm>
            <a:off x="8138160" y="137160"/>
            <a:ext cx="457200" cy="457200"/>
          </a:xfrm>
          <a:prstGeom prst="ellipse">
            <a:avLst/>
          </a:prstGeom>
          <a:solidFill>
            <a:srgbClr val="FFFFFF">
              <a:alpha val="55000"/>
            </a:srgbClr>
          </a:solidFill>
          <a:ln w="19050">
            <a:solidFill>
              <a:srgbClr val="FFFFFF"/>
            </a:solidFill>
            <a:prstDash val="solid"/>
          </a:ln>
        </p:spPr>
      </p:sp>
      <p:sp>
        <p:nvSpPr>
          <p:cNvPr id="7" name="Deco bubble 3"/>
          <p:cNvSpPr/>
          <p:nvPr/>
        </p:nvSpPr>
        <p:spPr>
          <a:xfrm>
            <a:off x="7680960" y="548640"/>
            <a:ext cx="228600" cy="228600"/>
          </a:xfrm>
          <a:prstGeom prst="ellipse">
            <a:avLst/>
          </a:prstGeom>
          <a:solidFill>
            <a:srgbClr val="FFFFFF">
              <a:alpha val="55000"/>
            </a:srgbClr>
          </a:solidFill>
          <a:ln w="19050">
            <a:solidFill>
              <a:srgbClr val="FFFFFF"/>
            </a:solidFill>
            <a:prstDash val="solid"/>
          </a:ln>
        </p:spPr>
      </p:sp>
      <p:sp>
        <p:nvSpPr>
          <p:cNvPr id="8" name="Deco bubble 4"/>
          <p:cNvSpPr/>
          <p:nvPr/>
        </p:nvSpPr>
        <p:spPr>
          <a:xfrm>
            <a:off x="8686800" y="566928"/>
            <a:ext cx="182880" cy="182880"/>
          </a:xfrm>
          <a:prstGeom prst="ellipse">
            <a:avLst/>
          </a:prstGeom>
          <a:solidFill>
            <a:srgbClr val="FFFFFF">
              <a:alpha val="55000"/>
            </a:srgbClr>
          </a:solidFill>
          <a:ln w="19050">
            <a:solidFill>
              <a:srgbClr val="FFFFFF"/>
            </a:solidFill>
            <a:prstDash val="solid"/>
          </a:ln>
        </p:spPr>
      </p:sp>
      <p:sp>
        <p:nvSpPr>
          <p:cNvPr id="9" name="Deco sun"/>
          <p:cNvSpPr/>
          <p:nvPr/>
        </p:nvSpPr>
        <p:spPr>
          <a:xfrm>
            <a:off x="4206240" y="109728"/>
            <a:ext cx="685800" cy="685800"/>
          </a:xfrm>
          <a:prstGeom prst="sun">
            <a:avLst/>
          </a:prstGeom>
          <a:solidFill>
            <a:srgbClr val="FFD23F"/>
          </a:solidFill>
          <a:ln w="12700">
            <a:solidFill>
              <a:srgbClr val="FFD23F"/>
            </a:solidFill>
            <a:prstDash val="solid"/>
          </a:ln>
        </p:spPr>
      </p:sp>
      <p:sp>
        <p:nvSpPr>
          <p:cNvPr id="10" name="Title box"/>
          <p:cNvSpPr/>
          <p:nvPr/>
        </p:nvSpPr>
        <p:spPr>
          <a:xfrm>
            <a:off x="365760" y="896112"/>
            <a:ext cx="8412480" cy="530352"/>
          </a:xfrm>
          <a:prstGeom prst="roundRect">
            <a:avLst>
              <a:gd name="adj" fmla="val 34483"/>
            </a:avLst>
          </a:prstGeom>
          <a:solidFill>
            <a:srgbClr val="E8590C"/>
          </a:solidFill>
          <a:ln w="12700">
            <a:solidFill>
              <a:srgbClr val="333333"/>
            </a:solidFill>
            <a:prstDash val="solid"/>
          </a:ln>
        </p:spPr>
      </p:sp>
      <p:sp>
        <p:nvSpPr>
          <p:cNvPr id="11" name="Title"/>
          <p:cNvSpPr txBox="1"/>
          <p:nvPr/>
        </p:nvSpPr>
        <p:spPr>
          <a:xfrm>
            <a:off x="365760" y="870712"/>
            <a:ext cx="8412480" cy="530352"/>
          </a:xfrm>
          <a:prstGeom prst="rect">
            <a:avLst/>
          </a:prstGeom>
          <a:noFill/>
          <a:ln/>
        </p:spPr>
        <p:txBody>
          <a:bodyPr wrap="none" lIns="0" tIns="0" rIns="0" bIns="0" rtlCol="0" anchor="ctr"/>
          <a:lstStyle/>
          <a:p>
            <a:pPr algn="ctr" indent="0" marL="0">
              <a:buNone/>
            </a:pPr>
            <a:r>
              <a:rPr lang="en-US" sz="2500" b="1" dirty="0">
                <a:solidFill>
                  <a:srgbClr val="FFFFFF"/>
                </a:solidFill>
                <a:latin typeface="Arial" pitchFamily="34" charset="0"/>
                <a:ea typeface="Arial" pitchFamily="34" charset="-122"/>
                <a:cs typeface="Arial" pitchFamily="34" charset="-120"/>
              </a:rPr>
              <a:t>No sign: dropped when connecting</a:t>
            </a:r>
            <a:endParaRPr lang="en-US" sz="2500" dirty="0"/>
          </a:p>
        </p:txBody>
      </p:sp>
      <p:sp>
        <p:nvSpPr>
          <p:cNvPr id="12" name="Panel written"/>
          <p:cNvSpPr/>
          <p:nvPr/>
        </p:nvSpPr>
        <p:spPr>
          <a:xfrm>
            <a:off x="4892040" y="1554480"/>
            <a:ext cx="3886200" cy="1874520"/>
          </a:xfrm>
          <a:prstGeom prst="roundRect">
            <a:avLst>
              <a:gd name="adj" fmla="val 12195"/>
            </a:avLst>
          </a:prstGeom>
          <a:solidFill>
            <a:srgbClr val="FFFFFF"/>
          </a:solidFill>
          <a:ln w="88900">
            <a:solidFill>
              <a:srgbClr val="E8590C"/>
            </a:solidFill>
            <a:prstDash val="solid"/>
          </a:ln>
        </p:spPr>
      </p:sp>
      <p:sp>
        <p:nvSpPr>
          <p:cNvPr id="13" name="C1 written"/>
          <p:cNvSpPr txBox="1"/>
          <p:nvPr/>
        </p:nvSpPr>
        <p:spPr>
          <a:xfrm>
            <a:off x="4892040" y="1559714"/>
            <a:ext cx="3886200" cy="1874520"/>
          </a:xfrm>
          <a:prstGeom prst="rect">
            <a:avLst/>
          </a:prstGeom>
          <a:noFill/>
          <a:ln/>
        </p:spPr>
        <p:txBody>
          <a:bodyPr wrap="none" lIns="0" tIns="0" rIns="0" bIns="0" rtlCol="0" anchor="ctr"/>
          <a:lstStyle/>
          <a:p>
            <a:pPr algn="ctr" indent="0" marL="0">
              <a:buNone/>
            </a:pPr>
            <a:r>
              <a:rPr lang="ar-SA" altLang="en-US" sz="5000" dirty="0">
                <a:solidFill>
                  <a:srgbClr val="16213E"/>
                </a:solidFill>
                <a:latin typeface="Traditional Arabic" pitchFamily="34" charset="0"/>
                <a:ea typeface="Traditional Arabic" pitchFamily="34" charset="-122"/>
                <a:cs typeface="Traditional Arabic" pitchFamily="34" charset="-120"/>
              </a:rPr>
              <a:t>فِ</a:t>
            </a:r>
            <a:r>
              <a:rPr lang="ar-SA" altLang="en-US" sz="5000" dirty="0">
                <a:solidFill>
                  <a:srgbClr val="E03131"/>
                </a:solidFill>
                <a:latin typeface="Traditional Arabic" pitchFamily="34" charset="0"/>
                <a:ea typeface="Traditional Arabic" pitchFamily="34" charset="-122"/>
                <a:cs typeface="Traditional Arabic" pitchFamily="34" charset="-120"/>
              </a:rPr>
              <a:t>ي</a:t>
            </a:r>
            <a:r>
              <a:rPr lang="ar-SA" altLang="en-US" sz="5000" dirty="0">
                <a:solidFill>
                  <a:srgbClr val="16213E"/>
                </a:solidFill>
                <a:latin typeface="Traditional Arabic" pitchFamily="34" charset="0"/>
                <a:ea typeface="Traditional Arabic" pitchFamily="34" charset="-122"/>
                <a:cs typeface="Traditional Arabic" pitchFamily="34" charset="-120"/>
              </a:rPr>
              <a:t> ٱلۡأَرۡضِ</a:t>
            </a:r>
            <a:endParaRPr lang="ar-SA" sz="5000" dirty="0"/>
          </a:p>
        </p:txBody>
      </p:sp>
      <p:sp>
        <p:nvSpPr>
          <p:cNvPr id="14" name="C2 arrow"/>
          <p:cNvSpPr/>
          <p:nvPr/>
        </p:nvSpPr>
        <p:spPr>
          <a:xfrm>
            <a:off x="4315968" y="2263140"/>
            <a:ext cx="512064" cy="457200"/>
          </a:xfrm>
          <a:prstGeom prst="leftArrow">
            <a:avLst/>
          </a:prstGeom>
          <a:solidFill>
            <a:srgbClr val="B8452E"/>
          </a:solidFill>
          <a:ln w="12700">
            <a:solidFill>
              <a:srgbClr val="333333"/>
            </a:solidFill>
            <a:prstDash val="solid"/>
          </a:ln>
        </p:spPr>
      </p:sp>
      <p:sp>
        <p:nvSpPr>
          <p:cNvPr id="15" name="Panel read"/>
          <p:cNvSpPr/>
          <p:nvPr/>
        </p:nvSpPr>
        <p:spPr>
          <a:xfrm>
            <a:off x="365760" y="1554480"/>
            <a:ext cx="3886200" cy="1874520"/>
          </a:xfrm>
          <a:prstGeom prst="roundRect">
            <a:avLst>
              <a:gd name="adj" fmla="val 12195"/>
            </a:avLst>
          </a:prstGeom>
          <a:solidFill>
            <a:srgbClr val="FFFBE3"/>
          </a:solidFill>
          <a:ln w="88900">
            <a:solidFill>
              <a:srgbClr val="F2B134"/>
            </a:solidFill>
            <a:prstDash val="solid"/>
          </a:ln>
        </p:spPr>
      </p:sp>
      <p:sp>
        <p:nvSpPr>
          <p:cNvPr id="16" name="C2 read"/>
          <p:cNvSpPr txBox="1"/>
          <p:nvPr/>
        </p:nvSpPr>
        <p:spPr>
          <a:xfrm>
            <a:off x="365760" y="1546265"/>
            <a:ext cx="3886200" cy="1237183"/>
          </a:xfrm>
          <a:prstGeom prst="rect">
            <a:avLst/>
          </a:prstGeom>
          <a:noFill/>
          <a:ln/>
        </p:spPr>
        <p:txBody>
          <a:bodyPr wrap="none" lIns="0" tIns="0" rIns="0" bIns="0" rtlCol="0" anchor="ctr"/>
          <a:lstStyle/>
          <a:p>
            <a:pPr algn="ctr" indent="0" marL="0">
              <a:buNone/>
            </a:pPr>
            <a:r>
              <a:rPr lang="ar-SA" altLang="en-US" sz="4000" dirty="0">
                <a:solidFill>
                  <a:srgbClr val="16213E"/>
                </a:solidFill>
                <a:latin typeface="Traditional Arabic" pitchFamily="34" charset="0"/>
                <a:ea typeface="Traditional Arabic" pitchFamily="34" charset="-122"/>
                <a:cs typeface="Traditional Arabic" pitchFamily="34" charset="-120"/>
              </a:rPr>
              <a:t>فِلۡ أَرۡضِ</a:t>
            </a:r>
            <a:endParaRPr lang="ar-SA" sz="4000" dirty="0"/>
          </a:p>
        </p:txBody>
      </p:sp>
      <p:sp>
        <p:nvSpPr>
          <p:cNvPr id="17" name="C2 sounds"/>
          <p:cNvSpPr/>
          <p:nvPr/>
        </p:nvSpPr>
        <p:spPr>
          <a:xfrm>
            <a:off x="502920" y="2798775"/>
            <a:ext cx="3611880" cy="582473"/>
          </a:xfrm>
          <a:prstGeom prst="rect">
            <a:avLst/>
          </a:prstGeom>
          <a:noFill/>
          <a:ln/>
        </p:spPr>
        <p:txBody>
          <a:bodyPr wrap="square" lIns="0" tIns="0" rIns="0" bIns="0" rtlCol="0" anchor="ctr"/>
          <a:lstStyle/>
          <a:p>
            <a:pPr algn="ctr" indent="0" marL="0">
              <a:buNone/>
            </a:pPr>
            <a:r>
              <a:rPr lang="en-US" sz="2800" b="1" dirty="0">
                <a:solidFill>
                  <a:srgbClr val="D9480F"/>
                </a:solidFill>
                <a:latin typeface="Arial" pitchFamily="34" charset="0"/>
                <a:ea typeface="Arial" pitchFamily="34" charset="-122"/>
                <a:cs typeface="Arial" pitchFamily="34" charset="-120"/>
              </a:rPr>
              <a:t>fil-ar-di</a:t>
            </a:r>
            <a:endParaRPr lang="en-US" sz="2800" dirty="0"/>
          </a:p>
        </p:txBody>
      </p:sp>
      <p:sp>
        <p:nvSpPr>
          <p:cNvPr id="18" name="C3 tip box"/>
          <p:cNvSpPr/>
          <p:nvPr/>
        </p:nvSpPr>
        <p:spPr>
          <a:xfrm>
            <a:off x="365760" y="3566160"/>
            <a:ext cx="8412480" cy="685800"/>
          </a:xfrm>
          <a:prstGeom prst="roundRect">
            <a:avLst>
              <a:gd name="adj" fmla="val 26667"/>
            </a:avLst>
          </a:prstGeom>
          <a:solidFill>
            <a:srgbClr val="E8590C"/>
          </a:solidFill>
          <a:ln w="12700">
            <a:solidFill>
              <a:srgbClr val="333333"/>
            </a:solidFill>
            <a:prstDash val="solid"/>
          </a:ln>
        </p:spPr>
      </p:sp>
      <p:sp>
        <p:nvSpPr>
          <p:cNvPr id="19" name="C3 tip"/>
          <p:cNvSpPr txBox="1"/>
          <p:nvPr/>
        </p:nvSpPr>
        <p:spPr>
          <a:xfrm>
            <a:off x="365760" y="3552825"/>
            <a:ext cx="8412480" cy="685800"/>
          </a:xfrm>
          <a:prstGeom prst="rect">
            <a:avLst/>
          </a:prstGeom>
          <a:noFill/>
          <a:ln/>
        </p:spPr>
        <p:txBody>
          <a:bodyPr wrap="non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A madd letter before a silent letter is written, not stretched</a:t>
            </a:r>
            <a:endParaRPr lang="en-US" sz="2100" dirty="0"/>
          </a:p>
        </p:txBody>
      </p:sp>
    </p:spTree>
  </p:cSld>
  <p:clrMapOvr>
    <a:masterClrMapping/>
  </p:clrMapOvr>
  <p:transition spd="med">
    <p:push dir="l"/>
    <p:sndAc>
      <p:stSnd>
        <p:snd r:embed="rIdTrSnd" name="marimb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350"/>
                                        <p:tgtEl>
                                          <p:spTgt spid="1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35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35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17" grpId="0" animBg="1"/>
      <p:bldP spid="18" grpId="0" animBg="1"/>
      <p:bldP spid="1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CC5F7"/>
        </a:solidFill>
      </p:bgPr>
    </p:bg>
    <p:spTree>
      <p:nvGrpSpPr>
        <p:cNvPr id="1" name=""/>
        <p:cNvGrpSpPr/>
        <p:nvPr/>
      </p:nvGrpSpPr>
      <p:grpSpPr>
        <a:xfrm>
          <a:off x="0" y="0"/>
          <a:ext cx="0" cy="0"/>
          <a:chOff x="0" y="0"/>
          <a:chExt cx="0" cy="0"/>
        </a:xfrm>
      </p:grpSpPr>
      <p:sp>
        <p:nvSpPr>
          <p:cNvPr id="2" name="Deco grass"/>
          <p:cNvSpPr/>
          <p:nvPr/>
        </p:nvSpPr>
        <p:spPr>
          <a:xfrm>
            <a:off x="0" y="4617720"/>
            <a:ext cx="9144000" cy="548640"/>
          </a:xfrm>
          <a:prstGeom prst="rect">
            <a:avLst/>
          </a:prstGeom>
          <a:solidFill>
            <a:srgbClr val="C68C53"/>
          </a:solidFill>
          <a:ln w="12700">
            <a:solidFill>
              <a:srgbClr val="C68C53"/>
            </a:solidFill>
            <a:prstDash val="solid"/>
          </a:ln>
        </p:spPr>
      </p:sp>
      <p:sp>
        <p:nvSpPr>
          <p:cNvPr id="3" name="Deco stem 0"/>
          <p:cNvSpPr/>
          <p:nvPr/>
        </p:nvSpPr>
        <p:spPr>
          <a:xfrm>
            <a:off x="576072" y="4736592"/>
            <a:ext cx="36576" cy="365760"/>
          </a:xfrm>
          <a:prstGeom prst="ellipse">
            <a:avLst/>
          </a:prstGeom>
          <a:solidFill>
            <a:srgbClr val="3C8D40"/>
          </a:solidFill>
          <a:ln w="12700">
            <a:solidFill>
              <a:srgbClr val="3C8D40"/>
            </a:solidFill>
            <a:prstDash val="solid"/>
          </a:ln>
        </p:spPr>
      </p:sp>
      <p:sp>
        <p:nvSpPr>
          <p:cNvPr id="4" name="Deco flower 0"/>
          <p:cNvSpPr/>
          <p:nvPr/>
        </p:nvSpPr>
        <p:spPr>
          <a:xfrm>
            <a:off x="457200" y="4370832"/>
            <a:ext cx="274320" cy="274320"/>
          </a:xfrm>
          <a:prstGeom prst="flowChartConnector">
            <a:avLst/>
          </a:prstGeom>
          <a:solidFill>
            <a:srgbClr val="FF7A90"/>
          </a:solidFill>
          <a:ln w="12700">
            <a:solidFill>
              <a:srgbClr val="FF7A90"/>
            </a:solidFill>
            <a:prstDash val="solid"/>
          </a:ln>
        </p:spPr>
      </p:sp>
      <p:sp>
        <p:nvSpPr>
          <p:cNvPr id="5" name="Deco stem 1"/>
          <p:cNvSpPr/>
          <p:nvPr/>
        </p:nvSpPr>
        <p:spPr>
          <a:xfrm>
            <a:off x="1399032" y="4736592"/>
            <a:ext cx="36576" cy="365760"/>
          </a:xfrm>
          <a:prstGeom prst="ellipse">
            <a:avLst/>
          </a:prstGeom>
          <a:solidFill>
            <a:srgbClr val="3C8D40"/>
          </a:solidFill>
          <a:ln w="12700">
            <a:solidFill>
              <a:srgbClr val="3C8D40"/>
            </a:solidFill>
            <a:prstDash val="solid"/>
          </a:ln>
        </p:spPr>
      </p:sp>
      <p:sp>
        <p:nvSpPr>
          <p:cNvPr id="6" name="Deco flower 1"/>
          <p:cNvSpPr/>
          <p:nvPr/>
        </p:nvSpPr>
        <p:spPr>
          <a:xfrm>
            <a:off x="1280160" y="4370832"/>
            <a:ext cx="274320" cy="274320"/>
          </a:xfrm>
          <a:prstGeom prst="flowChartConnector">
            <a:avLst/>
          </a:prstGeom>
          <a:solidFill>
            <a:srgbClr val="FFB347"/>
          </a:solidFill>
          <a:ln w="12700">
            <a:solidFill>
              <a:srgbClr val="FFB347"/>
            </a:solidFill>
            <a:prstDash val="solid"/>
          </a:ln>
        </p:spPr>
      </p:sp>
      <p:sp>
        <p:nvSpPr>
          <p:cNvPr id="7" name="Deco stem 2"/>
          <p:cNvSpPr/>
          <p:nvPr/>
        </p:nvSpPr>
        <p:spPr>
          <a:xfrm>
            <a:off x="2221992" y="4736592"/>
            <a:ext cx="36576" cy="365760"/>
          </a:xfrm>
          <a:prstGeom prst="ellipse">
            <a:avLst/>
          </a:prstGeom>
          <a:solidFill>
            <a:srgbClr val="3C8D40"/>
          </a:solidFill>
          <a:ln w="12700">
            <a:solidFill>
              <a:srgbClr val="3C8D40"/>
            </a:solidFill>
            <a:prstDash val="solid"/>
          </a:ln>
        </p:spPr>
      </p:sp>
      <p:sp>
        <p:nvSpPr>
          <p:cNvPr id="8" name="Deco flower 2"/>
          <p:cNvSpPr/>
          <p:nvPr/>
        </p:nvSpPr>
        <p:spPr>
          <a:xfrm>
            <a:off x="2103120" y="4370832"/>
            <a:ext cx="274320" cy="274320"/>
          </a:xfrm>
          <a:prstGeom prst="flowChartConnector">
            <a:avLst/>
          </a:prstGeom>
          <a:solidFill>
            <a:srgbClr val="B892FF"/>
          </a:solidFill>
          <a:ln w="12700">
            <a:solidFill>
              <a:srgbClr val="B892FF"/>
            </a:solidFill>
            <a:prstDash val="solid"/>
          </a:ln>
        </p:spPr>
      </p:sp>
      <p:sp>
        <p:nvSpPr>
          <p:cNvPr id="9" name="Deco stem 3"/>
          <p:cNvSpPr/>
          <p:nvPr/>
        </p:nvSpPr>
        <p:spPr>
          <a:xfrm>
            <a:off x="6885432" y="4736592"/>
            <a:ext cx="36576" cy="365760"/>
          </a:xfrm>
          <a:prstGeom prst="ellipse">
            <a:avLst/>
          </a:prstGeom>
          <a:solidFill>
            <a:srgbClr val="3C8D40"/>
          </a:solidFill>
          <a:ln w="12700">
            <a:solidFill>
              <a:srgbClr val="3C8D40"/>
            </a:solidFill>
            <a:prstDash val="solid"/>
          </a:ln>
        </p:spPr>
      </p:sp>
      <p:sp>
        <p:nvSpPr>
          <p:cNvPr id="10" name="Deco flower 3"/>
          <p:cNvSpPr/>
          <p:nvPr/>
        </p:nvSpPr>
        <p:spPr>
          <a:xfrm>
            <a:off x="6766560" y="4370832"/>
            <a:ext cx="274320" cy="274320"/>
          </a:xfrm>
          <a:prstGeom prst="flowChartConnector">
            <a:avLst/>
          </a:prstGeom>
          <a:solidFill>
            <a:srgbClr val="FF6F91"/>
          </a:solidFill>
          <a:ln w="12700">
            <a:solidFill>
              <a:srgbClr val="FF6F91"/>
            </a:solidFill>
            <a:prstDash val="solid"/>
          </a:ln>
        </p:spPr>
      </p:sp>
      <p:sp>
        <p:nvSpPr>
          <p:cNvPr id="11" name="Deco stem 4"/>
          <p:cNvSpPr/>
          <p:nvPr/>
        </p:nvSpPr>
        <p:spPr>
          <a:xfrm>
            <a:off x="7708392" y="4736592"/>
            <a:ext cx="36576" cy="365760"/>
          </a:xfrm>
          <a:prstGeom prst="ellipse">
            <a:avLst/>
          </a:prstGeom>
          <a:solidFill>
            <a:srgbClr val="3C8D40"/>
          </a:solidFill>
          <a:ln w="12700">
            <a:solidFill>
              <a:srgbClr val="3C8D40"/>
            </a:solidFill>
            <a:prstDash val="solid"/>
          </a:ln>
        </p:spPr>
      </p:sp>
      <p:sp>
        <p:nvSpPr>
          <p:cNvPr id="12" name="Deco flower 4"/>
          <p:cNvSpPr/>
          <p:nvPr/>
        </p:nvSpPr>
        <p:spPr>
          <a:xfrm>
            <a:off x="7589520" y="4370832"/>
            <a:ext cx="274320" cy="274320"/>
          </a:xfrm>
          <a:prstGeom prst="flowChartConnector">
            <a:avLst/>
          </a:prstGeom>
          <a:solidFill>
            <a:srgbClr val="FFD23F"/>
          </a:solidFill>
          <a:ln w="12700">
            <a:solidFill>
              <a:srgbClr val="FFD23F"/>
            </a:solidFill>
            <a:prstDash val="solid"/>
          </a:ln>
        </p:spPr>
      </p:sp>
      <p:sp>
        <p:nvSpPr>
          <p:cNvPr id="13" name="Deco stem 5"/>
          <p:cNvSpPr/>
          <p:nvPr/>
        </p:nvSpPr>
        <p:spPr>
          <a:xfrm>
            <a:off x="8439912" y="4736592"/>
            <a:ext cx="36576" cy="365760"/>
          </a:xfrm>
          <a:prstGeom prst="ellipse">
            <a:avLst/>
          </a:prstGeom>
          <a:solidFill>
            <a:srgbClr val="3C8D40"/>
          </a:solidFill>
          <a:ln w="12700">
            <a:solidFill>
              <a:srgbClr val="3C8D40"/>
            </a:solidFill>
            <a:prstDash val="solid"/>
          </a:ln>
        </p:spPr>
      </p:sp>
      <p:sp>
        <p:nvSpPr>
          <p:cNvPr id="14" name="Deco flower 5"/>
          <p:cNvSpPr/>
          <p:nvPr/>
        </p:nvSpPr>
        <p:spPr>
          <a:xfrm>
            <a:off x="8321040" y="4370832"/>
            <a:ext cx="274320" cy="274320"/>
          </a:xfrm>
          <a:prstGeom prst="flowChartConnector">
            <a:avLst/>
          </a:prstGeom>
          <a:solidFill>
            <a:srgbClr val="7EC8FF"/>
          </a:solidFill>
          <a:ln w="12700">
            <a:solidFill>
              <a:srgbClr val="7EC8FF"/>
            </a:solidFill>
            <a:prstDash val="solid"/>
          </a:ln>
        </p:spPr>
      </p:sp>
      <p:sp>
        <p:nvSpPr>
          <p:cNvPr id="15" name="Deco heart"/>
          <p:cNvSpPr/>
          <p:nvPr/>
        </p:nvSpPr>
        <p:spPr>
          <a:xfrm>
            <a:off x="411480" y="228600"/>
            <a:ext cx="457200" cy="411480"/>
          </a:xfrm>
          <a:prstGeom prst="heart">
            <a:avLst/>
          </a:prstGeom>
          <a:solidFill>
            <a:srgbClr val="A05EED"/>
          </a:solidFill>
          <a:ln w="12700">
            <a:solidFill>
              <a:srgbClr val="A05EED"/>
            </a:solidFill>
            <a:prstDash val="solid"/>
          </a:ln>
        </p:spPr>
      </p:sp>
      <p:sp>
        <p:nvSpPr>
          <p:cNvPr id="16" name="Deco cloud"/>
          <p:cNvSpPr/>
          <p:nvPr/>
        </p:nvSpPr>
        <p:spPr>
          <a:xfrm>
            <a:off x="7132320" y="109728"/>
            <a:ext cx="1463040" cy="640080"/>
          </a:xfrm>
          <a:prstGeom prst="cloud">
            <a:avLst/>
          </a:prstGeom>
          <a:solidFill>
            <a:srgbClr val="FFFFFF"/>
          </a:solidFill>
          <a:ln w="12700">
            <a:solidFill>
              <a:srgbClr val="FFFFFF"/>
            </a:solidFill>
            <a:prstDash val="solid"/>
          </a:ln>
        </p:spPr>
      </p:sp>
      <p:sp>
        <p:nvSpPr>
          <p:cNvPr id="17" name="Deco friend"/>
          <p:cNvSpPr/>
          <p:nvPr/>
        </p:nvSpPr>
        <p:spPr>
          <a:xfrm>
            <a:off x="6309360" y="182880"/>
            <a:ext cx="548640" cy="548640"/>
          </a:xfrm>
          <a:prstGeom prst="smileyFace">
            <a:avLst/>
          </a:prstGeom>
          <a:solidFill>
            <a:srgbClr val="FFD166"/>
          </a:solidFill>
          <a:ln w="12700">
            <a:solidFill>
              <a:srgbClr val="FFD166"/>
            </a:solidFill>
            <a:prstDash val="solid"/>
          </a:ln>
        </p:spPr>
      </p:sp>
      <p:sp>
        <p:nvSpPr>
          <p:cNvPr id="18" name="Title box"/>
          <p:cNvSpPr/>
          <p:nvPr/>
        </p:nvSpPr>
        <p:spPr>
          <a:xfrm>
            <a:off x="365760" y="896112"/>
            <a:ext cx="8412480" cy="530352"/>
          </a:xfrm>
          <a:prstGeom prst="roundRect">
            <a:avLst>
              <a:gd name="adj" fmla="val 34483"/>
            </a:avLst>
          </a:prstGeom>
          <a:solidFill>
            <a:srgbClr val="E8590C"/>
          </a:solidFill>
          <a:ln w="12700">
            <a:solidFill>
              <a:srgbClr val="333333"/>
            </a:solidFill>
            <a:prstDash val="solid"/>
          </a:ln>
        </p:spPr>
      </p:sp>
      <p:sp>
        <p:nvSpPr>
          <p:cNvPr id="19" name="Title"/>
          <p:cNvSpPr txBox="1"/>
          <p:nvPr/>
        </p:nvSpPr>
        <p:spPr>
          <a:xfrm>
            <a:off x="365760" y="870712"/>
            <a:ext cx="8412480" cy="530352"/>
          </a:xfrm>
          <a:prstGeom prst="rect">
            <a:avLst/>
          </a:prstGeom>
          <a:noFill/>
          <a:ln/>
        </p:spPr>
        <p:txBody>
          <a:bodyPr wrap="none" lIns="0" tIns="0" rIns="0" bIns="0" rtlCol="0" anchor="ctr"/>
          <a:lstStyle/>
          <a:p>
            <a:pPr algn="ctr" indent="0" marL="0">
              <a:buNone/>
            </a:pPr>
            <a:r>
              <a:rPr lang="en-US" sz="2500" b="1" dirty="0">
                <a:solidFill>
                  <a:srgbClr val="FFFFFF"/>
                </a:solidFill>
                <a:latin typeface="Arial" pitchFamily="34" charset="0"/>
                <a:ea typeface="Arial" pitchFamily="34" charset="-122"/>
                <a:cs typeface="Arial" pitchFamily="34" charset="-120"/>
              </a:rPr>
              <a:t>No sign: dropped when connecting</a:t>
            </a:r>
            <a:endParaRPr lang="en-US" sz="2500" dirty="0"/>
          </a:p>
        </p:txBody>
      </p:sp>
      <p:sp>
        <p:nvSpPr>
          <p:cNvPr id="20" name="Panel written"/>
          <p:cNvSpPr/>
          <p:nvPr/>
        </p:nvSpPr>
        <p:spPr>
          <a:xfrm>
            <a:off x="4892040" y="1554480"/>
            <a:ext cx="3886200" cy="1874520"/>
          </a:xfrm>
          <a:prstGeom prst="roundRect">
            <a:avLst>
              <a:gd name="adj" fmla="val 12195"/>
            </a:avLst>
          </a:prstGeom>
          <a:solidFill>
            <a:srgbClr val="FFFFFF"/>
          </a:solidFill>
          <a:ln w="88900">
            <a:solidFill>
              <a:srgbClr val="E8590C"/>
            </a:solidFill>
            <a:prstDash val="solid"/>
          </a:ln>
        </p:spPr>
      </p:sp>
      <p:sp>
        <p:nvSpPr>
          <p:cNvPr id="21" name="C1 written"/>
          <p:cNvSpPr txBox="1"/>
          <p:nvPr/>
        </p:nvSpPr>
        <p:spPr>
          <a:xfrm>
            <a:off x="4892040" y="1592511"/>
            <a:ext cx="3886200" cy="1874520"/>
          </a:xfrm>
          <a:prstGeom prst="rect">
            <a:avLst/>
          </a:prstGeom>
          <a:noFill/>
          <a:ln/>
        </p:spPr>
        <p:txBody>
          <a:bodyPr wrap="none" lIns="0" tIns="0" rIns="0" bIns="0" rtlCol="0" anchor="ctr"/>
          <a:lstStyle/>
          <a:p>
            <a:pPr algn="ctr" indent="0" marL="0">
              <a:buNone/>
            </a:pPr>
            <a:r>
              <a:rPr lang="ar-SA" altLang="en-US" sz="4000" dirty="0">
                <a:solidFill>
                  <a:srgbClr val="16213E"/>
                </a:solidFill>
                <a:latin typeface="Traditional Arabic" pitchFamily="34" charset="0"/>
                <a:ea typeface="Traditional Arabic" pitchFamily="34" charset="-122"/>
                <a:cs typeface="Traditional Arabic" pitchFamily="34" charset="-120"/>
              </a:rPr>
              <a:t>وَقَالُ</a:t>
            </a:r>
            <a:r>
              <a:rPr lang="ar-SA" altLang="en-US" sz="4000" dirty="0">
                <a:solidFill>
                  <a:srgbClr val="E03131"/>
                </a:solidFill>
                <a:latin typeface="Traditional Arabic" pitchFamily="34" charset="0"/>
                <a:ea typeface="Traditional Arabic" pitchFamily="34" charset="-122"/>
                <a:cs typeface="Traditional Arabic" pitchFamily="34" charset="-120"/>
              </a:rPr>
              <a:t>وا۟</a:t>
            </a:r>
            <a:r>
              <a:rPr lang="ar-SA" altLang="en-US" sz="4000" dirty="0">
                <a:solidFill>
                  <a:srgbClr val="16213E"/>
                </a:solidFill>
                <a:latin typeface="Traditional Arabic" pitchFamily="34" charset="0"/>
                <a:ea typeface="Traditional Arabic" pitchFamily="34" charset="-122"/>
                <a:cs typeface="Traditional Arabic" pitchFamily="34" charset="-120"/>
              </a:rPr>
              <a:t> ٱلۡحَمۡدُ</a:t>
            </a:r>
            <a:endParaRPr lang="ar-SA" sz="4000" dirty="0"/>
          </a:p>
        </p:txBody>
      </p:sp>
      <p:sp>
        <p:nvSpPr>
          <p:cNvPr id="22" name="C2 arrow"/>
          <p:cNvSpPr/>
          <p:nvPr/>
        </p:nvSpPr>
        <p:spPr>
          <a:xfrm>
            <a:off x="4315968" y="2263140"/>
            <a:ext cx="512064" cy="457200"/>
          </a:xfrm>
          <a:prstGeom prst="leftArrow">
            <a:avLst/>
          </a:prstGeom>
          <a:solidFill>
            <a:srgbClr val="2EB86D"/>
          </a:solidFill>
          <a:ln w="12700">
            <a:solidFill>
              <a:srgbClr val="333333"/>
            </a:solidFill>
            <a:prstDash val="solid"/>
          </a:ln>
        </p:spPr>
      </p:sp>
      <p:sp>
        <p:nvSpPr>
          <p:cNvPr id="23" name="Panel read"/>
          <p:cNvSpPr/>
          <p:nvPr/>
        </p:nvSpPr>
        <p:spPr>
          <a:xfrm>
            <a:off x="365760" y="1554480"/>
            <a:ext cx="3886200" cy="1874520"/>
          </a:xfrm>
          <a:prstGeom prst="roundRect">
            <a:avLst>
              <a:gd name="adj" fmla="val 12195"/>
            </a:avLst>
          </a:prstGeom>
          <a:solidFill>
            <a:srgbClr val="FFFBE3"/>
          </a:solidFill>
          <a:ln w="88900">
            <a:solidFill>
              <a:srgbClr val="F2B134"/>
            </a:solidFill>
            <a:prstDash val="solid"/>
          </a:ln>
        </p:spPr>
      </p:sp>
      <p:sp>
        <p:nvSpPr>
          <p:cNvPr id="24" name="C2 read"/>
          <p:cNvSpPr txBox="1"/>
          <p:nvPr/>
        </p:nvSpPr>
        <p:spPr>
          <a:xfrm>
            <a:off x="365760" y="1599166"/>
            <a:ext cx="3886200" cy="1237183"/>
          </a:xfrm>
          <a:prstGeom prst="rect">
            <a:avLst/>
          </a:prstGeom>
          <a:noFill/>
          <a:ln/>
        </p:spPr>
        <p:txBody>
          <a:bodyPr wrap="none" lIns="0" tIns="0" rIns="0" bIns="0" rtlCol="0" anchor="ctr"/>
          <a:lstStyle/>
          <a:p>
            <a:pPr algn="ctr" indent="0" marL="0">
              <a:buNone/>
            </a:pPr>
            <a:r>
              <a:rPr lang="ar-SA" altLang="en-US" sz="4700" dirty="0">
                <a:solidFill>
                  <a:srgbClr val="16213E"/>
                </a:solidFill>
                <a:latin typeface="Traditional Arabic" pitchFamily="34" charset="0"/>
                <a:ea typeface="Traditional Arabic" pitchFamily="34" charset="-122"/>
                <a:cs typeface="Traditional Arabic" pitchFamily="34" charset="-120"/>
              </a:rPr>
              <a:t>وَقَالُلۡ حَمۡدُ</a:t>
            </a:r>
            <a:endParaRPr lang="ar-SA" sz="4700" dirty="0"/>
          </a:p>
        </p:txBody>
      </p:sp>
      <p:sp>
        <p:nvSpPr>
          <p:cNvPr id="25" name="C2 sounds"/>
          <p:cNvSpPr/>
          <p:nvPr/>
        </p:nvSpPr>
        <p:spPr>
          <a:xfrm>
            <a:off x="502920" y="2763215"/>
            <a:ext cx="3611880" cy="582473"/>
          </a:xfrm>
          <a:prstGeom prst="rect">
            <a:avLst/>
          </a:prstGeom>
          <a:noFill/>
          <a:ln/>
        </p:spPr>
        <p:txBody>
          <a:bodyPr wrap="square" lIns="0" tIns="0" rIns="0" bIns="0" rtlCol="0" anchor="ctr"/>
          <a:lstStyle/>
          <a:p>
            <a:pPr algn="ctr" indent="0" marL="0">
              <a:buNone/>
            </a:pPr>
            <a:r>
              <a:rPr lang="en-US" sz="2800" b="1" dirty="0">
                <a:solidFill>
                  <a:srgbClr val="D9480F"/>
                </a:solidFill>
                <a:latin typeface="Arial" pitchFamily="34" charset="0"/>
                <a:ea typeface="Arial" pitchFamily="34" charset="-122"/>
                <a:cs typeface="Arial" pitchFamily="34" charset="-120"/>
              </a:rPr>
              <a:t>wa-qaa-lul ham-du</a:t>
            </a:r>
            <a:endParaRPr lang="en-US" sz="2800" dirty="0"/>
          </a:p>
        </p:txBody>
      </p:sp>
      <p:sp>
        <p:nvSpPr>
          <p:cNvPr id="26" name="C3 tip box"/>
          <p:cNvSpPr/>
          <p:nvPr/>
        </p:nvSpPr>
        <p:spPr>
          <a:xfrm>
            <a:off x="365760" y="3566160"/>
            <a:ext cx="8412480" cy="685800"/>
          </a:xfrm>
          <a:prstGeom prst="roundRect">
            <a:avLst>
              <a:gd name="adj" fmla="val 26667"/>
            </a:avLst>
          </a:prstGeom>
          <a:solidFill>
            <a:srgbClr val="E8590C"/>
          </a:solidFill>
          <a:ln w="12700">
            <a:solidFill>
              <a:srgbClr val="333333"/>
            </a:solidFill>
            <a:prstDash val="solid"/>
          </a:ln>
        </p:spPr>
      </p:sp>
      <p:sp>
        <p:nvSpPr>
          <p:cNvPr id="27" name="C3 tip"/>
          <p:cNvSpPr txBox="1"/>
          <p:nvPr/>
        </p:nvSpPr>
        <p:spPr>
          <a:xfrm>
            <a:off x="365760" y="3543808"/>
            <a:ext cx="8412480" cy="685800"/>
          </a:xfrm>
          <a:prstGeom prst="rect">
            <a:avLst/>
          </a:prstGeom>
          <a:noFill/>
          <a:ln/>
        </p:spPr>
        <p:txBody>
          <a:bodyPr wrap="non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The waw drops before the silent lam; the alif is never read</a:t>
            </a:r>
            <a:endParaRPr lang="en-US" sz="2200" dirty="0"/>
          </a:p>
        </p:txBody>
      </p:sp>
    </p:spTree>
  </p:cSld>
  <p:clrMapOvr>
    <a:masterClrMapping/>
  </p:clrMapOvr>
  <p:transition spd="med">
    <p:split orient="vert" dir="out"/>
    <p:sndAc>
      <p:stSnd>
        <p:snd r:embed="rIdTrSnd" name="harp.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35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350"/>
                                        <p:tgtEl>
                                          <p:spTgt spid="2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350"/>
                                        <p:tgtEl>
                                          <p:spTgt spid="2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35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35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4" grpId="0" animBg="1"/>
      <p:bldP spid="25" grpId="0" animBg="1"/>
      <p:bldP spid="26" grpId="0" animBg="1"/>
      <p:bldP spid="2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F4314"/>
        </a:solidFill>
      </p:bgPr>
    </p:bg>
    <p:spTree>
      <p:nvGrpSpPr>
        <p:cNvPr id="1" name=""/>
        <p:cNvGrpSpPr/>
        <p:nvPr/>
      </p:nvGrpSpPr>
      <p:grpSpPr>
        <a:xfrm>
          <a:off x="0" y="0"/>
          <a:ext cx="0" cy="0"/>
          <a:chOff x="0" y="0"/>
          <a:chExt cx="0" cy="0"/>
        </a:xfrm>
      </p:grpSpPr>
      <p:sp>
        <p:nvSpPr>
          <p:cNvPr id="2" name="Deco planet"/>
          <p:cNvSpPr/>
          <p:nvPr/>
        </p:nvSpPr>
        <p:spPr>
          <a:xfrm>
            <a:off x="7680960" y="91440"/>
            <a:ext cx="731520" cy="731520"/>
          </a:xfrm>
          <a:prstGeom prst="ellipse">
            <a:avLst/>
          </a:prstGeom>
          <a:solidFill>
            <a:srgbClr val="8DE052"/>
          </a:solidFill>
          <a:ln w="12700">
            <a:solidFill>
              <a:srgbClr val="8DE052"/>
            </a:solidFill>
            <a:prstDash val="solid"/>
          </a:ln>
        </p:spPr>
      </p:sp>
      <p:sp>
        <p:nvSpPr>
          <p:cNvPr id="3" name="Deco planet ring"/>
          <p:cNvSpPr/>
          <p:nvPr/>
        </p:nvSpPr>
        <p:spPr>
          <a:xfrm>
            <a:off x="7452360" y="384048"/>
            <a:ext cx="1188720" cy="164592"/>
          </a:xfrm>
          <a:prstGeom prst="ellipse">
            <a:avLst/>
          </a:prstGeom>
          <a:solidFill>
            <a:srgbClr val="FFFFFF">
              <a:alpha val="0"/>
            </a:srgbClr>
          </a:solidFill>
          <a:ln w="25400">
            <a:solidFill>
              <a:srgbClr val="8CF295"/>
            </a:solidFill>
            <a:prstDash val="solid"/>
          </a:ln>
        </p:spPr>
      </p:sp>
      <p:sp>
        <p:nvSpPr>
          <p:cNvPr id="4" name="Deco small planet"/>
          <p:cNvSpPr/>
          <p:nvPr/>
        </p:nvSpPr>
        <p:spPr>
          <a:xfrm>
            <a:off x="274320" y="182880"/>
            <a:ext cx="502920" cy="502920"/>
          </a:xfrm>
          <a:prstGeom prst="ellipse">
            <a:avLst/>
          </a:prstGeom>
          <a:solidFill>
            <a:srgbClr val="7970DB"/>
          </a:solidFill>
          <a:ln w="12700">
            <a:solidFill>
              <a:srgbClr val="7970DB"/>
            </a:solidFill>
            <a:prstDash val="solid"/>
          </a:ln>
        </p:spPr>
      </p:sp>
      <p:sp>
        <p:nvSpPr>
          <p:cNvPr id="5" name="Deco star 0"/>
          <p:cNvSpPr/>
          <p:nvPr/>
        </p:nvSpPr>
        <p:spPr>
          <a:xfrm>
            <a:off x="1371600" y="274320"/>
            <a:ext cx="256032" cy="256032"/>
          </a:xfrm>
          <a:prstGeom prst="star5">
            <a:avLst/>
          </a:prstGeom>
          <a:solidFill>
            <a:srgbClr val="FFE066"/>
          </a:solidFill>
          <a:ln w="12700">
            <a:solidFill>
              <a:srgbClr val="FFE066"/>
            </a:solidFill>
            <a:prstDash val="solid"/>
          </a:ln>
        </p:spPr>
      </p:sp>
      <p:sp>
        <p:nvSpPr>
          <p:cNvPr id="6" name="Deco star 1"/>
          <p:cNvSpPr/>
          <p:nvPr/>
        </p:nvSpPr>
        <p:spPr>
          <a:xfrm>
            <a:off x="2468880" y="91440"/>
            <a:ext cx="256032" cy="256032"/>
          </a:xfrm>
          <a:prstGeom prst="star4">
            <a:avLst/>
          </a:prstGeom>
          <a:solidFill>
            <a:srgbClr val="FFFFFF"/>
          </a:solidFill>
          <a:ln w="12700">
            <a:solidFill>
              <a:srgbClr val="FFFFFF"/>
            </a:solidFill>
            <a:prstDash val="solid"/>
          </a:ln>
        </p:spPr>
      </p:sp>
      <p:sp>
        <p:nvSpPr>
          <p:cNvPr id="7" name="Deco star 2"/>
          <p:cNvSpPr/>
          <p:nvPr/>
        </p:nvSpPr>
        <p:spPr>
          <a:xfrm>
            <a:off x="3840480" y="502920"/>
            <a:ext cx="256032" cy="256032"/>
          </a:xfrm>
          <a:prstGeom prst="star5">
            <a:avLst/>
          </a:prstGeom>
          <a:solidFill>
            <a:srgbClr val="FFFFFF"/>
          </a:solidFill>
          <a:ln w="12700">
            <a:solidFill>
              <a:srgbClr val="FFFFFF"/>
            </a:solidFill>
            <a:prstDash val="solid"/>
          </a:ln>
        </p:spPr>
      </p:sp>
      <p:sp>
        <p:nvSpPr>
          <p:cNvPr id="8" name="Deco star 3"/>
          <p:cNvSpPr/>
          <p:nvPr/>
        </p:nvSpPr>
        <p:spPr>
          <a:xfrm>
            <a:off x="5120640" y="137160"/>
            <a:ext cx="256032" cy="256032"/>
          </a:xfrm>
          <a:prstGeom prst="star4">
            <a:avLst/>
          </a:prstGeom>
          <a:solidFill>
            <a:srgbClr val="FFE066"/>
          </a:solidFill>
          <a:ln w="12700">
            <a:solidFill>
              <a:srgbClr val="FFE066"/>
            </a:solidFill>
            <a:prstDash val="solid"/>
          </a:ln>
        </p:spPr>
      </p:sp>
      <p:sp>
        <p:nvSpPr>
          <p:cNvPr id="9" name="Deco star 4"/>
          <p:cNvSpPr/>
          <p:nvPr/>
        </p:nvSpPr>
        <p:spPr>
          <a:xfrm>
            <a:off x="6583680" y="457200"/>
            <a:ext cx="256032" cy="256032"/>
          </a:xfrm>
          <a:prstGeom prst="star5">
            <a:avLst/>
          </a:prstGeom>
          <a:solidFill>
            <a:srgbClr val="FFFFFF"/>
          </a:solidFill>
          <a:ln w="12700">
            <a:solidFill>
              <a:srgbClr val="FFFFFF"/>
            </a:solidFill>
            <a:prstDash val="solid"/>
          </a:ln>
        </p:spPr>
      </p:sp>
      <p:sp>
        <p:nvSpPr>
          <p:cNvPr id="10" name="Deco star 5"/>
          <p:cNvSpPr/>
          <p:nvPr/>
        </p:nvSpPr>
        <p:spPr>
          <a:xfrm>
            <a:off x="1097280" y="4572000"/>
            <a:ext cx="256032" cy="256032"/>
          </a:xfrm>
          <a:prstGeom prst="star4">
            <a:avLst/>
          </a:prstGeom>
          <a:solidFill>
            <a:srgbClr val="FFFFFF"/>
          </a:solidFill>
          <a:ln w="12700">
            <a:solidFill>
              <a:srgbClr val="FFFFFF"/>
            </a:solidFill>
            <a:prstDash val="solid"/>
          </a:ln>
        </p:spPr>
      </p:sp>
      <p:sp>
        <p:nvSpPr>
          <p:cNvPr id="11" name="Deco star 6"/>
          <p:cNvSpPr/>
          <p:nvPr/>
        </p:nvSpPr>
        <p:spPr>
          <a:xfrm>
            <a:off x="2743200" y="4754880"/>
            <a:ext cx="256032" cy="256032"/>
          </a:xfrm>
          <a:prstGeom prst="star5">
            <a:avLst/>
          </a:prstGeom>
          <a:solidFill>
            <a:srgbClr val="FFE066"/>
          </a:solidFill>
          <a:ln w="12700">
            <a:solidFill>
              <a:srgbClr val="FFE066"/>
            </a:solidFill>
            <a:prstDash val="solid"/>
          </a:ln>
        </p:spPr>
      </p:sp>
      <p:sp>
        <p:nvSpPr>
          <p:cNvPr id="12" name="Deco star 7"/>
          <p:cNvSpPr/>
          <p:nvPr/>
        </p:nvSpPr>
        <p:spPr>
          <a:xfrm>
            <a:off x="6217920" y="4663440"/>
            <a:ext cx="256032" cy="256032"/>
          </a:xfrm>
          <a:prstGeom prst="star4">
            <a:avLst/>
          </a:prstGeom>
          <a:solidFill>
            <a:srgbClr val="FFFFFF"/>
          </a:solidFill>
          <a:ln w="12700">
            <a:solidFill>
              <a:srgbClr val="FFFFFF"/>
            </a:solidFill>
            <a:prstDash val="solid"/>
          </a:ln>
        </p:spPr>
      </p:sp>
      <p:sp>
        <p:nvSpPr>
          <p:cNvPr id="13" name="Deco star 8"/>
          <p:cNvSpPr/>
          <p:nvPr/>
        </p:nvSpPr>
        <p:spPr>
          <a:xfrm>
            <a:off x="8138160" y="4572000"/>
            <a:ext cx="256032" cy="256032"/>
          </a:xfrm>
          <a:prstGeom prst="star5">
            <a:avLst/>
          </a:prstGeom>
          <a:solidFill>
            <a:srgbClr val="FFFFFF"/>
          </a:solidFill>
          <a:ln w="12700">
            <a:solidFill>
              <a:srgbClr val="FFFFFF"/>
            </a:solidFill>
            <a:prstDash val="solid"/>
          </a:ln>
        </p:spPr>
      </p:sp>
      <p:sp>
        <p:nvSpPr>
          <p:cNvPr id="14" name="Deco moon surface"/>
          <p:cNvSpPr/>
          <p:nvPr/>
        </p:nvSpPr>
        <p:spPr>
          <a:xfrm>
            <a:off x="3200400" y="4709160"/>
            <a:ext cx="2743200" cy="1097280"/>
          </a:xfrm>
          <a:prstGeom prst="ellipse">
            <a:avLst/>
          </a:prstGeom>
          <a:solidFill>
            <a:srgbClr val="85476B"/>
          </a:solidFill>
          <a:ln w="12700">
            <a:solidFill>
              <a:srgbClr val="85476B"/>
            </a:solidFill>
            <a:prstDash val="solid"/>
          </a:ln>
        </p:spPr>
      </p:sp>
      <p:sp>
        <p:nvSpPr>
          <p:cNvPr id="15" name="Title box"/>
          <p:cNvSpPr/>
          <p:nvPr/>
        </p:nvSpPr>
        <p:spPr>
          <a:xfrm>
            <a:off x="365760" y="896112"/>
            <a:ext cx="8412480" cy="530352"/>
          </a:xfrm>
          <a:prstGeom prst="roundRect">
            <a:avLst>
              <a:gd name="adj" fmla="val 34483"/>
            </a:avLst>
          </a:prstGeom>
          <a:solidFill>
            <a:srgbClr val="E8590C"/>
          </a:solidFill>
          <a:ln w="12700">
            <a:solidFill>
              <a:srgbClr val="333333"/>
            </a:solidFill>
            <a:prstDash val="solid"/>
          </a:ln>
        </p:spPr>
      </p:sp>
      <p:sp>
        <p:nvSpPr>
          <p:cNvPr id="16" name="Title"/>
          <p:cNvSpPr txBox="1"/>
          <p:nvPr/>
        </p:nvSpPr>
        <p:spPr>
          <a:xfrm>
            <a:off x="365760" y="902716"/>
            <a:ext cx="8412480" cy="530352"/>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The alif after fathatan</a:t>
            </a:r>
            <a:endParaRPr lang="en-US" sz="2600" dirty="0"/>
          </a:p>
        </p:txBody>
      </p:sp>
      <p:sp>
        <p:nvSpPr>
          <p:cNvPr id="17" name="Panel written"/>
          <p:cNvSpPr/>
          <p:nvPr/>
        </p:nvSpPr>
        <p:spPr>
          <a:xfrm>
            <a:off x="4892040" y="1554480"/>
            <a:ext cx="3886200" cy="1874520"/>
          </a:xfrm>
          <a:prstGeom prst="roundRect">
            <a:avLst>
              <a:gd name="adj" fmla="val 12195"/>
            </a:avLst>
          </a:prstGeom>
          <a:solidFill>
            <a:srgbClr val="FFFFFF"/>
          </a:solidFill>
          <a:ln w="88900">
            <a:solidFill>
              <a:srgbClr val="E8590C"/>
            </a:solidFill>
            <a:prstDash val="solid"/>
          </a:ln>
        </p:spPr>
      </p:sp>
      <p:sp>
        <p:nvSpPr>
          <p:cNvPr id="18" name="C1 written"/>
          <p:cNvSpPr txBox="1"/>
          <p:nvPr/>
        </p:nvSpPr>
        <p:spPr>
          <a:xfrm>
            <a:off x="4892040" y="1462754"/>
            <a:ext cx="3886200" cy="1874520"/>
          </a:xfrm>
          <a:prstGeom prst="rect">
            <a:avLst/>
          </a:prstGeom>
          <a:noFill/>
          <a:ln/>
        </p:spPr>
        <p:txBody>
          <a:bodyPr wrap="none" lIns="0" tIns="0" rIns="0" bIns="0" rtlCol="0" anchor="ctr"/>
          <a:lstStyle/>
          <a:p>
            <a:pPr algn="ctr" indent="0" marL="0">
              <a:buNone/>
            </a:pPr>
            <a:r>
              <a:rPr lang="ar-SA" altLang="en-US" sz="10700" dirty="0">
                <a:solidFill>
                  <a:srgbClr val="16213E"/>
                </a:solidFill>
                <a:latin typeface="Traditional Arabic" pitchFamily="34" charset="0"/>
                <a:ea typeface="Traditional Arabic" pitchFamily="34" charset="-122"/>
                <a:cs typeface="Traditional Arabic" pitchFamily="34" charset="-120"/>
              </a:rPr>
              <a:t>عَلِيمً</a:t>
            </a:r>
            <a:r>
              <a:rPr lang="ar-SA" altLang="en-US" sz="10700" dirty="0">
                <a:solidFill>
                  <a:srgbClr val="E03131"/>
                </a:solidFill>
                <a:latin typeface="Traditional Arabic" pitchFamily="34" charset="0"/>
                <a:ea typeface="Traditional Arabic" pitchFamily="34" charset="-122"/>
                <a:cs typeface="Traditional Arabic" pitchFamily="34" charset="-120"/>
              </a:rPr>
              <a:t>ا</a:t>
            </a:r>
            <a:endParaRPr lang="ar-SA" sz="10700" dirty="0"/>
          </a:p>
        </p:txBody>
      </p:sp>
      <p:sp>
        <p:nvSpPr>
          <p:cNvPr id="19" name="C2 arrow"/>
          <p:cNvSpPr/>
          <p:nvPr/>
        </p:nvSpPr>
        <p:spPr>
          <a:xfrm>
            <a:off x="4315968" y="2263140"/>
            <a:ext cx="512064" cy="457200"/>
          </a:xfrm>
          <a:prstGeom prst="leftArrow">
            <a:avLst/>
          </a:prstGeom>
          <a:solidFill>
            <a:srgbClr val="962EB8"/>
          </a:solidFill>
          <a:ln w="12700">
            <a:solidFill>
              <a:srgbClr val="333333"/>
            </a:solidFill>
            <a:prstDash val="solid"/>
          </a:ln>
        </p:spPr>
      </p:sp>
      <p:sp>
        <p:nvSpPr>
          <p:cNvPr id="20" name="C2 row 1"/>
          <p:cNvSpPr/>
          <p:nvPr/>
        </p:nvSpPr>
        <p:spPr>
          <a:xfrm>
            <a:off x="365760" y="1554480"/>
            <a:ext cx="3886200" cy="891540"/>
          </a:xfrm>
          <a:prstGeom prst="roundRect">
            <a:avLst>
              <a:gd name="adj" fmla="val 25641"/>
            </a:avLst>
          </a:prstGeom>
          <a:solidFill>
            <a:srgbClr val="FFFBE3"/>
          </a:solidFill>
          <a:ln w="88900">
            <a:solidFill>
              <a:srgbClr val="868E96"/>
            </a:solidFill>
            <a:prstDash val="solid"/>
          </a:ln>
        </p:spPr>
      </p:sp>
      <p:sp>
        <p:nvSpPr>
          <p:cNvPr id="21" name="C2 label 1 box"/>
          <p:cNvSpPr/>
          <p:nvPr/>
        </p:nvSpPr>
        <p:spPr>
          <a:xfrm>
            <a:off x="457200" y="1664208"/>
            <a:ext cx="1325880" cy="672084"/>
          </a:xfrm>
          <a:prstGeom prst="roundRect">
            <a:avLst>
              <a:gd name="adj" fmla="val 27211"/>
            </a:avLst>
          </a:prstGeom>
          <a:solidFill>
            <a:srgbClr val="868E96"/>
          </a:solidFill>
          <a:ln w="12700">
            <a:solidFill>
              <a:srgbClr val="333333"/>
            </a:solidFill>
            <a:prstDash val="solid"/>
          </a:ln>
        </p:spPr>
      </p:sp>
      <p:sp>
        <p:nvSpPr>
          <p:cNvPr id="22" name="C2 label 1"/>
          <p:cNvSpPr txBox="1"/>
          <p:nvPr/>
        </p:nvSpPr>
        <p:spPr>
          <a:xfrm>
            <a:off x="457200" y="1647952"/>
            <a:ext cx="1325880" cy="672084"/>
          </a:xfrm>
          <a:prstGeom prst="rect">
            <a:avLst/>
          </a:prstGeom>
          <a:noFill/>
          <a:ln/>
        </p:spPr>
        <p:txBody>
          <a:bodyPr wrap="non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Connecting</a:t>
            </a:r>
            <a:endParaRPr lang="en-US" sz="1600" dirty="0"/>
          </a:p>
        </p:txBody>
      </p:sp>
      <p:sp>
        <p:nvSpPr>
          <p:cNvPr id="23" name="C2 read 1"/>
          <p:cNvSpPr txBox="1"/>
          <p:nvPr/>
        </p:nvSpPr>
        <p:spPr>
          <a:xfrm>
            <a:off x="1828800" y="1533677"/>
            <a:ext cx="2331720" cy="891540"/>
          </a:xfrm>
          <a:prstGeom prst="rect">
            <a:avLst/>
          </a:prstGeom>
          <a:noFill/>
          <a:ln/>
        </p:spPr>
        <p:txBody>
          <a:bodyPr wrap="none" lIns="0" tIns="0" rIns="0" bIns="0" rtlCol="0" anchor="ctr"/>
          <a:lstStyle/>
          <a:p>
            <a:pPr algn="ctr" indent="0" marL="0">
              <a:buNone/>
            </a:pPr>
            <a:r>
              <a:rPr lang="ar-SA" altLang="en-US" sz="3600" dirty="0">
                <a:solidFill>
                  <a:srgbClr val="16213E"/>
                </a:solidFill>
                <a:latin typeface="Traditional Arabic" pitchFamily="34" charset="0"/>
                <a:ea typeface="Traditional Arabic" pitchFamily="34" charset="-122"/>
                <a:cs typeface="Traditional Arabic" pitchFamily="34" charset="-120"/>
              </a:rPr>
              <a:t>عَلِيمَنۡ</a:t>
            </a:r>
            <a:endParaRPr lang="ar-SA" sz="3600" dirty="0"/>
          </a:p>
        </p:txBody>
      </p:sp>
      <p:sp>
        <p:nvSpPr>
          <p:cNvPr id="24" name="C3 row 2"/>
          <p:cNvSpPr/>
          <p:nvPr/>
        </p:nvSpPr>
        <p:spPr>
          <a:xfrm>
            <a:off x="365760" y="2537460"/>
            <a:ext cx="3886200" cy="891540"/>
          </a:xfrm>
          <a:prstGeom prst="roundRect">
            <a:avLst>
              <a:gd name="adj" fmla="val 25641"/>
            </a:avLst>
          </a:prstGeom>
          <a:solidFill>
            <a:srgbClr val="FFFBE3"/>
          </a:solidFill>
          <a:ln w="88900">
            <a:solidFill>
              <a:srgbClr val="2F9E44"/>
            </a:solidFill>
            <a:prstDash val="solid"/>
          </a:ln>
        </p:spPr>
      </p:sp>
      <p:sp>
        <p:nvSpPr>
          <p:cNvPr id="25" name="C3 label 2 box"/>
          <p:cNvSpPr/>
          <p:nvPr/>
        </p:nvSpPr>
        <p:spPr>
          <a:xfrm>
            <a:off x="457200" y="2647188"/>
            <a:ext cx="1325880" cy="672084"/>
          </a:xfrm>
          <a:prstGeom prst="roundRect">
            <a:avLst>
              <a:gd name="adj" fmla="val 27211"/>
            </a:avLst>
          </a:prstGeom>
          <a:solidFill>
            <a:srgbClr val="2F9E44"/>
          </a:solidFill>
          <a:ln w="12700">
            <a:solidFill>
              <a:srgbClr val="333333"/>
            </a:solidFill>
            <a:prstDash val="solid"/>
          </a:ln>
        </p:spPr>
      </p:sp>
      <p:sp>
        <p:nvSpPr>
          <p:cNvPr id="26" name="C3 label 2"/>
          <p:cNvSpPr txBox="1"/>
          <p:nvPr/>
        </p:nvSpPr>
        <p:spPr>
          <a:xfrm>
            <a:off x="457200" y="2625852"/>
            <a:ext cx="1325880" cy="672084"/>
          </a:xfrm>
          <a:prstGeom prst="rect">
            <a:avLst/>
          </a:prstGeom>
          <a:noFill/>
          <a:ln/>
        </p:spPr>
        <p:txBody>
          <a:bodyPr wrap="non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Stopping</a:t>
            </a:r>
            <a:endParaRPr lang="en-US" sz="2100" dirty="0"/>
          </a:p>
        </p:txBody>
      </p:sp>
      <p:sp>
        <p:nvSpPr>
          <p:cNvPr id="27" name="C3 read 2"/>
          <p:cNvSpPr txBox="1"/>
          <p:nvPr/>
        </p:nvSpPr>
        <p:spPr>
          <a:xfrm>
            <a:off x="1828800" y="2503170"/>
            <a:ext cx="2331720" cy="891540"/>
          </a:xfrm>
          <a:prstGeom prst="rect">
            <a:avLst/>
          </a:prstGeom>
          <a:noFill/>
          <a:ln/>
        </p:spPr>
        <p:txBody>
          <a:bodyPr wrap="none" lIns="0" tIns="0" rIns="0" bIns="0" rtlCol="0" anchor="ctr"/>
          <a:lstStyle/>
          <a:p>
            <a:pPr algn="ctr" indent="0" marL="0">
              <a:buNone/>
            </a:pPr>
            <a:r>
              <a:rPr lang="ar-SA" altLang="en-US" sz="4000" dirty="0">
                <a:solidFill>
                  <a:srgbClr val="16213E"/>
                </a:solidFill>
                <a:latin typeface="Traditional Arabic" pitchFamily="34" charset="0"/>
                <a:ea typeface="Traditional Arabic" pitchFamily="34" charset="-122"/>
                <a:cs typeface="Traditional Arabic" pitchFamily="34" charset="-120"/>
              </a:rPr>
              <a:t>عَلِيمَ</a:t>
            </a:r>
            <a:r>
              <a:rPr lang="ar-SA" altLang="en-US" sz="4000" dirty="0">
                <a:solidFill>
                  <a:srgbClr val="2F9E44"/>
                </a:solidFill>
                <a:latin typeface="Traditional Arabic" pitchFamily="34" charset="0"/>
                <a:ea typeface="Traditional Arabic" pitchFamily="34" charset="-122"/>
                <a:cs typeface="Traditional Arabic" pitchFamily="34" charset="-120"/>
              </a:rPr>
              <a:t>ا</a:t>
            </a:r>
            <a:endParaRPr lang="ar-SA" sz="4000" dirty="0"/>
          </a:p>
        </p:txBody>
      </p:sp>
      <p:sp>
        <p:nvSpPr>
          <p:cNvPr id="28" name="C4 tip box"/>
          <p:cNvSpPr/>
          <p:nvPr/>
        </p:nvSpPr>
        <p:spPr>
          <a:xfrm>
            <a:off x="365760" y="3566160"/>
            <a:ext cx="8412480" cy="685800"/>
          </a:xfrm>
          <a:prstGeom prst="roundRect">
            <a:avLst>
              <a:gd name="adj" fmla="val 26667"/>
            </a:avLst>
          </a:prstGeom>
          <a:solidFill>
            <a:srgbClr val="E8590C"/>
          </a:solidFill>
          <a:ln w="12700">
            <a:solidFill>
              <a:srgbClr val="333333"/>
            </a:solidFill>
            <a:prstDash val="solid"/>
          </a:ln>
        </p:spPr>
      </p:sp>
      <p:sp>
        <p:nvSpPr>
          <p:cNvPr id="29" name="C4 tip"/>
          <p:cNvSpPr txBox="1"/>
          <p:nvPr/>
        </p:nvSpPr>
        <p:spPr>
          <a:xfrm>
            <a:off x="365760" y="3543808"/>
            <a:ext cx="8412480" cy="685800"/>
          </a:xfrm>
          <a:prstGeom prst="rect">
            <a:avLst/>
          </a:prstGeom>
          <a:noFill/>
          <a:ln/>
        </p:spPr>
        <p:txBody>
          <a:bodyPr wrap="non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Connecting: the alif is silent.  Stopping: read it as a long aa</a:t>
            </a:r>
            <a:endParaRPr lang="en-US" sz="2200" dirty="0"/>
          </a:p>
        </p:txBody>
      </p:sp>
    </p:spTree>
  </p:cSld>
  <p:clrMapOvr>
    <a:masterClrMapping/>
  </p:clrMapOvr>
  <p:transition spd="med">
    <p:pull dir="l"/>
    <p:sndAc>
      <p:stSnd>
        <p:snd r:embed="rIdTrSnd" name="chime.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5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35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35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35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350"/>
                                        <p:tgtEl>
                                          <p:spTgt spid="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350"/>
                                        <p:tgtEl>
                                          <p:spTgt spid="2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35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350"/>
                                        <p:tgtEl>
                                          <p:spTgt spid="2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350"/>
                                        <p:tgtEl>
                                          <p:spTgt spid="2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350"/>
                                        <p:tgtEl>
                                          <p:spTgt spid="2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35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3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C5E4F7"/>
        </a:solidFill>
      </p:bgPr>
    </p:bg>
    <p:spTree>
      <p:nvGrpSpPr>
        <p:cNvPr id="1" name=""/>
        <p:cNvGrpSpPr/>
        <p:nvPr/>
      </p:nvGrpSpPr>
      <p:grpSpPr>
        <a:xfrm>
          <a:off x="0" y="0"/>
          <a:ext cx="0" cy="0"/>
          <a:chOff x="0" y="0"/>
          <a:chExt cx="0" cy="0"/>
        </a:xfrm>
      </p:grpSpPr>
      <p:sp>
        <p:nvSpPr>
          <p:cNvPr id="2" name="Deco sun low"/>
          <p:cNvSpPr/>
          <p:nvPr/>
        </p:nvSpPr>
        <p:spPr>
          <a:xfrm>
            <a:off x="3566160" y="4343400"/>
            <a:ext cx="2011680" cy="2011680"/>
          </a:xfrm>
          <a:prstGeom prst="ellipse">
            <a:avLst/>
          </a:prstGeom>
          <a:solidFill>
            <a:srgbClr val="FFB347"/>
          </a:solidFill>
          <a:ln w="12700">
            <a:solidFill>
              <a:srgbClr val="FFB347"/>
            </a:solidFill>
            <a:prstDash val="solid"/>
          </a:ln>
        </p:spPr>
      </p:sp>
      <p:sp>
        <p:nvSpPr>
          <p:cNvPr id="3" name="Deco dune left"/>
          <p:cNvSpPr/>
          <p:nvPr/>
        </p:nvSpPr>
        <p:spPr>
          <a:xfrm>
            <a:off x="-1097280" y="4572000"/>
            <a:ext cx="4572000" cy="1280160"/>
          </a:xfrm>
          <a:prstGeom prst="ellipse">
            <a:avLst/>
          </a:prstGeom>
          <a:solidFill>
            <a:srgbClr val="647CD8"/>
          </a:solidFill>
          <a:ln w="12700">
            <a:solidFill>
              <a:srgbClr val="647CD8"/>
            </a:solidFill>
            <a:prstDash val="solid"/>
          </a:ln>
        </p:spPr>
      </p:sp>
      <p:sp>
        <p:nvSpPr>
          <p:cNvPr id="4" name="Deco dune right"/>
          <p:cNvSpPr/>
          <p:nvPr/>
        </p:nvSpPr>
        <p:spPr>
          <a:xfrm>
            <a:off x="5303520" y="4617720"/>
            <a:ext cx="5120640" cy="1280160"/>
          </a:xfrm>
          <a:prstGeom prst="ellipse">
            <a:avLst/>
          </a:prstGeom>
          <a:solidFill>
            <a:srgbClr val="477BD1"/>
          </a:solidFill>
          <a:ln w="12700">
            <a:solidFill>
              <a:srgbClr val="477BD1"/>
            </a:solidFill>
            <a:prstDash val="solid"/>
          </a:ln>
        </p:spPr>
      </p:sp>
      <p:sp>
        <p:nvSpPr>
          <p:cNvPr id="5" name="Deco cloud"/>
          <p:cNvSpPr/>
          <p:nvPr/>
        </p:nvSpPr>
        <p:spPr>
          <a:xfrm>
            <a:off x="320040" y="137160"/>
            <a:ext cx="1371600" cy="594360"/>
          </a:xfrm>
          <a:prstGeom prst="cloud">
            <a:avLst/>
          </a:prstGeom>
          <a:solidFill>
            <a:srgbClr val="FFFFFF"/>
          </a:solidFill>
          <a:ln w="12700">
            <a:solidFill>
              <a:srgbClr val="FFFFFF"/>
            </a:solidFill>
            <a:prstDash val="solid"/>
          </a:ln>
        </p:spPr>
      </p:sp>
      <p:sp>
        <p:nvSpPr>
          <p:cNvPr id="6" name="Deco cloud right"/>
          <p:cNvSpPr/>
          <p:nvPr/>
        </p:nvSpPr>
        <p:spPr>
          <a:xfrm>
            <a:off x="7223760" y="182880"/>
            <a:ext cx="1280160" cy="548640"/>
          </a:xfrm>
          <a:prstGeom prst="cloud">
            <a:avLst/>
          </a:prstGeom>
          <a:solidFill>
            <a:srgbClr val="FFF3E8"/>
          </a:solidFill>
          <a:ln w="12700">
            <a:solidFill>
              <a:srgbClr val="FFF3E8"/>
            </a:solidFill>
            <a:prstDash val="solid"/>
          </a:ln>
        </p:spPr>
      </p:sp>
      <p:sp>
        <p:nvSpPr>
          <p:cNvPr id="7" name="Deco bird 0"/>
          <p:cNvSpPr/>
          <p:nvPr/>
        </p:nvSpPr>
        <p:spPr>
          <a:xfrm rot="5400000">
            <a:off x="2926080" y="320040"/>
            <a:ext cx="274320" cy="128016"/>
          </a:xfrm>
          <a:prstGeom prst="chevron">
            <a:avLst/>
          </a:prstGeom>
          <a:solidFill>
            <a:srgbClr val="6B4A3A"/>
          </a:solidFill>
          <a:ln w="12700">
            <a:solidFill>
              <a:srgbClr val="6B4A3A"/>
            </a:solidFill>
            <a:prstDash val="solid"/>
          </a:ln>
        </p:spPr>
      </p:sp>
      <p:sp>
        <p:nvSpPr>
          <p:cNvPr id="8" name="Deco bird 1"/>
          <p:cNvSpPr/>
          <p:nvPr/>
        </p:nvSpPr>
        <p:spPr>
          <a:xfrm rot="5400000">
            <a:off x="3291840" y="228600"/>
            <a:ext cx="274320" cy="128016"/>
          </a:xfrm>
          <a:prstGeom prst="chevron">
            <a:avLst/>
          </a:prstGeom>
          <a:solidFill>
            <a:srgbClr val="6B4A3A"/>
          </a:solidFill>
          <a:ln w="12700">
            <a:solidFill>
              <a:srgbClr val="6B4A3A"/>
            </a:solidFill>
            <a:prstDash val="solid"/>
          </a:ln>
        </p:spPr>
      </p:sp>
      <p:sp>
        <p:nvSpPr>
          <p:cNvPr id="9" name="Deco bird 2"/>
          <p:cNvSpPr/>
          <p:nvPr/>
        </p:nvSpPr>
        <p:spPr>
          <a:xfrm rot="5400000">
            <a:off x="5394960" y="365760"/>
            <a:ext cx="274320" cy="128016"/>
          </a:xfrm>
          <a:prstGeom prst="chevron">
            <a:avLst/>
          </a:prstGeom>
          <a:solidFill>
            <a:srgbClr val="6B4A3A"/>
          </a:solidFill>
          <a:ln w="12700">
            <a:solidFill>
              <a:srgbClr val="6B4A3A"/>
            </a:solidFill>
            <a:prstDash val="solid"/>
          </a:ln>
        </p:spPr>
      </p:sp>
      <p:sp>
        <p:nvSpPr>
          <p:cNvPr id="10" name="Title box"/>
          <p:cNvSpPr/>
          <p:nvPr/>
        </p:nvSpPr>
        <p:spPr>
          <a:xfrm>
            <a:off x="365760" y="896112"/>
            <a:ext cx="8412480" cy="530352"/>
          </a:xfrm>
          <a:prstGeom prst="roundRect">
            <a:avLst>
              <a:gd name="adj" fmla="val 34483"/>
            </a:avLst>
          </a:prstGeom>
          <a:solidFill>
            <a:srgbClr val="0B7285"/>
          </a:solidFill>
          <a:ln w="12700">
            <a:solidFill>
              <a:srgbClr val="333333"/>
            </a:solidFill>
            <a:prstDash val="solid"/>
          </a:ln>
        </p:spPr>
      </p:sp>
      <p:sp>
        <p:nvSpPr>
          <p:cNvPr id="11" name="Title"/>
          <p:cNvSpPr txBox="1"/>
          <p:nvPr/>
        </p:nvSpPr>
        <p:spPr>
          <a:xfrm>
            <a:off x="365760" y="879602"/>
            <a:ext cx="8412480" cy="530352"/>
          </a:xfrm>
          <a:prstGeom prst="rect">
            <a:avLst/>
          </a:prstGeom>
          <a:noFill/>
          <a:ln/>
        </p:spPr>
        <p:txBody>
          <a:bodyPr wrap="non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Written as one letter, read as another</a:t>
            </a:r>
            <a:endParaRPr lang="en-US" sz="2600" dirty="0"/>
          </a:p>
        </p:txBody>
      </p:sp>
      <p:sp>
        <p:nvSpPr>
          <p:cNvPr id="12" name="Panel written"/>
          <p:cNvSpPr/>
          <p:nvPr/>
        </p:nvSpPr>
        <p:spPr>
          <a:xfrm>
            <a:off x="4892040" y="1554480"/>
            <a:ext cx="3886200" cy="1874520"/>
          </a:xfrm>
          <a:prstGeom prst="roundRect">
            <a:avLst>
              <a:gd name="adj" fmla="val 12195"/>
            </a:avLst>
          </a:prstGeom>
          <a:solidFill>
            <a:srgbClr val="FFFFFF"/>
          </a:solidFill>
          <a:ln w="88900">
            <a:solidFill>
              <a:srgbClr val="0B7285"/>
            </a:solidFill>
            <a:prstDash val="solid"/>
          </a:ln>
        </p:spPr>
      </p:sp>
      <p:sp>
        <p:nvSpPr>
          <p:cNvPr id="13" name="C1 written"/>
          <p:cNvSpPr txBox="1"/>
          <p:nvPr/>
        </p:nvSpPr>
        <p:spPr>
          <a:xfrm>
            <a:off x="4892040" y="1574140"/>
            <a:ext cx="3886200" cy="1874520"/>
          </a:xfrm>
          <a:prstGeom prst="rect">
            <a:avLst/>
          </a:prstGeom>
          <a:noFill/>
          <a:ln/>
        </p:spPr>
        <p:txBody>
          <a:bodyPr wrap="none" lIns="0" tIns="0" rIns="0" bIns="0" rtlCol="0" anchor="ctr"/>
          <a:lstStyle/>
          <a:p>
            <a:pPr algn="ctr" indent="0" marL="0">
              <a:buNone/>
            </a:pPr>
            <a:r>
              <a:rPr lang="ar-SA" altLang="en-US" sz="8600" dirty="0">
                <a:solidFill>
                  <a:srgbClr val="16213E"/>
                </a:solidFill>
                <a:latin typeface="Traditional Arabic" pitchFamily="34" charset="0"/>
                <a:ea typeface="Traditional Arabic" pitchFamily="34" charset="-122"/>
                <a:cs typeface="Traditional Arabic" pitchFamily="34" charset="-120"/>
              </a:rPr>
              <a:t>ٱلصَّلَ</a:t>
            </a:r>
            <a:r>
              <a:rPr lang="ar-SA" altLang="en-US" sz="8600" dirty="0">
                <a:solidFill>
                  <a:srgbClr val="E03131"/>
                </a:solidFill>
                <a:latin typeface="Traditional Arabic" pitchFamily="34" charset="0"/>
                <a:ea typeface="Traditional Arabic" pitchFamily="34" charset="-122"/>
                <a:cs typeface="Traditional Arabic" pitchFamily="34" charset="-120"/>
              </a:rPr>
              <a:t>و</a:t>
            </a:r>
            <a:r>
              <a:rPr lang="ar-SA" altLang="en-US" sz="8600" dirty="0">
                <a:solidFill>
                  <a:srgbClr val="16213E"/>
                </a:solidFill>
                <a:latin typeface="Traditional Arabic" pitchFamily="34" charset="0"/>
                <a:ea typeface="Traditional Arabic" pitchFamily="34" charset="-122"/>
                <a:cs typeface="Traditional Arabic" pitchFamily="34" charset="-120"/>
              </a:rPr>
              <a:t>ٰةَ</a:t>
            </a:r>
            <a:endParaRPr lang="ar-SA" sz="8600" dirty="0"/>
          </a:p>
        </p:txBody>
      </p:sp>
      <p:sp>
        <p:nvSpPr>
          <p:cNvPr id="14" name="C2 arrow"/>
          <p:cNvSpPr/>
          <p:nvPr/>
        </p:nvSpPr>
        <p:spPr>
          <a:xfrm>
            <a:off x="4315968" y="2263140"/>
            <a:ext cx="512064" cy="457200"/>
          </a:xfrm>
          <a:prstGeom prst="leftArrow">
            <a:avLst/>
          </a:prstGeom>
          <a:solidFill>
            <a:srgbClr val="B2B82E"/>
          </a:solidFill>
          <a:ln w="12700">
            <a:solidFill>
              <a:srgbClr val="333333"/>
            </a:solidFill>
            <a:prstDash val="solid"/>
          </a:ln>
        </p:spPr>
      </p:sp>
      <p:sp>
        <p:nvSpPr>
          <p:cNvPr id="15" name="Panel read"/>
          <p:cNvSpPr/>
          <p:nvPr/>
        </p:nvSpPr>
        <p:spPr>
          <a:xfrm>
            <a:off x="365760" y="1554480"/>
            <a:ext cx="3886200" cy="1874520"/>
          </a:xfrm>
          <a:prstGeom prst="roundRect">
            <a:avLst>
              <a:gd name="adj" fmla="val 12195"/>
            </a:avLst>
          </a:prstGeom>
          <a:solidFill>
            <a:srgbClr val="FFFBE3"/>
          </a:solidFill>
          <a:ln w="88900">
            <a:solidFill>
              <a:srgbClr val="F2B134"/>
            </a:solidFill>
            <a:prstDash val="solid"/>
          </a:ln>
        </p:spPr>
      </p:sp>
      <p:sp>
        <p:nvSpPr>
          <p:cNvPr id="16" name="C2 read"/>
          <p:cNvSpPr txBox="1"/>
          <p:nvPr/>
        </p:nvSpPr>
        <p:spPr>
          <a:xfrm>
            <a:off x="365760" y="1653642"/>
            <a:ext cx="3886200" cy="1237183"/>
          </a:xfrm>
          <a:prstGeom prst="rect">
            <a:avLst/>
          </a:prstGeom>
          <a:noFill/>
          <a:ln/>
        </p:spPr>
        <p:txBody>
          <a:bodyPr wrap="none" lIns="0" tIns="0" rIns="0" bIns="0" rtlCol="0" anchor="ctr"/>
          <a:lstStyle/>
          <a:p>
            <a:pPr algn="ctr" indent="0" marL="0">
              <a:buNone/>
            </a:pPr>
            <a:r>
              <a:rPr lang="ar-SA" altLang="en-US" sz="6100" dirty="0">
                <a:solidFill>
                  <a:srgbClr val="16213E"/>
                </a:solidFill>
                <a:latin typeface="Traditional Arabic" pitchFamily="34" charset="0"/>
                <a:ea typeface="Traditional Arabic" pitchFamily="34" charset="-122"/>
                <a:cs typeface="Traditional Arabic" pitchFamily="34" charset="-120"/>
              </a:rPr>
              <a:t>اَلصَّلَ</a:t>
            </a:r>
            <a:r>
              <a:rPr lang="ar-SA" altLang="en-US" sz="6100" dirty="0">
                <a:solidFill>
                  <a:srgbClr val="2F9E44"/>
                </a:solidFill>
                <a:latin typeface="Traditional Arabic" pitchFamily="34" charset="0"/>
                <a:ea typeface="Traditional Arabic" pitchFamily="34" charset="-122"/>
                <a:cs typeface="Traditional Arabic" pitchFamily="34" charset="-120"/>
              </a:rPr>
              <a:t>ا</a:t>
            </a:r>
            <a:r>
              <a:rPr lang="ar-SA" altLang="en-US" sz="6100" dirty="0">
                <a:solidFill>
                  <a:srgbClr val="16213E"/>
                </a:solidFill>
                <a:latin typeface="Traditional Arabic" pitchFamily="34" charset="0"/>
                <a:ea typeface="Traditional Arabic" pitchFamily="34" charset="-122"/>
                <a:cs typeface="Traditional Arabic" pitchFamily="34" charset="-120"/>
              </a:rPr>
              <a:t>ةَ</a:t>
            </a:r>
            <a:endParaRPr lang="ar-SA" sz="6100" dirty="0"/>
          </a:p>
        </p:txBody>
      </p:sp>
      <p:sp>
        <p:nvSpPr>
          <p:cNvPr id="17" name="C2 sounds"/>
          <p:cNvSpPr/>
          <p:nvPr/>
        </p:nvSpPr>
        <p:spPr>
          <a:xfrm>
            <a:off x="502920" y="2798775"/>
            <a:ext cx="3611880" cy="582473"/>
          </a:xfrm>
          <a:prstGeom prst="rect">
            <a:avLst/>
          </a:prstGeom>
          <a:noFill/>
          <a:ln/>
        </p:spPr>
        <p:txBody>
          <a:bodyPr wrap="square" lIns="0" tIns="0" rIns="0" bIns="0" rtlCol="0" anchor="ctr"/>
          <a:lstStyle/>
          <a:p>
            <a:pPr algn="ctr" indent="0" marL="0">
              <a:buNone/>
            </a:pPr>
            <a:r>
              <a:rPr lang="en-US" sz="2800" b="1" dirty="0">
                <a:solidFill>
                  <a:srgbClr val="D9480F"/>
                </a:solidFill>
                <a:latin typeface="Arial" pitchFamily="34" charset="0"/>
                <a:ea typeface="Arial" pitchFamily="34" charset="-122"/>
                <a:cs typeface="Arial" pitchFamily="34" charset="-120"/>
              </a:rPr>
              <a:t>as-sa-laa-ta</a:t>
            </a:r>
            <a:endParaRPr lang="en-US" sz="2800" dirty="0"/>
          </a:p>
        </p:txBody>
      </p:sp>
      <p:sp>
        <p:nvSpPr>
          <p:cNvPr id="18" name="C3 tip box"/>
          <p:cNvSpPr/>
          <p:nvPr/>
        </p:nvSpPr>
        <p:spPr>
          <a:xfrm>
            <a:off x="365760" y="3566160"/>
            <a:ext cx="8412480" cy="685800"/>
          </a:xfrm>
          <a:prstGeom prst="roundRect">
            <a:avLst>
              <a:gd name="adj" fmla="val 26667"/>
            </a:avLst>
          </a:prstGeom>
          <a:solidFill>
            <a:srgbClr val="0B7285"/>
          </a:solidFill>
          <a:ln w="12700">
            <a:solidFill>
              <a:srgbClr val="333333"/>
            </a:solidFill>
            <a:prstDash val="solid"/>
          </a:ln>
        </p:spPr>
      </p:sp>
      <p:sp>
        <p:nvSpPr>
          <p:cNvPr id="19" name="C3 tip"/>
          <p:cNvSpPr txBox="1"/>
          <p:nvPr/>
        </p:nvSpPr>
        <p:spPr>
          <a:xfrm>
            <a:off x="365760" y="3542792"/>
            <a:ext cx="8412480" cy="685800"/>
          </a:xfrm>
          <a:prstGeom prst="rect">
            <a:avLst/>
          </a:prstGeom>
          <a:noFill/>
          <a:ln/>
        </p:spPr>
        <p:txBody>
          <a:bodyPr wrap="none" lIns="0" tIns="0" rIns="0" bIns="0" rtlCol="0" anchor="ctr"/>
          <a:lstStyle/>
          <a:p>
            <a:pPr algn="ctr" indent="0" marL="0">
              <a:buNone/>
            </a:pPr>
            <a:r>
              <a:rPr lang="en-US" sz="2300" b="1" dirty="0">
                <a:solidFill>
                  <a:srgbClr val="FFFFFF"/>
                </a:solidFill>
                <a:latin typeface="Arial" pitchFamily="34" charset="0"/>
                <a:ea typeface="Arial" pitchFamily="34" charset="-122"/>
                <a:cs typeface="Arial" pitchFamily="34" charset="-120"/>
              </a:rPr>
              <a:t>The waw is not read: we read the small alif on top of it</a:t>
            </a:r>
            <a:endParaRPr lang="en-US" sz="2300" dirty="0"/>
          </a:p>
        </p:txBody>
      </p:sp>
    </p:spTree>
  </p:cSld>
  <p:clrMapOvr>
    <a:masterClrMapping/>
  </p:clrMapOvr>
  <p:transition spd="med">
    <p:fade/>
    <p:sndAc>
      <p:stSnd>
        <p:snd r:embed="rIdTrSnd" name="whoosh.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350"/>
                                        <p:tgtEl>
                                          <p:spTgt spid="1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35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35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17" grpId="0" animBg="1"/>
      <p:bldP spid="18" grpId="0" animBg="1"/>
      <p:bldP spid="1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Written but not read</dc:title>
  <dc:subject>PptxGenJS Presentation</dc:subject>
  <dc:creator>PptxGenJS</dc:creator>
  <cp:lastModifiedBy>PptxGenJS</cp:lastModifiedBy>
  <cp:revision>1</cp:revision>
  <dcterms:created xsi:type="dcterms:W3CDTF">2026-10-21T19:24:22Z</dcterms:created>
  <dcterms:modified xsi:type="dcterms:W3CDTF">2026-10-21T19:24:22Z</dcterms:modified>
</cp:coreProperties>
</file>