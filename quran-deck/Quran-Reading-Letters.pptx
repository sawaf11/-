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children. Start by saying Bismillah together. Explain that the Quran is written in Arabic and today they will learn the letters it is made of. Press the arrow key to see the letter move to the next slide (Morph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four steps for every letter so children know what to expect. Point out that Arabic, like the Quran, is read from right to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all 28 letters. Read the first row from right to left. Ask: which letters do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 of 28: Alif. Say the name, then the sound, then the example word lion.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 of 28: Ba. Say the name, then the sound, then the example word duck.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3 of 28: Ta. Say the name, then the sound, then the example word apple.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4 of 28: Tha. Say the name, then the sound, then the example word fox.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5 of 28: Jeem. Say the name, then the sound, then the example word camel.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6 of 28: Ha. Say the name, then the sound, then the example word horse.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7 of 28: Kha. Say the name, then the sound, then the example word sheep.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8 of 28: Dal. Say the name, then the sound, then the example word bear.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9 of 28: Thal. Say the name, then the sound, then the example word corn.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10 of 28: Ra. Say the name, then the sound, then the example word pomegranate.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11 of 28: Zay. Say the name, then the sound, then the example word giraffe.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12 of 28: Seen. Say the name, then the sound, then the example word fish.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13 of 28: Sheen. Say the name, then the sound, then the example word sun.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14 of 28: Sad. Say the name, then the sound, then the example word falcon.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15 of 28: Dad. Say the name, then the sound, then the example word frog.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16 of 28: Ta. Say the name, then the sound, then the example word bird.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17 of 28: Dha. Say the name, then the sound, then the example word envelope.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18 of 28: Ain. Say the name, then the sound, then the example word grapes.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19 of 28: Ghain. Say the name, then the sound, then the example word cloud.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20 of 28: Fa. Say the name, then the sound, then the example word elephant.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21 of 28: Qaf. Say the name, then the sound, then the example word moon.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22 of 28: Kaf. Say the name, then the sound, then the example word dog.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23 of 28: Lam. Say the name, then the sound, then the example word lemon.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24 of 28: Meem. Say the name, then the sound, then the example word banana.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25 of 28: Noon. Say the name, then the sound, then the example word star.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26 of 28: Ha. Say the name, then the sound, then the example word crescent.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27 of 28: Waw. Say the name, then the sound, then the example word rose.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Letter 28 of 28: Ya. Say the name, then the sound, then the example word hand. Have the children repeat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three short vowels. Overview slide, then one slide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"ba" slowly. Try it with other letters: ta, tha, 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"bi" slowly. Try it with other letters: ta, tha, 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"bu" slowly. Try it with other letters: ta, tha, 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and let the children shout the answer before showing it. Answers: Ba, Meem, 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Hand out stickers. Review a few favourite letters before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on"/>
          <p:cNvSpPr/>
          <p:nvPr/>
        </p:nvSpPr>
        <p:spPr>
          <a:xfrm>
            <a:off x="5760720" y="640080"/>
            <a:ext cx="3017520" cy="3017520"/>
          </a:xfrm>
          <a:prstGeom prst="ellipse">
            <a:avLst/>
          </a:prstGeom>
          <a:solidFill>
            <a:schemeClr val="accent2"/>
          </a:solidFill>
          <a:ln/>
        </p:spPr>
      </p:sp>
      <p:sp>
        <p:nvSpPr>
          <p:cNvPr id="3" name="!!Letter"/>
          <p:cNvSpPr txBox="1"/>
          <p:nvPr/>
        </p:nvSpPr>
        <p:spPr>
          <a:xfrm>
            <a:off x="5760720" y="640080"/>
            <a:ext cx="3017520" cy="3017520"/>
          </a:xfrm>
          <a:prstGeom prst="rect">
            <a:avLst/>
          </a:prstGeom>
          <a:noFill/>
          <a:ln/>
        </p:spPr>
        <p:txBody>
          <a:bodyPr wrap="square" lIns="0" tIns="0" rIns="0" bIns="0" rtlCol="0" anchor="ctr"/>
          <a:lstStyle/>
          <a:p>
            <a:pPr algn="ctr" indent="0" marL="0">
              <a:buNone/>
            </a:pPr>
            <a:r>
              <a:rPr lang="en-US" sz="15000" b="1" dirty="0">
                <a:solidFill>
                  <a:schemeClr val="accent1"/>
                </a:solidFill>
                <a:latin typeface="Arial" pitchFamily="34" charset="0"/>
                <a:ea typeface="Arial" pitchFamily="34" charset="-122"/>
                <a:cs typeface="Arial" pitchFamily="34" charset="-120"/>
              </a:rPr>
              <a:t>ق</a:t>
            </a:r>
            <a:endParaRPr lang="en-US" sz="15000" dirty="0"/>
          </a:p>
        </p:txBody>
      </p:sp>
      <p:sp>
        <p:nvSpPr>
          <p:cNvPr id="4" name="Title"/>
          <p:cNvSpPr txBox="1"/>
          <p:nvPr/>
        </p:nvSpPr>
        <p:spPr>
          <a:xfrm>
            <a:off x="548640" y="1097280"/>
            <a:ext cx="4937760" cy="146304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Let's Read the Quran!</a:t>
            </a:r>
            <a:endParaRPr lang="en-US" sz="4400" dirty="0"/>
          </a:p>
        </p:txBody>
      </p:sp>
      <p:sp>
        <p:nvSpPr>
          <p:cNvPr id="5" name="Text 3"/>
          <p:cNvSpPr txBox="1"/>
          <p:nvPr/>
        </p:nvSpPr>
        <p:spPr>
          <a:xfrm>
            <a:off x="548640" y="2743200"/>
            <a:ext cx="4937760" cy="457200"/>
          </a:xfrm>
          <a:prstGeom prst="rect">
            <a:avLst/>
          </a:prstGeom>
          <a:noFill/>
          <a:ln/>
        </p:spPr>
        <p:txBody>
          <a:bodyPr wrap="square" lIns="0" tIns="0" rIns="0" bIns="0" rtlCol="0" anchor="ctr"/>
          <a:lstStyle/>
          <a:p>
            <a:pPr indent="0" marL="0">
              <a:buNone/>
            </a:pPr>
            <a:r>
              <a:rPr lang="en-US" sz="2000" dirty="0">
                <a:solidFill>
                  <a:schemeClr val="accent2"/>
                </a:solidFill>
              </a:rPr>
              <a:t>Adventure 1: The Arabic Letters</a:t>
            </a:r>
            <a:endParaRPr lang="en-US" sz="2000" dirty="0"/>
          </a:p>
        </p:txBody>
      </p:sp>
      <p:sp>
        <p:nvSpPr>
          <p:cNvPr id="6" name="Text 4"/>
          <p:cNvSpPr txBox="1"/>
          <p:nvPr/>
        </p:nvSpPr>
        <p:spPr>
          <a:xfrm>
            <a:off x="548640" y="4114800"/>
            <a:ext cx="4937760" cy="365760"/>
          </a:xfrm>
          <a:prstGeom prst="rect">
            <a:avLst/>
          </a:prstGeom>
          <a:noFill/>
          <a:ln/>
        </p:spPr>
        <p:txBody>
          <a:bodyPr wrap="square" lIns="0" tIns="0" rIns="0" bIns="0" rtlCol="0" anchor="ctr"/>
          <a:lstStyle/>
          <a:p>
            <a:pPr indent="0" marL="0">
              <a:buNone/>
            </a:pPr>
            <a:r>
              <a:rPr lang="en-US" sz="1600" i="1" dirty="0">
                <a:solidFill>
                  <a:schemeClr val="bg2"/>
                </a:solidFill>
              </a:rPr>
              <a:t>Bismillah, let's begin!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How We Learn Each Letter</a:t>
            </a:r>
            <a:endParaRPr lang="en-US" sz="3600" dirty="0"/>
          </a:p>
        </p:txBody>
      </p:sp>
      <p:sp>
        <p:nvSpPr>
          <p:cNvPr id="3" name="Card Look"/>
          <p:cNvSpPr/>
          <p:nvPr/>
        </p:nvSpPr>
        <p:spPr>
          <a:xfrm>
            <a:off x="457200" y="1371600"/>
            <a:ext cx="1920240" cy="2560320"/>
          </a:xfrm>
          <a:prstGeom prst="roundRect">
            <a:avLst>
              <a:gd name="adj" fmla="val 9524"/>
            </a:avLst>
          </a:prstGeom>
          <a:solidFill>
            <a:schemeClr val="bg1"/>
          </a:solidFill>
          <a:ln/>
          <a:effectLst>
            <a:outerShdw sx="100000" sy="100000" kx="0" ky="0" algn="bl" rotWithShape="0" blurRad="76200" dist="25400" dir="5400000">
              <a:srgbClr val="000000">
                <a:alpha val="15000"/>
              </a:srgbClr>
            </a:outerShdw>
          </a:effectLst>
        </p:spPr>
      </p:sp>
      <p:sp>
        <p:nvSpPr>
          <p:cNvPr id="4" name="Badge Look"/>
          <p:cNvSpPr/>
          <p:nvPr/>
        </p:nvSpPr>
        <p:spPr>
          <a:xfrm>
            <a:off x="960120" y="1600200"/>
            <a:ext cx="914400" cy="914400"/>
          </a:xfrm>
          <a:prstGeom prst="ellipse">
            <a:avLst/>
          </a:prstGeom>
          <a:solidFill>
            <a:schemeClr val="accent3"/>
          </a:solidFill>
          <a:ln/>
        </p:spPr>
      </p:sp>
      <p:sp>
        <p:nvSpPr>
          <p:cNvPr id="5" name="Text 3"/>
          <p:cNvSpPr txBox="1"/>
          <p:nvPr/>
        </p:nvSpPr>
        <p:spPr>
          <a:xfrm>
            <a:off x="960120" y="16002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1</a:t>
            </a:r>
            <a:endParaRPr lang="en-US" sz="3600" dirty="0"/>
          </a:p>
        </p:txBody>
      </p:sp>
      <p:sp>
        <p:nvSpPr>
          <p:cNvPr id="6" name="Text 4"/>
          <p:cNvSpPr txBox="1"/>
          <p:nvPr/>
        </p:nvSpPr>
        <p:spPr>
          <a:xfrm>
            <a:off x="457200" y="2697480"/>
            <a:ext cx="1920240" cy="457200"/>
          </a:xfrm>
          <a:prstGeom prst="rect">
            <a:avLst/>
          </a:prstGeom>
          <a:noFill/>
          <a:ln/>
        </p:spPr>
        <p:txBody>
          <a:bodyPr wrap="square" lIns="0" tIns="0" rIns="0" bIns="0" rtlCol="0" anchor="ctr"/>
          <a:lstStyle/>
          <a:p>
            <a:pPr algn="ctr" indent="0" marL="0">
              <a:buNone/>
            </a:pPr>
            <a:r>
              <a:rPr lang="en-US" sz="2400" b="1" dirty="0">
                <a:solidFill>
                  <a:schemeClr val="tx1"/>
                </a:solidFill>
              </a:rPr>
              <a:t>Look</a:t>
            </a:r>
            <a:endParaRPr lang="en-US" sz="2400" dirty="0"/>
          </a:p>
        </p:txBody>
      </p:sp>
      <p:sp>
        <p:nvSpPr>
          <p:cNvPr id="7" name="Text 5"/>
          <p:cNvSpPr txBox="1"/>
          <p:nvPr/>
        </p:nvSpPr>
        <p:spPr>
          <a:xfrm>
            <a:off x="594360" y="3154680"/>
            <a:ext cx="1645920" cy="640080"/>
          </a:xfrm>
          <a:prstGeom prst="rect">
            <a:avLst/>
          </a:prstGeom>
          <a:noFill/>
          <a:ln/>
        </p:spPr>
        <p:txBody>
          <a:bodyPr wrap="square" lIns="0" tIns="0" rIns="0" bIns="0" rtlCol="0" anchor="t"/>
          <a:lstStyle/>
          <a:p>
            <a:pPr algn="ctr" indent="0" marL="0">
              <a:buNone/>
            </a:pPr>
            <a:r>
              <a:rPr lang="en-US" sz="1400" dirty="0">
                <a:solidFill>
                  <a:schemeClr val="tx1"/>
                </a:solidFill>
              </a:rPr>
              <a:t>See the big letter</a:t>
            </a:r>
            <a:endParaRPr lang="en-US" sz="1400" dirty="0"/>
          </a:p>
        </p:txBody>
      </p:sp>
      <p:sp>
        <p:nvSpPr>
          <p:cNvPr id="8" name="Card Listen"/>
          <p:cNvSpPr/>
          <p:nvPr/>
        </p:nvSpPr>
        <p:spPr>
          <a:xfrm>
            <a:off x="2560320" y="1371600"/>
            <a:ext cx="1920240" cy="2560320"/>
          </a:xfrm>
          <a:prstGeom prst="roundRect">
            <a:avLst>
              <a:gd name="adj" fmla="val 9524"/>
            </a:avLst>
          </a:prstGeom>
          <a:solidFill>
            <a:schemeClr val="bg1"/>
          </a:solidFill>
          <a:ln/>
          <a:effectLst>
            <a:outerShdw sx="100000" sy="100000" kx="0" ky="0" algn="bl" rotWithShape="0" blurRad="76200" dist="25400" dir="5400000">
              <a:srgbClr val="000000">
                <a:alpha val="15000"/>
              </a:srgbClr>
            </a:outerShdw>
          </a:effectLst>
        </p:spPr>
      </p:sp>
      <p:sp>
        <p:nvSpPr>
          <p:cNvPr id="9" name="Badge Listen"/>
          <p:cNvSpPr/>
          <p:nvPr/>
        </p:nvSpPr>
        <p:spPr>
          <a:xfrm>
            <a:off x="3063240" y="1600200"/>
            <a:ext cx="914400" cy="914400"/>
          </a:xfrm>
          <a:prstGeom prst="ellipse">
            <a:avLst/>
          </a:prstGeom>
          <a:solidFill>
            <a:schemeClr val="accent4"/>
          </a:solidFill>
          <a:ln/>
        </p:spPr>
      </p:sp>
      <p:sp>
        <p:nvSpPr>
          <p:cNvPr id="10" name="Text 8"/>
          <p:cNvSpPr txBox="1"/>
          <p:nvPr/>
        </p:nvSpPr>
        <p:spPr>
          <a:xfrm>
            <a:off x="3063240" y="16002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2</a:t>
            </a:r>
            <a:endParaRPr lang="en-US" sz="3600" dirty="0"/>
          </a:p>
        </p:txBody>
      </p:sp>
      <p:sp>
        <p:nvSpPr>
          <p:cNvPr id="11" name="Text 9"/>
          <p:cNvSpPr txBox="1"/>
          <p:nvPr/>
        </p:nvSpPr>
        <p:spPr>
          <a:xfrm>
            <a:off x="2560320" y="2697480"/>
            <a:ext cx="1920240" cy="457200"/>
          </a:xfrm>
          <a:prstGeom prst="rect">
            <a:avLst/>
          </a:prstGeom>
          <a:noFill/>
          <a:ln/>
        </p:spPr>
        <p:txBody>
          <a:bodyPr wrap="square" lIns="0" tIns="0" rIns="0" bIns="0" rtlCol="0" anchor="ctr"/>
          <a:lstStyle/>
          <a:p>
            <a:pPr algn="ctr" indent="0" marL="0">
              <a:buNone/>
            </a:pPr>
            <a:r>
              <a:rPr lang="en-US" sz="2400" b="1" dirty="0">
                <a:solidFill>
                  <a:schemeClr val="tx1"/>
                </a:solidFill>
              </a:rPr>
              <a:t>Listen</a:t>
            </a:r>
            <a:endParaRPr lang="en-US" sz="2400" dirty="0"/>
          </a:p>
        </p:txBody>
      </p:sp>
      <p:sp>
        <p:nvSpPr>
          <p:cNvPr id="12" name="Text 10"/>
          <p:cNvSpPr txBox="1"/>
          <p:nvPr/>
        </p:nvSpPr>
        <p:spPr>
          <a:xfrm>
            <a:off x="2697480" y="3154680"/>
            <a:ext cx="1645920" cy="640080"/>
          </a:xfrm>
          <a:prstGeom prst="rect">
            <a:avLst/>
          </a:prstGeom>
          <a:noFill/>
          <a:ln/>
        </p:spPr>
        <p:txBody>
          <a:bodyPr wrap="square" lIns="0" tIns="0" rIns="0" bIns="0" rtlCol="0" anchor="t"/>
          <a:lstStyle/>
          <a:p>
            <a:pPr algn="ctr" indent="0" marL="0">
              <a:buNone/>
            </a:pPr>
            <a:r>
              <a:rPr lang="en-US" sz="1400" dirty="0">
                <a:solidFill>
                  <a:schemeClr val="tx1"/>
                </a:solidFill>
              </a:rPr>
              <a:t>Hear its name and sound</a:t>
            </a:r>
            <a:endParaRPr lang="en-US" sz="1400" dirty="0"/>
          </a:p>
        </p:txBody>
      </p:sp>
      <p:sp>
        <p:nvSpPr>
          <p:cNvPr id="13" name="Card Say"/>
          <p:cNvSpPr/>
          <p:nvPr/>
        </p:nvSpPr>
        <p:spPr>
          <a:xfrm>
            <a:off x="4663440" y="1371600"/>
            <a:ext cx="1920240" cy="2560320"/>
          </a:xfrm>
          <a:prstGeom prst="roundRect">
            <a:avLst>
              <a:gd name="adj" fmla="val 9524"/>
            </a:avLst>
          </a:prstGeom>
          <a:solidFill>
            <a:schemeClr val="bg1"/>
          </a:solidFill>
          <a:ln/>
          <a:effectLst>
            <a:outerShdw sx="100000" sy="100000" kx="0" ky="0" algn="bl" rotWithShape="0" blurRad="76200" dist="25400" dir="5400000">
              <a:srgbClr val="000000">
                <a:alpha val="15000"/>
              </a:srgbClr>
            </a:outerShdw>
          </a:effectLst>
        </p:spPr>
      </p:sp>
      <p:sp>
        <p:nvSpPr>
          <p:cNvPr id="14" name="Badge Say"/>
          <p:cNvSpPr/>
          <p:nvPr/>
        </p:nvSpPr>
        <p:spPr>
          <a:xfrm>
            <a:off x="5166360" y="1600200"/>
            <a:ext cx="914400" cy="914400"/>
          </a:xfrm>
          <a:prstGeom prst="ellipse">
            <a:avLst/>
          </a:prstGeom>
          <a:solidFill>
            <a:schemeClr val="accent2"/>
          </a:solidFill>
          <a:ln/>
        </p:spPr>
      </p:sp>
      <p:sp>
        <p:nvSpPr>
          <p:cNvPr id="15" name="Text 13"/>
          <p:cNvSpPr txBox="1"/>
          <p:nvPr/>
        </p:nvSpPr>
        <p:spPr>
          <a:xfrm>
            <a:off x="5166360" y="16002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3</a:t>
            </a:r>
            <a:endParaRPr lang="en-US" sz="3600" dirty="0"/>
          </a:p>
        </p:txBody>
      </p:sp>
      <p:sp>
        <p:nvSpPr>
          <p:cNvPr id="16" name="Text 14"/>
          <p:cNvSpPr txBox="1"/>
          <p:nvPr/>
        </p:nvSpPr>
        <p:spPr>
          <a:xfrm>
            <a:off x="4663440" y="2697480"/>
            <a:ext cx="1920240" cy="457200"/>
          </a:xfrm>
          <a:prstGeom prst="rect">
            <a:avLst/>
          </a:prstGeom>
          <a:noFill/>
          <a:ln/>
        </p:spPr>
        <p:txBody>
          <a:bodyPr wrap="square" lIns="0" tIns="0" rIns="0" bIns="0" rtlCol="0" anchor="ctr"/>
          <a:lstStyle/>
          <a:p>
            <a:pPr algn="ctr" indent="0" marL="0">
              <a:buNone/>
            </a:pPr>
            <a:r>
              <a:rPr lang="en-US" sz="2400" b="1" dirty="0">
                <a:solidFill>
                  <a:schemeClr val="tx1"/>
                </a:solidFill>
              </a:rPr>
              <a:t>Say</a:t>
            </a:r>
            <a:endParaRPr lang="en-US" sz="2400" dirty="0"/>
          </a:p>
        </p:txBody>
      </p:sp>
      <p:sp>
        <p:nvSpPr>
          <p:cNvPr id="17" name="Text 15"/>
          <p:cNvSpPr txBox="1"/>
          <p:nvPr/>
        </p:nvSpPr>
        <p:spPr>
          <a:xfrm>
            <a:off x="4800600" y="3154680"/>
            <a:ext cx="1645920" cy="640080"/>
          </a:xfrm>
          <a:prstGeom prst="rect">
            <a:avLst/>
          </a:prstGeom>
          <a:noFill/>
          <a:ln/>
        </p:spPr>
        <p:txBody>
          <a:bodyPr wrap="square" lIns="0" tIns="0" rIns="0" bIns="0" rtlCol="0" anchor="t"/>
          <a:lstStyle/>
          <a:p>
            <a:pPr algn="ctr" indent="0" marL="0">
              <a:buNone/>
            </a:pPr>
            <a:r>
              <a:rPr lang="en-US" sz="1400" dirty="0">
                <a:solidFill>
                  <a:schemeClr val="tx1"/>
                </a:solidFill>
              </a:rPr>
              <a:t>Say it out loud together</a:t>
            </a:r>
            <a:endParaRPr lang="en-US" sz="1400" dirty="0"/>
          </a:p>
        </p:txBody>
      </p:sp>
      <p:sp>
        <p:nvSpPr>
          <p:cNvPr id="18" name="Card Find"/>
          <p:cNvSpPr/>
          <p:nvPr/>
        </p:nvSpPr>
        <p:spPr>
          <a:xfrm>
            <a:off x="6766560" y="1371600"/>
            <a:ext cx="1920240" cy="2560320"/>
          </a:xfrm>
          <a:prstGeom prst="roundRect">
            <a:avLst>
              <a:gd name="adj" fmla="val 9524"/>
            </a:avLst>
          </a:prstGeom>
          <a:solidFill>
            <a:schemeClr val="bg1"/>
          </a:solidFill>
          <a:ln/>
          <a:effectLst>
            <a:outerShdw sx="100000" sy="100000" kx="0" ky="0" algn="bl" rotWithShape="0" blurRad="76200" dist="25400" dir="5400000">
              <a:srgbClr val="000000">
                <a:alpha val="15000"/>
              </a:srgbClr>
            </a:outerShdw>
          </a:effectLst>
        </p:spPr>
      </p:sp>
      <p:sp>
        <p:nvSpPr>
          <p:cNvPr id="19" name="Badge Find"/>
          <p:cNvSpPr/>
          <p:nvPr/>
        </p:nvSpPr>
        <p:spPr>
          <a:xfrm>
            <a:off x="7269480" y="1600200"/>
            <a:ext cx="914400" cy="914400"/>
          </a:xfrm>
          <a:prstGeom prst="ellipse">
            <a:avLst/>
          </a:prstGeom>
          <a:solidFill>
            <a:schemeClr val="accent5"/>
          </a:solidFill>
          <a:ln/>
        </p:spPr>
      </p:sp>
      <p:sp>
        <p:nvSpPr>
          <p:cNvPr id="20" name="Text 18"/>
          <p:cNvSpPr txBox="1"/>
          <p:nvPr/>
        </p:nvSpPr>
        <p:spPr>
          <a:xfrm>
            <a:off x="7269480" y="1600200"/>
            <a:ext cx="914400" cy="914400"/>
          </a:xfrm>
          <a:prstGeom prst="rect">
            <a:avLst/>
          </a:prstGeom>
          <a:noFill/>
          <a:ln/>
        </p:spPr>
        <p:txBody>
          <a:bodyPr wrap="square" lIns="0" tIns="0" rIns="0" bIns="0" rtlCol="0" anchor="ctr"/>
          <a:lstStyle/>
          <a:p>
            <a:pPr algn="ctr" indent="0" marL="0">
              <a:buNone/>
            </a:pPr>
            <a:r>
              <a:rPr lang="en-US" sz="3600" b="1" dirty="0">
                <a:solidFill>
                  <a:schemeClr val="bg1"/>
                </a:solidFill>
              </a:rPr>
              <a:t>4</a:t>
            </a:r>
            <a:endParaRPr lang="en-US" sz="3600" dirty="0"/>
          </a:p>
        </p:txBody>
      </p:sp>
      <p:sp>
        <p:nvSpPr>
          <p:cNvPr id="21" name="Text 19"/>
          <p:cNvSpPr txBox="1"/>
          <p:nvPr/>
        </p:nvSpPr>
        <p:spPr>
          <a:xfrm>
            <a:off x="6766560" y="2697480"/>
            <a:ext cx="1920240" cy="457200"/>
          </a:xfrm>
          <a:prstGeom prst="rect">
            <a:avLst/>
          </a:prstGeom>
          <a:noFill/>
          <a:ln/>
        </p:spPr>
        <p:txBody>
          <a:bodyPr wrap="square" lIns="0" tIns="0" rIns="0" bIns="0" rtlCol="0" anchor="ctr"/>
          <a:lstStyle/>
          <a:p>
            <a:pPr algn="ctr" indent="0" marL="0">
              <a:buNone/>
            </a:pPr>
            <a:r>
              <a:rPr lang="en-US" sz="2400" b="1" dirty="0">
                <a:solidFill>
                  <a:schemeClr val="tx1"/>
                </a:solidFill>
              </a:rPr>
              <a:t>Find</a:t>
            </a:r>
            <a:endParaRPr lang="en-US" sz="2400" dirty="0"/>
          </a:p>
        </p:txBody>
      </p:sp>
      <p:sp>
        <p:nvSpPr>
          <p:cNvPr id="22" name="Text 20"/>
          <p:cNvSpPr txBox="1"/>
          <p:nvPr/>
        </p:nvSpPr>
        <p:spPr>
          <a:xfrm>
            <a:off x="6903720" y="3154680"/>
            <a:ext cx="1645920" cy="640080"/>
          </a:xfrm>
          <a:prstGeom prst="rect">
            <a:avLst/>
          </a:prstGeom>
          <a:noFill/>
          <a:ln/>
        </p:spPr>
        <p:txBody>
          <a:bodyPr wrap="square" lIns="0" tIns="0" rIns="0" bIns="0" rtlCol="0" anchor="t"/>
          <a:lstStyle/>
          <a:p>
            <a:pPr algn="ctr" indent="0" marL="0">
              <a:buNone/>
            </a:pPr>
            <a:r>
              <a:rPr lang="en-US" sz="1400" dirty="0">
                <a:solidFill>
                  <a:schemeClr val="tx1"/>
                </a:solidFill>
              </a:rPr>
              <a:t>Spot it in the word</a:t>
            </a:r>
            <a:endParaRPr lang="en-US" sz="1400" dirty="0"/>
          </a:p>
        </p:txBody>
      </p:sp>
      <p:sp>
        <p:nvSpPr>
          <p:cNvPr id="23" name="Text 21"/>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800" b="1" dirty="0">
                <a:solidFill>
                  <a:schemeClr val="accent3"/>
                </a:solidFill>
              </a:rPr>
              <a:t>Remember: Arabic is read from RIGHT to LEFT!</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28 Letters, One Beautiful Book</a:t>
            </a:r>
            <a:endParaRPr lang="en-US" sz="3600" dirty="0"/>
          </a:p>
        </p:txBody>
      </p:sp>
      <p:sp>
        <p:nvSpPr>
          <p:cNvPr id="3" name="Tile Alif0"/>
          <p:cNvSpPr/>
          <p:nvPr/>
        </p:nvSpPr>
        <p:spPr>
          <a:xfrm>
            <a:off x="7589520" y="1188720"/>
            <a:ext cx="1097280" cy="749808"/>
          </a:xfrm>
          <a:prstGeom prst="roundRect">
            <a:avLst>
              <a:gd name="adj" fmla="val 18293"/>
            </a:avLst>
          </a:prstGeom>
          <a:solidFill>
            <a:schemeClr val="accent3"/>
          </a:solidFill>
          <a:ln/>
        </p:spPr>
      </p:sp>
      <p:sp>
        <p:nvSpPr>
          <p:cNvPr id="4" name="Text 2"/>
          <p:cNvSpPr txBox="1"/>
          <p:nvPr/>
        </p:nvSpPr>
        <p:spPr>
          <a:xfrm>
            <a:off x="7589520" y="1188720"/>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ا</a:t>
            </a:r>
            <a:endParaRPr lang="en-US" sz="3600" dirty="0"/>
          </a:p>
        </p:txBody>
      </p:sp>
      <p:sp>
        <p:nvSpPr>
          <p:cNvPr id="5" name="Tile Ba1"/>
          <p:cNvSpPr/>
          <p:nvPr/>
        </p:nvSpPr>
        <p:spPr>
          <a:xfrm>
            <a:off x="6400800" y="1188720"/>
            <a:ext cx="1097280" cy="749808"/>
          </a:xfrm>
          <a:prstGeom prst="roundRect">
            <a:avLst>
              <a:gd name="adj" fmla="val 18293"/>
            </a:avLst>
          </a:prstGeom>
          <a:solidFill>
            <a:schemeClr val="accent4"/>
          </a:solidFill>
          <a:ln/>
        </p:spPr>
      </p:sp>
      <p:sp>
        <p:nvSpPr>
          <p:cNvPr id="6" name="Text 4"/>
          <p:cNvSpPr txBox="1"/>
          <p:nvPr/>
        </p:nvSpPr>
        <p:spPr>
          <a:xfrm>
            <a:off x="6400800" y="1188720"/>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ب</a:t>
            </a:r>
            <a:endParaRPr lang="en-US" sz="3600" dirty="0"/>
          </a:p>
        </p:txBody>
      </p:sp>
      <p:sp>
        <p:nvSpPr>
          <p:cNvPr id="7" name="Tile Ta2"/>
          <p:cNvSpPr/>
          <p:nvPr/>
        </p:nvSpPr>
        <p:spPr>
          <a:xfrm>
            <a:off x="5212080" y="1188720"/>
            <a:ext cx="1097280" cy="749808"/>
          </a:xfrm>
          <a:prstGeom prst="roundRect">
            <a:avLst>
              <a:gd name="adj" fmla="val 18293"/>
            </a:avLst>
          </a:prstGeom>
          <a:solidFill>
            <a:schemeClr val="accent2"/>
          </a:solidFill>
          <a:ln/>
        </p:spPr>
      </p:sp>
      <p:sp>
        <p:nvSpPr>
          <p:cNvPr id="8" name="Text 6"/>
          <p:cNvSpPr txBox="1"/>
          <p:nvPr/>
        </p:nvSpPr>
        <p:spPr>
          <a:xfrm>
            <a:off x="5212080" y="1188720"/>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ت</a:t>
            </a:r>
            <a:endParaRPr lang="en-US" sz="3600" dirty="0"/>
          </a:p>
        </p:txBody>
      </p:sp>
      <p:sp>
        <p:nvSpPr>
          <p:cNvPr id="9" name="Tile Tha3"/>
          <p:cNvSpPr/>
          <p:nvPr/>
        </p:nvSpPr>
        <p:spPr>
          <a:xfrm>
            <a:off x="4023360" y="1188720"/>
            <a:ext cx="1097280" cy="749808"/>
          </a:xfrm>
          <a:prstGeom prst="roundRect">
            <a:avLst>
              <a:gd name="adj" fmla="val 18293"/>
            </a:avLst>
          </a:prstGeom>
          <a:solidFill>
            <a:schemeClr val="accent5"/>
          </a:solidFill>
          <a:ln/>
        </p:spPr>
      </p:sp>
      <p:sp>
        <p:nvSpPr>
          <p:cNvPr id="10" name="Text 8"/>
          <p:cNvSpPr txBox="1"/>
          <p:nvPr/>
        </p:nvSpPr>
        <p:spPr>
          <a:xfrm>
            <a:off x="4023360" y="1188720"/>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ث</a:t>
            </a:r>
            <a:endParaRPr lang="en-US" sz="3600" dirty="0"/>
          </a:p>
        </p:txBody>
      </p:sp>
      <p:sp>
        <p:nvSpPr>
          <p:cNvPr id="11" name="Tile Jeem4"/>
          <p:cNvSpPr/>
          <p:nvPr/>
        </p:nvSpPr>
        <p:spPr>
          <a:xfrm>
            <a:off x="2834640" y="1188720"/>
            <a:ext cx="1097280" cy="749808"/>
          </a:xfrm>
          <a:prstGeom prst="roundRect">
            <a:avLst>
              <a:gd name="adj" fmla="val 18293"/>
            </a:avLst>
          </a:prstGeom>
          <a:solidFill>
            <a:schemeClr val="accent6"/>
          </a:solidFill>
          <a:ln/>
        </p:spPr>
      </p:sp>
      <p:sp>
        <p:nvSpPr>
          <p:cNvPr id="12" name="Text 10"/>
          <p:cNvSpPr txBox="1"/>
          <p:nvPr/>
        </p:nvSpPr>
        <p:spPr>
          <a:xfrm>
            <a:off x="2834640" y="1188720"/>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ج</a:t>
            </a:r>
            <a:endParaRPr lang="en-US" sz="3600" dirty="0"/>
          </a:p>
        </p:txBody>
      </p:sp>
      <p:sp>
        <p:nvSpPr>
          <p:cNvPr id="13" name="Tile Ha5"/>
          <p:cNvSpPr/>
          <p:nvPr/>
        </p:nvSpPr>
        <p:spPr>
          <a:xfrm>
            <a:off x="1645920" y="1188720"/>
            <a:ext cx="1097280" cy="749808"/>
          </a:xfrm>
          <a:prstGeom prst="roundRect">
            <a:avLst>
              <a:gd name="adj" fmla="val 18293"/>
            </a:avLst>
          </a:prstGeom>
          <a:solidFill>
            <a:schemeClr val="accent3"/>
          </a:solidFill>
          <a:ln/>
        </p:spPr>
      </p:sp>
      <p:sp>
        <p:nvSpPr>
          <p:cNvPr id="14" name="Text 12"/>
          <p:cNvSpPr txBox="1"/>
          <p:nvPr/>
        </p:nvSpPr>
        <p:spPr>
          <a:xfrm>
            <a:off x="1645920" y="1188720"/>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ح</a:t>
            </a:r>
            <a:endParaRPr lang="en-US" sz="3600" dirty="0"/>
          </a:p>
        </p:txBody>
      </p:sp>
      <p:sp>
        <p:nvSpPr>
          <p:cNvPr id="15" name="Tile Kha6"/>
          <p:cNvSpPr/>
          <p:nvPr/>
        </p:nvSpPr>
        <p:spPr>
          <a:xfrm>
            <a:off x="457200" y="1188720"/>
            <a:ext cx="1097280" cy="749808"/>
          </a:xfrm>
          <a:prstGeom prst="roundRect">
            <a:avLst>
              <a:gd name="adj" fmla="val 18293"/>
            </a:avLst>
          </a:prstGeom>
          <a:solidFill>
            <a:schemeClr val="accent4"/>
          </a:solidFill>
          <a:ln/>
        </p:spPr>
      </p:sp>
      <p:sp>
        <p:nvSpPr>
          <p:cNvPr id="16" name="Text 14"/>
          <p:cNvSpPr txBox="1"/>
          <p:nvPr/>
        </p:nvSpPr>
        <p:spPr>
          <a:xfrm>
            <a:off x="457200" y="1188720"/>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خ</a:t>
            </a:r>
            <a:endParaRPr lang="en-US" sz="3600" dirty="0"/>
          </a:p>
        </p:txBody>
      </p:sp>
      <p:sp>
        <p:nvSpPr>
          <p:cNvPr id="17" name="Tile Dal7"/>
          <p:cNvSpPr/>
          <p:nvPr/>
        </p:nvSpPr>
        <p:spPr>
          <a:xfrm>
            <a:off x="7589520" y="2029968"/>
            <a:ext cx="1097280" cy="749808"/>
          </a:xfrm>
          <a:prstGeom prst="roundRect">
            <a:avLst>
              <a:gd name="adj" fmla="val 18293"/>
            </a:avLst>
          </a:prstGeom>
          <a:solidFill>
            <a:schemeClr val="accent2"/>
          </a:solidFill>
          <a:ln/>
        </p:spPr>
      </p:sp>
      <p:sp>
        <p:nvSpPr>
          <p:cNvPr id="18" name="Text 16"/>
          <p:cNvSpPr txBox="1"/>
          <p:nvPr/>
        </p:nvSpPr>
        <p:spPr>
          <a:xfrm>
            <a:off x="7589520" y="2029968"/>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د</a:t>
            </a:r>
            <a:endParaRPr lang="en-US" sz="3600" dirty="0"/>
          </a:p>
        </p:txBody>
      </p:sp>
      <p:sp>
        <p:nvSpPr>
          <p:cNvPr id="19" name="Tile Thal8"/>
          <p:cNvSpPr/>
          <p:nvPr/>
        </p:nvSpPr>
        <p:spPr>
          <a:xfrm>
            <a:off x="6400800" y="2029968"/>
            <a:ext cx="1097280" cy="749808"/>
          </a:xfrm>
          <a:prstGeom prst="roundRect">
            <a:avLst>
              <a:gd name="adj" fmla="val 18293"/>
            </a:avLst>
          </a:prstGeom>
          <a:solidFill>
            <a:schemeClr val="accent5"/>
          </a:solidFill>
          <a:ln/>
        </p:spPr>
      </p:sp>
      <p:sp>
        <p:nvSpPr>
          <p:cNvPr id="20" name="Text 18"/>
          <p:cNvSpPr txBox="1"/>
          <p:nvPr/>
        </p:nvSpPr>
        <p:spPr>
          <a:xfrm>
            <a:off x="6400800" y="2029968"/>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ذ</a:t>
            </a:r>
            <a:endParaRPr lang="en-US" sz="3600" dirty="0"/>
          </a:p>
        </p:txBody>
      </p:sp>
      <p:sp>
        <p:nvSpPr>
          <p:cNvPr id="21" name="Tile Ra9"/>
          <p:cNvSpPr/>
          <p:nvPr/>
        </p:nvSpPr>
        <p:spPr>
          <a:xfrm>
            <a:off x="5212080" y="2029968"/>
            <a:ext cx="1097280" cy="749808"/>
          </a:xfrm>
          <a:prstGeom prst="roundRect">
            <a:avLst>
              <a:gd name="adj" fmla="val 18293"/>
            </a:avLst>
          </a:prstGeom>
          <a:solidFill>
            <a:schemeClr val="accent6"/>
          </a:solidFill>
          <a:ln/>
        </p:spPr>
      </p:sp>
      <p:sp>
        <p:nvSpPr>
          <p:cNvPr id="22" name="Text 20"/>
          <p:cNvSpPr txBox="1"/>
          <p:nvPr/>
        </p:nvSpPr>
        <p:spPr>
          <a:xfrm>
            <a:off x="5212080" y="2029968"/>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ر</a:t>
            </a:r>
            <a:endParaRPr lang="en-US" sz="3600" dirty="0"/>
          </a:p>
        </p:txBody>
      </p:sp>
      <p:sp>
        <p:nvSpPr>
          <p:cNvPr id="23" name="Tile Zay10"/>
          <p:cNvSpPr/>
          <p:nvPr/>
        </p:nvSpPr>
        <p:spPr>
          <a:xfrm>
            <a:off x="4023360" y="2029968"/>
            <a:ext cx="1097280" cy="749808"/>
          </a:xfrm>
          <a:prstGeom prst="roundRect">
            <a:avLst>
              <a:gd name="adj" fmla="val 18293"/>
            </a:avLst>
          </a:prstGeom>
          <a:solidFill>
            <a:schemeClr val="accent3"/>
          </a:solidFill>
          <a:ln/>
        </p:spPr>
      </p:sp>
      <p:sp>
        <p:nvSpPr>
          <p:cNvPr id="24" name="Text 22"/>
          <p:cNvSpPr txBox="1"/>
          <p:nvPr/>
        </p:nvSpPr>
        <p:spPr>
          <a:xfrm>
            <a:off x="4023360" y="2029968"/>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ز</a:t>
            </a:r>
            <a:endParaRPr lang="en-US" sz="3600" dirty="0"/>
          </a:p>
        </p:txBody>
      </p:sp>
      <p:sp>
        <p:nvSpPr>
          <p:cNvPr id="25" name="Tile Seen11"/>
          <p:cNvSpPr/>
          <p:nvPr/>
        </p:nvSpPr>
        <p:spPr>
          <a:xfrm>
            <a:off x="2834640" y="2029968"/>
            <a:ext cx="1097280" cy="749808"/>
          </a:xfrm>
          <a:prstGeom prst="roundRect">
            <a:avLst>
              <a:gd name="adj" fmla="val 18293"/>
            </a:avLst>
          </a:prstGeom>
          <a:solidFill>
            <a:schemeClr val="accent4"/>
          </a:solidFill>
          <a:ln/>
        </p:spPr>
      </p:sp>
      <p:sp>
        <p:nvSpPr>
          <p:cNvPr id="26" name="Text 24"/>
          <p:cNvSpPr txBox="1"/>
          <p:nvPr/>
        </p:nvSpPr>
        <p:spPr>
          <a:xfrm>
            <a:off x="2834640" y="2029968"/>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س</a:t>
            </a:r>
            <a:endParaRPr lang="en-US" sz="3600" dirty="0"/>
          </a:p>
        </p:txBody>
      </p:sp>
      <p:sp>
        <p:nvSpPr>
          <p:cNvPr id="27" name="Tile Sheen12"/>
          <p:cNvSpPr/>
          <p:nvPr/>
        </p:nvSpPr>
        <p:spPr>
          <a:xfrm>
            <a:off x="1645920" y="2029968"/>
            <a:ext cx="1097280" cy="749808"/>
          </a:xfrm>
          <a:prstGeom prst="roundRect">
            <a:avLst>
              <a:gd name="adj" fmla="val 18293"/>
            </a:avLst>
          </a:prstGeom>
          <a:solidFill>
            <a:schemeClr val="accent2"/>
          </a:solidFill>
          <a:ln/>
        </p:spPr>
      </p:sp>
      <p:sp>
        <p:nvSpPr>
          <p:cNvPr id="28" name="Text 26"/>
          <p:cNvSpPr txBox="1"/>
          <p:nvPr/>
        </p:nvSpPr>
        <p:spPr>
          <a:xfrm>
            <a:off x="1645920" y="2029968"/>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ش</a:t>
            </a:r>
            <a:endParaRPr lang="en-US" sz="3600" dirty="0"/>
          </a:p>
        </p:txBody>
      </p:sp>
      <p:sp>
        <p:nvSpPr>
          <p:cNvPr id="29" name="Tile Sad13"/>
          <p:cNvSpPr/>
          <p:nvPr/>
        </p:nvSpPr>
        <p:spPr>
          <a:xfrm>
            <a:off x="457200" y="2029968"/>
            <a:ext cx="1097280" cy="749808"/>
          </a:xfrm>
          <a:prstGeom prst="roundRect">
            <a:avLst>
              <a:gd name="adj" fmla="val 18293"/>
            </a:avLst>
          </a:prstGeom>
          <a:solidFill>
            <a:schemeClr val="accent5"/>
          </a:solidFill>
          <a:ln/>
        </p:spPr>
      </p:sp>
      <p:sp>
        <p:nvSpPr>
          <p:cNvPr id="30" name="Text 28"/>
          <p:cNvSpPr txBox="1"/>
          <p:nvPr/>
        </p:nvSpPr>
        <p:spPr>
          <a:xfrm>
            <a:off x="457200" y="2029968"/>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ص</a:t>
            </a:r>
            <a:endParaRPr lang="en-US" sz="3600" dirty="0"/>
          </a:p>
        </p:txBody>
      </p:sp>
      <p:sp>
        <p:nvSpPr>
          <p:cNvPr id="31" name="Tile Dad14"/>
          <p:cNvSpPr/>
          <p:nvPr/>
        </p:nvSpPr>
        <p:spPr>
          <a:xfrm>
            <a:off x="7589520" y="2871216"/>
            <a:ext cx="1097280" cy="749808"/>
          </a:xfrm>
          <a:prstGeom prst="roundRect">
            <a:avLst>
              <a:gd name="adj" fmla="val 18293"/>
            </a:avLst>
          </a:prstGeom>
          <a:solidFill>
            <a:schemeClr val="accent6"/>
          </a:solidFill>
          <a:ln/>
        </p:spPr>
      </p:sp>
      <p:sp>
        <p:nvSpPr>
          <p:cNvPr id="32" name="Text 30"/>
          <p:cNvSpPr txBox="1"/>
          <p:nvPr/>
        </p:nvSpPr>
        <p:spPr>
          <a:xfrm>
            <a:off x="7589520" y="2871216"/>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ض</a:t>
            </a:r>
            <a:endParaRPr lang="en-US" sz="3600" dirty="0"/>
          </a:p>
        </p:txBody>
      </p:sp>
      <p:sp>
        <p:nvSpPr>
          <p:cNvPr id="33" name="Tile Ta15"/>
          <p:cNvSpPr/>
          <p:nvPr/>
        </p:nvSpPr>
        <p:spPr>
          <a:xfrm>
            <a:off x="6400800" y="2871216"/>
            <a:ext cx="1097280" cy="749808"/>
          </a:xfrm>
          <a:prstGeom prst="roundRect">
            <a:avLst>
              <a:gd name="adj" fmla="val 18293"/>
            </a:avLst>
          </a:prstGeom>
          <a:solidFill>
            <a:schemeClr val="accent3"/>
          </a:solidFill>
          <a:ln/>
        </p:spPr>
      </p:sp>
      <p:sp>
        <p:nvSpPr>
          <p:cNvPr id="34" name="Text 32"/>
          <p:cNvSpPr txBox="1"/>
          <p:nvPr/>
        </p:nvSpPr>
        <p:spPr>
          <a:xfrm>
            <a:off x="6400800" y="2871216"/>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ط</a:t>
            </a:r>
            <a:endParaRPr lang="en-US" sz="3600" dirty="0"/>
          </a:p>
        </p:txBody>
      </p:sp>
      <p:sp>
        <p:nvSpPr>
          <p:cNvPr id="35" name="Tile Dha16"/>
          <p:cNvSpPr/>
          <p:nvPr/>
        </p:nvSpPr>
        <p:spPr>
          <a:xfrm>
            <a:off x="5212080" y="2871216"/>
            <a:ext cx="1097280" cy="749808"/>
          </a:xfrm>
          <a:prstGeom prst="roundRect">
            <a:avLst>
              <a:gd name="adj" fmla="val 18293"/>
            </a:avLst>
          </a:prstGeom>
          <a:solidFill>
            <a:schemeClr val="accent4"/>
          </a:solidFill>
          <a:ln/>
        </p:spPr>
      </p:sp>
      <p:sp>
        <p:nvSpPr>
          <p:cNvPr id="36" name="Text 34"/>
          <p:cNvSpPr txBox="1"/>
          <p:nvPr/>
        </p:nvSpPr>
        <p:spPr>
          <a:xfrm>
            <a:off x="5212080" y="2871216"/>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ظ</a:t>
            </a:r>
            <a:endParaRPr lang="en-US" sz="3600" dirty="0"/>
          </a:p>
        </p:txBody>
      </p:sp>
      <p:sp>
        <p:nvSpPr>
          <p:cNvPr id="37" name="Tile Ain17"/>
          <p:cNvSpPr/>
          <p:nvPr/>
        </p:nvSpPr>
        <p:spPr>
          <a:xfrm>
            <a:off x="4023360" y="2871216"/>
            <a:ext cx="1097280" cy="749808"/>
          </a:xfrm>
          <a:prstGeom prst="roundRect">
            <a:avLst>
              <a:gd name="adj" fmla="val 18293"/>
            </a:avLst>
          </a:prstGeom>
          <a:solidFill>
            <a:schemeClr val="accent2"/>
          </a:solidFill>
          <a:ln/>
        </p:spPr>
      </p:sp>
      <p:sp>
        <p:nvSpPr>
          <p:cNvPr id="38" name="Text 36"/>
          <p:cNvSpPr txBox="1"/>
          <p:nvPr/>
        </p:nvSpPr>
        <p:spPr>
          <a:xfrm>
            <a:off x="4023360" y="2871216"/>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ع</a:t>
            </a:r>
            <a:endParaRPr lang="en-US" sz="3600" dirty="0"/>
          </a:p>
        </p:txBody>
      </p:sp>
      <p:sp>
        <p:nvSpPr>
          <p:cNvPr id="39" name="Tile Ghain18"/>
          <p:cNvSpPr/>
          <p:nvPr/>
        </p:nvSpPr>
        <p:spPr>
          <a:xfrm>
            <a:off x="2834640" y="2871216"/>
            <a:ext cx="1097280" cy="749808"/>
          </a:xfrm>
          <a:prstGeom prst="roundRect">
            <a:avLst>
              <a:gd name="adj" fmla="val 18293"/>
            </a:avLst>
          </a:prstGeom>
          <a:solidFill>
            <a:schemeClr val="accent5"/>
          </a:solidFill>
          <a:ln/>
        </p:spPr>
      </p:sp>
      <p:sp>
        <p:nvSpPr>
          <p:cNvPr id="40" name="Text 38"/>
          <p:cNvSpPr txBox="1"/>
          <p:nvPr/>
        </p:nvSpPr>
        <p:spPr>
          <a:xfrm>
            <a:off x="2834640" y="2871216"/>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غ</a:t>
            </a:r>
            <a:endParaRPr lang="en-US" sz="3600" dirty="0"/>
          </a:p>
        </p:txBody>
      </p:sp>
      <p:sp>
        <p:nvSpPr>
          <p:cNvPr id="41" name="Tile Fa19"/>
          <p:cNvSpPr/>
          <p:nvPr/>
        </p:nvSpPr>
        <p:spPr>
          <a:xfrm>
            <a:off x="1645920" y="2871216"/>
            <a:ext cx="1097280" cy="749808"/>
          </a:xfrm>
          <a:prstGeom prst="roundRect">
            <a:avLst>
              <a:gd name="adj" fmla="val 18293"/>
            </a:avLst>
          </a:prstGeom>
          <a:solidFill>
            <a:schemeClr val="accent6"/>
          </a:solidFill>
          <a:ln/>
        </p:spPr>
      </p:sp>
      <p:sp>
        <p:nvSpPr>
          <p:cNvPr id="42" name="Text 40"/>
          <p:cNvSpPr txBox="1"/>
          <p:nvPr/>
        </p:nvSpPr>
        <p:spPr>
          <a:xfrm>
            <a:off x="1645920" y="2871216"/>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ف</a:t>
            </a:r>
            <a:endParaRPr lang="en-US" sz="3600" dirty="0"/>
          </a:p>
        </p:txBody>
      </p:sp>
      <p:sp>
        <p:nvSpPr>
          <p:cNvPr id="43" name="Tile Qaf20"/>
          <p:cNvSpPr/>
          <p:nvPr/>
        </p:nvSpPr>
        <p:spPr>
          <a:xfrm>
            <a:off x="457200" y="2871216"/>
            <a:ext cx="1097280" cy="749808"/>
          </a:xfrm>
          <a:prstGeom prst="roundRect">
            <a:avLst>
              <a:gd name="adj" fmla="val 18293"/>
            </a:avLst>
          </a:prstGeom>
          <a:solidFill>
            <a:schemeClr val="accent3"/>
          </a:solidFill>
          <a:ln/>
        </p:spPr>
      </p:sp>
      <p:sp>
        <p:nvSpPr>
          <p:cNvPr id="44" name="Text 42"/>
          <p:cNvSpPr txBox="1"/>
          <p:nvPr/>
        </p:nvSpPr>
        <p:spPr>
          <a:xfrm>
            <a:off x="457200" y="2871216"/>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ق</a:t>
            </a:r>
            <a:endParaRPr lang="en-US" sz="3600" dirty="0"/>
          </a:p>
        </p:txBody>
      </p:sp>
      <p:sp>
        <p:nvSpPr>
          <p:cNvPr id="45" name="Tile Kaf21"/>
          <p:cNvSpPr/>
          <p:nvPr/>
        </p:nvSpPr>
        <p:spPr>
          <a:xfrm>
            <a:off x="7589520" y="3712464"/>
            <a:ext cx="1097280" cy="749808"/>
          </a:xfrm>
          <a:prstGeom prst="roundRect">
            <a:avLst>
              <a:gd name="adj" fmla="val 18293"/>
            </a:avLst>
          </a:prstGeom>
          <a:solidFill>
            <a:schemeClr val="accent4"/>
          </a:solidFill>
          <a:ln/>
        </p:spPr>
      </p:sp>
      <p:sp>
        <p:nvSpPr>
          <p:cNvPr id="46" name="Text 44"/>
          <p:cNvSpPr txBox="1"/>
          <p:nvPr/>
        </p:nvSpPr>
        <p:spPr>
          <a:xfrm>
            <a:off x="7589520" y="3712464"/>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ك</a:t>
            </a:r>
            <a:endParaRPr lang="en-US" sz="3600" dirty="0"/>
          </a:p>
        </p:txBody>
      </p:sp>
      <p:sp>
        <p:nvSpPr>
          <p:cNvPr id="47" name="Tile Lam22"/>
          <p:cNvSpPr/>
          <p:nvPr/>
        </p:nvSpPr>
        <p:spPr>
          <a:xfrm>
            <a:off x="6400800" y="3712464"/>
            <a:ext cx="1097280" cy="749808"/>
          </a:xfrm>
          <a:prstGeom prst="roundRect">
            <a:avLst>
              <a:gd name="adj" fmla="val 18293"/>
            </a:avLst>
          </a:prstGeom>
          <a:solidFill>
            <a:schemeClr val="accent2"/>
          </a:solidFill>
          <a:ln/>
        </p:spPr>
      </p:sp>
      <p:sp>
        <p:nvSpPr>
          <p:cNvPr id="48" name="Text 46"/>
          <p:cNvSpPr txBox="1"/>
          <p:nvPr/>
        </p:nvSpPr>
        <p:spPr>
          <a:xfrm>
            <a:off x="6400800" y="3712464"/>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ل</a:t>
            </a:r>
            <a:endParaRPr lang="en-US" sz="3600" dirty="0"/>
          </a:p>
        </p:txBody>
      </p:sp>
      <p:sp>
        <p:nvSpPr>
          <p:cNvPr id="49" name="Tile Meem23"/>
          <p:cNvSpPr/>
          <p:nvPr/>
        </p:nvSpPr>
        <p:spPr>
          <a:xfrm>
            <a:off x="5212080" y="3712464"/>
            <a:ext cx="1097280" cy="749808"/>
          </a:xfrm>
          <a:prstGeom prst="roundRect">
            <a:avLst>
              <a:gd name="adj" fmla="val 18293"/>
            </a:avLst>
          </a:prstGeom>
          <a:solidFill>
            <a:schemeClr val="accent5"/>
          </a:solidFill>
          <a:ln/>
        </p:spPr>
      </p:sp>
      <p:sp>
        <p:nvSpPr>
          <p:cNvPr id="50" name="Text 48"/>
          <p:cNvSpPr txBox="1"/>
          <p:nvPr/>
        </p:nvSpPr>
        <p:spPr>
          <a:xfrm>
            <a:off x="5212080" y="3712464"/>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م</a:t>
            </a:r>
            <a:endParaRPr lang="en-US" sz="3600" dirty="0"/>
          </a:p>
        </p:txBody>
      </p:sp>
      <p:sp>
        <p:nvSpPr>
          <p:cNvPr id="51" name="Tile Noon24"/>
          <p:cNvSpPr/>
          <p:nvPr/>
        </p:nvSpPr>
        <p:spPr>
          <a:xfrm>
            <a:off x="4023360" y="3712464"/>
            <a:ext cx="1097280" cy="749808"/>
          </a:xfrm>
          <a:prstGeom prst="roundRect">
            <a:avLst>
              <a:gd name="adj" fmla="val 18293"/>
            </a:avLst>
          </a:prstGeom>
          <a:solidFill>
            <a:schemeClr val="accent6"/>
          </a:solidFill>
          <a:ln/>
        </p:spPr>
      </p:sp>
      <p:sp>
        <p:nvSpPr>
          <p:cNvPr id="52" name="Text 50"/>
          <p:cNvSpPr txBox="1"/>
          <p:nvPr/>
        </p:nvSpPr>
        <p:spPr>
          <a:xfrm>
            <a:off x="4023360" y="3712464"/>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ن</a:t>
            </a:r>
            <a:endParaRPr lang="en-US" sz="3600" dirty="0"/>
          </a:p>
        </p:txBody>
      </p:sp>
      <p:sp>
        <p:nvSpPr>
          <p:cNvPr id="53" name="Tile Ha25"/>
          <p:cNvSpPr/>
          <p:nvPr/>
        </p:nvSpPr>
        <p:spPr>
          <a:xfrm>
            <a:off x="2834640" y="3712464"/>
            <a:ext cx="1097280" cy="749808"/>
          </a:xfrm>
          <a:prstGeom prst="roundRect">
            <a:avLst>
              <a:gd name="adj" fmla="val 18293"/>
            </a:avLst>
          </a:prstGeom>
          <a:solidFill>
            <a:schemeClr val="accent3"/>
          </a:solidFill>
          <a:ln/>
        </p:spPr>
      </p:sp>
      <p:sp>
        <p:nvSpPr>
          <p:cNvPr id="54" name="Text 52"/>
          <p:cNvSpPr txBox="1"/>
          <p:nvPr/>
        </p:nvSpPr>
        <p:spPr>
          <a:xfrm>
            <a:off x="2834640" y="3712464"/>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ه</a:t>
            </a:r>
            <a:endParaRPr lang="en-US" sz="3600" dirty="0"/>
          </a:p>
        </p:txBody>
      </p:sp>
      <p:sp>
        <p:nvSpPr>
          <p:cNvPr id="55" name="Tile Waw26"/>
          <p:cNvSpPr/>
          <p:nvPr/>
        </p:nvSpPr>
        <p:spPr>
          <a:xfrm>
            <a:off x="1645920" y="3712464"/>
            <a:ext cx="1097280" cy="749808"/>
          </a:xfrm>
          <a:prstGeom prst="roundRect">
            <a:avLst>
              <a:gd name="adj" fmla="val 18293"/>
            </a:avLst>
          </a:prstGeom>
          <a:solidFill>
            <a:schemeClr val="accent4"/>
          </a:solidFill>
          <a:ln/>
        </p:spPr>
      </p:sp>
      <p:sp>
        <p:nvSpPr>
          <p:cNvPr id="56" name="Text 54"/>
          <p:cNvSpPr txBox="1"/>
          <p:nvPr/>
        </p:nvSpPr>
        <p:spPr>
          <a:xfrm>
            <a:off x="1645920" y="3712464"/>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و</a:t>
            </a:r>
            <a:endParaRPr lang="en-US" sz="3600" dirty="0"/>
          </a:p>
        </p:txBody>
      </p:sp>
      <p:sp>
        <p:nvSpPr>
          <p:cNvPr id="57" name="Tile Ya27"/>
          <p:cNvSpPr/>
          <p:nvPr/>
        </p:nvSpPr>
        <p:spPr>
          <a:xfrm>
            <a:off x="457200" y="3712464"/>
            <a:ext cx="1097280" cy="749808"/>
          </a:xfrm>
          <a:prstGeom prst="roundRect">
            <a:avLst>
              <a:gd name="adj" fmla="val 18293"/>
            </a:avLst>
          </a:prstGeom>
          <a:solidFill>
            <a:schemeClr val="accent2"/>
          </a:solidFill>
          <a:ln/>
        </p:spPr>
      </p:sp>
      <p:sp>
        <p:nvSpPr>
          <p:cNvPr id="58" name="Text 56"/>
          <p:cNvSpPr txBox="1"/>
          <p:nvPr/>
        </p:nvSpPr>
        <p:spPr>
          <a:xfrm>
            <a:off x="457200" y="3712464"/>
            <a:ext cx="1097280" cy="749808"/>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ي</a:t>
            </a:r>
            <a:endParaRPr lang="en-US" sz="3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3"/>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ا</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Alif</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3"/>
                </a:solidFill>
              </a:rPr>
              <a:t>a</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أَسَد</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3"/>
                </a:solidFill>
              </a:rPr>
              <a:t>lion</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4"/>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ب</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Ba</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4"/>
                </a:solidFill>
              </a:rPr>
              <a:t>b</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بَطَّة</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4"/>
                </a:solidFill>
              </a:rPr>
              <a:t>duck</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2"/>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ت</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Ta</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2"/>
                </a:solidFill>
              </a:rPr>
              <a:t>t</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تُفَّاح</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2"/>
                </a:solidFill>
              </a:rPr>
              <a:t>apple</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5"/>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ث</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Tha</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5"/>
                </a:solidFill>
              </a:rPr>
              <a:t>th (think)</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ثَعْلَب</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5"/>
                </a:solidFill>
              </a:rPr>
              <a:t>fox</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6"/>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ج</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Jeem</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6"/>
                </a:solidFill>
              </a:rPr>
              <a:t>j</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جَمَل</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6"/>
                </a:solidFill>
              </a:rPr>
              <a:t>camel</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3"/>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ح</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Ha</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3"/>
                </a:solidFill>
              </a:rPr>
              <a:t>h (breathy)</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حِصَان</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3"/>
                </a:solidFill>
              </a:rPr>
              <a:t>horse</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4"/>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خ</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Kha</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4"/>
                </a:solidFill>
              </a:rPr>
              <a:t>kh</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خَرُوف</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4"/>
                </a:solidFill>
              </a:rPr>
              <a:t>sheep</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2"/>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د</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Dal</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2"/>
                </a:solidFill>
              </a:rPr>
              <a:t>d</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دُبّ</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2"/>
                </a:solidFill>
              </a:rPr>
              <a:t>bear</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5"/>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ذ</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Thal</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5"/>
                </a:solidFill>
              </a:rPr>
              <a:t>th (this)</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ذُرَة</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5"/>
                </a:solidFill>
              </a:rPr>
              <a:t>corn</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6"/>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ر</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Ra</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6"/>
                </a:solidFill>
              </a:rPr>
              <a:t>r</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رُمَّان</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6"/>
                </a:solidFill>
              </a:rPr>
              <a:t>pomegranate</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3"/>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ز</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Zay</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3"/>
                </a:solidFill>
              </a:rPr>
              <a:t>z</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زَرَافَة</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3"/>
                </a:solidFill>
              </a:rPr>
              <a:t>giraffe</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4"/>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س</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Seen</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4"/>
                </a:solidFill>
              </a:rPr>
              <a:t>s</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سَمَكَة</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4"/>
                </a:solidFill>
              </a:rPr>
              <a:t>fish</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15</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2"/>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ش</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Sheen</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2"/>
                </a:solidFill>
              </a:rPr>
              <a:t>sh</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شَمْس</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2"/>
                </a:solidFill>
              </a:rPr>
              <a:t>sun</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16</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5"/>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ص</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Sad</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5"/>
                </a:solidFill>
              </a:rPr>
              <a:t>s (heavy)</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صَقْر</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5"/>
                </a:solidFill>
              </a:rPr>
              <a:t>falcon</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17</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6"/>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ض</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Dad</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6"/>
                </a:solidFill>
              </a:rPr>
              <a:t>d (heavy)</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ضِفْدَع</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6"/>
                </a:solidFill>
              </a:rPr>
              <a:t>frog</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18</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3"/>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ط</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Ta</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3"/>
                </a:solidFill>
              </a:rPr>
              <a:t>t (heavy)</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طَائِر</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3"/>
                </a:solidFill>
              </a:rPr>
              <a:t>bird</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19</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4"/>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ظ</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Dha</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4"/>
                </a:solidFill>
              </a:rPr>
              <a:t>dh (heavy)</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ظَرْف</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4"/>
                </a:solidFill>
              </a:rPr>
              <a:t>envelope</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20</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2"/>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ع</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Ain</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2"/>
                </a:solidFill>
              </a:rPr>
              <a:t>'a (from throat)</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عِنَب</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2"/>
                </a:solidFill>
              </a:rPr>
              <a:t>grapes</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21</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5"/>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غ</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Ghain</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5"/>
                </a:solidFill>
              </a:rPr>
              <a:t>gh</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غَيْمَة</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5"/>
                </a:solidFill>
              </a:rPr>
              <a:t>cloud</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22</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6"/>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ف</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Fa</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6"/>
                </a:solidFill>
              </a:rPr>
              <a:t>f</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فِيل</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6"/>
                </a:solidFill>
              </a:rPr>
              <a:t>elephant</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3"/>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ق</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Qaf</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3"/>
                </a:solidFill>
              </a:rPr>
              <a:t>q (deep k)</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قَمَر</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3"/>
                </a:solidFill>
              </a:rPr>
              <a:t>moon</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4"/>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ك</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Kaf</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4"/>
                </a:solidFill>
              </a:rPr>
              <a:t>k</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كَلْب</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4"/>
                </a:solidFill>
              </a:rPr>
              <a:t>dog</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25</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2"/>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ل</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Lam</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2"/>
                </a:solidFill>
              </a:rPr>
              <a:t>l</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لَيْمُون</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2"/>
                </a:solidFill>
              </a:rPr>
              <a:t>lemon</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26</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5"/>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م</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Meem</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5"/>
                </a:solidFill>
              </a:rPr>
              <a:t>m</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مَوْز</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5"/>
                </a:solidFill>
              </a:rPr>
              <a:t>banana</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27</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6"/>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ن</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Noon</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6"/>
                </a:solidFill>
              </a:rPr>
              <a:t>n</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نَجْمَة</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6"/>
                </a:solidFill>
              </a:rPr>
              <a:t>star</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28</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3"/>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ه</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Ha</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3"/>
                </a:solidFill>
              </a:rPr>
              <a:t>h (soft)</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هِلَال</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3"/>
                </a:solidFill>
              </a:rPr>
              <a:t>crescent</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29</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etterCard"/>
          <p:cNvSpPr/>
          <p:nvPr/>
        </p:nvSpPr>
        <p:spPr>
          <a:xfrm>
            <a:off x="5120640" y="548640"/>
            <a:ext cx="3566160" cy="3840480"/>
          </a:xfrm>
          <a:prstGeom prst="roundRect">
            <a:avLst>
              <a:gd name="adj" fmla="val 7692"/>
            </a:avLst>
          </a:prstGeom>
          <a:solidFill>
            <a:schemeClr val="accent4"/>
          </a:solidFill>
          <a:ln/>
        </p:spPr>
      </p:sp>
      <p:sp>
        <p:nvSpPr>
          <p:cNvPr id="3" name="!!Letter"/>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و</a:t>
            </a:r>
            <a:endParaRPr lang="en-US" sz="17000" dirty="0"/>
          </a:p>
        </p:txBody>
      </p:sp>
      <p:sp>
        <p:nvSpPr>
          <p:cNvPr id="4" name="!!Name"/>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Waw</a:t>
            </a:r>
            <a:endParaRPr lang="en-US" sz="4800" dirty="0"/>
          </a:p>
        </p:txBody>
      </p:sp>
      <p:sp>
        <p:nvSpPr>
          <p:cNvPr id="5" name="!!Sound"/>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4"/>
                </a:solidFill>
              </a:rPr>
              <a:t>w</a:t>
            </a:r>
            <a:endParaRPr lang="en-US" sz="2200" dirty="0"/>
          </a:p>
        </p:txBody>
      </p:sp>
      <p:sp>
        <p:nvSpPr>
          <p:cNvPr id="6" name="!!WordCard"/>
          <p:cNvSpPr/>
          <p:nvPr/>
        </p:nvSpPr>
        <p:spPr>
          <a:xfrm>
            <a:off x="45720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5720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وَرْدَة</a:t>
            </a:r>
            <a:endParaRPr lang="en-US" sz="5400" dirty="0"/>
          </a:p>
        </p:txBody>
      </p:sp>
      <p:sp>
        <p:nvSpPr>
          <p:cNvPr id="8" name="!!Meaning"/>
          <p:cNvSpPr txBox="1"/>
          <p:nvPr/>
        </p:nvSpPr>
        <p:spPr>
          <a:xfrm>
            <a:off x="45720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4"/>
                </a:solidFill>
              </a:rPr>
              <a:t>rose</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30</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etterCard"/>
          <p:cNvSpPr/>
          <p:nvPr/>
        </p:nvSpPr>
        <p:spPr>
          <a:xfrm>
            <a:off x="457200" y="548640"/>
            <a:ext cx="3566160" cy="3840480"/>
          </a:xfrm>
          <a:prstGeom prst="roundRect">
            <a:avLst>
              <a:gd name="adj" fmla="val 7692"/>
            </a:avLst>
          </a:prstGeom>
          <a:solidFill>
            <a:schemeClr val="accent2"/>
          </a:solidFill>
          <a:ln/>
        </p:spPr>
      </p:sp>
      <p:sp>
        <p:nvSpPr>
          <p:cNvPr id="3" name="!!Letter"/>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7000" b="1" dirty="0">
                <a:solidFill>
                  <a:schemeClr val="bg1"/>
                </a:solidFill>
                <a:latin typeface="Arial" pitchFamily="34" charset="0"/>
                <a:ea typeface="Arial" pitchFamily="34" charset="-122"/>
                <a:cs typeface="Arial" pitchFamily="34" charset="-120"/>
              </a:rPr>
              <a:t>ي</a:t>
            </a:r>
            <a:endParaRPr lang="en-US" sz="17000" dirty="0"/>
          </a:p>
        </p:txBody>
      </p:sp>
      <p:sp>
        <p:nvSpPr>
          <p:cNvPr id="4" name="!!Name"/>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Ya</a:t>
            </a:r>
            <a:endParaRPr lang="en-US" sz="4800" dirty="0"/>
          </a:p>
        </p:txBody>
      </p:sp>
      <p:sp>
        <p:nvSpPr>
          <p:cNvPr id="5" name="!!Sound"/>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200" dirty="0">
                <a:solidFill>
                  <a:schemeClr val="tx1"/>
                </a:solidFill>
              </a:rPr>
              <a:t>Sounds like: </a:t>
            </a:r>
            <a:r>
              <a:rPr lang="en-US" sz="2200" b="1" dirty="0">
                <a:solidFill>
                  <a:schemeClr val="accent2"/>
                </a:solidFill>
              </a:rPr>
              <a:t>y</a:t>
            </a:r>
            <a:endParaRPr lang="en-US" sz="2200" dirty="0"/>
          </a:p>
        </p:txBody>
      </p:sp>
      <p:sp>
        <p:nvSpPr>
          <p:cNvPr id="6" name="!!WordCard"/>
          <p:cNvSpPr/>
          <p:nvPr/>
        </p:nvSpPr>
        <p:spPr>
          <a:xfrm>
            <a:off x="4754880" y="2286000"/>
            <a:ext cx="3566160" cy="2103120"/>
          </a:xfrm>
          <a:prstGeom prst="roundRect">
            <a:avLst>
              <a:gd name="adj" fmla="val 8696"/>
            </a:avLst>
          </a:prstGeom>
          <a:solidFill>
            <a:schemeClr val="bg1"/>
          </a:solidFill>
          <a:ln/>
          <a:effectLst>
            <a:outerShdw sx="100000" sy="100000" kx="0" ky="0" algn="bl" rotWithShape="0" blurRad="76200" dist="25400" dir="5400000">
              <a:srgbClr val="000000">
                <a:alpha val="15000"/>
              </a:srgbClr>
            </a:outerShdw>
          </a:effectLst>
        </p:spPr>
      </p:sp>
      <p:sp>
        <p:nvSpPr>
          <p:cNvPr id="7" name="!!Word"/>
          <p:cNvSpPr txBox="1"/>
          <p:nvPr/>
        </p:nvSpPr>
        <p:spPr>
          <a:xfrm>
            <a:off x="4754880" y="2423160"/>
            <a:ext cx="3566160" cy="1097280"/>
          </a:xfrm>
          <a:prstGeom prst="rect">
            <a:avLst/>
          </a:prstGeom>
          <a:no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يَد</a:t>
            </a:r>
            <a:endParaRPr lang="en-US" sz="5400" dirty="0"/>
          </a:p>
        </p:txBody>
      </p:sp>
      <p:sp>
        <p:nvSpPr>
          <p:cNvPr id="8" name="!!Meaning"/>
          <p:cNvSpPr txBox="1"/>
          <p:nvPr/>
        </p:nvSpPr>
        <p:spPr>
          <a:xfrm>
            <a:off x="4754880" y="3566160"/>
            <a:ext cx="3566160" cy="548640"/>
          </a:xfrm>
          <a:prstGeom prst="rect">
            <a:avLst/>
          </a:prstGeom>
          <a:noFill/>
          <a:ln/>
        </p:spPr>
        <p:txBody>
          <a:bodyPr wrap="square" lIns="0" tIns="0" rIns="0" bIns="0" rtlCol="0" anchor="ctr"/>
          <a:lstStyle/>
          <a:p>
            <a:pPr algn="ctr" indent="0" marL="0">
              <a:buNone/>
            </a:pPr>
            <a:r>
              <a:rPr lang="en-US" sz="2400" b="1" dirty="0">
                <a:solidFill>
                  <a:schemeClr val="accent2"/>
                </a:solidFill>
              </a:rPr>
              <a:t>hand</a:t>
            </a: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31</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Little Marks, Big Sounds</a:t>
            </a:r>
            <a:endParaRPr lang="en-US" sz="4000" dirty="0"/>
          </a:p>
        </p:txBody>
      </p:sp>
      <p:sp>
        <p:nvSpPr>
          <p:cNvPr id="3" name="Text 1"/>
          <p:cNvSpPr txBox="1"/>
          <p:nvPr/>
        </p:nvSpPr>
        <p:spPr>
          <a:xfrm>
            <a:off x="457200" y="1097280"/>
            <a:ext cx="8229600" cy="457200"/>
          </a:xfrm>
          <a:prstGeom prst="rect">
            <a:avLst/>
          </a:prstGeom>
          <a:noFill/>
          <a:ln/>
        </p:spPr>
        <p:txBody>
          <a:bodyPr wrap="square" lIns="0" tIns="0" rIns="0" bIns="0" rtlCol="0" anchor="ctr"/>
          <a:lstStyle/>
          <a:p>
            <a:pPr indent="0" marL="0">
              <a:buNone/>
            </a:pPr>
            <a:r>
              <a:rPr lang="en-US" sz="1800" dirty="0">
                <a:solidFill>
                  <a:schemeClr val="accent2"/>
                </a:solidFill>
              </a:rPr>
              <a:t>Tiny marks tell us how to say a letter. Let's try them on Ba.</a:t>
            </a:r>
            <a:endParaRPr lang="en-US" sz="1800" dirty="0"/>
          </a:p>
        </p:txBody>
      </p:sp>
      <p:sp>
        <p:nvSpPr>
          <p:cNvPr id="5" name="!!VowelCard0"/>
          <p:cNvSpPr/>
          <p:nvPr/>
        </p:nvSpPr>
        <p:spPr>
          <a:xfrm>
            <a:off x="457200" y="1828800"/>
            <a:ext cx="2560320" cy="2560320"/>
          </a:xfrm>
          <a:prstGeom prst="roundRect">
            <a:avLst>
              <a:gd name="adj" fmla="val 7143"/>
            </a:avLst>
          </a:prstGeom>
          <a:solidFill>
            <a:schemeClr val="bg1"/>
          </a:solidFill>
          <a:ln/>
        </p:spPr>
      </p:sp>
      <p:sp>
        <p:nvSpPr>
          <p:cNvPr id="6" name="!!Vowel0"/>
          <p:cNvSpPr txBox="1"/>
          <p:nvPr/>
        </p:nvSpPr>
        <p:spPr>
          <a:xfrm>
            <a:off x="457200" y="1920240"/>
            <a:ext cx="2560320" cy="1554480"/>
          </a:xfrm>
          <a:prstGeom prst="rect">
            <a:avLst/>
          </a:prstGeom>
          <a:noFill/>
          <a:ln/>
        </p:spPr>
        <p:txBody>
          <a:bodyPr wrap="square" lIns="0" tIns="0" rIns="0" bIns="0" rtlCol="0" anchor="ctr"/>
          <a:lstStyle/>
          <a:p>
            <a:pPr algn="ctr" indent="0" marL="0">
              <a:buNone/>
            </a:pPr>
            <a:r>
              <a:rPr lang="en-US" sz="9000" b="1" dirty="0">
                <a:solidFill>
                  <a:schemeClr val="accent3"/>
                </a:solidFill>
                <a:latin typeface="Arial" pitchFamily="34" charset="0"/>
                <a:ea typeface="Arial" pitchFamily="34" charset="-122"/>
                <a:cs typeface="Arial" pitchFamily="34" charset="-120"/>
              </a:rPr>
              <a:t>بَ</a:t>
            </a:r>
            <a:endParaRPr lang="en-US" sz="9000" dirty="0"/>
          </a:p>
        </p:txBody>
      </p:sp>
      <p:sp>
        <p:nvSpPr>
          <p:cNvPr id="7" name="Text 4"/>
          <p:cNvSpPr txBox="1"/>
          <p:nvPr/>
        </p:nvSpPr>
        <p:spPr>
          <a:xfrm>
            <a:off x="457200" y="3520440"/>
            <a:ext cx="2560320" cy="457200"/>
          </a:xfrm>
          <a:prstGeom prst="rect">
            <a:avLst/>
          </a:prstGeom>
          <a:noFill/>
          <a:ln/>
        </p:spPr>
        <p:txBody>
          <a:bodyPr wrap="square" lIns="0" tIns="0" rIns="0" bIns="0" rtlCol="0" anchor="ctr"/>
          <a:lstStyle/>
          <a:p>
            <a:pPr algn="ctr" indent="0" marL="0">
              <a:buNone/>
            </a:pPr>
            <a:r>
              <a:rPr lang="en-US" sz="2800" b="1" dirty="0">
                <a:solidFill>
                  <a:schemeClr val="tx1"/>
                </a:solidFill>
              </a:rPr>
              <a:t>ba</a:t>
            </a:r>
            <a:endParaRPr lang="en-US" sz="2800" dirty="0"/>
          </a:p>
        </p:txBody>
      </p:sp>
      <p:sp>
        <p:nvSpPr>
          <p:cNvPr id="8" name="Text 5"/>
          <p:cNvSpPr txBox="1"/>
          <p:nvPr/>
        </p:nvSpPr>
        <p:spPr>
          <a:xfrm>
            <a:off x="457200" y="3931920"/>
            <a:ext cx="2560320" cy="365760"/>
          </a:xfrm>
          <a:prstGeom prst="rect">
            <a:avLst/>
          </a:prstGeom>
          <a:noFill/>
          <a:ln/>
        </p:spPr>
        <p:txBody>
          <a:bodyPr wrap="square" lIns="0" tIns="0" rIns="0" bIns="0" rtlCol="0" anchor="ctr"/>
          <a:lstStyle/>
          <a:p>
            <a:pPr algn="ctr" indent="0" marL="0">
              <a:buNone/>
            </a:pPr>
            <a:r>
              <a:rPr lang="en-US" sz="1600" dirty="0">
                <a:solidFill>
                  <a:schemeClr val="tx1"/>
                </a:solidFill>
              </a:rPr>
              <a:t>Fatha</a:t>
            </a:r>
            <a:endParaRPr lang="en-US" sz="1600" dirty="0"/>
          </a:p>
        </p:txBody>
      </p:sp>
      <p:sp>
        <p:nvSpPr>
          <p:cNvPr id="9" name="!!VowelCard1"/>
          <p:cNvSpPr/>
          <p:nvPr/>
        </p:nvSpPr>
        <p:spPr>
          <a:xfrm>
            <a:off x="3291840" y="1828800"/>
            <a:ext cx="2560320" cy="2560320"/>
          </a:xfrm>
          <a:prstGeom prst="roundRect">
            <a:avLst>
              <a:gd name="adj" fmla="val 7143"/>
            </a:avLst>
          </a:prstGeom>
          <a:solidFill>
            <a:schemeClr val="bg1"/>
          </a:solidFill>
          <a:ln/>
        </p:spPr>
      </p:sp>
      <p:sp>
        <p:nvSpPr>
          <p:cNvPr id="10" name="!!Vowel1"/>
          <p:cNvSpPr txBox="1"/>
          <p:nvPr/>
        </p:nvSpPr>
        <p:spPr>
          <a:xfrm>
            <a:off x="3291840" y="1920240"/>
            <a:ext cx="2560320" cy="1554480"/>
          </a:xfrm>
          <a:prstGeom prst="rect">
            <a:avLst/>
          </a:prstGeom>
          <a:noFill/>
          <a:ln/>
        </p:spPr>
        <p:txBody>
          <a:bodyPr wrap="square" lIns="0" tIns="0" rIns="0" bIns="0" rtlCol="0" anchor="ctr"/>
          <a:lstStyle/>
          <a:p>
            <a:pPr algn="ctr" indent="0" marL="0">
              <a:buNone/>
            </a:pPr>
            <a:r>
              <a:rPr lang="en-US" sz="9000" b="1" dirty="0">
                <a:solidFill>
                  <a:schemeClr val="accent4"/>
                </a:solidFill>
                <a:latin typeface="Arial" pitchFamily="34" charset="0"/>
                <a:ea typeface="Arial" pitchFamily="34" charset="-122"/>
                <a:cs typeface="Arial" pitchFamily="34" charset="-120"/>
              </a:rPr>
              <a:t>بِ</a:t>
            </a:r>
            <a:endParaRPr lang="en-US" sz="9000" dirty="0"/>
          </a:p>
        </p:txBody>
      </p:sp>
      <p:sp>
        <p:nvSpPr>
          <p:cNvPr id="11" name="Text 8"/>
          <p:cNvSpPr txBox="1"/>
          <p:nvPr/>
        </p:nvSpPr>
        <p:spPr>
          <a:xfrm>
            <a:off x="3291840" y="3520440"/>
            <a:ext cx="2560320" cy="457200"/>
          </a:xfrm>
          <a:prstGeom prst="rect">
            <a:avLst/>
          </a:prstGeom>
          <a:noFill/>
          <a:ln/>
        </p:spPr>
        <p:txBody>
          <a:bodyPr wrap="square" lIns="0" tIns="0" rIns="0" bIns="0" rtlCol="0" anchor="ctr"/>
          <a:lstStyle/>
          <a:p>
            <a:pPr algn="ctr" indent="0" marL="0">
              <a:buNone/>
            </a:pPr>
            <a:r>
              <a:rPr lang="en-US" sz="2800" b="1" dirty="0">
                <a:solidFill>
                  <a:schemeClr val="tx1"/>
                </a:solidFill>
              </a:rPr>
              <a:t>bi</a:t>
            </a:r>
            <a:endParaRPr lang="en-US" sz="2800" dirty="0"/>
          </a:p>
        </p:txBody>
      </p:sp>
      <p:sp>
        <p:nvSpPr>
          <p:cNvPr id="12" name="Text 9"/>
          <p:cNvSpPr txBox="1"/>
          <p:nvPr/>
        </p:nvSpPr>
        <p:spPr>
          <a:xfrm>
            <a:off x="3291840" y="3931920"/>
            <a:ext cx="2560320" cy="365760"/>
          </a:xfrm>
          <a:prstGeom prst="rect">
            <a:avLst/>
          </a:prstGeom>
          <a:noFill/>
          <a:ln/>
        </p:spPr>
        <p:txBody>
          <a:bodyPr wrap="square" lIns="0" tIns="0" rIns="0" bIns="0" rtlCol="0" anchor="ctr"/>
          <a:lstStyle/>
          <a:p>
            <a:pPr algn="ctr" indent="0" marL="0">
              <a:buNone/>
            </a:pPr>
            <a:r>
              <a:rPr lang="en-US" sz="1600" dirty="0">
                <a:solidFill>
                  <a:schemeClr val="tx1"/>
                </a:solidFill>
              </a:rPr>
              <a:t>Kasra</a:t>
            </a:r>
            <a:endParaRPr lang="en-US" sz="1600" dirty="0"/>
          </a:p>
        </p:txBody>
      </p:sp>
      <p:sp>
        <p:nvSpPr>
          <p:cNvPr id="13" name="!!VowelCard2"/>
          <p:cNvSpPr/>
          <p:nvPr/>
        </p:nvSpPr>
        <p:spPr>
          <a:xfrm>
            <a:off x="6126480" y="1828800"/>
            <a:ext cx="2560320" cy="2560320"/>
          </a:xfrm>
          <a:prstGeom prst="roundRect">
            <a:avLst>
              <a:gd name="adj" fmla="val 7143"/>
            </a:avLst>
          </a:prstGeom>
          <a:solidFill>
            <a:schemeClr val="bg1"/>
          </a:solidFill>
          <a:ln/>
        </p:spPr>
      </p:sp>
      <p:sp>
        <p:nvSpPr>
          <p:cNvPr id="14" name="!!Vowel2"/>
          <p:cNvSpPr txBox="1"/>
          <p:nvPr/>
        </p:nvSpPr>
        <p:spPr>
          <a:xfrm>
            <a:off x="6126480" y="1920240"/>
            <a:ext cx="2560320" cy="1554480"/>
          </a:xfrm>
          <a:prstGeom prst="rect">
            <a:avLst/>
          </a:prstGeom>
          <a:noFill/>
          <a:ln/>
        </p:spPr>
        <p:txBody>
          <a:bodyPr wrap="square" lIns="0" tIns="0" rIns="0" bIns="0" rtlCol="0" anchor="ctr"/>
          <a:lstStyle/>
          <a:p>
            <a:pPr algn="ctr" indent="0" marL="0">
              <a:buNone/>
            </a:pPr>
            <a:r>
              <a:rPr lang="en-US" sz="9000" b="1" dirty="0">
                <a:solidFill>
                  <a:schemeClr val="accent2"/>
                </a:solidFill>
                <a:latin typeface="Arial" pitchFamily="34" charset="0"/>
                <a:ea typeface="Arial" pitchFamily="34" charset="-122"/>
                <a:cs typeface="Arial" pitchFamily="34" charset="-120"/>
              </a:rPr>
              <a:t>بُ</a:t>
            </a:r>
            <a:endParaRPr lang="en-US" sz="9000" dirty="0"/>
          </a:p>
        </p:txBody>
      </p:sp>
      <p:sp>
        <p:nvSpPr>
          <p:cNvPr id="15" name="Text 12"/>
          <p:cNvSpPr txBox="1"/>
          <p:nvPr/>
        </p:nvSpPr>
        <p:spPr>
          <a:xfrm>
            <a:off x="6126480" y="3520440"/>
            <a:ext cx="2560320" cy="457200"/>
          </a:xfrm>
          <a:prstGeom prst="rect">
            <a:avLst/>
          </a:prstGeom>
          <a:noFill/>
          <a:ln/>
        </p:spPr>
        <p:txBody>
          <a:bodyPr wrap="square" lIns="0" tIns="0" rIns="0" bIns="0" rtlCol="0" anchor="ctr"/>
          <a:lstStyle/>
          <a:p>
            <a:pPr algn="ctr" indent="0" marL="0">
              <a:buNone/>
            </a:pPr>
            <a:r>
              <a:rPr lang="en-US" sz="2800" b="1" dirty="0">
                <a:solidFill>
                  <a:schemeClr val="tx1"/>
                </a:solidFill>
              </a:rPr>
              <a:t>bu</a:t>
            </a:r>
            <a:endParaRPr lang="en-US" sz="2800" dirty="0"/>
          </a:p>
        </p:txBody>
      </p:sp>
      <p:sp>
        <p:nvSpPr>
          <p:cNvPr id="16" name="Text 13"/>
          <p:cNvSpPr txBox="1"/>
          <p:nvPr/>
        </p:nvSpPr>
        <p:spPr>
          <a:xfrm>
            <a:off x="6126480" y="3931920"/>
            <a:ext cx="2560320" cy="365760"/>
          </a:xfrm>
          <a:prstGeom prst="rect">
            <a:avLst/>
          </a:prstGeom>
          <a:noFill/>
          <a:ln/>
        </p:spPr>
        <p:txBody>
          <a:bodyPr wrap="square" lIns="0" tIns="0" rIns="0" bIns="0" rtlCol="0" anchor="ctr"/>
          <a:lstStyle/>
          <a:p>
            <a:pPr algn="ctr" indent="0" marL="0">
              <a:buNone/>
            </a:pPr>
            <a:r>
              <a:rPr lang="en-US" sz="1600" dirty="0">
                <a:solidFill>
                  <a:schemeClr val="tx1"/>
                </a:solidFill>
              </a:rPr>
              <a:t>Damma</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VowelCard0"/>
          <p:cNvSpPr/>
          <p:nvPr/>
        </p:nvSpPr>
        <p:spPr>
          <a:xfrm>
            <a:off x="457200" y="548640"/>
            <a:ext cx="3566160" cy="3840480"/>
          </a:xfrm>
          <a:prstGeom prst="roundRect">
            <a:avLst>
              <a:gd name="adj" fmla="val 7692"/>
            </a:avLst>
          </a:prstGeom>
          <a:solidFill>
            <a:schemeClr val="accent3"/>
          </a:solidFill>
          <a:ln/>
        </p:spPr>
      </p:sp>
      <p:sp>
        <p:nvSpPr>
          <p:cNvPr id="3" name="!!Vowel0"/>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5000" b="1" dirty="0">
                <a:solidFill>
                  <a:schemeClr val="bg1"/>
                </a:solidFill>
                <a:latin typeface="Arial" pitchFamily="34" charset="0"/>
                <a:ea typeface="Arial" pitchFamily="34" charset="-122"/>
                <a:cs typeface="Arial" pitchFamily="34" charset="-120"/>
              </a:rPr>
              <a:t>بَ</a:t>
            </a:r>
            <a:endParaRPr lang="en-US" sz="15000" dirty="0"/>
          </a:p>
        </p:txBody>
      </p:sp>
      <p:sp>
        <p:nvSpPr>
          <p:cNvPr id="4" name="Text 2"/>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Fatha</a:t>
            </a:r>
            <a:endParaRPr lang="en-US" sz="4400" dirty="0"/>
          </a:p>
        </p:txBody>
      </p:sp>
      <p:sp>
        <p:nvSpPr>
          <p:cNvPr id="5" name="Text 3"/>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400" b="1" dirty="0">
                <a:solidFill>
                  <a:schemeClr val="accent3"/>
                </a:solidFill>
              </a:rPr>
              <a:t>Says: ba</a:t>
            </a:r>
            <a:endParaRPr lang="en-US" sz="2400" dirty="0"/>
          </a:p>
        </p:txBody>
      </p:sp>
      <p:sp>
        <p:nvSpPr>
          <p:cNvPr id="6" name="Text 4"/>
          <p:cNvSpPr txBox="1"/>
          <p:nvPr/>
        </p:nvSpPr>
        <p:spPr>
          <a:xfrm>
            <a:off x="4754880" y="2286000"/>
            <a:ext cx="3566160" cy="1097280"/>
          </a:xfrm>
          <a:prstGeom prst="rect">
            <a:avLst/>
          </a:prstGeom>
          <a:noFill/>
          <a:ln/>
        </p:spPr>
        <p:txBody>
          <a:bodyPr wrap="square" lIns="0" tIns="0" rIns="0" bIns="0" rtlCol="0" anchor="t"/>
          <a:lstStyle/>
          <a:p>
            <a:pPr indent="0" marL="0">
              <a:buNone/>
            </a:pPr>
            <a:r>
              <a:rPr lang="en-US" sz="2000" dirty="0">
                <a:solidFill>
                  <a:schemeClr val="tx1"/>
                </a:solidFill>
              </a:rPr>
              <a:t>Look: a small slash ABOVE the letter makes an 'a' sound</a:t>
            </a:r>
            <a:endParaRPr lang="en-US" sz="2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VowelCard1"/>
          <p:cNvSpPr/>
          <p:nvPr/>
        </p:nvSpPr>
        <p:spPr>
          <a:xfrm>
            <a:off x="5120640" y="548640"/>
            <a:ext cx="3566160" cy="3840480"/>
          </a:xfrm>
          <a:prstGeom prst="roundRect">
            <a:avLst>
              <a:gd name="adj" fmla="val 7692"/>
            </a:avLst>
          </a:prstGeom>
          <a:solidFill>
            <a:schemeClr val="accent4"/>
          </a:solidFill>
          <a:ln/>
        </p:spPr>
      </p:sp>
      <p:sp>
        <p:nvSpPr>
          <p:cNvPr id="3" name="!!Vowel1"/>
          <p:cNvSpPr txBox="1"/>
          <p:nvPr/>
        </p:nvSpPr>
        <p:spPr>
          <a:xfrm>
            <a:off x="5120640" y="548640"/>
            <a:ext cx="3566160" cy="3840480"/>
          </a:xfrm>
          <a:prstGeom prst="rect">
            <a:avLst/>
          </a:prstGeom>
          <a:noFill/>
          <a:ln/>
        </p:spPr>
        <p:txBody>
          <a:bodyPr wrap="square" lIns="0" tIns="0" rIns="0" bIns="0" rtlCol="0" anchor="ctr"/>
          <a:lstStyle/>
          <a:p>
            <a:pPr algn="ctr" indent="0" marL="0">
              <a:buNone/>
            </a:pPr>
            <a:r>
              <a:rPr lang="en-US" sz="15000" b="1" dirty="0">
                <a:solidFill>
                  <a:schemeClr val="bg1"/>
                </a:solidFill>
                <a:latin typeface="Arial" pitchFamily="34" charset="0"/>
                <a:ea typeface="Arial" pitchFamily="34" charset="-122"/>
                <a:cs typeface="Arial" pitchFamily="34" charset="-120"/>
              </a:rPr>
              <a:t>بِ</a:t>
            </a:r>
            <a:endParaRPr lang="en-US" sz="15000" dirty="0"/>
          </a:p>
        </p:txBody>
      </p:sp>
      <p:sp>
        <p:nvSpPr>
          <p:cNvPr id="4" name="Text 2"/>
          <p:cNvSpPr txBox="1"/>
          <p:nvPr/>
        </p:nvSpPr>
        <p:spPr>
          <a:xfrm>
            <a:off x="457200" y="640080"/>
            <a:ext cx="3566160" cy="82296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Kasra</a:t>
            </a:r>
            <a:endParaRPr lang="en-US" sz="4400" dirty="0"/>
          </a:p>
        </p:txBody>
      </p:sp>
      <p:sp>
        <p:nvSpPr>
          <p:cNvPr id="5" name="Text 3"/>
          <p:cNvSpPr txBox="1"/>
          <p:nvPr/>
        </p:nvSpPr>
        <p:spPr>
          <a:xfrm>
            <a:off x="457200" y="1508760"/>
            <a:ext cx="3566160" cy="457200"/>
          </a:xfrm>
          <a:prstGeom prst="rect">
            <a:avLst/>
          </a:prstGeom>
          <a:noFill/>
          <a:ln/>
        </p:spPr>
        <p:txBody>
          <a:bodyPr wrap="square" lIns="0" tIns="0" rIns="0" bIns="0" rtlCol="0" anchor="ctr"/>
          <a:lstStyle/>
          <a:p>
            <a:pPr indent="0" marL="0">
              <a:buNone/>
            </a:pPr>
            <a:r>
              <a:rPr lang="en-US" sz="2400" b="1" dirty="0">
                <a:solidFill>
                  <a:schemeClr val="accent4"/>
                </a:solidFill>
              </a:rPr>
              <a:t>Says: bi</a:t>
            </a:r>
            <a:endParaRPr lang="en-US" sz="2400" dirty="0"/>
          </a:p>
        </p:txBody>
      </p:sp>
      <p:sp>
        <p:nvSpPr>
          <p:cNvPr id="6" name="Text 4"/>
          <p:cNvSpPr txBox="1"/>
          <p:nvPr/>
        </p:nvSpPr>
        <p:spPr>
          <a:xfrm>
            <a:off x="457200" y="2286000"/>
            <a:ext cx="3566160" cy="1097280"/>
          </a:xfrm>
          <a:prstGeom prst="rect">
            <a:avLst/>
          </a:prstGeom>
          <a:noFill/>
          <a:ln/>
        </p:spPr>
        <p:txBody>
          <a:bodyPr wrap="square" lIns="0" tIns="0" rIns="0" bIns="0" rtlCol="0" anchor="t"/>
          <a:lstStyle/>
          <a:p>
            <a:pPr indent="0" marL="0">
              <a:buNone/>
            </a:pPr>
            <a:r>
              <a:rPr lang="en-US" sz="2000" dirty="0">
                <a:solidFill>
                  <a:schemeClr val="tx1"/>
                </a:solidFill>
              </a:rPr>
              <a:t>Look: a small slash BELOW the letter makes an 'i' sound</a:t>
            </a:r>
            <a:endParaRPr lang="en-US" sz="2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VowelCard2"/>
          <p:cNvSpPr/>
          <p:nvPr/>
        </p:nvSpPr>
        <p:spPr>
          <a:xfrm>
            <a:off x="457200" y="548640"/>
            <a:ext cx="3566160" cy="3840480"/>
          </a:xfrm>
          <a:prstGeom prst="roundRect">
            <a:avLst>
              <a:gd name="adj" fmla="val 7692"/>
            </a:avLst>
          </a:prstGeom>
          <a:solidFill>
            <a:schemeClr val="accent2"/>
          </a:solidFill>
          <a:ln/>
        </p:spPr>
      </p:sp>
      <p:sp>
        <p:nvSpPr>
          <p:cNvPr id="3" name="!!Vowel2"/>
          <p:cNvSpPr txBox="1"/>
          <p:nvPr/>
        </p:nvSpPr>
        <p:spPr>
          <a:xfrm>
            <a:off x="457200" y="548640"/>
            <a:ext cx="3566160" cy="3840480"/>
          </a:xfrm>
          <a:prstGeom prst="rect">
            <a:avLst/>
          </a:prstGeom>
          <a:noFill/>
          <a:ln/>
        </p:spPr>
        <p:txBody>
          <a:bodyPr wrap="square" lIns="0" tIns="0" rIns="0" bIns="0" rtlCol="0" anchor="ctr"/>
          <a:lstStyle/>
          <a:p>
            <a:pPr algn="ctr" indent="0" marL="0">
              <a:buNone/>
            </a:pPr>
            <a:r>
              <a:rPr lang="en-US" sz="15000" b="1" dirty="0">
                <a:solidFill>
                  <a:schemeClr val="bg1"/>
                </a:solidFill>
                <a:latin typeface="Arial" pitchFamily="34" charset="0"/>
                <a:ea typeface="Arial" pitchFamily="34" charset="-122"/>
                <a:cs typeface="Arial" pitchFamily="34" charset="-120"/>
              </a:rPr>
              <a:t>بُ</a:t>
            </a:r>
            <a:endParaRPr lang="en-US" sz="15000" dirty="0"/>
          </a:p>
        </p:txBody>
      </p:sp>
      <p:sp>
        <p:nvSpPr>
          <p:cNvPr id="4" name="Text 2"/>
          <p:cNvSpPr txBox="1"/>
          <p:nvPr/>
        </p:nvSpPr>
        <p:spPr>
          <a:xfrm>
            <a:off x="4754880" y="640080"/>
            <a:ext cx="3566160" cy="82296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Damma</a:t>
            </a:r>
            <a:endParaRPr lang="en-US" sz="4400" dirty="0"/>
          </a:p>
        </p:txBody>
      </p:sp>
      <p:sp>
        <p:nvSpPr>
          <p:cNvPr id="5" name="Text 3"/>
          <p:cNvSpPr txBox="1"/>
          <p:nvPr/>
        </p:nvSpPr>
        <p:spPr>
          <a:xfrm>
            <a:off x="4754880" y="1508760"/>
            <a:ext cx="3566160" cy="457200"/>
          </a:xfrm>
          <a:prstGeom prst="rect">
            <a:avLst/>
          </a:prstGeom>
          <a:noFill/>
          <a:ln/>
        </p:spPr>
        <p:txBody>
          <a:bodyPr wrap="square" lIns="0" tIns="0" rIns="0" bIns="0" rtlCol="0" anchor="ctr"/>
          <a:lstStyle/>
          <a:p>
            <a:pPr indent="0" marL="0">
              <a:buNone/>
            </a:pPr>
            <a:r>
              <a:rPr lang="en-US" sz="2400" b="1" dirty="0">
                <a:solidFill>
                  <a:schemeClr val="accent2"/>
                </a:solidFill>
              </a:rPr>
              <a:t>Says: bu</a:t>
            </a:r>
            <a:endParaRPr lang="en-US" sz="2400" dirty="0"/>
          </a:p>
        </p:txBody>
      </p:sp>
      <p:sp>
        <p:nvSpPr>
          <p:cNvPr id="6" name="Text 4"/>
          <p:cNvSpPr txBox="1"/>
          <p:nvPr/>
        </p:nvSpPr>
        <p:spPr>
          <a:xfrm>
            <a:off x="4754880" y="2286000"/>
            <a:ext cx="3566160" cy="1097280"/>
          </a:xfrm>
          <a:prstGeom prst="rect">
            <a:avLst/>
          </a:prstGeom>
          <a:noFill/>
          <a:ln/>
        </p:spPr>
        <p:txBody>
          <a:bodyPr wrap="square" lIns="0" tIns="0" rIns="0" bIns="0" rtlCol="0" anchor="t"/>
          <a:lstStyle/>
          <a:p>
            <a:pPr indent="0" marL="0">
              <a:buNone/>
            </a:pPr>
            <a:r>
              <a:rPr lang="en-US" sz="2000" dirty="0">
                <a:solidFill>
                  <a:schemeClr val="tx1"/>
                </a:solidFill>
              </a:rPr>
              <a:t>Look: a little loop ABOVE the letter makes a 'u' sound</a:t>
            </a:r>
            <a:endParaRPr lang="en-US" sz="2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35</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itle"/>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Mystery Letter Game</a:t>
            </a:r>
            <a:endParaRPr lang="en-US" sz="3600" dirty="0"/>
          </a:p>
        </p:txBody>
      </p:sp>
      <p:sp>
        <p:nvSpPr>
          <p:cNvPr id="3" name="Bubble0"/>
          <p:cNvSpPr/>
          <p:nvPr/>
        </p:nvSpPr>
        <p:spPr>
          <a:xfrm>
            <a:off x="731520" y="1371600"/>
            <a:ext cx="1463040" cy="1463040"/>
          </a:xfrm>
          <a:prstGeom prst="ellipse">
            <a:avLst/>
          </a:prstGeom>
          <a:solidFill>
            <a:schemeClr val="accent3"/>
          </a:solidFill>
          <a:ln/>
        </p:spPr>
      </p:sp>
      <p:sp>
        <p:nvSpPr>
          <p:cNvPr id="4" name="Text 2"/>
          <p:cNvSpPr txBox="1"/>
          <p:nvPr/>
        </p:nvSpPr>
        <p:spPr>
          <a:xfrm>
            <a:off x="731520" y="1371600"/>
            <a:ext cx="1463040" cy="1463040"/>
          </a:xfrm>
          <a:prstGeom prst="rect">
            <a:avLst/>
          </a:prstGeom>
          <a:noFill/>
          <a:ln/>
        </p:spPr>
        <p:txBody>
          <a:bodyPr wrap="square" lIns="0" tIns="0" rIns="0" bIns="0" rtlCol="0" anchor="ctr"/>
          <a:lstStyle/>
          <a:p>
            <a:pPr algn="ctr" indent="0" marL="0">
              <a:buNone/>
            </a:pPr>
            <a:r>
              <a:rPr lang="en-US" sz="6400" b="1" dirty="0">
                <a:solidFill>
                  <a:schemeClr val="bg1"/>
                </a:solidFill>
              </a:rPr>
              <a:t>?</a:t>
            </a:r>
            <a:endParaRPr lang="en-US" sz="6400" dirty="0"/>
          </a:p>
        </p:txBody>
      </p:sp>
      <p:sp>
        <p:nvSpPr>
          <p:cNvPr id="5" name="Text 3"/>
          <p:cNvSpPr txBox="1"/>
          <p:nvPr/>
        </p:nvSpPr>
        <p:spPr>
          <a:xfrm>
            <a:off x="457200" y="3017520"/>
            <a:ext cx="2103120" cy="914400"/>
          </a:xfrm>
          <a:prstGeom prst="rect">
            <a:avLst/>
          </a:prstGeom>
          <a:noFill/>
          <a:ln/>
        </p:spPr>
        <p:txBody>
          <a:bodyPr wrap="square" lIns="0" tIns="0" rIns="0" bIns="0" rtlCol="0" anchor="t"/>
          <a:lstStyle/>
          <a:p>
            <a:pPr algn="ctr" indent="0" marL="0">
              <a:buNone/>
            </a:pPr>
            <a:r>
              <a:rPr lang="en-US" sz="1600" dirty="0">
                <a:solidFill>
                  <a:schemeClr val="tx1"/>
                </a:solidFill>
              </a:rPr>
              <a:t>Which letter says 'b' like in duck?</a:t>
            </a:r>
            <a:endParaRPr lang="en-US" sz="1600" dirty="0"/>
          </a:p>
        </p:txBody>
      </p:sp>
      <p:sp>
        <p:nvSpPr>
          <p:cNvPr id="6" name="Bubble1"/>
          <p:cNvSpPr/>
          <p:nvPr/>
        </p:nvSpPr>
        <p:spPr>
          <a:xfrm>
            <a:off x="3474720" y="1371600"/>
            <a:ext cx="1463040" cy="1463040"/>
          </a:xfrm>
          <a:prstGeom prst="ellipse">
            <a:avLst/>
          </a:prstGeom>
          <a:solidFill>
            <a:schemeClr val="accent4"/>
          </a:solidFill>
          <a:ln/>
        </p:spPr>
      </p:sp>
      <p:sp>
        <p:nvSpPr>
          <p:cNvPr id="7" name="Text 5"/>
          <p:cNvSpPr txBox="1"/>
          <p:nvPr/>
        </p:nvSpPr>
        <p:spPr>
          <a:xfrm>
            <a:off x="3474720" y="1371600"/>
            <a:ext cx="1463040" cy="1463040"/>
          </a:xfrm>
          <a:prstGeom prst="rect">
            <a:avLst/>
          </a:prstGeom>
          <a:noFill/>
          <a:ln/>
        </p:spPr>
        <p:txBody>
          <a:bodyPr wrap="square" lIns="0" tIns="0" rIns="0" bIns="0" rtlCol="0" anchor="ctr"/>
          <a:lstStyle/>
          <a:p>
            <a:pPr algn="ctr" indent="0" marL="0">
              <a:buNone/>
            </a:pPr>
            <a:r>
              <a:rPr lang="en-US" sz="6400" b="1" dirty="0">
                <a:solidFill>
                  <a:schemeClr val="bg1"/>
                </a:solidFill>
              </a:rPr>
              <a:t>?</a:t>
            </a:r>
            <a:endParaRPr lang="en-US" sz="6400" dirty="0"/>
          </a:p>
        </p:txBody>
      </p:sp>
      <p:sp>
        <p:nvSpPr>
          <p:cNvPr id="8" name="Text 6"/>
          <p:cNvSpPr txBox="1"/>
          <p:nvPr/>
        </p:nvSpPr>
        <p:spPr>
          <a:xfrm>
            <a:off x="3200400" y="3017520"/>
            <a:ext cx="2103120" cy="914400"/>
          </a:xfrm>
          <a:prstGeom prst="rect">
            <a:avLst/>
          </a:prstGeom>
          <a:noFill/>
          <a:ln/>
        </p:spPr>
        <p:txBody>
          <a:bodyPr wrap="square" lIns="0" tIns="0" rIns="0" bIns="0" rtlCol="0" anchor="t"/>
          <a:lstStyle/>
          <a:p>
            <a:pPr algn="ctr" indent="0" marL="0">
              <a:buNone/>
            </a:pPr>
            <a:r>
              <a:rPr lang="en-US" sz="1600" dirty="0">
                <a:solidFill>
                  <a:schemeClr val="tx1"/>
                </a:solidFill>
              </a:rPr>
              <a:t>Which letter says 'm' like in moon?</a:t>
            </a:r>
            <a:endParaRPr lang="en-US" sz="1600" dirty="0"/>
          </a:p>
        </p:txBody>
      </p:sp>
      <p:sp>
        <p:nvSpPr>
          <p:cNvPr id="9" name="Bubble2"/>
          <p:cNvSpPr/>
          <p:nvPr/>
        </p:nvSpPr>
        <p:spPr>
          <a:xfrm>
            <a:off x="6217920" y="1371600"/>
            <a:ext cx="1463040" cy="1463040"/>
          </a:xfrm>
          <a:prstGeom prst="ellipse">
            <a:avLst/>
          </a:prstGeom>
          <a:solidFill>
            <a:schemeClr val="accent2"/>
          </a:solidFill>
          <a:ln/>
        </p:spPr>
      </p:sp>
      <p:sp>
        <p:nvSpPr>
          <p:cNvPr id="10" name="Text 8"/>
          <p:cNvSpPr txBox="1"/>
          <p:nvPr/>
        </p:nvSpPr>
        <p:spPr>
          <a:xfrm>
            <a:off x="6217920" y="1371600"/>
            <a:ext cx="1463040" cy="1463040"/>
          </a:xfrm>
          <a:prstGeom prst="rect">
            <a:avLst/>
          </a:prstGeom>
          <a:noFill/>
          <a:ln/>
        </p:spPr>
        <p:txBody>
          <a:bodyPr wrap="square" lIns="0" tIns="0" rIns="0" bIns="0" rtlCol="0" anchor="ctr"/>
          <a:lstStyle/>
          <a:p>
            <a:pPr algn="ctr" indent="0" marL="0">
              <a:buNone/>
            </a:pPr>
            <a:r>
              <a:rPr lang="en-US" sz="6400" b="1" dirty="0">
                <a:solidFill>
                  <a:schemeClr val="bg1"/>
                </a:solidFill>
              </a:rPr>
              <a:t>?</a:t>
            </a:r>
            <a:endParaRPr lang="en-US" sz="6400" dirty="0"/>
          </a:p>
        </p:txBody>
      </p:sp>
      <p:sp>
        <p:nvSpPr>
          <p:cNvPr id="11" name="Text 9"/>
          <p:cNvSpPr txBox="1"/>
          <p:nvPr/>
        </p:nvSpPr>
        <p:spPr>
          <a:xfrm>
            <a:off x="5943600" y="3017520"/>
            <a:ext cx="2103120" cy="914400"/>
          </a:xfrm>
          <a:prstGeom prst="rect">
            <a:avLst/>
          </a:prstGeom>
          <a:noFill/>
          <a:ln/>
        </p:spPr>
        <p:txBody>
          <a:bodyPr wrap="square" lIns="0" tIns="0" rIns="0" bIns="0" rtlCol="0" anchor="t"/>
          <a:lstStyle/>
          <a:p>
            <a:pPr algn="ctr" indent="0" marL="0">
              <a:buNone/>
            </a:pPr>
            <a:r>
              <a:rPr lang="en-US" sz="1600" dirty="0">
                <a:solidFill>
                  <a:schemeClr val="tx1"/>
                </a:solidFill>
              </a:rPr>
              <a:t>Which letter says 'n' like in star?</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36</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Moon"/>
          <p:cNvSpPr/>
          <p:nvPr/>
        </p:nvSpPr>
        <p:spPr>
          <a:xfrm>
            <a:off x="5760720" y="640080"/>
            <a:ext cx="3017520" cy="3017520"/>
          </a:xfrm>
          <a:prstGeom prst="ellipse">
            <a:avLst/>
          </a:prstGeom>
          <a:solidFill>
            <a:schemeClr val="accent2"/>
          </a:solidFill>
          <a:ln/>
        </p:spPr>
      </p:sp>
      <p:sp>
        <p:nvSpPr>
          <p:cNvPr id="3" name="!!Letter"/>
          <p:cNvSpPr txBox="1"/>
          <p:nvPr/>
        </p:nvSpPr>
        <p:spPr>
          <a:xfrm>
            <a:off x="5760720" y="640080"/>
            <a:ext cx="3017520" cy="3017520"/>
          </a:xfrm>
          <a:prstGeom prst="rect">
            <a:avLst/>
          </a:prstGeom>
          <a:noFill/>
          <a:ln/>
        </p:spPr>
        <p:txBody>
          <a:bodyPr wrap="square" lIns="0" tIns="0" rIns="0" bIns="0" rtlCol="0" anchor="ctr"/>
          <a:lstStyle/>
          <a:p>
            <a:pPr algn="ctr" indent="0" marL="0">
              <a:buNone/>
            </a:pPr>
            <a:r>
              <a:rPr lang="en-US" sz="4400" b="1" dirty="0">
                <a:solidFill>
                  <a:schemeClr val="accent1"/>
                </a:solidFill>
                <a:latin typeface="Arial" pitchFamily="34" charset="0"/>
                <a:ea typeface="Arial" pitchFamily="34" charset="-122"/>
                <a:cs typeface="Arial" pitchFamily="34" charset="-120"/>
              </a:rPr>
              <a:t>ما شاء الله</a:t>
            </a:r>
            <a:endParaRPr lang="en-US" sz="4400" dirty="0"/>
          </a:p>
        </p:txBody>
      </p:sp>
      <p:sp>
        <p:nvSpPr>
          <p:cNvPr id="4" name="Title"/>
          <p:cNvSpPr txBox="1"/>
          <p:nvPr/>
        </p:nvSpPr>
        <p:spPr>
          <a:xfrm>
            <a:off x="548640" y="1097280"/>
            <a:ext cx="4937760" cy="1463040"/>
          </a:xfrm>
          <a:prstGeom prst="rect">
            <a:avLst/>
          </a:prstGeom>
          <a:noFill/>
          <a:ln/>
        </p:spPr>
        <p:txBody>
          <a:bodyPr wrap="square" lIns="0" tIns="0" rIns="0" bIns="0" rtlCol="0" anchor="t"/>
          <a:lstStyle/>
          <a:p>
            <a:pPr indent="0" marL="0">
              <a:buNone/>
            </a:pPr>
            <a:r>
              <a:rPr lang="en-US" sz="4200" b="1" dirty="0">
                <a:solidFill>
                  <a:schemeClr val="bg1"/>
                </a:solidFill>
                <a:latin typeface="Cambria" pitchFamily="34" charset="0"/>
                <a:ea typeface="Cambria" pitchFamily="34" charset="-122"/>
                <a:cs typeface="Cambria" pitchFamily="34" charset="-120"/>
              </a:rPr>
              <a:t>MashaAllah, Superstars!</a:t>
            </a:r>
            <a:endParaRPr lang="en-US" sz="4200" dirty="0"/>
          </a:p>
        </p:txBody>
      </p:sp>
      <p:sp>
        <p:nvSpPr>
          <p:cNvPr id="5" name="Text 3"/>
          <p:cNvSpPr txBox="1"/>
          <p:nvPr/>
        </p:nvSpPr>
        <p:spPr>
          <a:xfrm>
            <a:off x="548640" y="2743200"/>
            <a:ext cx="4937760" cy="1097280"/>
          </a:xfrm>
          <a:prstGeom prst="rect">
            <a:avLst/>
          </a:prstGeom>
          <a:noFill/>
          <a:ln/>
        </p:spPr>
        <p:txBody>
          <a:bodyPr wrap="square" lIns="0" tIns="0" rIns="0" bIns="0" rtlCol="0" anchor="t"/>
          <a:lstStyle/>
          <a:p>
            <a:pPr indent="0" marL="0">
              <a:buNone/>
            </a:pPr>
            <a:r>
              <a:rPr lang="en-US" sz="1800" dirty="0">
                <a:solidFill>
                  <a:schemeClr val="accent2"/>
                </a:solidFill>
              </a:rPr>
              <a:t>You learned all 28 letters and 3 vowels. Next adventure: joining letters into words!</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Quran Kids">
  <a:themeElements>
    <a:clrScheme name="Quran Kids">
      <a:dk1>
        <a:srgbClr val="12352E"/>
      </a:dk1>
      <a:lt1>
        <a:srgbClr val="FFFFFF"/>
      </a:lt1>
      <a:dk2>
        <a:srgbClr val="0B5D4B"/>
      </a:dk2>
      <a:lt2>
        <a:srgbClr val="E6F4EE"/>
      </a:lt2>
      <a:accent1>
        <a:srgbClr val="0B5D4B"/>
      </a:accent1>
      <a:accent2>
        <a:srgbClr val="F2B134"/>
      </a:accent2>
      <a:accent3>
        <a:srgbClr val="E8604C"/>
      </a:accent3>
      <a:accent4>
        <a:srgbClr val="3A8FD9"/>
      </a:accent4>
      <a:accent5>
        <a:srgbClr val="8E5BD0"/>
      </a:accent5>
      <a:accent6>
        <a:srgbClr val="2FB57A"/>
      </a:accent6>
      <a:hlink>
        <a:srgbClr val="3A8FD9"/>
      </a:hlink>
      <a:folHlink>
        <a:srgbClr val="8E5BD0"/>
      </a:folHlink>
    </a:clrScheme>
    <a:fontScheme name="Quran Kid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 to Read the Quran: Arabic Letters</dc:title>
  <dc:subject>PptxGenJS Presentation</dc:subject>
  <dc:creator>PptxGenJS</dc:creator>
  <cp:lastModifiedBy>PptxGenJS</cp:lastModifiedBy>
  <cp:revision>1</cp:revision>
  <dcterms:created xsi:type="dcterms:W3CDTF">2026-10-08T04:08:24Z</dcterms:created>
  <dcterms:modified xsi:type="dcterms:W3CDTF">2026-10-08T04:08:24Z</dcterms:modified>
</cp:coreProperties>
</file>