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sign. Tell the learners: this alif looks like a normal alif with a tiny letter on top. It is pronounced only in one situation, and silent in another. By the end they will know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Hamzat al-Qat' is a real consonant, a short catch in the throat, like the break in English 'uh-oh'. It is always read. Hamzat al-Wasl is only a helper sound for starting, so it disappears inside connected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Madinah Mushaf the hamzat al-wasl has a small head of the letter saad on it. Because no vowel is printed, the reader must know which vowel to use when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for non-Arabs. Arabic cannot begin with a consonant cluster. English can (str-eet), Arabic cannot. The hamzat al-wasl is a ramp to get onto the road; once you are already driving (reading the word before), you do not need the 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begin reading at a word that starts with hamzat al-wasl (start of a verse, or after you stopped to breathe), you must pronounce it. The vowel is not written, so use these three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definite article al- (the). When we start with it, the hamzat al-wasl is read with a fathah: Al-hamdu.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the Name of Allah: Allaahu. The hamza is read with fathah.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list of nouns begins with hamzat al-wasl and always starts with kasrah: ٱسۡم ، ٱبۡن ، ٱبۡنَت ، ٱمۡرُؤ ، ٱمۡرَأَة ، ٱثۡنَان ، ٱثۡنَتَان. Example from Surat as-Saff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at ٱبۡنُ مَرۡيَمَ: Ibnu Maryam (son of Maryam).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at-Tahrim 11: Imra'atu Fir'awn (the wife of Pharaoh).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from the hamza itself: 1 = ٱ, 2 = دۡ, 3 = عُ. The third letter has a dammah, so we start with dammah: Ud'u (call / invite), Surat an-Nahl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ٱ, 2 = هۡ, 3 = دِ. Kasrah on the third letter, so start with kasrah: Ihdinaa (guide us), Al-Fatiha.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ٱ, 2 = ذۡ, 3 = هَ. Fathah on the third letter: we start with KASRAH, not fathah. Only a dammah gives 'u'; fathah and kasrah both give 'i'. Idh-hab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noon here has no mark because of ikhfa, but it is still the second letter. The third letter ظ has a dammah: Undhur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U'budullaah (worship Allah). The third letter بُ has dammah. Notice the second hamzat al-wasl in ٱللَّهَ is skipped, because we are connecting.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al-A'raf 128. Third letter تَ has fathah, so start with kasrah: Ista'eenoo. Inside بِٱللَّهِ the hamza is skipped: billaah.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verbs look like they have dammah on the third letter, but the dammah is not original (it came because of the waw of the plural). We start them with kasrah: ٱمۡشُوا۟ (Surat Saad 6), ٱقۡضُوٓا۟ (Yunus 71), ٱبۡنُوا۟ (al-Kahf 21), ٱئۡتُوا۟. For beginners: just remember this small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most of the time in recitation. The previous word ends with a vowel, so there is no need for a starter sound. The light grey alif on the slide is written but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meem's kasrah connects directly to the lam: bis-mil-laah. Saying 'bismi allaah' with a hamza is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Rabbil-'aalameen. Not 'rabbi al-'aalameen'.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و, ف, ب or ل is attached to a word with hamzat al-wasl, we are connecting, so the hamza is skipped: wattaqoo, fattaqoo, billaah.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word ends with a madd letter (ا و ي) and the next word starts with hamzat al-wasl, the madd letter is not pronounced, because two silent sounds cannot meet. Fil-ard, not fee al-ard.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al-Inshiqaq 1: Idhas-samaa'u nshaqqat.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common phrase: Wattaqullaah. The waw of ٱتَّقُوا۟ is not stretched before ٱللَّهَ.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moon letters the lam of al- carries the Quranic sukun, so it is pronounced: al-qamar, al-hamd, al-'aalameen.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sun letters the lam has no mark and the next letter has a shaddah: the lam merges into it. Starting: ash-shams. Connected: wash-shamsi.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silent letters cannot meet, so the silent letter before hamzat al-wasl gets a vowel (usually kasrah). The Mushaf already prints it, so just read what you see: Qulid'oo (al-Isra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becomes mina before the Name of Allah and before al-: minallaah.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Al-Baqarah 246: kutiba 'alayhimul-qitaal.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Al-Baqarah 180. Remember: tanween is a vowel plus a noon with sukun. Before hamzat al-wasl that noon gets a kasrah so it can connect: khayranil-wasiyyah.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hamzat al-wasl and ask: are we starting or connecting?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Combines everything: starting vowel, skipping in the middle, and sun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Yawmid-deen.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Ihdinas-siraatal-mustaqeem. Every rule of the lesson in one 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with the learners using any page of the Mushaf: find every ٱ and decide: start or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TrSnd" Type="http://schemas.openxmlformats.org/officeDocument/2006/relationships/audio" Target="../media/whoosh.wav"/></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TrSnd" Type="http://schemas.openxmlformats.org/officeDocument/2006/relationships/audio" Target="../media/bubbles.wav"/></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TrSnd" Type="http://schemas.openxmlformats.org/officeDocument/2006/relationships/audio" Target="../media/sparkle.wav"/></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TrSnd" Type="http://schemas.openxmlformats.org/officeDocument/2006/relationships/audio" Target="../media/marimba.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TrSnd" Type="http://schemas.openxmlformats.org/officeDocument/2006/relationships/audio" Target="../media/harp.wav"/></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TrSnd" Type="http://schemas.openxmlformats.org/officeDocument/2006/relationships/audio" Target="../media/chime.wav"/></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TrSnd" Type="http://schemas.openxmlformats.org/officeDocument/2006/relationships/audio" Target="../media/whoosh.wav"/></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TrSnd" Type="http://schemas.openxmlformats.org/officeDocument/2006/relationships/audio" Target="../media/bubbles.wav"/></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TrSnd" Type="http://schemas.openxmlformats.org/officeDocument/2006/relationships/audio" Target="../media/sparkle.wav"/></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TrSnd" Type="http://schemas.openxmlformats.org/officeDocument/2006/relationships/audio" Target="../media/marimba.wav"/></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TrSnd" Type="http://schemas.openxmlformats.org/officeDocument/2006/relationships/audio" Target="../media/harp.wav"/></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TrSnd" Type="http://schemas.openxmlformats.org/officeDocument/2006/relationships/audio" Target="../media/chime.wav"/></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TrSnd" Type="http://schemas.openxmlformats.org/officeDocument/2006/relationships/audio" Target="../media/whoosh.wav"/></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TrSnd" Type="http://schemas.openxmlformats.org/officeDocument/2006/relationships/audio" Target="../media/bubbles.wav"/></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TrSnd" Type="http://schemas.openxmlformats.org/officeDocument/2006/relationships/audio" Target="../media/sparkle.wav"/></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TrSnd" Type="http://schemas.openxmlformats.org/officeDocument/2006/relationships/audio" Target="../media/marimba.wav"/></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TrSnd" Type="http://schemas.openxmlformats.org/officeDocument/2006/relationships/audio" Target="../media/harp.wav"/></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TrSnd" Type="http://schemas.openxmlformats.org/officeDocument/2006/relationships/audio" Target="../media/chime.wav"/></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TrSnd" Type="http://schemas.openxmlformats.org/officeDocument/2006/relationships/audio" Target="../media/whoosh.wav"/></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TrSnd" Type="http://schemas.openxmlformats.org/officeDocument/2006/relationships/audio" Target="../media/bubbles.wav"/></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TrSnd" Type="http://schemas.openxmlformats.org/officeDocument/2006/relationships/audio" Target="../media/sparkle.wav"/></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TrSnd" Type="http://schemas.openxmlformats.org/officeDocument/2006/relationships/audio" Target="../media/marimba.wav"/></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TrSnd" Type="http://schemas.openxmlformats.org/officeDocument/2006/relationships/audio" Target="../media/harp.wav"/></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TrSnd" Type="http://schemas.openxmlformats.org/officeDocument/2006/relationships/audio" Target="../media/chime.wav"/></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TrSnd" Type="http://schemas.openxmlformats.org/officeDocument/2006/relationships/audio" Target="../media/whoosh.wav"/></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TrSnd" Type="http://schemas.openxmlformats.org/officeDocument/2006/relationships/audio" Target="../media/bubbles.wav"/></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TrSnd" Type="http://schemas.openxmlformats.org/officeDocument/2006/relationships/audio" Target="../media/sparkle.wav"/></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TrSnd" Type="http://schemas.openxmlformats.org/officeDocument/2006/relationships/audio" Target="../media/marimba.wav"/></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TrSnd" Type="http://schemas.openxmlformats.org/officeDocument/2006/relationships/audio" Target="../media/harp.wav"/></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TrSnd" Type="http://schemas.openxmlformats.org/officeDocument/2006/relationships/audio" Target="../media/chime.wav"/></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TrSnd" Type="http://schemas.openxmlformats.org/officeDocument/2006/relationships/audio" Target="../media/whoosh.wav"/></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TrSnd" Type="http://schemas.openxmlformats.org/officeDocument/2006/relationships/audio" Target="../media/bubbles.wav"/></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TrSnd" Type="http://schemas.openxmlformats.org/officeDocument/2006/relationships/audio" Target="../media/sparkle.wav"/></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TrSnd" Type="http://schemas.openxmlformats.org/officeDocument/2006/relationships/audio" Target="../media/marimba.wav"/></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5F7CD"/>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D65CAD"/>
          </a:solidFill>
          <a:ln w="12700">
            <a:solidFill>
              <a:srgbClr val="D65CAD"/>
            </a:solidFill>
            <a:prstDash val="solid"/>
          </a:ln>
        </p:spPr>
      </p:sp>
      <p:sp>
        <p:nvSpPr>
          <p:cNvPr id="3" name="Deco sea floor"/>
          <p:cNvSpPr/>
          <p:nvPr/>
        </p:nvSpPr>
        <p:spPr>
          <a:xfrm>
            <a:off x="0" y="4709160"/>
            <a:ext cx="9144000" cy="457200"/>
          </a:xfrm>
          <a:prstGeom prst="rect">
            <a:avLst/>
          </a:prstGeom>
          <a:solidFill>
            <a:srgbClr val="CC338C"/>
          </a:solidFill>
          <a:ln w="12700">
            <a:solidFill>
              <a:srgbClr val="CC338C"/>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1971C2"/>
          </a:solidFill>
          <a:ln w="76200">
            <a:solidFill>
              <a:srgbClr val="1971C2"/>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Hamzat al-Wasl: the connecting hamza</a:t>
            </a:r>
            <a:endParaRPr lang="en-US" sz="1800" dirty="0"/>
          </a:p>
        </p:txBody>
      </p:sp>
      <p:sp>
        <p:nvSpPr>
          <p:cNvPr id="12" name="Lines panel"/>
          <p:cNvSpPr/>
          <p:nvPr/>
        </p:nvSpPr>
        <p:spPr>
          <a:xfrm>
            <a:off x="365760" y="1536192"/>
            <a:ext cx="5486400" cy="2697480"/>
          </a:xfrm>
          <a:prstGeom prst="roundRect">
            <a:avLst>
              <a:gd name="adj" fmla="val 8475"/>
            </a:avLst>
          </a:prstGeom>
          <a:solidFill>
            <a:srgbClr val="FFFFFF"/>
          </a:solidFill>
          <a:ln w="76200">
            <a:solidFill>
              <a:srgbClr val="1971C2"/>
            </a:solidFill>
            <a:prstDash val="solid"/>
          </a:ln>
        </p:spPr>
      </p:sp>
      <p:sp>
        <p:nvSpPr>
          <p:cNvPr id="13" name="C1 line 1"/>
          <p:cNvSpPr txBox="1"/>
          <p:nvPr/>
        </p:nvSpPr>
        <p:spPr>
          <a:xfrm>
            <a:off x="502920" y="1757172"/>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A special alif you will see many times in the Quran.</a:t>
            </a:r>
            <a:endParaRPr lang="en-US" sz="1500" dirty="0"/>
          </a:p>
        </p:txBody>
      </p:sp>
      <p:sp>
        <p:nvSpPr>
          <p:cNvPr id="14" name="C2 line 2"/>
          <p:cNvSpPr txBox="1"/>
          <p:nvPr/>
        </p:nvSpPr>
        <p:spPr>
          <a:xfrm>
            <a:off x="502920" y="2601087"/>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Sometimes we SAY it, sometimes we SKIP it.</a:t>
            </a:r>
            <a:endParaRPr lang="en-US" sz="1500" dirty="0"/>
          </a:p>
        </p:txBody>
      </p:sp>
      <p:sp>
        <p:nvSpPr>
          <p:cNvPr id="15" name="C3 line 3"/>
          <p:cNvSpPr txBox="1"/>
          <p:nvPr/>
        </p:nvSpPr>
        <p:spPr>
          <a:xfrm>
            <a:off x="502920" y="3433572"/>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Today we learn exactly when.</a:t>
            </a:r>
            <a:endParaRPr lang="en-US" sz="1500" dirty="0"/>
          </a:p>
        </p:txBody>
      </p:sp>
      <p:sp>
        <p:nvSpPr>
          <p:cNvPr id="16" name="Arabic panel"/>
          <p:cNvSpPr/>
          <p:nvPr/>
        </p:nvSpPr>
        <p:spPr>
          <a:xfrm>
            <a:off x="6035040" y="1536192"/>
            <a:ext cx="2743200" cy="2697480"/>
          </a:xfrm>
          <a:prstGeom prst="roundRect">
            <a:avLst>
              <a:gd name="adj" fmla="val 8475"/>
            </a:avLst>
          </a:prstGeom>
          <a:solidFill>
            <a:srgbClr val="FFFFFF"/>
          </a:solidFill>
          <a:ln w="76200">
            <a:solidFill>
              <a:srgbClr val="1971C2"/>
            </a:solidFill>
            <a:prstDash val="solid"/>
          </a:ln>
        </p:spPr>
      </p:sp>
      <p:sp>
        <p:nvSpPr>
          <p:cNvPr id="17" name="Arabic sample"/>
          <p:cNvSpPr txBox="1"/>
          <p:nvPr/>
        </p:nvSpPr>
        <p:spPr>
          <a:xfrm>
            <a:off x="6035040" y="1689037"/>
            <a:ext cx="2743200" cy="2697480"/>
          </a:xfrm>
          <a:prstGeom prst="rect">
            <a:avLst/>
          </a:prstGeom>
          <a:noFill/>
          <a:ln/>
        </p:spPr>
        <p:txBody>
          <a:bodyPr wrap="none" lIns="0" tIns="0" rIns="0" bIns="0" rtlCol="0" anchor="ctr"/>
          <a:lstStyle/>
          <a:p>
            <a:pPr algn="ctr" indent="0" marL="0">
              <a:buNone/>
            </a:pPr>
            <a:r>
              <a:rPr lang="ar-SA" altLang="en-US" sz="14500" dirty="0">
                <a:solidFill>
                  <a:srgbClr val="E03131"/>
                </a:solidFill>
                <a:latin typeface="Traditional Arabic" pitchFamily="34" charset="0"/>
                <a:ea typeface="Traditional Arabic" pitchFamily="34" charset="-122"/>
                <a:cs typeface="Traditional Arabic" pitchFamily="34" charset="-120"/>
              </a:rPr>
              <a:t>ٱ</a:t>
            </a:r>
            <a:endParaRPr lang="ar-SA" sz="14500" dirty="0"/>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CC5F7"/>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C65366"/>
          </a:solidFill>
          <a:ln w="12700">
            <a:solidFill>
              <a:srgbClr val="C65366"/>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705EED"/>
          </a:solidFill>
          <a:ln w="12700">
            <a:solidFill>
              <a:srgbClr val="705EED"/>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1971C2"/>
          </a:solidFill>
          <a:ln w="76200">
            <a:solidFill>
              <a:srgbClr val="1971C2"/>
            </a:solidFill>
            <a:prstDash val="solid"/>
          </a:ln>
        </p:spPr>
      </p:sp>
      <p:sp>
        <p:nvSpPr>
          <p:cNvPr id="19"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Two kinds of hamza</a:t>
            </a:r>
            <a:endParaRPr lang="en-US" sz="2200" dirty="0"/>
          </a:p>
        </p:txBody>
      </p:sp>
      <p:sp>
        <p:nvSpPr>
          <p:cNvPr id="20" name="Lines panel"/>
          <p:cNvSpPr/>
          <p:nvPr/>
        </p:nvSpPr>
        <p:spPr>
          <a:xfrm>
            <a:off x="365760" y="1536192"/>
            <a:ext cx="5486400" cy="2697480"/>
          </a:xfrm>
          <a:prstGeom prst="roundRect">
            <a:avLst>
              <a:gd name="adj" fmla="val 8475"/>
            </a:avLst>
          </a:prstGeom>
          <a:solidFill>
            <a:srgbClr val="FFFFFF"/>
          </a:solidFill>
          <a:ln w="76200">
            <a:solidFill>
              <a:srgbClr val="1971C2"/>
            </a:solidFill>
            <a:prstDash val="solid"/>
          </a:ln>
        </p:spPr>
      </p:sp>
      <p:sp>
        <p:nvSpPr>
          <p:cNvPr id="21" name="C1 line 1"/>
          <p:cNvSpPr txBox="1"/>
          <p:nvPr/>
        </p:nvSpPr>
        <p:spPr>
          <a:xfrm>
            <a:off x="502920" y="1666558"/>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أ  or  إ  = Hamzat al-Qat' (the cutting hamza)</a:t>
            </a:r>
            <a:endParaRPr lang="en-US" sz="1700" dirty="0"/>
          </a:p>
        </p:txBody>
      </p:sp>
      <p:sp>
        <p:nvSpPr>
          <p:cNvPr id="22" name="C2 line 2"/>
          <p:cNvSpPr txBox="1"/>
          <p:nvPr/>
        </p:nvSpPr>
        <p:spPr>
          <a:xfrm>
            <a:off x="502920" y="227901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It is ALWAYS pronounced: start or middle.</a:t>
            </a:r>
            <a:endParaRPr lang="en-US" sz="1700" dirty="0"/>
          </a:p>
        </p:txBody>
      </p:sp>
      <p:sp>
        <p:nvSpPr>
          <p:cNvPr id="23" name="C3 line 3"/>
          <p:cNvSpPr txBox="1"/>
          <p:nvPr/>
        </p:nvSpPr>
        <p:spPr>
          <a:xfrm>
            <a:off x="502920" y="292450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ٱ  = Hamzat al-Wasl (the connecting hamza)</a:t>
            </a:r>
            <a:endParaRPr lang="en-US" sz="1700" dirty="0"/>
          </a:p>
        </p:txBody>
      </p:sp>
      <p:sp>
        <p:nvSpPr>
          <p:cNvPr id="24" name="C4 line 4"/>
          <p:cNvSpPr txBox="1"/>
          <p:nvPr/>
        </p:nvSpPr>
        <p:spPr>
          <a:xfrm>
            <a:off x="502920" y="353631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It is pronounced ONLY when you start from it.</a:t>
            </a:r>
            <a:endParaRPr lang="en-US" sz="1700" dirty="0"/>
          </a:p>
        </p:txBody>
      </p:sp>
      <p:sp>
        <p:nvSpPr>
          <p:cNvPr id="25" name="Arabic panel"/>
          <p:cNvSpPr/>
          <p:nvPr/>
        </p:nvSpPr>
        <p:spPr>
          <a:xfrm>
            <a:off x="6035040" y="1536192"/>
            <a:ext cx="2743200" cy="2697480"/>
          </a:xfrm>
          <a:prstGeom prst="roundRect">
            <a:avLst>
              <a:gd name="adj" fmla="val 8475"/>
            </a:avLst>
          </a:prstGeom>
          <a:solidFill>
            <a:srgbClr val="FFFFFF"/>
          </a:solidFill>
          <a:ln w="76200">
            <a:solidFill>
              <a:srgbClr val="1971C2"/>
            </a:solidFill>
            <a:prstDash val="solid"/>
          </a:ln>
        </p:spPr>
      </p:sp>
      <p:sp>
        <p:nvSpPr>
          <p:cNvPr id="26" name="Arabic sample"/>
          <p:cNvSpPr txBox="1"/>
          <p:nvPr/>
        </p:nvSpPr>
        <p:spPr>
          <a:xfrm>
            <a:off x="6035040" y="1530922"/>
            <a:ext cx="2743200" cy="2697480"/>
          </a:xfrm>
          <a:prstGeom prst="rect">
            <a:avLst/>
          </a:prstGeom>
          <a:noFill/>
          <a:ln/>
        </p:spPr>
        <p:txBody>
          <a:bodyPr wrap="none" lIns="0" tIns="0" rIns="0" bIns="0" rtlCol="0" anchor="ctr"/>
          <a:lstStyle/>
          <a:p>
            <a:pPr algn="ctr" indent="0" marL="0">
              <a:buNone/>
            </a:pPr>
            <a:r>
              <a:rPr lang="ar-SA" altLang="en-US" sz="8300" dirty="0">
                <a:solidFill>
                  <a:srgbClr val="16213E"/>
                </a:solidFill>
                <a:latin typeface="Traditional Arabic" pitchFamily="34" charset="0"/>
                <a:ea typeface="Traditional Arabic" pitchFamily="34" charset="-122"/>
                <a:cs typeface="Traditional Arabic" pitchFamily="34" charset="-120"/>
              </a:rPr>
              <a:t>أ  إ  </a:t>
            </a:r>
            <a:r>
              <a:rPr lang="ar-SA" altLang="en-US" sz="8300" dirty="0">
                <a:solidFill>
                  <a:srgbClr val="E03131"/>
                </a:solidFill>
                <a:latin typeface="Traditional Arabic" pitchFamily="34" charset="0"/>
                <a:ea typeface="Traditional Arabic" pitchFamily="34" charset="-122"/>
                <a:cs typeface="Traditional Arabic" pitchFamily="34" charset="-120"/>
              </a:rPr>
              <a:t>ٱ</a:t>
            </a:r>
            <a:endParaRPr lang="ar-SA" sz="8300" dirty="0"/>
          </a:p>
        </p:txBody>
      </p:sp>
    </p:spTree>
  </p:cSld>
  <p:clrMapOvr>
    <a:masterClrMapping/>
  </p:clrMapOvr>
  <p:transition spd="med">
    <p:zoom/>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3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3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35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33714"/>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BDE052"/>
          </a:solidFill>
          <a:ln w="12700">
            <a:solidFill>
              <a:srgbClr val="BDE052"/>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A6F28C"/>
            </a:solidFill>
            <a:prstDash val="solid"/>
          </a:ln>
        </p:spPr>
      </p:sp>
      <p:sp>
        <p:nvSpPr>
          <p:cNvPr id="4" name="Deco small planet"/>
          <p:cNvSpPr/>
          <p:nvPr/>
        </p:nvSpPr>
        <p:spPr>
          <a:xfrm>
            <a:off x="274320" y="182880"/>
            <a:ext cx="502920" cy="502920"/>
          </a:xfrm>
          <a:prstGeom prst="ellipse">
            <a:avLst/>
          </a:prstGeom>
          <a:solidFill>
            <a:srgbClr val="708BDB"/>
          </a:solidFill>
          <a:ln w="12700">
            <a:solidFill>
              <a:srgbClr val="708BDB"/>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85477F"/>
          </a:solidFill>
          <a:ln w="12700">
            <a:solidFill>
              <a:srgbClr val="85477F"/>
            </a:solidFill>
            <a:prstDash val="solid"/>
          </a:ln>
        </p:spPr>
      </p:sp>
      <p:sp>
        <p:nvSpPr>
          <p:cNvPr id="15" name="Title box"/>
          <p:cNvSpPr/>
          <p:nvPr/>
        </p:nvSpPr>
        <p:spPr>
          <a:xfrm>
            <a:off x="365760" y="896112"/>
            <a:ext cx="8412480" cy="502920"/>
          </a:xfrm>
          <a:prstGeom prst="roundRect">
            <a:avLst>
              <a:gd name="adj" fmla="val 45455"/>
            </a:avLst>
          </a:prstGeom>
          <a:solidFill>
            <a:srgbClr val="1971C2"/>
          </a:solidFill>
          <a:ln w="76200">
            <a:solidFill>
              <a:srgbClr val="1971C2"/>
            </a:solidFill>
            <a:prstDash val="solid"/>
          </a:ln>
        </p:spPr>
      </p:sp>
      <p:sp>
        <p:nvSpPr>
          <p:cNvPr id="16"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How to spot it in the Mushaf</a:t>
            </a:r>
            <a:endParaRPr lang="en-US" sz="1800" dirty="0"/>
          </a:p>
        </p:txBody>
      </p:sp>
      <p:sp>
        <p:nvSpPr>
          <p:cNvPr id="17" name="Lines panel"/>
          <p:cNvSpPr/>
          <p:nvPr/>
        </p:nvSpPr>
        <p:spPr>
          <a:xfrm>
            <a:off x="365760" y="1536192"/>
            <a:ext cx="5486400" cy="2697480"/>
          </a:xfrm>
          <a:prstGeom prst="roundRect">
            <a:avLst>
              <a:gd name="adj" fmla="val 8475"/>
            </a:avLst>
          </a:prstGeom>
          <a:solidFill>
            <a:srgbClr val="FFFFFF"/>
          </a:solidFill>
          <a:ln w="76200">
            <a:solidFill>
              <a:srgbClr val="1971C2"/>
            </a:solidFill>
            <a:prstDash val="solid"/>
          </a:ln>
        </p:spPr>
      </p:sp>
      <p:sp>
        <p:nvSpPr>
          <p:cNvPr id="18" name="C1 line 1"/>
          <p:cNvSpPr txBox="1"/>
          <p:nvPr/>
        </p:nvSpPr>
        <p:spPr>
          <a:xfrm>
            <a:off x="502920" y="1649540"/>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Look at the top of the alif: a tiny ص (saad).</a:t>
            </a:r>
            <a:endParaRPr lang="en-US" sz="1500" dirty="0"/>
          </a:p>
        </p:txBody>
      </p:sp>
      <p:sp>
        <p:nvSpPr>
          <p:cNvPr id="19" name="C2 line 2"/>
          <p:cNvSpPr txBox="1"/>
          <p:nvPr/>
        </p:nvSpPr>
        <p:spPr>
          <a:xfrm>
            <a:off x="502920" y="2300097"/>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It comes from the word Silah = connection.</a:t>
            </a:r>
            <a:endParaRPr lang="en-US" sz="1500" dirty="0"/>
          </a:p>
        </p:txBody>
      </p:sp>
      <p:sp>
        <p:nvSpPr>
          <p:cNvPr id="20" name="C3 line 3"/>
          <p:cNvSpPr txBox="1"/>
          <p:nvPr/>
        </p:nvSpPr>
        <p:spPr>
          <a:xfrm>
            <a:off x="502920" y="2915412"/>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No fathah, kasrah or dammah is written on it.</a:t>
            </a:r>
            <a:endParaRPr lang="en-US" sz="1500" dirty="0"/>
          </a:p>
        </p:txBody>
      </p:sp>
      <p:sp>
        <p:nvSpPr>
          <p:cNvPr id="21" name="C4 line 4"/>
          <p:cNvSpPr txBox="1"/>
          <p:nvPr/>
        </p:nvSpPr>
        <p:spPr>
          <a:xfrm>
            <a:off x="502920" y="3538347"/>
            <a:ext cx="5212080" cy="548640"/>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You decide the sound yourself (you will learn how).</a:t>
            </a:r>
            <a:endParaRPr lang="en-US" sz="1500" dirty="0"/>
          </a:p>
        </p:txBody>
      </p:sp>
      <p:sp>
        <p:nvSpPr>
          <p:cNvPr id="22" name="Arabic panel"/>
          <p:cNvSpPr/>
          <p:nvPr/>
        </p:nvSpPr>
        <p:spPr>
          <a:xfrm>
            <a:off x="6035040" y="1536192"/>
            <a:ext cx="2743200" cy="2697480"/>
          </a:xfrm>
          <a:prstGeom prst="roundRect">
            <a:avLst>
              <a:gd name="adj" fmla="val 8475"/>
            </a:avLst>
          </a:prstGeom>
          <a:solidFill>
            <a:srgbClr val="FFFFFF"/>
          </a:solidFill>
          <a:ln w="76200">
            <a:solidFill>
              <a:srgbClr val="1971C2"/>
            </a:solidFill>
            <a:prstDash val="solid"/>
          </a:ln>
        </p:spPr>
      </p:sp>
      <p:sp>
        <p:nvSpPr>
          <p:cNvPr id="23" name="Arabic sample"/>
          <p:cNvSpPr txBox="1"/>
          <p:nvPr/>
        </p:nvSpPr>
        <p:spPr>
          <a:xfrm>
            <a:off x="6035040" y="1689037"/>
            <a:ext cx="2743200" cy="2697480"/>
          </a:xfrm>
          <a:prstGeom prst="rect">
            <a:avLst/>
          </a:prstGeom>
          <a:noFill/>
          <a:ln/>
        </p:spPr>
        <p:txBody>
          <a:bodyPr wrap="none" lIns="0" tIns="0" rIns="0" bIns="0" rtlCol="0" anchor="ctr"/>
          <a:lstStyle/>
          <a:p>
            <a:pPr algn="ctr" indent="0" marL="0">
              <a:buNone/>
            </a:pPr>
            <a:r>
              <a:rPr lang="ar-SA" altLang="en-US" sz="14500" dirty="0">
                <a:solidFill>
                  <a:srgbClr val="E03131"/>
                </a:solidFill>
                <a:latin typeface="Traditional Arabic" pitchFamily="34" charset="0"/>
                <a:ea typeface="Traditional Arabic" pitchFamily="34" charset="-122"/>
                <a:cs typeface="Traditional Arabic" pitchFamily="34" charset="-120"/>
              </a:rPr>
              <a:t>ٱ</a:t>
            </a:r>
            <a:endParaRPr lang="ar-SA" sz="14500" dirty="0"/>
          </a:p>
        </p:txBody>
      </p:sp>
    </p:spTree>
  </p:cSld>
  <p:clrMapOvr>
    <a:masterClrMapping/>
  </p:clrMapOvr>
  <p:transition spd="med">
    <p:wheel spokes="4"/>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35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35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5F5F7"/>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64A3D8"/>
          </a:solidFill>
          <a:ln w="12700">
            <a:solidFill>
              <a:srgbClr val="64A3D8"/>
            </a:solidFill>
            <a:prstDash val="solid"/>
          </a:ln>
        </p:spPr>
      </p:sp>
      <p:sp>
        <p:nvSpPr>
          <p:cNvPr id="4" name="Deco dune right"/>
          <p:cNvSpPr/>
          <p:nvPr/>
        </p:nvSpPr>
        <p:spPr>
          <a:xfrm>
            <a:off x="5303520" y="4617720"/>
            <a:ext cx="5120640" cy="1280160"/>
          </a:xfrm>
          <a:prstGeom prst="ellipse">
            <a:avLst/>
          </a:prstGeom>
          <a:solidFill>
            <a:srgbClr val="47A9D1"/>
          </a:solidFill>
          <a:ln w="12700">
            <a:solidFill>
              <a:srgbClr val="47A9D1"/>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1971C2"/>
          </a:solidFill>
          <a:ln w="76200">
            <a:solidFill>
              <a:srgbClr val="1971C2"/>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Why does it exist?</a:t>
            </a:r>
            <a:endParaRPr lang="en-US" sz="1800" dirty="0"/>
          </a:p>
        </p:txBody>
      </p:sp>
      <p:sp>
        <p:nvSpPr>
          <p:cNvPr id="12" name="Lines panel"/>
          <p:cNvSpPr/>
          <p:nvPr/>
        </p:nvSpPr>
        <p:spPr>
          <a:xfrm>
            <a:off x="365760" y="1536192"/>
            <a:ext cx="5486400" cy="2697480"/>
          </a:xfrm>
          <a:prstGeom prst="roundRect">
            <a:avLst>
              <a:gd name="adj" fmla="val 8475"/>
            </a:avLst>
          </a:prstGeom>
          <a:solidFill>
            <a:srgbClr val="FFFFFF"/>
          </a:solidFill>
          <a:ln w="76200">
            <a:solidFill>
              <a:srgbClr val="1971C2"/>
            </a:solidFill>
            <a:prstDash val="solid"/>
          </a:ln>
        </p:spPr>
      </p:sp>
      <p:sp>
        <p:nvSpPr>
          <p:cNvPr id="13" name="C1 line 1"/>
          <p:cNvSpPr txBox="1"/>
          <p:nvPr/>
        </p:nvSpPr>
        <p:spPr>
          <a:xfrm>
            <a:off x="502920" y="167195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We never START a word with a silent letter.</a:t>
            </a:r>
            <a:endParaRPr lang="en-US" sz="1700" dirty="0"/>
          </a:p>
        </p:txBody>
      </p:sp>
      <p:sp>
        <p:nvSpPr>
          <p:cNvPr id="14" name="C2 line 2"/>
          <p:cNvSpPr txBox="1"/>
          <p:nvPr/>
        </p:nvSpPr>
        <p:spPr>
          <a:xfrm>
            <a:off x="502920" y="227901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Many Quran words begin with a silent letter.</a:t>
            </a:r>
            <a:endParaRPr lang="en-US" sz="1700" dirty="0"/>
          </a:p>
        </p:txBody>
      </p:sp>
      <p:sp>
        <p:nvSpPr>
          <p:cNvPr id="15" name="C3 line 3"/>
          <p:cNvSpPr txBox="1"/>
          <p:nvPr/>
        </p:nvSpPr>
        <p:spPr>
          <a:xfrm>
            <a:off x="502920" y="292450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So a 'starter' sound is put in front: ٱ</a:t>
            </a:r>
            <a:endParaRPr lang="en-US" sz="1700" dirty="0"/>
          </a:p>
        </p:txBody>
      </p:sp>
      <p:sp>
        <p:nvSpPr>
          <p:cNvPr id="16" name="C4 line 4"/>
          <p:cNvSpPr txBox="1"/>
          <p:nvPr/>
        </p:nvSpPr>
        <p:spPr>
          <a:xfrm>
            <a:off x="502920" y="353631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Starting? Say it.   Connecting? Skip it.</a:t>
            </a:r>
            <a:endParaRPr lang="en-US" sz="1700" dirty="0"/>
          </a:p>
        </p:txBody>
      </p:sp>
      <p:sp>
        <p:nvSpPr>
          <p:cNvPr id="17" name="Arabic panel"/>
          <p:cNvSpPr/>
          <p:nvPr/>
        </p:nvSpPr>
        <p:spPr>
          <a:xfrm>
            <a:off x="6035040" y="1536192"/>
            <a:ext cx="2743200" cy="2697480"/>
          </a:xfrm>
          <a:prstGeom prst="roundRect">
            <a:avLst>
              <a:gd name="adj" fmla="val 8475"/>
            </a:avLst>
          </a:prstGeom>
          <a:solidFill>
            <a:srgbClr val="FFFFFF"/>
          </a:solidFill>
          <a:ln w="76200">
            <a:solidFill>
              <a:srgbClr val="1971C2"/>
            </a:solidFill>
            <a:prstDash val="solid"/>
          </a:ln>
        </p:spPr>
      </p:sp>
      <p:sp>
        <p:nvSpPr>
          <p:cNvPr id="18" name="Arabic sample"/>
          <p:cNvSpPr txBox="1"/>
          <p:nvPr/>
        </p:nvSpPr>
        <p:spPr>
          <a:xfrm>
            <a:off x="6035040" y="1632052"/>
            <a:ext cx="2743200" cy="2697480"/>
          </a:xfrm>
          <a:prstGeom prst="rect">
            <a:avLst/>
          </a:prstGeom>
          <a:noFill/>
          <a:ln/>
        </p:spPr>
        <p:txBody>
          <a:bodyPr wrap="none" lIns="0" tIns="0" rIns="0" bIns="0" rtlCol="0" anchor="ctr"/>
          <a:lstStyle/>
          <a:p>
            <a:pPr algn="ctr" indent="0" marL="0">
              <a:buNone/>
            </a:pPr>
            <a:r>
              <a:rPr lang="ar-SA" altLang="en-US" sz="11100" dirty="0">
                <a:solidFill>
                  <a:srgbClr val="E03131"/>
                </a:solidFill>
                <a:latin typeface="Traditional Arabic" pitchFamily="34" charset="0"/>
                <a:ea typeface="Traditional Arabic" pitchFamily="34" charset="-122"/>
                <a:cs typeface="Traditional Arabic" pitchFamily="34" charset="-120"/>
              </a:rPr>
              <a:t>ٱ</a:t>
            </a:r>
            <a:r>
              <a:rPr lang="ar-SA" altLang="en-US" sz="11100" dirty="0">
                <a:solidFill>
                  <a:srgbClr val="16213E"/>
                </a:solidFill>
                <a:latin typeface="Traditional Arabic" pitchFamily="34" charset="0"/>
                <a:ea typeface="Traditional Arabic" pitchFamily="34" charset="-122"/>
                <a:cs typeface="Traditional Arabic" pitchFamily="34" charset="-120"/>
              </a:rPr>
              <a:t>لۡ</a:t>
            </a:r>
            <a:endParaRPr lang="ar-SA" sz="11100" dirty="0"/>
          </a:p>
        </p:txBody>
      </p:sp>
    </p:spTree>
  </p:cSld>
  <p:clrMapOvr>
    <a:masterClrMapping/>
  </p:clrMapOvr>
  <p:transition spd="med">
    <p:wipe dir="l"/>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35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35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C5E6"/>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AACC66"/>
          </a:solidFill>
          <a:ln w="12700">
            <a:solidFill>
              <a:srgbClr val="AACC66"/>
            </a:solidFill>
            <a:prstDash val="solid"/>
          </a:ln>
        </p:spPr>
      </p:sp>
      <p:sp>
        <p:nvSpPr>
          <p:cNvPr id="3" name="Deco hill right"/>
          <p:cNvSpPr/>
          <p:nvPr/>
        </p:nvSpPr>
        <p:spPr>
          <a:xfrm>
            <a:off x="4023360" y="4526280"/>
            <a:ext cx="5852160" cy="1463040"/>
          </a:xfrm>
          <a:prstGeom prst="ellipse">
            <a:avLst/>
          </a:prstGeom>
          <a:solidFill>
            <a:srgbClr val="6ABF40"/>
          </a:solidFill>
          <a:ln w="12700">
            <a:solidFill>
              <a:srgbClr val="6ABF40"/>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2"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Rule 1: STARTING from ٱ → say it</a:t>
            </a:r>
            <a:endParaRPr lang="en-US" sz="1600" dirty="0"/>
          </a:p>
        </p:txBody>
      </p:sp>
      <p:sp>
        <p:nvSpPr>
          <p:cNvPr id="13" name="Lines panel"/>
          <p:cNvSpPr/>
          <p:nvPr/>
        </p:nvSpPr>
        <p:spPr>
          <a:xfrm>
            <a:off x="365760" y="1536192"/>
            <a:ext cx="8412480" cy="2697480"/>
          </a:xfrm>
          <a:prstGeom prst="roundRect">
            <a:avLst>
              <a:gd name="adj" fmla="val 8475"/>
            </a:avLst>
          </a:prstGeom>
          <a:solidFill>
            <a:srgbClr val="FFFFFF"/>
          </a:solidFill>
          <a:ln w="76200">
            <a:solidFill>
              <a:srgbClr val="15AABF"/>
            </a:solidFill>
            <a:prstDash val="solid"/>
          </a:ln>
        </p:spPr>
      </p:sp>
      <p:sp>
        <p:nvSpPr>
          <p:cNvPr id="14" name="C1 line 1"/>
          <p:cNvSpPr txBox="1"/>
          <p:nvPr/>
        </p:nvSpPr>
        <p:spPr>
          <a:xfrm>
            <a:off x="502920" y="1656842"/>
            <a:ext cx="813816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Which sound: a, i or u?  Three cases:</a:t>
            </a:r>
            <a:endParaRPr lang="en-US" sz="1700" dirty="0"/>
          </a:p>
        </p:txBody>
      </p:sp>
      <p:sp>
        <p:nvSpPr>
          <p:cNvPr id="15" name="C2 line 2"/>
          <p:cNvSpPr txBox="1"/>
          <p:nvPr/>
        </p:nvSpPr>
        <p:spPr>
          <a:xfrm>
            <a:off x="502920" y="2310968"/>
            <a:ext cx="813816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1.  Before  لۡ  (al-)  →  always  'a'</a:t>
            </a:r>
            <a:endParaRPr lang="en-US" sz="1700" dirty="0"/>
          </a:p>
        </p:txBody>
      </p:sp>
      <p:sp>
        <p:nvSpPr>
          <p:cNvPr id="16" name="C3 line 3"/>
          <p:cNvSpPr txBox="1"/>
          <p:nvPr/>
        </p:nvSpPr>
        <p:spPr>
          <a:xfrm>
            <a:off x="502920" y="2907665"/>
            <a:ext cx="813816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2.  In a few special nouns  →  'i'</a:t>
            </a:r>
            <a:endParaRPr lang="en-US" sz="1700" dirty="0"/>
          </a:p>
        </p:txBody>
      </p:sp>
      <p:sp>
        <p:nvSpPr>
          <p:cNvPr id="17" name="C4 line 4"/>
          <p:cNvSpPr txBox="1"/>
          <p:nvPr/>
        </p:nvSpPr>
        <p:spPr>
          <a:xfrm>
            <a:off x="502920" y="3557905"/>
            <a:ext cx="813816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3.  In verbs  →  look at the 3rd letter</a:t>
            </a:r>
            <a:endParaRPr lang="en-US" sz="1700" dirty="0"/>
          </a:p>
        </p:txBody>
      </p:sp>
    </p:spTree>
  </p:cSld>
  <p:clrMapOvr>
    <a:masterClrMapping/>
  </p:clrMapOvr>
  <p:transition spd="med">
    <p:circle/>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54314"/>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2B6432"/>
          </a:solidFill>
          <a:ln w="12700">
            <a:solidFill>
              <a:srgbClr val="2B6432"/>
            </a:solidFill>
            <a:prstDash val="solid"/>
          </a:ln>
        </p:spPr>
      </p:sp>
      <p:sp>
        <p:nvSpPr>
          <p:cNvPr id="11" name="Deco hill right"/>
          <p:cNvSpPr/>
          <p:nvPr/>
        </p:nvSpPr>
        <p:spPr>
          <a:xfrm>
            <a:off x="4206240" y="4572000"/>
            <a:ext cx="5669280" cy="1463040"/>
          </a:xfrm>
          <a:prstGeom prst="ellipse">
            <a:avLst/>
          </a:prstGeom>
          <a:solidFill>
            <a:srgbClr val="34795F"/>
          </a:solidFill>
          <a:ln w="12700">
            <a:solidFill>
              <a:srgbClr val="34795F"/>
            </a:solidFill>
            <a:prstDash val="solid"/>
          </a:ln>
        </p:spPr>
      </p:sp>
      <p:sp>
        <p:nvSpPr>
          <p:cNvPr id="12"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3"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Case 1: before al- → start with 'a'</a:t>
            </a:r>
            <a:endParaRPr lang="en-US" sz="2200" dirty="0"/>
          </a:p>
        </p:txBody>
      </p:sp>
      <p:sp>
        <p:nvSpPr>
          <p:cNvPr id="14"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5"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6" name="C1 mushaf"/>
          <p:cNvSpPr txBox="1"/>
          <p:nvPr/>
        </p:nvSpPr>
        <p:spPr>
          <a:xfrm>
            <a:off x="4892040" y="1743888"/>
            <a:ext cx="3886200" cy="1353312"/>
          </a:xfrm>
          <a:prstGeom prst="rect">
            <a:avLst/>
          </a:prstGeom>
          <a:noFill/>
          <a:ln/>
        </p:spPr>
        <p:txBody>
          <a:bodyPr wrap="none" lIns="0" tIns="0" rIns="0" bIns="0" rtlCol="0" anchor="ctr"/>
          <a:lstStyle/>
          <a:p>
            <a:pPr algn="ctr" indent="0" marL="0">
              <a:buNone/>
            </a:pPr>
            <a:r>
              <a:rPr lang="ar-SA" altLang="en-US" sz="5300" dirty="0">
                <a:solidFill>
                  <a:srgbClr val="E03131"/>
                </a:solidFill>
                <a:latin typeface="Traditional Arabic" pitchFamily="34" charset="0"/>
                <a:ea typeface="Traditional Arabic" pitchFamily="34" charset="-122"/>
                <a:cs typeface="Traditional Arabic" pitchFamily="34" charset="-120"/>
              </a:rPr>
              <a:t>ٱ</a:t>
            </a:r>
            <a:r>
              <a:rPr lang="ar-SA" altLang="en-US" sz="5300" dirty="0">
                <a:solidFill>
                  <a:srgbClr val="16213E"/>
                </a:solidFill>
                <a:latin typeface="Traditional Arabic" pitchFamily="34" charset="0"/>
                <a:ea typeface="Traditional Arabic" pitchFamily="34" charset="-122"/>
                <a:cs typeface="Traditional Arabic" pitchFamily="34" charset="-120"/>
              </a:rPr>
              <a:t>لۡحَمۡدُ</a:t>
            </a:r>
            <a:endParaRPr lang="ar-SA" sz="5300" dirty="0"/>
          </a:p>
        </p:txBody>
      </p:sp>
      <p:sp>
        <p:nvSpPr>
          <p:cNvPr id="17" name="C2 arrow"/>
          <p:cNvSpPr/>
          <p:nvPr/>
        </p:nvSpPr>
        <p:spPr>
          <a:xfrm>
            <a:off x="4315968" y="2125980"/>
            <a:ext cx="512064" cy="457200"/>
          </a:xfrm>
          <a:prstGeom prst="leftArrow">
            <a:avLst/>
          </a:prstGeom>
          <a:solidFill>
            <a:srgbClr val="B82E8F"/>
          </a:solidFill>
          <a:ln w="12700">
            <a:solidFill>
              <a:srgbClr val="333333"/>
            </a:solidFill>
            <a:prstDash val="solid"/>
          </a:ln>
        </p:spPr>
      </p:sp>
      <p:sp>
        <p:nvSpPr>
          <p:cNvPr id="18" name="C2 read arabic"/>
          <p:cNvSpPr txBox="1"/>
          <p:nvPr/>
        </p:nvSpPr>
        <p:spPr>
          <a:xfrm>
            <a:off x="365760" y="1552321"/>
            <a:ext cx="3886200" cy="981151"/>
          </a:xfrm>
          <a:prstGeom prst="rect">
            <a:avLst/>
          </a:prstGeom>
          <a:noFill/>
          <a:ln/>
        </p:spPr>
        <p:txBody>
          <a:bodyPr wrap="none" lIns="0" tIns="0" rIns="0" bIns="0" rtlCol="0" anchor="ctr"/>
          <a:lstStyle/>
          <a:p>
            <a:pPr algn="ctr" indent="0" marL="0">
              <a:buNone/>
            </a:pPr>
            <a:r>
              <a:rPr lang="ar-SA" altLang="en-US" sz="3500" dirty="0">
                <a:solidFill>
                  <a:srgbClr val="2F9E44"/>
                </a:solidFill>
                <a:latin typeface="Traditional Arabic" pitchFamily="34" charset="0"/>
                <a:ea typeface="Traditional Arabic" pitchFamily="34" charset="-122"/>
                <a:cs typeface="Traditional Arabic" pitchFamily="34" charset="-120"/>
              </a:rPr>
              <a:t>اَ</a:t>
            </a:r>
            <a:r>
              <a:rPr lang="ar-SA" altLang="en-US" sz="3500" dirty="0">
                <a:solidFill>
                  <a:srgbClr val="16213E"/>
                </a:solidFill>
                <a:latin typeface="Traditional Arabic" pitchFamily="34" charset="0"/>
                <a:ea typeface="Traditional Arabic" pitchFamily="34" charset="-122"/>
                <a:cs typeface="Traditional Arabic" pitchFamily="34" charset="-120"/>
              </a:rPr>
              <a:t>لۡحَمۡدُ</a:t>
            </a:r>
            <a:endParaRPr lang="ar-SA" sz="3500" dirty="0"/>
          </a:p>
        </p:txBody>
      </p:sp>
      <p:sp>
        <p:nvSpPr>
          <p:cNvPr id="19"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Al-ham-du</a:t>
            </a:r>
            <a:endParaRPr lang="en-US" sz="3000" dirty="0"/>
          </a:p>
        </p:txBody>
      </p:sp>
      <p:sp>
        <p:nvSpPr>
          <p:cNvPr id="20"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1"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Every word that starts with al- : say 'a' at the start.</a:t>
            </a:r>
            <a:endParaRPr lang="en-US" sz="2200" dirty="0"/>
          </a:p>
        </p:txBody>
      </p:sp>
    </p:spTree>
  </p:cSld>
  <p:clrMapOvr>
    <a:masterClrMapping/>
  </p:clrMapOvr>
  <p:transition spd="med">
    <p:randomBar dir="vert"/>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5C9F7"/>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D6C25C"/>
          </a:solidFill>
          <a:ln w="12700">
            <a:solidFill>
              <a:srgbClr val="D6C25C"/>
            </a:solidFill>
            <a:prstDash val="solid"/>
          </a:ln>
        </p:spPr>
      </p:sp>
      <p:sp>
        <p:nvSpPr>
          <p:cNvPr id="3" name="Deco sea floor"/>
          <p:cNvSpPr/>
          <p:nvPr/>
        </p:nvSpPr>
        <p:spPr>
          <a:xfrm>
            <a:off x="0" y="4709160"/>
            <a:ext cx="9144000" cy="457200"/>
          </a:xfrm>
          <a:prstGeom prst="rect">
            <a:avLst/>
          </a:prstGeom>
          <a:solidFill>
            <a:srgbClr val="CCBF33"/>
          </a:solidFill>
          <a:ln w="12700">
            <a:solidFill>
              <a:srgbClr val="CCBF33"/>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1"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Case 1: before al- → start with 'a'</a:t>
            </a:r>
            <a:endParaRPr lang="en-US" sz="22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836330"/>
            <a:ext cx="3886200" cy="1353312"/>
          </a:xfrm>
          <a:prstGeom prst="rect">
            <a:avLst/>
          </a:prstGeom>
          <a:noFill/>
          <a:ln/>
        </p:spPr>
        <p:txBody>
          <a:bodyPr wrap="none" lIns="0" tIns="0" rIns="0" bIns="0" rtlCol="0" anchor="ctr"/>
          <a:lstStyle/>
          <a:p>
            <a:pPr algn="ctr" indent="0" marL="0">
              <a:buNone/>
            </a:pPr>
            <a:r>
              <a:rPr lang="ar-SA" altLang="en-US" sz="5200" dirty="0">
                <a:solidFill>
                  <a:srgbClr val="E03131"/>
                </a:solidFill>
                <a:latin typeface="Traditional Arabic" pitchFamily="34" charset="0"/>
                <a:ea typeface="Traditional Arabic" pitchFamily="34" charset="-122"/>
                <a:cs typeface="Traditional Arabic" pitchFamily="34" charset="-120"/>
              </a:rPr>
              <a:t>ٱ</a:t>
            </a:r>
            <a:r>
              <a:rPr lang="ar-SA" altLang="en-US" sz="5200" dirty="0">
                <a:solidFill>
                  <a:srgbClr val="16213E"/>
                </a:solidFill>
                <a:latin typeface="Traditional Arabic" pitchFamily="34" charset="0"/>
                <a:ea typeface="Traditional Arabic" pitchFamily="34" charset="-122"/>
                <a:cs typeface="Traditional Arabic" pitchFamily="34" charset="-120"/>
              </a:rPr>
              <a:t>للَّهُ</a:t>
            </a:r>
            <a:endParaRPr lang="ar-SA" sz="5200" dirty="0"/>
          </a:p>
        </p:txBody>
      </p:sp>
      <p:sp>
        <p:nvSpPr>
          <p:cNvPr id="15" name="C2 arrow"/>
          <p:cNvSpPr/>
          <p:nvPr/>
        </p:nvSpPr>
        <p:spPr>
          <a:xfrm>
            <a:off x="4315968" y="2125980"/>
            <a:ext cx="512064" cy="457200"/>
          </a:xfrm>
          <a:prstGeom prst="leftArrow">
            <a:avLst/>
          </a:prstGeom>
          <a:solidFill>
            <a:srgbClr val="67B82E"/>
          </a:solidFill>
          <a:ln w="12700">
            <a:solidFill>
              <a:srgbClr val="333333"/>
            </a:solidFill>
            <a:prstDash val="solid"/>
          </a:ln>
        </p:spPr>
      </p:sp>
      <p:sp>
        <p:nvSpPr>
          <p:cNvPr id="16" name="C2 read arabic"/>
          <p:cNvSpPr txBox="1"/>
          <p:nvPr/>
        </p:nvSpPr>
        <p:spPr>
          <a:xfrm>
            <a:off x="365760" y="1624269"/>
            <a:ext cx="3886200" cy="981151"/>
          </a:xfrm>
          <a:prstGeom prst="rect">
            <a:avLst/>
          </a:prstGeom>
          <a:noFill/>
          <a:ln/>
        </p:spPr>
        <p:txBody>
          <a:bodyPr wrap="none" lIns="0" tIns="0" rIns="0" bIns="0" rtlCol="0" anchor="ctr"/>
          <a:lstStyle/>
          <a:p>
            <a:pPr algn="ctr" indent="0" marL="0">
              <a:buNone/>
            </a:pPr>
            <a:r>
              <a:rPr lang="ar-SA" altLang="en-US" sz="3500" dirty="0">
                <a:solidFill>
                  <a:srgbClr val="2F9E44"/>
                </a:solidFill>
                <a:latin typeface="Traditional Arabic" pitchFamily="34" charset="0"/>
                <a:ea typeface="Traditional Arabic" pitchFamily="34" charset="-122"/>
                <a:cs typeface="Traditional Arabic" pitchFamily="34" charset="-120"/>
              </a:rPr>
              <a:t>اَ</a:t>
            </a:r>
            <a:r>
              <a:rPr lang="ar-SA" altLang="en-US" sz="3500" dirty="0">
                <a:solidFill>
                  <a:srgbClr val="16213E"/>
                </a:solidFill>
                <a:latin typeface="Traditional Arabic" pitchFamily="34" charset="0"/>
                <a:ea typeface="Traditional Arabic" pitchFamily="34" charset="-122"/>
                <a:cs typeface="Traditional Arabic" pitchFamily="34" charset="-120"/>
              </a:rPr>
              <a:t>للَّهُ</a:t>
            </a:r>
            <a:endParaRPr lang="ar-SA" sz="3500" dirty="0"/>
          </a:p>
        </p:txBody>
      </p:sp>
      <p:sp>
        <p:nvSpPr>
          <p:cNvPr id="17"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Al-laa-hu</a:t>
            </a:r>
            <a:endParaRPr lang="en-US" sz="30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19" name="C3 tip"/>
          <p:cNvSpPr txBox="1"/>
          <p:nvPr/>
        </p:nvSpPr>
        <p:spPr>
          <a:xfrm>
            <a:off x="502920" y="340715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The Name of Allah is the same: start with 'a'.</a:t>
            </a:r>
            <a:endParaRPr lang="en-US" sz="2200" dirty="0"/>
          </a:p>
        </p:txBody>
      </p:sp>
    </p:spTree>
  </p:cSld>
  <p:clrMapOvr>
    <a:masterClrMapping/>
  </p:clrMapOvr>
  <p:transition spd="med">
    <p:push dir="l"/>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CFC5"/>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66C653"/>
          </a:solidFill>
          <a:ln w="12700">
            <a:solidFill>
              <a:srgbClr val="66C653"/>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ED5E70"/>
          </a:solidFill>
          <a:ln w="12700">
            <a:solidFill>
              <a:srgbClr val="ED5E70"/>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9"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Case 2: special nouns → start with 'i'</a:t>
            </a:r>
            <a:endParaRPr lang="en-US" sz="1800" dirty="0"/>
          </a:p>
        </p:txBody>
      </p:sp>
      <p:sp>
        <p:nvSpPr>
          <p:cNvPr id="20"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21"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22" name="C1 mushaf"/>
          <p:cNvSpPr txBox="1"/>
          <p:nvPr/>
        </p:nvSpPr>
        <p:spPr>
          <a:xfrm>
            <a:off x="4892040" y="1763475"/>
            <a:ext cx="3886200" cy="1353312"/>
          </a:xfrm>
          <a:prstGeom prst="rect">
            <a:avLst/>
          </a:prstGeom>
          <a:noFill/>
          <a:ln/>
        </p:spPr>
        <p:txBody>
          <a:bodyPr wrap="none" lIns="0" tIns="0" rIns="0" bIns="0" rtlCol="0" anchor="ctr"/>
          <a:lstStyle/>
          <a:p>
            <a:pPr algn="ctr" indent="0" marL="0">
              <a:buNone/>
            </a:pP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سۡمُهُۥٓ أَحۡمَدُ</a:t>
            </a:r>
            <a:endParaRPr lang="ar-SA" sz="5000" dirty="0"/>
          </a:p>
        </p:txBody>
      </p:sp>
      <p:sp>
        <p:nvSpPr>
          <p:cNvPr id="23" name="C2 arrow"/>
          <p:cNvSpPr/>
          <p:nvPr/>
        </p:nvSpPr>
        <p:spPr>
          <a:xfrm>
            <a:off x="4315968" y="2125980"/>
            <a:ext cx="512064" cy="457200"/>
          </a:xfrm>
          <a:prstGeom prst="leftArrow">
            <a:avLst/>
          </a:prstGeom>
          <a:solidFill>
            <a:srgbClr val="2E3FB8"/>
          </a:solidFill>
          <a:ln w="12700">
            <a:solidFill>
              <a:srgbClr val="333333"/>
            </a:solidFill>
            <a:prstDash val="solid"/>
          </a:ln>
        </p:spPr>
      </p:sp>
      <p:sp>
        <p:nvSpPr>
          <p:cNvPr id="24" name="C2 read arabic"/>
          <p:cNvSpPr txBox="1"/>
          <p:nvPr/>
        </p:nvSpPr>
        <p:spPr>
          <a:xfrm>
            <a:off x="365760" y="1563374"/>
            <a:ext cx="3886200" cy="981151"/>
          </a:xfrm>
          <a:prstGeom prst="rect">
            <a:avLst/>
          </a:prstGeom>
          <a:noFill/>
          <a:ln/>
        </p:spPr>
        <p:txBody>
          <a:bodyPr wrap="none" lIns="0" tIns="0" rIns="0" bIns="0" rtlCol="0" anchor="ctr"/>
          <a:lstStyle/>
          <a:p>
            <a:pPr algn="ctr" indent="0" marL="0">
              <a:buNone/>
            </a:pPr>
            <a:r>
              <a:rPr lang="ar-SA" altLang="en-US" sz="3300" dirty="0">
                <a:solidFill>
                  <a:srgbClr val="2F9E44"/>
                </a:solidFill>
                <a:latin typeface="Traditional Arabic" pitchFamily="34" charset="0"/>
                <a:ea typeface="Traditional Arabic" pitchFamily="34" charset="-122"/>
                <a:cs typeface="Traditional Arabic" pitchFamily="34" charset="-120"/>
              </a:rPr>
              <a:t>اِ</a:t>
            </a:r>
            <a:r>
              <a:rPr lang="ar-SA" altLang="en-US" sz="3300" dirty="0">
                <a:solidFill>
                  <a:srgbClr val="16213E"/>
                </a:solidFill>
                <a:latin typeface="Traditional Arabic" pitchFamily="34" charset="0"/>
                <a:ea typeface="Traditional Arabic" pitchFamily="34" charset="-122"/>
                <a:cs typeface="Traditional Arabic" pitchFamily="34" charset="-120"/>
              </a:rPr>
              <a:t>سۡمُهُۥٓ أَحۡمَدُ</a:t>
            </a:r>
            <a:endParaRPr lang="ar-SA" sz="3300" dirty="0"/>
          </a:p>
        </p:txBody>
      </p:sp>
      <p:sp>
        <p:nvSpPr>
          <p:cNvPr id="25"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Is-mu-hoo Ah-mad</a:t>
            </a:r>
            <a:endParaRPr lang="en-US" sz="3000" dirty="0"/>
          </a:p>
        </p:txBody>
      </p:sp>
      <p:sp>
        <p:nvSpPr>
          <p:cNvPr id="26"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7" name="C3 tip"/>
          <p:cNvSpPr txBox="1"/>
          <p:nvPr/>
        </p:nvSpPr>
        <p:spPr>
          <a:xfrm>
            <a:off x="502920" y="3382264"/>
            <a:ext cx="8138160" cy="768096"/>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Special nouns: ism, ibn, ibnah, imru', imra'ah, ithnaan, ithnataan.</a:t>
            </a:r>
            <a:endParaRPr lang="en-US" sz="1900" dirty="0"/>
          </a:p>
        </p:txBody>
      </p:sp>
    </p:spTree>
  </p:cSld>
  <p:clrMapOvr>
    <a:masterClrMapping/>
  </p:clrMapOvr>
  <p:transition spd="med">
    <p:split orient="vert" dir="out"/>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432B"/>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52E0E0"/>
          </a:solidFill>
          <a:ln w="12700">
            <a:solidFill>
              <a:srgbClr val="52E0E0"/>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8CBFF2"/>
            </a:solidFill>
            <a:prstDash val="solid"/>
          </a:ln>
        </p:spPr>
      </p:sp>
      <p:sp>
        <p:nvSpPr>
          <p:cNvPr id="4" name="Deco small planet"/>
          <p:cNvSpPr/>
          <p:nvPr/>
        </p:nvSpPr>
        <p:spPr>
          <a:xfrm>
            <a:off x="274320" y="182880"/>
            <a:ext cx="502920" cy="502920"/>
          </a:xfrm>
          <a:prstGeom prst="ellipse">
            <a:avLst/>
          </a:prstGeom>
          <a:solidFill>
            <a:srgbClr val="DB70A6"/>
          </a:solidFill>
          <a:ln w="12700">
            <a:solidFill>
              <a:srgbClr val="DB70A6"/>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857A47"/>
          </a:solidFill>
          <a:ln w="12700">
            <a:solidFill>
              <a:srgbClr val="857A47"/>
            </a:solidFill>
            <a:prstDash val="solid"/>
          </a:ln>
        </p:spPr>
      </p:sp>
      <p:sp>
        <p:nvSpPr>
          <p:cNvPr id="15"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6"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Case 2: special nouns → start with 'i'</a:t>
            </a:r>
            <a:endParaRPr lang="en-US" sz="1800" dirty="0"/>
          </a:p>
        </p:txBody>
      </p:sp>
      <p:sp>
        <p:nvSpPr>
          <p:cNvPr id="17"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8"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9" name="C1 mushaf"/>
          <p:cNvSpPr txBox="1"/>
          <p:nvPr/>
        </p:nvSpPr>
        <p:spPr>
          <a:xfrm>
            <a:off x="4892040" y="1618336"/>
            <a:ext cx="3886200" cy="1353312"/>
          </a:xfrm>
          <a:prstGeom prst="rect">
            <a:avLst/>
          </a:prstGeom>
          <a:noFill/>
          <a:ln/>
        </p:spPr>
        <p:txBody>
          <a:bodyPr wrap="none" lIns="0" tIns="0" rIns="0" bIns="0" rtlCol="0" anchor="ctr"/>
          <a:lstStyle/>
          <a:p>
            <a:pPr algn="ctr" indent="0" marL="0">
              <a:buNone/>
            </a:pPr>
            <a:r>
              <a:rPr lang="ar-SA" altLang="en-US" sz="5100" dirty="0">
                <a:solidFill>
                  <a:srgbClr val="E03131"/>
                </a:solidFill>
                <a:latin typeface="Traditional Arabic" pitchFamily="34" charset="0"/>
                <a:ea typeface="Traditional Arabic" pitchFamily="34" charset="-122"/>
                <a:cs typeface="Traditional Arabic" pitchFamily="34" charset="-120"/>
              </a:rPr>
              <a:t>ٱ</a:t>
            </a:r>
            <a:r>
              <a:rPr lang="ar-SA" altLang="en-US" sz="5100" dirty="0">
                <a:solidFill>
                  <a:srgbClr val="16213E"/>
                </a:solidFill>
                <a:latin typeface="Traditional Arabic" pitchFamily="34" charset="0"/>
                <a:ea typeface="Traditional Arabic" pitchFamily="34" charset="-122"/>
                <a:cs typeface="Traditional Arabic" pitchFamily="34" charset="-120"/>
              </a:rPr>
              <a:t>بۡنُ مَرۡيَمَ</a:t>
            </a:r>
            <a:endParaRPr lang="ar-SA" sz="5100" dirty="0"/>
          </a:p>
        </p:txBody>
      </p:sp>
      <p:sp>
        <p:nvSpPr>
          <p:cNvPr id="20" name="C2 arrow"/>
          <p:cNvSpPr/>
          <p:nvPr/>
        </p:nvSpPr>
        <p:spPr>
          <a:xfrm>
            <a:off x="4315968" y="2125980"/>
            <a:ext cx="512064" cy="457200"/>
          </a:xfrm>
          <a:prstGeom prst="leftArrow">
            <a:avLst/>
          </a:prstGeom>
          <a:solidFill>
            <a:srgbClr val="B8452E"/>
          </a:solidFill>
          <a:ln w="12700">
            <a:solidFill>
              <a:srgbClr val="333333"/>
            </a:solidFill>
            <a:prstDash val="solid"/>
          </a:ln>
        </p:spPr>
      </p:sp>
      <p:sp>
        <p:nvSpPr>
          <p:cNvPr id="21" name="C2 read arabic"/>
          <p:cNvSpPr txBox="1"/>
          <p:nvPr/>
        </p:nvSpPr>
        <p:spPr>
          <a:xfrm>
            <a:off x="365760" y="1458887"/>
            <a:ext cx="3886200" cy="981151"/>
          </a:xfrm>
          <a:prstGeom prst="rect">
            <a:avLst/>
          </a:prstGeom>
          <a:noFill/>
          <a:ln/>
        </p:spPr>
        <p:txBody>
          <a:bodyPr wrap="none" lIns="0" tIns="0" rIns="0" bIns="0" rtlCol="0" anchor="ctr"/>
          <a:lstStyle/>
          <a:p>
            <a:pPr algn="ctr" indent="0" marL="0">
              <a:buNone/>
            </a:pPr>
            <a:r>
              <a:rPr lang="ar-SA" altLang="en-US" sz="3400" dirty="0">
                <a:solidFill>
                  <a:srgbClr val="2F9E44"/>
                </a:solidFill>
                <a:latin typeface="Traditional Arabic" pitchFamily="34" charset="0"/>
                <a:ea typeface="Traditional Arabic" pitchFamily="34" charset="-122"/>
                <a:cs typeface="Traditional Arabic" pitchFamily="34" charset="-120"/>
              </a:rPr>
              <a:t>اِ</a:t>
            </a:r>
            <a:r>
              <a:rPr lang="ar-SA" altLang="en-US" sz="3400" dirty="0">
                <a:solidFill>
                  <a:srgbClr val="16213E"/>
                </a:solidFill>
                <a:latin typeface="Traditional Arabic" pitchFamily="34" charset="0"/>
                <a:ea typeface="Traditional Arabic" pitchFamily="34" charset="-122"/>
                <a:cs typeface="Traditional Arabic" pitchFamily="34" charset="-120"/>
              </a:rPr>
              <a:t>بۡنُ مَرۡيَمَ</a:t>
            </a:r>
            <a:endParaRPr lang="ar-SA" sz="3400" dirty="0"/>
          </a:p>
        </p:txBody>
      </p:sp>
      <p:sp>
        <p:nvSpPr>
          <p:cNvPr id="22" name="C2 read sounds"/>
          <p:cNvSpPr txBox="1"/>
          <p:nvPr/>
        </p:nvSpPr>
        <p:spPr>
          <a:xfrm>
            <a:off x="457200" y="2462479"/>
            <a:ext cx="3703320" cy="637337"/>
          </a:xfrm>
          <a:prstGeom prst="rect">
            <a:avLst/>
          </a:prstGeom>
          <a:noFill/>
          <a:ln/>
        </p:spPr>
        <p:txBody>
          <a:bodyPr wrap="none" lIns="0" tIns="0" rIns="0" bIns="0" rtlCol="0" anchor="ctr"/>
          <a:lstStyle/>
          <a:p>
            <a:pPr algn="ctr" indent="0" marL="0">
              <a:buNone/>
            </a:pPr>
            <a:r>
              <a:rPr lang="en-US" sz="2700" b="1" dirty="0">
                <a:solidFill>
                  <a:srgbClr val="D9480F"/>
                </a:solidFill>
                <a:latin typeface="Arial" pitchFamily="34" charset="0"/>
                <a:ea typeface="Arial" pitchFamily="34" charset="-122"/>
                <a:cs typeface="Arial" pitchFamily="34" charset="-120"/>
              </a:rPr>
              <a:t>Ib-nu Mar-yam</a:t>
            </a:r>
            <a:endParaRPr lang="en-US" sz="2700" dirty="0"/>
          </a:p>
        </p:txBody>
      </p:sp>
      <p:sp>
        <p:nvSpPr>
          <p:cNvPr id="23"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4"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Ibn = son. Starting: 'i'.</a:t>
            </a:r>
            <a:endParaRPr lang="en-US" sz="2200" dirty="0"/>
          </a:p>
        </p:txBody>
      </p:sp>
    </p:spTree>
  </p:cSld>
  <p:clrMapOvr>
    <a:masterClrMapping/>
  </p:clrMapOvr>
  <p:transition spd="med">
    <p:pull dir="l"/>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C5F7"/>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D864C0"/>
          </a:solidFill>
          <a:ln w="12700">
            <a:solidFill>
              <a:srgbClr val="D864C0"/>
            </a:solidFill>
            <a:prstDash val="solid"/>
          </a:ln>
        </p:spPr>
      </p:sp>
      <p:sp>
        <p:nvSpPr>
          <p:cNvPr id="4" name="Deco dune right"/>
          <p:cNvSpPr/>
          <p:nvPr/>
        </p:nvSpPr>
        <p:spPr>
          <a:xfrm>
            <a:off x="5303520" y="4617720"/>
            <a:ext cx="5120640" cy="1280160"/>
          </a:xfrm>
          <a:prstGeom prst="ellipse">
            <a:avLst/>
          </a:prstGeom>
          <a:solidFill>
            <a:srgbClr val="D147CB"/>
          </a:solidFill>
          <a:ln w="12700">
            <a:solidFill>
              <a:srgbClr val="D147CB"/>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Case 2: special nouns → start with 'i'</a:t>
            </a:r>
            <a:endParaRPr lang="en-US" sz="18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28585"/>
            <a:ext cx="3886200" cy="1353312"/>
          </a:xfrm>
          <a:prstGeom prst="rect">
            <a:avLst/>
          </a:prstGeom>
          <a:noFill/>
          <a:ln/>
        </p:spPr>
        <p:txBody>
          <a:bodyPr wrap="none" lIns="0" tIns="0" rIns="0" bIns="0" rtlCol="0" anchor="ctr"/>
          <a:lstStyle/>
          <a:p>
            <a:pPr algn="ctr" indent="0" marL="0">
              <a:buNone/>
            </a:pPr>
            <a:r>
              <a:rPr lang="ar-SA" altLang="en-US" sz="4000" dirty="0">
                <a:solidFill>
                  <a:srgbClr val="E03131"/>
                </a:solidFill>
                <a:latin typeface="Traditional Arabic" pitchFamily="34" charset="0"/>
                <a:ea typeface="Traditional Arabic" pitchFamily="34" charset="-122"/>
                <a:cs typeface="Traditional Arabic" pitchFamily="34" charset="-120"/>
              </a:rPr>
              <a:t>ٱ</a:t>
            </a:r>
            <a:r>
              <a:rPr lang="ar-SA" altLang="en-US" sz="4000" dirty="0">
                <a:solidFill>
                  <a:srgbClr val="16213E"/>
                </a:solidFill>
                <a:latin typeface="Traditional Arabic" pitchFamily="34" charset="0"/>
                <a:ea typeface="Traditional Arabic" pitchFamily="34" charset="-122"/>
                <a:cs typeface="Traditional Arabic" pitchFamily="34" charset="-120"/>
              </a:rPr>
              <a:t>مۡرَأَتُ فِرۡعَوۡنَ</a:t>
            </a:r>
            <a:endParaRPr lang="ar-SA" sz="4000" dirty="0"/>
          </a:p>
        </p:txBody>
      </p:sp>
      <p:sp>
        <p:nvSpPr>
          <p:cNvPr id="15" name="C2 arrow"/>
          <p:cNvSpPr/>
          <p:nvPr/>
        </p:nvSpPr>
        <p:spPr>
          <a:xfrm>
            <a:off x="4315968" y="2125980"/>
            <a:ext cx="512064" cy="457200"/>
          </a:xfrm>
          <a:prstGeom prst="leftArrow">
            <a:avLst/>
          </a:prstGeom>
          <a:solidFill>
            <a:srgbClr val="2EB86D"/>
          </a:solidFill>
          <a:ln w="12700">
            <a:solidFill>
              <a:srgbClr val="333333"/>
            </a:solidFill>
            <a:prstDash val="solid"/>
          </a:ln>
        </p:spPr>
      </p:sp>
      <p:sp>
        <p:nvSpPr>
          <p:cNvPr id="16" name="C2 read arabic"/>
          <p:cNvSpPr txBox="1"/>
          <p:nvPr/>
        </p:nvSpPr>
        <p:spPr>
          <a:xfrm>
            <a:off x="365760" y="1549289"/>
            <a:ext cx="3886200" cy="981151"/>
          </a:xfrm>
          <a:prstGeom prst="rect">
            <a:avLst/>
          </a:prstGeom>
          <a:noFill/>
          <a:ln/>
        </p:spPr>
        <p:txBody>
          <a:bodyPr wrap="none" lIns="0" tIns="0" rIns="0" bIns="0" rtlCol="0" anchor="ctr"/>
          <a:lstStyle/>
          <a:p>
            <a:pPr algn="ctr" indent="0" marL="0">
              <a:buNone/>
            </a:pPr>
            <a:r>
              <a:rPr lang="ar-SA" altLang="en-US" sz="3200" dirty="0">
                <a:solidFill>
                  <a:srgbClr val="2F9E44"/>
                </a:solidFill>
                <a:latin typeface="Traditional Arabic" pitchFamily="34" charset="0"/>
                <a:ea typeface="Traditional Arabic" pitchFamily="34" charset="-122"/>
                <a:cs typeface="Traditional Arabic" pitchFamily="34" charset="-120"/>
              </a:rPr>
              <a:t>اِ</a:t>
            </a:r>
            <a:r>
              <a:rPr lang="ar-SA" altLang="en-US" sz="3200" dirty="0">
                <a:solidFill>
                  <a:srgbClr val="16213E"/>
                </a:solidFill>
                <a:latin typeface="Traditional Arabic" pitchFamily="34" charset="0"/>
                <a:ea typeface="Traditional Arabic" pitchFamily="34" charset="-122"/>
                <a:cs typeface="Traditional Arabic" pitchFamily="34" charset="-120"/>
              </a:rPr>
              <a:t>مۡرَأَتُ فِرۡعَوۡنَ</a:t>
            </a:r>
            <a:endParaRPr lang="ar-SA" sz="3200" dirty="0"/>
          </a:p>
        </p:txBody>
      </p:sp>
      <p:sp>
        <p:nvSpPr>
          <p:cNvPr id="17" name="C2 read sounds"/>
          <p:cNvSpPr txBox="1"/>
          <p:nvPr/>
        </p:nvSpPr>
        <p:spPr>
          <a:xfrm>
            <a:off x="457200" y="2497277"/>
            <a:ext cx="3703320" cy="637337"/>
          </a:xfrm>
          <a:prstGeom prst="rect">
            <a:avLst/>
          </a:prstGeom>
          <a:noFill/>
          <a:ln/>
        </p:spPr>
        <p:txBody>
          <a:bodyPr wrap="none" lIns="0" tIns="0" rIns="0" bIns="0" rtlCol="0" anchor="ctr"/>
          <a:lstStyle/>
          <a:p>
            <a:pPr algn="ctr" indent="0" marL="0">
              <a:buNone/>
            </a:pPr>
            <a:r>
              <a:rPr lang="en-US" sz="2900" b="1" dirty="0">
                <a:solidFill>
                  <a:srgbClr val="D9480F"/>
                </a:solidFill>
                <a:latin typeface="Arial" pitchFamily="34" charset="0"/>
                <a:ea typeface="Arial" pitchFamily="34" charset="-122"/>
                <a:cs typeface="Arial" pitchFamily="34" charset="-120"/>
              </a:rPr>
              <a:t>Im-ra-'a-tu Fir-'awn</a:t>
            </a:r>
            <a:endParaRPr lang="en-US" sz="29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19"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Imra'ah = woman / wife. Starting: 'i'.</a:t>
            </a:r>
            <a:endParaRPr lang="en-US" sz="2200" dirty="0"/>
          </a:p>
        </p:txBody>
      </p:sp>
    </p:spTree>
  </p:cSld>
  <p:clrMapOvr>
    <a:masterClrMapping/>
  </p:clrMapOvr>
  <p:transition spd="med">
    <p:fade/>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C5"/>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66CCAA"/>
          </a:solidFill>
          <a:ln w="12700">
            <a:solidFill>
              <a:srgbClr val="66CCAA"/>
            </a:solidFill>
            <a:prstDash val="solid"/>
          </a:ln>
        </p:spPr>
      </p:sp>
      <p:sp>
        <p:nvSpPr>
          <p:cNvPr id="3" name="Deco hill right"/>
          <p:cNvSpPr/>
          <p:nvPr/>
        </p:nvSpPr>
        <p:spPr>
          <a:xfrm>
            <a:off x="4023360" y="4526280"/>
            <a:ext cx="5852160" cy="1463040"/>
          </a:xfrm>
          <a:prstGeom prst="ellipse">
            <a:avLst/>
          </a:prstGeom>
          <a:solidFill>
            <a:srgbClr val="40BFBF"/>
          </a:solidFill>
          <a:ln w="12700">
            <a:solidFill>
              <a:srgbClr val="40BFBF"/>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2"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Case 3: verbs → count to the 3rd letter</a:t>
            </a:r>
            <a:endParaRPr lang="en-US" sz="2200" dirty="0"/>
          </a:p>
        </p:txBody>
      </p:sp>
      <p:sp>
        <p:nvSpPr>
          <p:cNvPr id="13" name="C1 circle 1"/>
          <p:cNvSpPr/>
          <p:nvPr/>
        </p:nvSpPr>
        <p:spPr>
          <a:xfrm>
            <a:off x="7498080" y="1668780"/>
            <a:ext cx="1143000" cy="1143000"/>
          </a:xfrm>
          <a:prstGeom prst="ellipse">
            <a:avLst/>
          </a:prstGeom>
          <a:solidFill>
            <a:srgbClr val="FFFFFF"/>
          </a:solidFill>
          <a:ln w="88900">
            <a:solidFill>
              <a:srgbClr val="1971C2"/>
            </a:solidFill>
            <a:prstDash val="solid"/>
          </a:ln>
        </p:spPr>
      </p:sp>
      <p:sp>
        <p:nvSpPr>
          <p:cNvPr id="14" name="C1 letter 1"/>
          <p:cNvSpPr txBox="1"/>
          <p:nvPr/>
        </p:nvSpPr>
        <p:spPr>
          <a:xfrm>
            <a:off x="7498080" y="1707782"/>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ٱ</a:t>
            </a:r>
            <a:endParaRPr lang="ar-SA" sz="3700" dirty="0"/>
          </a:p>
        </p:txBody>
      </p:sp>
      <p:sp>
        <p:nvSpPr>
          <p:cNvPr id="15" name="C1 number 1"/>
          <p:cNvSpPr txBox="1"/>
          <p:nvPr/>
        </p:nvSpPr>
        <p:spPr>
          <a:xfrm>
            <a:off x="7795260" y="2859977"/>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1</a:t>
            </a:r>
            <a:endParaRPr lang="en-US" sz="1300" dirty="0"/>
          </a:p>
        </p:txBody>
      </p:sp>
      <p:sp>
        <p:nvSpPr>
          <p:cNvPr id="16" name="C2 circle 2"/>
          <p:cNvSpPr/>
          <p:nvPr/>
        </p:nvSpPr>
        <p:spPr>
          <a:xfrm>
            <a:off x="6035040" y="1668780"/>
            <a:ext cx="1143000" cy="1143000"/>
          </a:xfrm>
          <a:prstGeom prst="ellipse">
            <a:avLst/>
          </a:prstGeom>
          <a:solidFill>
            <a:srgbClr val="FFFFFF"/>
          </a:solidFill>
          <a:ln w="88900">
            <a:solidFill>
              <a:srgbClr val="1971C2"/>
            </a:solidFill>
            <a:prstDash val="solid"/>
          </a:ln>
        </p:spPr>
      </p:sp>
      <p:sp>
        <p:nvSpPr>
          <p:cNvPr id="17" name="C2 letter 2"/>
          <p:cNvSpPr txBox="1"/>
          <p:nvPr/>
        </p:nvSpPr>
        <p:spPr>
          <a:xfrm>
            <a:off x="6035040" y="1654448"/>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دۡ</a:t>
            </a:r>
            <a:endParaRPr lang="ar-SA" sz="3700" dirty="0"/>
          </a:p>
        </p:txBody>
      </p:sp>
      <p:sp>
        <p:nvSpPr>
          <p:cNvPr id="18" name="C2 number 2"/>
          <p:cNvSpPr txBox="1"/>
          <p:nvPr/>
        </p:nvSpPr>
        <p:spPr>
          <a:xfrm>
            <a:off x="6332220" y="2861628"/>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2</a:t>
            </a:r>
            <a:endParaRPr lang="en-US" sz="1300" dirty="0"/>
          </a:p>
        </p:txBody>
      </p:sp>
      <p:sp>
        <p:nvSpPr>
          <p:cNvPr id="19" name="C3 circle 3"/>
          <p:cNvSpPr/>
          <p:nvPr/>
        </p:nvSpPr>
        <p:spPr>
          <a:xfrm>
            <a:off x="4572000" y="1668780"/>
            <a:ext cx="1143000" cy="1143000"/>
          </a:xfrm>
          <a:prstGeom prst="ellipse">
            <a:avLst/>
          </a:prstGeom>
          <a:solidFill>
            <a:srgbClr val="FFF3BF"/>
          </a:solidFill>
          <a:ln w="127000">
            <a:solidFill>
              <a:srgbClr val="D9480F"/>
            </a:solidFill>
            <a:prstDash val="solid"/>
          </a:ln>
        </p:spPr>
      </p:sp>
      <p:sp>
        <p:nvSpPr>
          <p:cNvPr id="20" name="C3 letter 3"/>
          <p:cNvSpPr txBox="1"/>
          <p:nvPr/>
        </p:nvSpPr>
        <p:spPr>
          <a:xfrm>
            <a:off x="4572000" y="1614976"/>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عُ</a:t>
            </a:r>
            <a:endParaRPr lang="ar-SA" sz="3700" dirty="0"/>
          </a:p>
        </p:txBody>
      </p:sp>
      <p:sp>
        <p:nvSpPr>
          <p:cNvPr id="21" name="C3 number 3"/>
          <p:cNvSpPr txBox="1"/>
          <p:nvPr/>
        </p:nvSpPr>
        <p:spPr>
          <a:xfrm>
            <a:off x="4869180" y="2859977"/>
            <a:ext cx="548640" cy="384048"/>
          </a:xfrm>
          <a:prstGeom prst="rect">
            <a:avLst/>
          </a:prstGeom>
          <a:noFill/>
          <a:ln/>
        </p:spPr>
        <p:txBody>
          <a:bodyPr wrap="none" lIns="0" tIns="0" rIns="0" bIns="0" rtlCol="0" anchor="ctr"/>
          <a:lstStyle/>
          <a:p>
            <a:pPr algn="ctr" indent="0" marL="0">
              <a:buNone/>
            </a:pPr>
            <a:r>
              <a:rPr lang="en-US" sz="1300" b="1" dirty="0">
                <a:solidFill>
                  <a:srgbClr val="D9480F"/>
                </a:solidFill>
                <a:latin typeface="Arial" pitchFamily="34" charset="0"/>
                <a:ea typeface="Arial" pitchFamily="34" charset="-122"/>
                <a:cs typeface="Arial" pitchFamily="34" charset="-120"/>
              </a:rPr>
              <a:t>3</a:t>
            </a:r>
            <a:endParaRPr lang="en-US" sz="1300" dirty="0"/>
          </a:p>
        </p:txBody>
      </p:sp>
      <p:sp>
        <p:nvSpPr>
          <p:cNvPr id="22" name="C4 result panel"/>
          <p:cNvSpPr/>
          <p:nvPr/>
        </p:nvSpPr>
        <p:spPr>
          <a:xfrm>
            <a:off x="365760" y="1554480"/>
            <a:ext cx="3840480" cy="1463040"/>
          </a:xfrm>
          <a:prstGeom prst="roundRect">
            <a:avLst>
              <a:gd name="adj" fmla="val 15625"/>
            </a:avLst>
          </a:prstGeom>
          <a:solidFill>
            <a:srgbClr val="FFFBE3"/>
          </a:solidFill>
          <a:ln w="76200">
            <a:solidFill>
              <a:srgbClr val="F2B134"/>
            </a:solidFill>
            <a:prstDash val="solid"/>
          </a:ln>
        </p:spPr>
      </p:sp>
      <p:sp>
        <p:nvSpPr>
          <p:cNvPr id="23" name="C4 read arabic"/>
          <p:cNvSpPr txBox="1"/>
          <p:nvPr/>
        </p:nvSpPr>
        <p:spPr>
          <a:xfrm>
            <a:off x="365760" y="1554430"/>
            <a:ext cx="3840480" cy="907085"/>
          </a:xfrm>
          <a:prstGeom prst="rect">
            <a:avLst/>
          </a:prstGeom>
          <a:noFill/>
          <a:ln/>
        </p:spPr>
        <p:txBody>
          <a:bodyPr wrap="none" lIns="0" tIns="0" rIns="0" bIns="0" rtlCol="0" anchor="ctr"/>
          <a:lstStyle/>
          <a:p>
            <a:pPr algn="ctr" indent="0" marL="0">
              <a:buNone/>
            </a:pPr>
            <a:r>
              <a:rPr lang="ar-SA" altLang="en-US" sz="2900" dirty="0">
                <a:solidFill>
                  <a:srgbClr val="2F9E44"/>
                </a:solidFill>
                <a:latin typeface="Traditional Arabic" pitchFamily="34" charset="0"/>
                <a:ea typeface="Traditional Arabic" pitchFamily="34" charset="-122"/>
                <a:cs typeface="Traditional Arabic" pitchFamily="34" charset="-120"/>
              </a:rPr>
              <a:t>اُ</a:t>
            </a:r>
            <a:r>
              <a:rPr lang="ar-SA" altLang="en-US" sz="2900" dirty="0">
                <a:solidFill>
                  <a:srgbClr val="16213E"/>
                </a:solidFill>
                <a:latin typeface="Traditional Arabic" pitchFamily="34" charset="0"/>
                <a:ea typeface="Traditional Arabic" pitchFamily="34" charset="-122"/>
                <a:cs typeface="Traditional Arabic" pitchFamily="34" charset="-120"/>
              </a:rPr>
              <a:t>دۡعُ</a:t>
            </a:r>
            <a:endParaRPr lang="ar-SA" sz="2900" dirty="0"/>
          </a:p>
        </p:txBody>
      </p:sp>
      <p:sp>
        <p:nvSpPr>
          <p:cNvPr id="24" name="C4 read sounds"/>
          <p:cNvSpPr txBox="1"/>
          <p:nvPr/>
        </p:nvSpPr>
        <p:spPr>
          <a:xfrm>
            <a:off x="457200" y="2467153"/>
            <a:ext cx="3657600" cy="501091"/>
          </a:xfrm>
          <a:prstGeom prst="rect">
            <a:avLst/>
          </a:prstGeom>
          <a:noFill/>
          <a:ln/>
        </p:spPr>
        <p:txBody>
          <a:bodyPr wrap="none" lIns="0" tIns="0" rIns="0" bIns="0" rtlCol="0" anchor="ctr"/>
          <a:lstStyle/>
          <a:p>
            <a:pPr algn="ctr" indent="0" marL="0">
              <a:buNone/>
            </a:pPr>
            <a:r>
              <a:rPr lang="en-US" sz="2200" b="1" dirty="0">
                <a:solidFill>
                  <a:srgbClr val="D9480F"/>
                </a:solidFill>
                <a:latin typeface="Arial" pitchFamily="34" charset="0"/>
                <a:ea typeface="Arial" pitchFamily="34" charset="-122"/>
                <a:cs typeface="Arial" pitchFamily="34" charset="-120"/>
              </a:rPr>
              <a:t>Ud-'u</a:t>
            </a:r>
            <a:endParaRPr lang="en-US" sz="2200" dirty="0"/>
          </a:p>
        </p:txBody>
      </p:sp>
      <p:sp>
        <p:nvSpPr>
          <p:cNvPr id="25" name="C4 arrow"/>
          <p:cNvSpPr/>
          <p:nvPr/>
        </p:nvSpPr>
        <p:spPr>
          <a:xfrm>
            <a:off x="4297680" y="2039112"/>
            <a:ext cx="228600" cy="402336"/>
          </a:xfrm>
          <a:prstGeom prst="leftArrow">
            <a:avLst/>
          </a:prstGeom>
          <a:solidFill>
            <a:srgbClr val="952EB8"/>
          </a:solidFill>
          <a:ln w="12700">
            <a:solidFill>
              <a:srgbClr val="333333"/>
            </a:solidFill>
            <a:prstDash val="solid"/>
          </a:ln>
        </p:spPr>
      </p:sp>
      <p:sp>
        <p:nvSpPr>
          <p:cNvPr id="26" name="C5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7" name="C5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3rd letter has a dammah (u)  →  start with 'u'.</a:t>
            </a:r>
            <a:endParaRPr lang="en-US" sz="2200" dirty="0"/>
          </a:p>
        </p:txBody>
      </p:sp>
    </p:spTree>
  </p:cSld>
  <p:clrMapOvr>
    <a:masterClrMapping/>
  </p:clrMapOvr>
  <p:transition spd="med">
    <p:cover dir="l"/>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3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35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5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5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35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35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35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35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35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143"/>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2B3264"/>
          </a:solidFill>
          <a:ln w="12700">
            <a:solidFill>
              <a:srgbClr val="2B3264"/>
            </a:solidFill>
            <a:prstDash val="solid"/>
          </a:ln>
        </p:spPr>
      </p:sp>
      <p:sp>
        <p:nvSpPr>
          <p:cNvPr id="11" name="Deco hill right"/>
          <p:cNvSpPr/>
          <p:nvPr/>
        </p:nvSpPr>
        <p:spPr>
          <a:xfrm>
            <a:off x="4206240" y="4572000"/>
            <a:ext cx="5669280" cy="1463040"/>
          </a:xfrm>
          <a:prstGeom prst="ellipse">
            <a:avLst/>
          </a:prstGeom>
          <a:solidFill>
            <a:srgbClr val="4E3479"/>
          </a:solidFill>
          <a:ln w="12700">
            <a:solidFill>
              <a:srgbClr val="4E3479"/>
            </a:solidFill>
            <a:prstDash val="solid"/>
          </a:ln>
        </p:spPr>
      </p:sp>
      <p:sp>
        <p:nvSpPr>
          <p:cNvPr id="12"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3"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Case 3: verbs → count to the 3rd letter</a:t>
            </a:r>
            <a:endParaRPr lang="en-US" sz="2200" dirty="0"/>
          </a:p>
        </p:txBody>
      </p:sp>
      <p:sp>
        <p:nvSpPr>
          <p:cNvPr id="14" name="C1 circle 1"/>
          <p:cNvSpPr/>
          <p:nvPr/>
        </p:nvSpPr>
        <p:spPr>
          <a:xfrm>
            <a:off x="7498080" y="1668780"/>
            <a:ext cx="1143000" cy="1143000"/>
          </a:xfrm>
          <a:prstGeom prst="ellipse">
            <a:avLst/>
          </a:prstGeom>
          <a:solidFill>
            <a:srgbClr val="FFFFFF"/>
          </a:solidFill>
          <a:ln w="88900">
            <a:solidFill>
              <a:srgbClr val="1971C2"/>
            </a:solidFill>
            <a:prstDash val="solid"/>
          </a:ln>
        </p:spPr>
      </p:sp>
      <p:sp>
        <p:nvSpPr>
          <p:cNvPr id="15" name="C1 letter 1"/>
          <p:cNvSpPr txBox="1"/>
          <p:nvPr/>
        </p:nvSpPr>
        <p:spPr>
          <a:xfrm>
            <a:off x="7498080" y="1707782"/>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ٱ</a:t>
            </a:r>
            <a:endParaRPr lang="ar-SA" sz="3700" dirty="0"/>
          </a:p>
        </p:txBody>
      </p:sp>
      <p:sp>
        <p:nvSpPr>
          <p:cNvPr id="16" name="C1 number 1"/>
          <p:cNvSpPr txBox="1"/>
          <p:nvPr/>
        </p:nvSpPr>
        <p:spPr>
          <a:xfrm>
            <a:off x="7795260" y="2859977"/>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1</a:t>
            </a:r>
            <a:endParaRPr lang="en-US" sz="1300" dirty="0"/>
          </a:p>
        </p:txBody>
      </p:sp>
      <p:sp>
        <p:nvSpPr>
          <p:cNvPr id="17" name="C2 circle 2"/>
          <p:cNvSpPr/>
          <p:nvPr/>
        </p:nvSpPr>
        <p:spPr>
          <a:xfrm>
            <a:off x="6035040" y="1668780"/>
            <a:ext cx="1143000" cy="1143000"/>
          </a:xfrm>
          <a:prstGeom prst="ellipse">
            <a:avLst/>
          </a:prstGeom>
          <a:solidFill>
            <a:srgbClr val="FFFFFF"/>
          </a:solidFill>
          <a:ln w="88900">
            <a:solidFill>
              <a:srgbClr val="1971C2"/>
            </a:solidFill>
            <a:prstDash val="solid"/>
          </a:ln>
        </p:spPr>
      </p:sp>
      <p:sp>
        <p:nvSpPr>
          <p:cNvPr id="18" name="C2 letter 2"/>
          <p:cNvSpPr txBox="1"/>
          <p:nvPr/>
        </p:nvSpPr>
        <p:spPr>
          <a:xfrm>
            <a:off x="6035040" y="1654448"/>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هۡ</a:t>
            </a:r>
            <a:endParaRPr lang="ar-SA" sz="3700" dirty="0"/>
          </a:p>
        </p:txBody>
      </p:sp>
      <p:sp>
        <p:nvSpPr>
          <p:cNvPr id="19" name="C2 number 2"/>
          <p:cNvSpPr txBox="1"/>
          <p:nvPr/>
        </p:nvSpPr>
        <p:spPr>
          <a:xfrm>
            <a:off x="6332220" y="2861628"/>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2</a:t>
            </a:r>
            <a:endParaRPr lang="en-US" sz="1300" dirty="0"/>
          </a:p>
        </p:txBody>
      </p:sp>
      <p:sp>
        <p:nvSpPr>
          <p:cNvPr id="20" name="C3 circle 3"/>
          <p:cNvSpPr/>
          <p:nvPr/>
        </p:nvSpPr>
        <p:spPr>
          <a:xfrm>
            <a:off x="4572000" y="1668780"/>
            <a:ext cx="1143000" cy="1143000"/>
          </a:xfrm>
          <a:prstGeom prst="ellipse">
            <a:avLst/>
          </a:prstGeom>
          <a:solidFill>
            <a:srgbClr val="FFF3BF"/>
          </a:solidFill>
          <a:ln w="127000">
            <a:solidFill>
              <a:srgbClr val="D9480F"/>
            </a:solidFill>
            <a:prstDash val="solid"/>
          </a:ln>
        </p:spPr>
      </p:sp>
      <p:sp>
        <p:nvSpPr>
          <p:cNvPr id="21" name="C3 letter 3"/>
          <p:cNvSpPr txBox="1"/>
          <p:nvPr/>
        </p:nvSpPr>
        <p:spPr>
          <a:xfrm>
            <a:off x="4572000" y="1564640"/>
            <a:ext cx="1143000" cy="1143000"/>
          </a:xfrm>
          <a:prstGeom prst="rect">
            <a:avLst/>
          </a:prstGeom>
          <a:noFill/>
          <a:ln/>
        </p:spPr>
        <p:txBody>
          <a:bodyPr wrap="none" lIns="0" tIns="0" rIns="0" bIns="0" rtlCol="0" anchor="ctr"/>
          <a:lstStyle/>
          <a:p>
            <a:pPr rtl="1" algn="ctr" indent="0" marL="0">
              <a:buNone/>
            </a:pPr>
            <a:r>
              <a:rPr lang="ar-SA" altLang="en-US" sz="3700" dirty="0">
                <a:solidFill>
                  <a:srgbClr val="16213E"/>
                </a:solidFill>
                <a:latin typeface="Traditional Arabic" pitchFamily="34" charset="0"/>
                <a:ea typeface="Traditional Arabic" pitchFamily="34" charset="-122"/>
                <a:cs typeface="Traditional Arabic" pitchFamily="34" charset="-120"/>
              </a:rPr>
              <a:t>دِ</a:t>
            </a:r>
            <a:endParaRPr lang="ar-SA" sz="3700" dirty="0"/>
          </a:p>
        </p:txBody>
      </p:sp>
      <p:sp>
        <p:nvSpPr>
          <p:cNvPr id="22" name="C3 number 3"/>
          <p:cNvSpPr txBox="1"/>
          <p:nvPr/>
        </p:nvSpPr>
        <p:spPr>
          <a:xfrm>
            <a:off x="4869180" y="2859977"/>
            <a:ext cx="548640" cy="384048"/>
          </a:xfrm>
          <a:prstGeom prst="rect">
            <a:avLst/>
          </a:prstGeom>
          <a:noFill/>
          <a:ln/>
        </p:spPr>
        <p:txBody>
          <a:bodyPr wrap="none" lIns="0" tIns="0" rIns="0" bIns="0" rtlCol="0" anchor="ctr"/>
          <a:lstStyle/>
          <a:p>
            <a:pPr algn="ctr" indent="0" marL="0">
              <a:buNone/>
            </a:pPr>
            <a:r>
              <a:rPr lang="en-US" sz="1300" b="1" dirty="0">
                <a:solidFill>
                  <a:srgbClr val="D9480F"/>
                </a:solidFill>
                <a:latin typeface="Arial" pitchFamily="34" charset="0"/>
                <a:ea typeface="Arial" pitchFamily="34" charset="-122"/>
                <a:cs typeface="Arial" pitchFamily="34" charset="-120"/>
              </a:rPr>
              <a:t>3</a:t>
            </a:r>
            <a:endParaRPr lang="en-US" sz="1300" dirty="0"/>
          </a:p>
        </p:txBody>
      </p:sp>
      <p:sp>
        <p:nvSpPr>
          <p:cNvPr id="23" name="C4 result panel"/>
          <p:cNvSpPr/>
          <p:nvPr/>
        </p:nvSpPr>
        <p:spPr>
          <a:xfrm>
            <a:off x="365760" y="1554480"/>
            <a:ext cx="3840480" cy="1463040"/>
          </a:xfrm>
          <a:prstGeom prst="roundRect">
            <a:avLst>
              <a:gd name="adj" fmla="val 15625"/>
            </a:avLst>
          </a:prstGeom>
          <a:solidFill>
            <a:srgbClr val="FFFBE3"/>
          </a:solidFill>
          <a:ln w="76200">
            <a:solidFill>
              <a:srgbClr val="F2B134"/>
            </a:solidFill>
            <a:prstDash val="solid"/>
          </a:ln>
        </p:spPr>
      </p:sp>
      <p:sp>
        <p:nvSpPr>
          <p:cNvPr id="24" name="C4 read arabic"/>
          <p:cNvSpPr txBox="1"/>
          <p:nvPr/>
        </p:nvSpPr>
        <p:spPr>
          <a:xfrm>
            <a:off x="365760" y="1545976"/>
            <a:ext cx="3840480" cy="907085"/>
          </a:xfrm>
          <a:prstGeom prst="rect">
            <a:avLst/>
          </a:prstGeom>
          <a:noFill/>
          <a:ln/>
        </p:spPr>
        <p:txBody>
          <a:bodyPr wrap="none" lIns="0" tIns="0" rIns="0" bIns="0" rtlCol="0" anchor="ctr"/>
          <a:lstStyle/>
          <a:p>
            <a:pPr algn="ctr" indent="0" marL="0">
              <a:buNone/>
            </a:pPr>
            <a:r>
              <a:rPr lang="ar-SA" altLang="en-US" sz="3800" dirty="0">
                <a:solidFill>
                  <a:srgbClr val="2F9E44"/>
                </a:solidFill>
                <a:latin typeface="Traditional Arabic" pitchFamily="34" charset="0"/>
                <a:ea typeface="Traditional Arabic" pitchFamily="34" charset="-122"/>
                <a:cs typeface="Traditional Arabic" pitchFamily="34" charset="-120"/>
              </a:rPr>
              <a:t>اِ</a:t>
            </a:r>
            <a:r>
              <a:rPr lang="ar-SA" altLang="en-US" sz="3800" dirty="0">
                <a:solidFill>
                  <a:srgbClr val="16213E"/>
                </a:solidFill>
                <a:latin typeface="Traditional Arabic" pitchFamily="34" charset="0"/>
                <a:ea typeface="Traditional Arabic" pitchFamily="34" charset="-122"/>
                <a:cs typeface="Traditional Arabic" pitchFamily="34" charset="-120"/>
              </a:rPr>
              <a:t>هۡدِنَا</a:t>
            </a:r>
            <a:endParaRPr lang="ar-SA" sz="3800" dirty="0"/>
          </a:p>
        </p:txBody>
      </p:sp>
      <p:sp>
        <p:nvSpPr>
          <p:cNvPr id="25" name="C4 read sounds"/>
          <p:cNvSpPr txBox="1"/>
          <p:nvPr/>
        </p:nvSpPr>
        <p:spPr>
          <a:xfrm>
            <a:off x="457200" y="2467153"/>
            <a:ext cx="3657600" cy="501091"/>
          </a:xfrm>
          <a:prstGeom prst="rect">
            <a:avLst/>
          </a:prstGeom>
          <a:noFill/>
          <a:ln/>
        </p:spPr>
        <p:txBody>
          <a:bodyPr wrap="none" lIns="0" tIns="0" rIns="0" bIns="0" rtlCol="0" anchor="ctr"/>
          <a:lstStyle/>
          <a:p>
            <a:pPr algn="ctr" indent="0" marL="0">
              <a:buNone/>
            </a:pPr>
            <a:r>
              <a:rPr lang="en-US" sz="2200" b="1" dirty="0">
                <a:solidFill>
                  <a:srgbClr val="D9480F"/>
                </a:solidFill>
                <a:latin typeface="Arial" pitchFamily="34" charset="0"/>
                <a:ea typeface="Arial" pitchFamily="34" charset="-122"/>
                <a:cs typeface="Arial" pitchFamily="34" charset="-120"/>
              </a:rPr>
              <a:t>Ih-di-naa</a:t>
            </a:r>
            <a:endParaRPr lang="en-US" sz="2200" dirty="0"/>
          </a:p>
        </p:txBody>
      </p:sp>
      <p:sp>
        <p:nvSpPr>
          <p:cNvPr id="26" name="C4 arrow"/>
          <p:cNvSpPr/>
          <p:nvPr/>
        </p:nvSpPr>
        <p:spPr>
          <a:xfrm>
            <a:off x="4297680" y="2039112"/>
            <a:ext cx="228600" cy="402336"/>
          </a:xfrm>
          <a:prstGeom prst="leftArrow">
            <a:avLst/>
          </a:prstGeom>
          <a:solidFill>
            <a:srgbClr val="B2B82E"/>
          </a:solidFill>
          <a:ln w="12700">
            <a:solidFill>
              <a:srgbClr val="333333"/>
            </a:solidFill>
            <a:prstDash val="solid"/>
          </a:ln>
        </p:spPr>
      </p:sp>
      <p:sp>
        <p:nvSpPr>
          <p:cNvPr id="27" name="C5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8" name="C5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3rd letter has a kasrah (i)  →  start with 'i'.</a:t>
            </a:r>
            <a:endParaRPr lang="en-US" sz="2200" dirty="0"/>
          </a:p>
        </p:txBody>
      </p:sp>
    </p:spTree>
  </p:cSld>
  <p:clrMapOvr>
    <a:masterClrMapping/>
  </p:clrMapOvr>
  <p:transition spd="med">
    <p:zoom/>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35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35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35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35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35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5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35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3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3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3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35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35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C5D5"/>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5CD6C2"/>
          </a:solidFill>
          <a:ln w="12700">
            <a:solidFill>
              <a:srgbClr val="5CD6C2"/>
            </a:solidFill>
            <a:prstDash val="solid"/>
          </a:ln>
        </p:spPr>
      </p:sp>
      <p:sp>
        <p:nvSpPr>
          <p:cNvPr id="3" name="Deco sea floor"/>
          <p:cNvSpPr/>
          <p:nvPr/>
        </p:nvSpPr>
        <p:spPr>
          <a:xfrm>
            <a:off x="0" y="4709160"/>
            <a:ext cx="9144000" cy="457200"/>
          </a:xfrm>
          <a:prstGeom prst="rect">
            <a:avLst/>
          </a:prstGeom>
          <a:solidFill>
            <a:srgbClr val="33CCBF"/>
          </a:solidFill>
          <a:ln w="12700">
            <a:solidFill>
              <a:srgbClr val="33CCBF"/>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1"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Case 3: verbs → count to the 3rd letter</a:t>
            </a:r>
            <a:endParaRPr lang="en-US" sz="2200" dirty="0"/>
          </a:p>
        </p:txBody>
      </p:sp>
      <p:sp>
        <p:nvSpPr>
          <p:cNvPr id="12" name="C1 circle 1"/>
          <p:cNvSpPr/>
          <p:nvPr/>
        </p:nvSpPr>
        <p:spPr>
          <a:xfrm>
            <a:off x="7498080" y="1668780"/>
            <a:ext cx="1143000" cy="1143000"/>
          </a:xfrm>
          <a:prstGeom prst="ellipse">
            <a:avLst/>
          </a:prstGeom>
          <a:solidFill>
            <a:srgbClr val="FFFFFF"/>
          </a:solidFill>
          <a:ln w="88900">
            <a:solidFill>
              <a:srgbClr val="1971C2"/>
            </a:solidFill>
            <a:prstDash val="solid"/>
          </a:ln>
        </p:spPr>
      </p:sp>
      <p:sp>
        <p:nvSpPr>
          <p:cNvPr id="13" name="C1 letter 1"/>
          <p:cNvSpPr txBox="1"/>
          <p:nvPr/>
        </p:nvSpPr>
        <p:spPr>
          <a:xfrm>
            <a:off x="7498080" y="1705674"/>
            <a:ext cx="1143000" cy="1143000"/>
          </a:xfrm>
          <a:prstGeom prst="rect">
            <a:avLst/>
          </a:prstGeom>
          <a:noFill/>
          <a:ln/>
        </p:spPr>
        <p:txBody>
          <a:bodyPr wrap="none" lIns="0" tIns="0" rIns="0" bIns="0" rtlCol="0" anchor="ctr"/>
          <a:lstStyle/>
          <a:p>
            <a:pPr rtl="1" algn="ctr" indent="0" marL="0">
              <a:buNone/>
            </a:pPr>
            <a:r>
              <a:rPr lang="ar-SA" altLang="en-US" sz="3500" dirty="0">
                <a:solidFill>
                  <a:srgbClr val="16213E"/>
                </a:solidFill>
                <a:latin typeface="Traditional Arabic" pitchFamily="34" charset="0"/>
                <a:ea typeface="Traditional Arabic" pitchFamily="34" charset="-122"/>
                <a:cs typeface="Traditional Arabic" pitchFamily="34" charset="-120"/>
              </a:rPr>
              <a:t>ٱ</a:t>
            </a:r>
            <a:endParaRPr lang="ar-SA" sz="3500" dirty="0"/>
          </a:p>
        </p:txBody>
      </p:sp>
      <p:sp>
        <p:nvSpPr>
          <p:cNvPr id="14" name="C1 number 1"/>
          <p:cNvSpPr txBox="1"/>
          <p:nvPr/>
        </p:nvSpPr>
        <p:spPr>
          <a:xfrm>
            <a:off x="7795260" y="2859977"/>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1</a:t>
            </a:r>
            <a:endParaRPr lang="en-US" sz="1300" dirty="0"/>
          </a:p>
        </p:txBody>
      </p:sp>
      <p:sp>
        <p:nvSpPr>
          <p:cNvPr id="15" name="C2 circle 2"/>
          <p:cNvSpPr/>
          <p:nvPr/>
        </p:nvSpPr>
        <p:spPr>
          <a:xfrm>
            <a:off x="6035040" y="1668780"/>
            <a:ext cx="1143000" cy="1143000"/>
          </a:xfrm>
          <a:prstGeom prst="ellipse">
            <a:avLst/>
          </a:prstGeom>
          <a:solidFill>
            <a:srgbClr val="FFFFFF"/>
          </a:solidFill>
          <a:ln w="88900">
            <a:solidFill>
              <a:srgbClr val="1971C2"/>
            </a:solidFill>
            <a:prstDash val="solid"/>
          </a:ln>
        </p:spPr>
      </p:sp>
      <p:sp>
        <p:nvSpPr>
          <p:cNvPr id="16" name="C2 letter 2"/>
          <p:cNvSpPr txBox="1"/>
          <p:nvPr/>
        </p:nvSpPr>
        <p:spPr>
          <a:xfrm>
            <a:off x="6035040" y="1700117"/>
            <a:ext cx="1143000" cy="1143000"/>
          </a:xfrm>
          <a:prstGeom prst="rect">
            <a:avLst/>
          </a:prstGeom>
          <a:noFill/>
          <a:ln/>
        </p:spPr>
        <p:txBody>
          <a:bodyPr wrap="none" lIns="0" tIns="0" rIns="0" bIns="0" rtlCol="0" anchor="ctr"/>
          <a:lstStyle/>
          <a:p>
            <a:pPr rtl="1" algn="ctr" indent="0" marL="0">
              <a:buNone/>
            </a:pPr>
            <a:r>
              <a:rPr lang="ar-SA" altLang="en-US" sz="3500" dirty="0">
                <a:solidFill>
                  <a:srgbClr val="16213E"/>
                </a:solidFill>
                <a:latin typeface="Traditional Arabic" pitchFamily="34" charset="0"/>
                <a:ea typeface="Traditional Arabic" pitchFamily="34" charset="-122"/>
                <a:cs typeface="Traditional Arabic" pitchFamily="34" charset="-120"/>
              </a:rPr>
              <a:t>ذۡ</a:t>
            </a:r>
            <a:endParaRPr lang="ar-SA" sz="3500" dirty="0"/>
          </a:p>
        </p:txBody>
      </p:sp>
      <p:sp>
        <p:nvSpPr>
          <p:cNvPr id="17" name="C2 number 2"/>
          <p:cNvSpPr txBox="1"/>
          <p:nvPr/>
        </p:nvSpPr>
        <p:spPr>
          <a:xfrm>
            <a:off x="6332220" y="2861628"/>
            <a:ext cx="548640" cy="384048"/>
          </a:xfrm>
          <a:prstGeom prst="rect">
            <a:avLst/>
          </a:prstGeom>
          <a:noFill/>
          <a:ln/>
        </p:spPr>
        <p:txBody>
          <a:bodyPr wrap="none" lIns="0" tIns="0" rIns="0" bIns="0" rtlCol="0" anchor="ctr"/>
          <a:lstStyle/>
          <a:p>
            <a:pPr algn="ctr" indent="0" marL="0">
              <a:buNone/>
            </a:pPr>
            <a:r>
              <a:rPr lang="en-US" sz="1300" b="1" dirty="0">
                <a:solidFill>
                  <a:srgbClr val="1971C2"/>
                </a:solidFill>
                <a:latin typeface="Arial" pitchFamily="34" charset="0"/>
                <a:ea typeface="Arial" pitchFamily="34" charset="-122"/>
                <a:cs typeface="Arial" pitchFamily="34" charset="-120"/>
              </a:rPr>
              <a:t>2</a:t>
            </a:r>
            <a:endParaRPr lang="en-US" sz="1300" dirty="0"/>
          </a:p>
        </p:txBody>
      </p:sp>
      <p:sp>
        <p:nvSpPr>
          <p:cNvPr id="18" name="C3 circle 3"/>
          <p:cNvSpPr/>
          <p:nvPr/>
        </p:nvSpPr>
        <p:spPr>
          <a:xfrm>
            <a:off x="4572000" y="1668780"/>
            <a:ext cx="1143000" cy="1143000"/>
          </a:xfrm>
          <a:prstGeom prst="ellipse">
            <a:avLst/>
          </a:prstGeom>
          <a:solidFill>
            <a:srgbClr val="FFF3BF"/>
          </a:solidFill>
          <a:ln w="127000">
            <a:solidFill>
              <a:srgbClr val="D9480F"/>
            </a:solidFill>
            <a:prstDash val="solid"/>
          </a:ln>
        </p:spPr>
      </p:sp>
      <p:sp>
        <p:nvSpPr>
          <p:cNvPr id="19" name="C3 letter 3"/>
          <p:cNvSpPr txBox="1"/>
          <p:nvPr/>
        </p:nvSpPr>
        <p:spPr>
          <a:xfrm>
            <a:off x="4572000" y="1668558"/>
            <a:ext cx="1143000" cy="1143000"/>
          </a:xfrm>
          <a:prstGeom prst="rect">
            <a:avLst/>
          </a:prstGeom>
          <a:noFill/>
          <a:ln/>
        </p:spPr>
        <p:txBody>
          <a:bodyPr wrap="none" lIns="0" tIns="0" rIns="0" bIns="0" rtlCol="0" anchor="ctr"/>
          <a:lstStyle/>
          <a:p>
            <a:pPr rtl="1" algn="ctr" indent="0" marL="0">
              <a:buNone/>
            </a:pPr>
            <a:r>
              <a:rPr lang="ar-SA" altLang="en-US" sz="3500" dirty="0">
                <a:solidFill>
                  <a:srgbClr val="16213E"/>
                </a:solidFill>
                <a:latin typeface="Traditional Arabic" pitchFamily="34" charset="0"/>
                <a:ea typeface="Traditional Arabic" pitchFamily="34" charset="-122"/>
                <a:cs typeface="Traditional Arabic" pitchFamily="34" charset="-120"/>
              </a:rPr>
              <a:t>هَ</a:t>
            </a:r>
            <a:endParaRPr lang="ar-SA" sz="3500" dirty="0"/>
          </a:p>
        </p:txBody>
      </p:sp>
      <p:sp>
        <p:nvSpPr>
          <p:cNvPr id="20" name="C3 number 3"/>
          <p:cNvSpPr txBox="1"/>
          <p:nvPr/>
        </p:nvSpPr>
        <p:spPr>
          <a:xfrm>
            <a:off x="4869180" y="2859977"/>
            <a:ext cx="548640" cy="384048"/>
          </a:xfrm>
          <a:prstGeom prst="rect">
            <a:avLst/>
          </a:prstGeom>
          <a:noFill/>
          <a:ln/>
        </p:spPr>
        <p:txBody>
          <a:bodyPr wrap="none" lIns="0" tIns="0" rIns="0" bIns="0" rtlCol="0" anchor="ctr"/>
          <a:lstStyle/>
          <a:p>
            <a:pPr algn="ctr" indent="0" marL="0">
              <a:buNone/>
            </a:pPr>
            <a:r>
              <a:rPr lang="en-US" sz="1300" b="1" dirty="0">
                <a:solidFill>
                  <a:srgbClr val="D9480F"/>
                </a:solidFill>
                <a:latin typeface="Arial" pitchFamily="34" charset="0"/>
                <a:ea typeface="Arial" pitchFamily="34" charset="-122"/>
                <a:cs typeface="Arial" pitchFamily="34" charset="-120"/>
              </a:rPr>
              <a:t>3</a:t>
            </a:r>
            <a:endParaRPr lang="en-US" sz="1300" dirty="0"/>
          </a:p>
        </p:txBody>
      </p:sp>
      <p:sp>
        <p:nvSpPr>
          <p:cNvPr id="21" name="C4 result panel"/>
          <p:cNvSpPr/>
          <p:nvPr/>
        </p:nvSpPr>
        <p:spPr>
          <a:xfrm>
            <a:off x="365760" y="1554480"/>
            <a:ext cx="3840480" cy="1463040"/>
          </a:xfrm>
          <a:prstGeom prst="roundRect">
            <a:avLst>
              <a:gd name="adj" fmla="val 15625"/>
            </a:avLst>
          </a:prstGeom>
          <a:solidFill>
            <a:srgbClr val="FFFBE3"/>
          </a:solidFill>
          <a:ln w="76200">
            <a:solidFill>
              <a:srgbClr val="F2B134"/>
            </a:solidFill>
            <a:prstDash val="solid"/>
          </a:ln>
        </p:spPr>
      </p:sp>
      <p:sp>
        <p:nvSpPr>
          <p:cNvPr id="22" name="C4 read arabic"/>
          <p:cNvSpPr txBox="1"/>
          <p:nvPr/>
        </p:nvSpPr>
        <p:spPr>
          <a:xfrm>
            <a:off x="365760" y="1577797"/>
            <a:ext cx="3840480" cy="907085"/>
          </a:xfrm>
          <a:prstGeom prst="rect">
            <a:avLst/>
          </a:prstGeom>
          <a:noFill/>
          <a:ln/>
        </p:spPr>
        <p:txBody>
          <a:bodyPr wrap="none" lIns="0" tIns="0" rIns="0" bIns="0" rtlCol="0" anchor="ctr"/>
          <a:lstStyle/>
          <a:p>
            <a:pPr algn="ctr" indent="0" marL="0">
              <a:buNone/>
            </a:pPr>
            <a:r>
              <a:rPr lang="ar-SA" altLang="en-US" sz="3400" dirty="0">
                <a:solidFill>
                  <a:srgbClr val="2F9E44"/>
                </a:solidFill>
                <a:latin typeface="Traditional Arabic" pitchFamily="34" charset="0"/>
                <a:ea typeface="Traditional Arabic" pitchFamily="34" charset="-122"/>
                <a:cs typeface="Traditional Arabic" pitchFamily="34" charset="-120"/>
              </a:rPr>
              <a:t>اِ</a:t>
            </a:r>
            <a:r>
              <a:rPr lang="ar-SA" altLang="en-US" sz="3400" dirty="0">
                <a:solidFill>
                  <a:srgbClr val="16213E"/>
                </a:solidFill>
                <a:latin typeface="Traditional Arabic" pitchFamily="34" charset="0"/>
                <a:ea typeface="Traditional Arabic" pitchFamily="34" charset="-122"/>
                <a:cs typeface="Traditional Arabic" pitchFamily="34" charset="-120"/>
              </a:rPr>
              <a:t>ذۡهَبۡ</a:t>
            </a:r>
            <a:endParaRPr lang="ar-SA" sz="3400" dirty="0"/>
          </a:p>
        </p:txBody>
      </p:sp>
      <p:sp>
        <p:nvSpPr>
          <p:cNvPr id="23" name="C4 read sounds"/>
          <p:cNvSpPr txBox="1"/>
          <p:nvPr/>
        </p:nvSpPr>
        <p:spPr>
          <a:xfrm>
            <a:off x="457200" y="2467153"/>
            <a:ext cx="3657600" cy="501091"/>
          </a:xfrm>
          <a:prstGeom prst="rect">
            <a:avLst/>
          </a:prstGeom>
          <a:noFill/>
          <a:ln/>
        </p:spPr>
        <p:txBody>
          <a:bodyPr wrap="none" lIns="0" tIns="0" rIns="0" bIns="0" rtlCol="0" anchor="ctr"/>
          <a:lstStyle/>
          <a:p>
            <a:pPr algn="ctr" indent="0" marL="0">
              <a:buNone/>
            </a:pPr>
            <a:r>
              <a:rPr lang="en-US" sz="2200" b="1" dirty="0">
                <a:solidFill>
                  <a:srgbClr val="D9480F"/>
                </a:solidFill>
                <a:latin typeface="Arial" pitchFamily="34" charset="0"/>
                <a:ea typeface="Arial" pitchFamily="34" charset="-122"/>
                <a:cs typeface="Arial" pitchFamily="34" charset="-120"/>
              </a:rPr>
              <a:t>Idh-hab</a:t>
            </a:r>
            <a:endParaRPr lang="en-US" sz="2200" dirty="0"/>
          </a:p>
        </p:txBody>
      </p:sp>
      <p:sp>
        <p:nvSpPr>
          <p:cNvPr id="24" name="C4 arrow"/>
          <p:cNvSpPr/>
          <p:nvPr/>
        </p:nvSpPr>
        <p:spPr>
          <a:xfrm>
            <a:off x="4297680" y="2039112"/>
            <a:ext cx="228600" cy="402336"/>
          </a:xfrm>
          <a:prstGeom prst="leftArrow">
            <a:avLst/>
          </a:prstGeom>
          <a:solidFill>
            <a:srgbClr val="2E89B8"/>
          </a:solidFill>
          <a:ln w="12700">
            <a:solidFill>
              <a:srgbClr val="333333"/>
            </a:solidFill>
            <a:prstDash val="solid"/>
          </a:ln>
        </p:spPr>
      </p:sp>
      <p:sp>
        <p:nvSpPr>
          <p:cNvPr id="25" name="C5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6" name="C5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3rd letter has a fathah (a)  →  still start with 'i'.</a:t>
            </a:r>
            <a:endParaRPr lang="en-US" sz="2200" dirty="0"/>
          </a:p>
        </p:txBody>
      </p:sp>
    </p:spTree>
  </p:cSld>
  <p:clrMapOvr>
    <a:masterClrMapping/>
  </p:clrMapOvr>
  <p:transition spd="med">
    <p:wheel spokes="4"/>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35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3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5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35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5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35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35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35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35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35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35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35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7F7C5"/>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53B3C6"/>
          </a:solidFill>
          <a:ln w="12700">
            <a:solidFill>
              <a:srgbClr val="53B3C6"/>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94ED5E"/>
          </a:solidFill>
          <a:ln w="12700">
            <a:solidFill>
              <a:srgbClr val="94ED5E"/>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9"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Verbs: more practice</a:t>
            </a:r>
            <a:endParaRPr lang="en-US" sz="1800" dirty="0"/>
          </a:p>
        </p:txBody>
      </p:sp>
      <p:sp>
        <p:nvSpPr>
          <p:cNvPr id="20"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21"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22" name="C1 mushaf"/>
          <p:cNvSpPr txBox="1"/>
          <p:nvPr/>
        </p:nvSpPr>
        <p:spPr>
          <a:xfrm>
            <a:off x="4892040" y="1725462"/>
            <a:ext cx="3886200" cy="1353312"/>
          </a:xfrm>
          <a:prstGeom prst="rect">
            <a:avLst/>
          </a:prstGeom>
          <a:noFill/>
          <a:ln/>
        </p:spPr>
        <p:txBody>
          <a:bodyPr wrap="none" lIns="0" tIns="0" rIns="0" bIns="0" rtlCol="0" anchor="ctr"/>
          <a:lstStyle/>
          <a:p>
            <a:pPr algn="ctr" indent="0" marL="0">
              <a:buNone/>
            </a:pP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نظُرۡ</a:t>
            </a:r>
            <a:endParaRPr lang="ar-SA" sz="5000" dirty="0"/>
          </a:p>
        </p:txBody>
      </p:sp>
      <p:sp>
        <p:nvSpPr>
          <p:cNvPr id="23" name="C2 arrow"/>
          <p:cNvSpPr/>
          <p:nvPr/>
        </p:nvSpPr>
        <p:spPr>
          <a:xfrm>
            <a:off x="4315968" y="2125980"/>
            <a:ext cx="512064" cy="457200"/>
          </a:xfrm>
          <a:prstGeom prst="leftArrow">
            <a:avLst/>
          </a:prstGeom>
          <a:solidFill>
            <a:srgbClr val="B82E61"/>
          </a:solidFill>
          <a:ln w="12700">
            <a:solidFill>
              <a:srgbClr val="333333"/>
            </a:solidFill>
            <a:prstDash val="solid"/>
          </a:ln>
        </p:spPr>
      </p:sp>
      <p:sp>
        <p:nvSpPr>
          <p:cNvPr id="24" name="C2 read arabic"/>
          <p:cNvSpPr txBox="1"/>
          <p:nvPr/>
        </p:nvSpPr>
        <p:spPr>
          <a:xfrm>
            <a:off x="365760" y="1540135"/>
            <a:ext cx="3886200" cy="981151"/>
          </a:xfrm>
          <a:prstGeom prst="rect">
            <a:avLst/>
          </a:prstGeom>
          <a:noFill/>
          <a:ln/>
        </p:spPr>
        <p:txBody>
          <a:bodyPr wrap="none" lIns="0" tIns="0" rIns="0" bIns="0" rtlCol="0" anchor="ctr"/>
          <a:lstStyle/>
          <a:p>
            <a:pPr algn="ctr" indent="0" marL="0">
              <a:buNone/>
            </a:pPr>
            <a:r>
              <a:rPr lang="ar-SA" altLang="en-US" sz="3300" dirty="0">
                <a:solidFill>
                  <a:srgbClr val="2F9E44"/>
                </a:solidFill>
                <a:latin typeface="Traditional Arabic" pitchFamily="34" charset="0"/>
                <a:ea typeface="Traditional Arabic" pitchFamily="34" charset="-122"/>
                <a:cs typeface="Traditional Arabic" pitchFamily="34" charset="-120"/>
              </a:rPr>
              <a:t>اُ</a:t>
            </a:r>
            <a:r>
              <a:rPr lang="ar-SA" altLang="en-US" sz="3300" dirty="0">
                <a:solidFill>
                  <a:srgbClr val="16213E"/>
                </a:solidFill>
                <a:latin typeface="Traditional Arabic" pitchFamily="34" charset="0"/>
                <a:ea typeface="Traditional Arabic" pitchFamily="34" charset="-122"/>
                <a:cs typeface="Traditional Arabic" pitchFamily="34" charset="-120"/>
              </a:rPr>
              <a:t>نظُرۡ</a:t>
            </a:r>
            <a:endParaRPr lang="ar-SA" sz="3300" dirty="0"/>
          </a:p>
        </p:txBody>
      </p:sp>
      <p:sp>
        <p:nvSpPr>
          <p:cNvPr id="25"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Un-dhur</a:t>
            </a:r>
            <a:endParaRPr lang="en-US" sz="3000" dirty="0"/>
          </a:p>
        </p:txBody>
      </p:sp>
      <p:sp>
        <p:nvSpPr>
          <p:cNvPr id="26"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7" name="C3 tip"/>
          <p:cNvSpPr txBox="1"/>
          <p:nvPr/>
        </p:nvSpPr>
        <p:spPr>
          <a:xfrm>
            <a:off x="502920" y="3382264"/>
            <a:ext cx="8138160" cy="768096"/>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1st alif, 2nd noon, 3rd dhaa has a dammah (u)  →  start with 'u'.</a:t>
            </a:r>
            <a:endParaRPr lang="en-US" sz="1900" dirty="0"/>
          </a:p>
        </p:txBody>
      </p:sp>
    </p:spTree>
  </p:cSld>
  <p:clrMapOvr>
    <a:masterClrMapping/>
  </p:clrMapOvr>
  <p:transition spd="med">
    <p:wipe dir="l"/>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01443"/>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BD52E0"/>
          </a:solidFill>
          <a:ln w="12700">
            <a:solidFill>
              <a:srgbClr val="BD52E0"/>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F28CD9"/>
            </a:solidFill>
            <a:prstDash val="solid"/>
          </a:ln>
        </p:spPr>
      </p:sp>
      <p:sp>
        <p:nvSpPr>
          <p:cNvPr id="4" name="Deco small planet"/>
          <p:cNvSpPr/>
          <p:nvPr/>
        </p:nvSpPr>
        <p:spPr>
          <a:xfrm>
            <a:off x="274320" y="182880"/>
            <a:ext cx="502920" cy="502920"/>
          </a:xfrm>
          <a:prstGeom prst="ellipse">
            <a:avLst/>
          </a:prstGeom>
          <a:solidFill>
            <a:srgbClr val="C0DB70"/>
          </a:solidFill>
          <a:ln w="12700">
            <a:solidFill>
              <a:srgbClr val="C0DB70"/>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47856B"/>
          </a:solidFill>
          <a:ln w="12700">
            <a:solidFill>
              <a:srgbClr val="47856B"/>
            </a:solidFill>
            <a:prstDash val="solid"/>
          </a:ln>
        </p:spPr>
      </p:sp>
      <p:sp>
        <p:nvSpPr>
          <p:cNvPr id="15"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6"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Verbs: more practice</a:t>
            </a:r>
            <a:endParaRPr lang="en-US" sz="1800" dirty="0"/>
          </a:p>
        </p:txBody>
      </p:sp>
      <p:sp>
        <p:nvSpPr>
          <p:cNvPr id="17"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8"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9" name="C1 mushaf"/>
          <p:cNvSpPr txBox="1"/>
          <p:nvPr/>
        </p:nvSpPr>
        <p:spPr>
          <a:xfrm>
            <a:off x="4892040" y="1759632"/>
            <a:ext cx="3886200" cy="1353312"/>
          </a:xfrm>
          <a:prstGeom prst="rect">
            <a:avLst/>
          </a:prstGeom>
          <a:noFill/>
          <a:ln/>
        </p:spPr>
        <p:txBody>
          <a:bodyPr wrap="none" lIns="0" tIns="0" rIns="0" bIns="0" rtlCol="0" anchor="ctr"/>
          <a:lstStyle/>
          <a:p>
            <a:pPr algn="ctr" indent="0" marL="0">
              <a:buNone/>
            </a:pPr>
            <a:r>
              <a:rPr lang="ar-SA" altLang="en-US" sz="4600" dirty="0">
                <a:solidFill>
                  <a:srgbClr val="E03131"/>
                </a:solidFill>
                <a:latin typeface="Traditional Arabic" pitchFamily="34" charset="0"/>
                <a:ea typeface="Traditional Arabic" pitchFamily="34" charset="-122"/>
                <a:cs typeface="Traditional Arabic" pitchFamily="34" charset="-120"/>
              </a:rPr>
              <a:t>ٱ</a:t>
            </a:r>
            <a:r>
              <a:rPr lang="ar-SA" altLang="en-US" sz="4600" dirty="0">
                <a:solidFill>
                  <a:srgbClr val="16213E"/>
                </a:solidFill>
                <a:latin typeface="Traditional Arabic" pitchFamily="34" charset="0"/>
                <a:ea typeface="Traditional Arabic" pitchFamily="34" charset="-122"/>
                <a:cs typeface="Traditional Arabic" pitchFamily="34" charset="-120"/>
              </a:rPr>
              <a:t>عۡبُدُوا۟ ٱللَّهَ</a:t>
            </a:r>
            <a:endParaRPr lang="ar-SA" sz="4600" dirty="0"/>
          </a:p>
        </p:txBody>
      </p:sp>
      <p:sp>
        <p:nvSpPr>
          <p:cNvPr id="20" name="C2 arrow"/>
          <p:cNvSpPr/>
          <p:nvPr/>
        </p:nvSpPr>
        <p:spPr>
          <a:xfrm>
            <a:off x="4315968" y="2125980"/>
            <a:ext cx="512064" cy="457200"/>
          </a:xfrm>
          <a:prstGeom prst="leftArrow">
            <a:avLst/>
          </a:prstGeom>
          <a:solidFill>
            <a:srgbClr val="39B82E"/>
          </a:solidFill>
          <a:ln w="12700">
            <a:solidFill>
              <a:srgbClr val="333333"/>
            </a:solidFill>
            <a:prstDash val="solid"/>
          </a:ln>
        </p:spPr>
      </p:sp>
      <p:sp>
        <p:nvSpPr>
          <p:cNvPr id="21" name="C2 read arabic"/>
          <p:cNvSpPr txBox="1"/>
          <p:nvPr/>
        </p:nvSpPr>
        <p:spPr>
          <a:xfrm>
            <a:off x="365760" y="1562048"/>
            <a:ext cx="3886200" cy="981151"/>
          </a:xfrm>
          <a:prstGeom prst="rect">
            <a:avLst/>
          </a:prstGeom>
          <a:noFill/>
          <a:ln/>
        </p:spPr>
        <p:txBody>
          <a:bodyPr wrap="none" lIns="0" tIns="0" rIns="0" bIns="0" rtlCol="0" anchor="ctr"/>
          <a:lstStyle/>
          <a:p>
            <a:pPr algn="ctr" indent="0" marL="0">
              <a:buNone/>
            </a:pPr>
            <a:r>
              <a:rPr lang="ar-SA" altLang="en-US" sz="3000" dirty="0">
                <a:solidFill>
                  <a:srgbClr val="2F9E44"/>
                </a:solidFill>
                <a:latin typeface="Traditional Arabic" pitchFamily="34" charset="0"/>
                <a:ea typeface="Traditional Arabic" pitchFamily="34" charset="-122"/>
                <a:cs typeface="Traditional Arabic" pitchFamily="34" charset="-120"/>
              </a:rPr>
              <a:t>اُ</a:t>
            </a:r>
            <a:r>
              <a:rPr lang="ar-SA" altLang="en-US" sz="3000" dirty="0">
                <a:solidFill>
                  <a:srgbClr val="16213E"/>
                </a:solidFill>
                <a:latin typeface="Traditional Arabic" pitchFamily="34" charset="0"/>
                <a:ea typeface="Traditional Arabic" pitchFamily="34" charset="-122"/>
                <a:cs typeface="Traditional Arabic" pitchFamily="34" charset="-120"/>
              </a:rPr>
              <a:t>عۡبُدُوا۟ ٱللَّهَ</a:t>
            </a:r>
            <a:endParaRPr lang="ar-SA" sz="3000" dirty="0"/>
          </a:p>
        </p:txBody>
      </p:sp>
      <p:sp>
        <p:nvSpPr>
          <p:cNvPr id="22"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U'-bu-dul-laah</a:t>
            </a:r>
            <a:endParaRPr lang="en-US" sz="3000" dirty="0"/>
          </a:p>
        </p:txBody>
      </p:sp>
      <p:sp>
        <p:nvSpPr>
          <p:cNvPr id="23"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4" name="C3 tip"/>
          <p:cNvSpPr txBox="1"/>
          <p:nvPr/>
        </p:nvSpPr>
        <p:spPr>
          <a:xfrm>
            <a:off x="502920" y="3381248"/>
            <a:ext cx="8138160" cy="768096"/>
          </a:xfrm>
          <a:prstGeom prst="rect">
            <a:avLst/>
          </a:prstGeom>
          <a:noFill/>
          <a:ln/>
        </p:spPr>
        <p:txBody>
          <a:bodyPr wrap="none" lIns="0" tIns="0" rIns="0" bIns="0" rtlCol="0" anchor="ctr"/>
          <a:lstStyle/>
          <a:p>
            <a:pPr algn="ctr" indent="0" marL="0">
              <a:buNone/>
            </a:pPr>
            <a:r>
              <a:rPr lang="en-US" sz="2000" dirty="0">
                <a:solidFill>
                  <a:srgbClr val="16213E"/>
                </a:solidFill>
                <a:latin typeface="Arial" pitchFamily="34" charset="0"/>
                <a:ea typeface="Arial" pitchFamily="34" charset="-122"/>
                <a:cs typeface="Arial" pitchFamily="34" charset="-120"/>
              </a:rPr>
              <a:t>1st alif, 2nd 'ayn, 3rd baa has a dammah (u)  →  start with 'u'.</a:t>
            </a:r>
            <a:endParaRPr lang="en-US" sz="2000" dirty="0"/>
          </a:p>
        </p:txBody>
      </p:sp>
    </p:spTree>
  </p:cSld>
  <p:clrMapOvr>
    <a:masterClrMapping/>
  </p:clrMapOvr>
  <p:transition spd="med">
    <p:circle/>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E0C5"/>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D8D464"/>
          </a:solidFill>
          <a:ln w="12700">
            <a:solidFill>
              <a:srgbClr val="D8D464"/>
            </a:solidFill>
            <a:prstDash val="solid"/>
          </a:ln>
        </p:spPr>
      </p:sp>
      <p:sp>
        <p:nvSpPr>
          <p:cNvPr id="4" name="Deco dune right"/>
          <p:cNvSpPr/>
          <p:nvPr/>
        </p:nvSpPr>
        <p:spPr>
          <a:xfrm>
            <a:off x="5303520" y="4617720"/>
            <a:ext cx="5120640" cy="1280160"/>
          </a:xfrm>
          <a:prstGeom prst="ellipse">
            <a:avLst/>
          </a:prstGeom>
          <a:solidFill>
            <a:srgbClr val="D1B547"/>
          </a:solidFill>
          <a:ln w="12700">
            <a:solidFill>
              <a:srgbClr val="D1B547"/>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Verbs: more practice</a:t>
            </a:r>
            <a:endParaRPr lang="en-US" sz="18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19248"/>
            <a:ext cx="3886200" cy="1353312"/>
          </a:xfrm>
          <a:prstGeom prst="rect">
            <a:avLst/>
          </a:prstGeom>
          <a:noFill/>
          <a:ln/>
        </p:spPr>
        <p:txBody>
          <a:bodyPr wrap="none" lIns="0" tIns="0" rIns="0" bIns="0" rtlCol="0" anchor="ctr"/>
          <a:lstStyle/>
          <a:p>
            <a:pPr algn="ctr" indent="0" marL="0">
              <a:buNone/>
            </a:pPr>
            <a:r>
              <a:rPr lang="ar-SA" altLang="en-US" sz="4100" dirty="0">
                <a:solidFill>
                  <a:srgbClr val="E03131"/>
                </a:solidFill>
                <a:latin typeface="Traditional Arabic" pitchFamily="34" charset="0"/>
                <a:ea typeface="Traditional Arabic" pitchFamily="34" charset="-122"/>
                <a:cs typeface="Traditional Arabic" pitchFamily="34" charset="-120"/>
              </a:rPr>
              <a:t>ٱ</a:t>
            </a:r>
            <a:r>
              <a:rPr lang="ar-SA" altLang="en-US" sz="4100" dirty="0">
                <a:solidFill>
                  <a:srgbClr val="16213E"/>
                </a:solidFill>
                <a:latin typeface="Traditional Arabic" pitchFamily="34" charset="0"/>
                <a:ea typeface="Traditional Arabic" pitchFamily="34" charset="-122"/>
                <a:cs typeface="Traditional Arabic" pitchFamily="34" charset="-120"/>
              </a:rPr>
              <a:t>سۡتَعِينُوا۟ بِٱللَّهِ</a:t>
            </a:r>
            <a:endParaRPr lang="ar-SA" sz="4100" dirty="0"/>
          </a:p>
        </p:txBody>
      </p:sp>
      <p:sp>
        <p:nvSpPr>
          <p:cNvPr id="15" name="C2 arrow"/>
          <p:cNvSpPr/>
          <p:nvPr/>
        </p:nvSpPr>
        <p:spPr>
          <a:xfrm>
            <a:off x="4315968" y="2125980"/>
            <a:ext cx="512064" cy="457200"/>
          </a:xfrm>
          <a:prstGeom prst="leftArrow">
            <a:avLst/>
          </a:prstGeom>
          <a:solidFill>
            <a:srgbClr val="4B2EB8"/>
          </a:solidFill>
          <a:ln w="12700">
            <a:solidFill>
              <a:srgbClr val="333333"/>
            </a:solidFill>
            <a:prstDash val="solid"/>
          </a:ln>
        </p:spPr>
      </p:sp>
      <p:sp>
        <p:nvSpPr>
          <p:cNvPr id="16" name="C2 read arabic"/>
          <p:cNvSpPr txBox="1"/>
          <p:nvPr/>
        </p:nvSpPr>
        <p:spPr>
          <a:xfrm>
            <a:off x="365760" y="1536982"/>
            <a:ext cx="3886200" cy="981151"/>
          </a:xfrm>
          <a:prstGeom prst="rect">
            <a:avLst/>
          </a:prstGeom>
          <a:noFill/>
          <a:ln/>
        </p:spPr>
        <p:txBody>
          <a:bodyPr wrap="none" lIns="0" tIns="0" rIns="0" bIns="0" rtlCol="0" anchor="ctr"/>
          <a:lstStyle/>
          <a:p>
            <a:pPr algn="ctr" indent="0" marL="0">
              <a:buNone/>
            </a:pPr>
            <a:r>
              <a:rPr lang="ar-SA" altLang="en-US" sz="2800" dirty="0">
                <a:solidFill>
                  <a:srgbClr val="2F9E44"/>
                </a:solidFill>
                <a:latin typeface="Traditional Arabic" pitchFamily="34" charset="0"/>
                <a:ea typeface="Traditional Arabic" pitchFamily="34" charset="-122"/>
                <a:cs typeface="Traditional Arabic" pitchFamily="34" charset="-120"/>
              </a:rPr>
              <a:t>اِ</a:t>
            </a:r>
            <a:r>
              <a:rPr lang="ar-SA" altLang="en-US" sz="2800" dirty="0">
                <a:solidFill>
                  <a:srgbClr val="16213E"/>
                </a:solidFill>
                <a:latin typeface="Traditional Arabic" pitchFamily="34" charset="0"/>
                <a:ea typeface="Traditional Arabic" pitchFamily="34" charset="-122"/>
                <a:cs typeface="Traditional Arabic" pitchFamily="34" charset="-120"/>
              </a:rPr>
              <a:t>سۡتَعِينُوا۟ بِٱللَّهِ</a:t>
            </a:r>
            <a:endParaRPr lang="ar-SA" sz="2800" dirty="0"/>
          </a:p>
        </p:txBody>
      </p:sp>
      <p:sp>
        <p:nvSpPr>
          <p:cNvPr id="17" name="C2 read sounds"/>
          <p:cNvSpPr txBox="1"/>
          <p:nvPr/>
        </p:nvSpPr>
        <p:spPr>
          <a:xfrm>
            <a:off x="457200" y="2496769"/>
            <a:ext cx="3703320" cy="637337"/>
          </a:xfrm>
          <a:prstGeom prst="rect">
            <a:avLst/>
          </a:prstGeom>
          <a:noFill/>
          <a:ln/>
        </p:spPr>
        <p:txBody>
          <a:bodyPr wrap="none" lIns="0" tIns="0" rIns="0" bIns="0" rtlCol="0" anchor="ctr"/>
          <a:lstStyle/>
          <a:p>
            <a:pPr algn="ctr" indent="0" marL="0">
              <a:buNone/>
            </a:pPr>
            <a:r>
              <a:rPr lang="en-US" sz="2700" b="1" dirty="0">
                <a:solidFill>
                  <a:srgbClr val="D9480F"/>
                </a:solidFill>
                <a:latin typeface="Arial" pitchFamily="34" charset="0"/>
                <a:ea typeface="Arial" pitchFamily="34" charset="-122"/>
                <a:cs typeface="Arial" pitchFamily="34" charset="-120"/>
              </a:rPr>
              <a:t>Is-ta-'ee-noo bil-laah</a:t>
            </a:r>
            <a:endParaRPr lang="en-US" sz="27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19" name="C3 tip"/>
          <p:cNvSpPr txBox="1"/>
          <p:nvPr/>
        </p:nvSpPr>
        <p:spPr>
          <a:xfrm>
            <a:off x="502920" y="3380232"/>
            <a:ext cx="8138160" cy="768096"/>
          </a:xfrm>
          <a:prstGeom prst="rect">
            <a:avLst/>
          </a:prstGeom>
          <a:noFill/>
          <a:ln/>
        </p:spPr>
        <p:txBody>
          <a:bodyPr wrap="none" lIns="0" tIns="0" rIns="0" bIns="0" rtlCol="0" anchor="ctr"/>
          <a:lstStyle/>
          <a:p>
            <a:pPr algn="ctr" indent="0" marL="0">
              <a:buNone/>
            </a:pPr>
            <a:r>
              <a:rPr lang="en-US" sz="2100" dirty="0">
                <a:solidFill>
                  <a:srgbClr val="16213E"/>
                </a:solidFill>
                <a:latin typeface="Arial" pitchFamily="34" charset="0"/>
                <a:ea typeface="Arial" pitchFamily="34" charset="-122"/>
                <a:cs typeface="Arial" pitchFamily="34" charset="-120"/>
              </a:rPr>
              <a:t>1st alif, 2nd seen, 3rd taa has a fathah (a)  →  start with 'i'.</a:t>
            </a:r>
            <a:endParaRPr lang="en-US" sz="2100" dirty="0"/>
          </a:p>
        </p:txBody>
      </p:sp>
    </p:spTree>
  </p:cSld>
  <p:clrMapOvr>
    <a:masterClrMapping/>
  </p:clrMapOvr>
  <p:transition spd="med">
    <p:randomBar dir="vert"/>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5F7EF"/>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AA66CC"/>
          </a:solidFill>
          <a:ln w="12700">
            <a:solidFill>
              <a:srgbClr val="AA66CC"/>
            </a:solidFill>
            <a:prstDash val="solid"/>
          </a:ln>
        </p:spPr>
      </p:sp>
      <p:sp>
        <p:nvSpPr>
          <p:cNvPr id="3" name="Deco hill right"/>
          <p:cNvSpPr/>
          <p:nvPr/>
        </p:nvSpPr>
        <p:spPr>
          <a:xfrm>
            <a:off x="4023360" y="4526280"/>
            <a:ext cx="5852160" cy="1463040"/>
          </a:xfrm>
          <a:prstGeom prst="ellipse">
            <a:avLst/>
          </a:prstGeom>
          <a:solidFill>
            <a:srgbClr val="BF40BF"/>
          </a:solidFill>
          <a:ln w="12700">
            <a:solidFill>
              <a:srgbClr val="BF40BF"/>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15AABF"/>
          </a:solidFill>
          <a:ln w="76200">
            <a:solidFill>
              <a:srgbClr val="15AABF"/>
            </a:solidFill>
            <a:prstDash val="solid"/>
          </a:ln>
        </p:spPr>
      </p:sp>
      <p:sp>
        <p:nvSpPr>
          <p:cNvPr id="12"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Careful: these verbs start with 'i'</a:t>
            </a:r>
            <a:endParaRPr lang="en-US" sz="2200" dirty="0"/>
          </a:p>
        </p:txBody>
      </p:sp>
      <p:sp>
        <p:nvSpPr>
          <p:cNvPr id="13"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4"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5" name="C1 mushaf"/>
          <p:cNvSpPr txBox="1"/>
          <p:nvPr/>
        </p:nvSpPr>
        <p:spPr>
          <a:xfrm>
            <a:off x="4892040" y="1712252"/>
            <a:ext cx="3886200" cy="1353312"/>
          </a:xfrm>
          <a:prstGeom prst="rect">
            <a:avLst/>
          </a:prstGeom>
          <a:noFill/>
          <a:ln/>
        </p:spPr>
        <p:txBody>
          <a:bodyPr wrap="none" lIns="0" tIns="0" rIns="0" bIns="0" rtlCol="0" anchor="ctr"/>
          <a:lstStyle/>
          <a:p>
            <a:pPr algn="ctr" indent="0" marL="0">
              <a:buNone/>
            </a:pPr>
            <a:r>
              <a:rPr lang="ar-SA" altLang="en-US" sz="5100" dirty="0">
                <a:solidFill>
                  <a:srgbClr val="E03131"/>
                </a:solidFill>
                <a:latin typeface="Traditional Arabic" pitchFamily="34" charset="0"/>
                <a:ea typeface="Traditional Arabic" pitchFamily="34" charset="-122"/>
                <a:cs typeface="Traditional Arabic" pitchFamily="34" charset="-120"/>
              </a:rPr>
              <a:t>ٱ</a:t>
            </a:r>
            <a:r>
              <a:rPr lang="ar-SA" altLang="en-US" sz="5100" dirty="0">
                <a:solidFill>
                  <a:srgbClr val="16213E"/>
                </a:solidFill>
                <a:latin typeface="Traditional Arabic" pitchFamily="34" charset="0"/>
                <a:ea typeface="Traditional Arabic" pitchFamily="34" charset="-122"/>
                <a:cs typeface="Traditional Arabic" pitchFamily="34" charset="-120"/>
              </a:rPr>
              <a:t>مۡشُوا۟</a:t>
            </a:r>
            <a:endParaRPr lang="ar-SA" sz="5100" dirty="0"/>
          </a:p>
        </p:txBody>
      </p:sp>
      <p:sp>
        <p:nvSpPr>
          <p:cNvPr id="16" name="C2 arrow"/>
          <p:cNvSpPr/>
          <p:nvPr/>
        </p:nvSpPr>
        <p:spPr>
          <a:xfrm>
            <a:off x="4315968" y="2125980"/>
            <a:ext cx="512064" cy="457200"/>
          </a:xfrm>
          <a:prstGeom prst="leftArrow">
            <a:avLst/>
          </a:prstGeom>
          <a:solidFill>
            <a:srgbClr val="B8732E"/>
          </a:solidFill>
          <a:ln w="12700">
            <a:solidFill>
              <a:srgbClr val="333333"/>
            </a:solidFill>
            <a:prstDash val="solid"/>
          </a:ln>
        </p:spPr>
      </p:sp>
      <p:sp>
        <p:nvSpPr>
          <p:cNvPr id="17" name="C2 read arabic"/>
          <p:cNvSpPr txBox="1"/>
          <p:nvPr/>
        </p:nvSpPr>
        <p:spPr>
          <a:xfrm>
            <a:off x="365760" y="1531645"/>
            <a:ext cx="3886200" cy="981151"/>
          </a:xfrm>
          <a:prstGeom prst="rect">
            <a:avLst/>
          </a:prstGeom>
          <a:noFill/>
          <a:ln/>
        </p:spPr>
        <p:txBody>
          <a:bodyPr wrap="none" lIns="0" tIns="0" rIns="0" bIns="0" rtlCol="0" anchor="ctr"/>
          <a:lstStyle/>
          <a:p>
            <a:pPr algn="ctr" indent="0" marL="0">
              <a:buNone/>
            </a:pPr>
            <a:r>
              <a:rPr lang="ar-SA" altLang="en-US" sz="3400" dirty="0">
                <a:solidFill>
                  <a:srgbClr val="2F9E44"/>
                </a:solidFill>
                <a:latin typeface="Traditional Arabic" pitchFamily="34" charset="0"/>
                <a:ea typeface="Traditional Arabic" pitchFamily="34" charset="-122"/>
                <a:cs typeface="Traditional Arabic" pitchFamily="34" charset="-120"/>
              </a:rPr>
              <a:t>اِ</a:t>
            </a:r>
            <a:r>
              <a:rPr lang="ar-SA" altLang="en-US" sz="3400" dirty="0">
                <a:solidFill>
                  <a:srgbClr val="16213E"/>
                </a:solidFill>
                <a:latin typeface="Traditional Arabic" pitchFamily="34" charset="0"/>
                <a:ea typeface="Traditional Arabic" pitchFamily="34" charset="-122"/>
                <a:cs typeface="Traditional Arabic" pitchFamily="34" charset="-120"/>
              </a:rPr>
              <a:t>مۡشُوا۟</a:t>
            </a:r>
            <a:endParaRPr lang="ar-SA" sz="3400" dirty="0"/>
          </a:p>
        </p:txBody>
      </p:sp>
      <p:sp>
        <p:nvSpPr>
          <p:cNvPr id="18"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Im-shoo</a:t>
            </a:r>
            <a:endParaRPr lang="en-US" sz="3000" dirty="0"/>
          </a:p>
        </p:txBody>
      </p:sp>
      <p:sp>
        <p:nvSpPr>
          <p:cNvPr id="19" name="C3 tip box"/>
          <p:cNvSpPr/>
          <p:nvPr/>
        </p:nvSpPr>
        <p:spPr>
          <a:xfrm>
            <a:off x="365760" y="3364992"/>
            <a:ext cx="8412480" cy="841248"/>
          </a:xfrm>
          <a:prstGeom prst="roundRect">
            <a:avLst>
              <a:gd name="adj" fmla="val 27174"/>
            </a:avLst>
          </a:prstGeom>
          <a:solidFill>
            <a:srgbClr val="FFFFFF"/>
          </a:solidFill>
          <a:ln w="76200">
            <a:solidFill>
              <a:srgbClr val="15AABF"/>
            </a:solidFill>
            <a:prstDash val="solid"/>
          </a:ln>
        </p:spPr>
      </p:sp>
      <p:sp>
        <p:nvSpPr>
          <p:cNvPr id="20" name="C3 tip"/>
          <p:cNvSpPr txBox="1"/>
          <p:nvPr/>
        </p:nvSpPr>
        <p:spPr>
          <a:xfrm>
            <a:off x="502920" y="3385312"/>
            <a:ext cx="8138160" cy="768096"/>
          </a:xfrm>
          <a:prstGeom prst="rect">
            <a:avLst/>
          </a:prstGeom>
          <a:noFill/>
          <a:ln/>
        </p:spPr>
        <p:txBody>
          <a:bodyPr wrap="none" lIns="0" tIns="0" rIns="0" bIns="0" rtlCol="0" anchor="ctr"/>
          <a:lstStyle/>
          <a:p>
            <a:pPr algn="ctr" indent="0" marL="0">
              <a:buNone/>
            </a:pPr>
            <a:r>
              <a:rPr lang="en-US" sz="1600" dirty="0">
                <a:solidFill>
                  <a:srgbClr val="16213E"/>
                </a:solidFill>
                <a:latin typeface="Arial" pitchFamily="34" charset="0"/>
                <a:ea typeface="Arial" pitchFamily="34" charset="-122"/>
                <a:cs typeface="Arial" pitchFamily="34" charset="-120"/>
              </a:rPr>
              <a:t>Imshoo, iqdoo, ibnoo, i'too: the dammah is only borrowed  →  start with 'i'.</a:t>
            </a:r>
            <a:endParaRPr lang="en-US" sz="1600" dirty="0"/>
          </a:p>
        </p:txBody>
      </p:sp>
    </p:spTree>
  </p:cSld>
  <p:clrMapOvr>
    <a:masterClrMapping/>
  </p:clrMapOvr>
  <p:transition spd="med">
    <p:push dir="l"/>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3143D"/>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642B40"/>
          </a:solidFill>
          <a:ln w="12700">
            <a:solidFill>
              <a:srgbClr val="642B40"/>
            </a:solidFill>
            <a:prstDash val="solid"/>
          </a:ln>
        </p:spPr>
      </p:sp>
      <p:sp>
        <p:nvSpPr>
          <p:cNvPr id="11" name="Deco hill right"/>
          <p:cNvSpPr/>
          <p:nvPr/>
        </p:nvSpPr>
        <p:spPr>
          <a:xfrm>
            <a:off x="4206240" y="4572000"/>
            <a:ext cx="5669280" cy="1463040"/>
          </a:xfrm>
          <a:prstGeom prst="ellipse">
            <a:avLst/>
          </a:prstGeom>
          <a:solidFill>
            <a:srgbClr val="793D34"/>
          </a:solidFill>
          <a:ln w="12700">
            <a:solidFill>
              <a:srgbClr val="793D34"/>
            </a:solidFill>
            <a:prstDash val="solid"/>
          </a:ln>
        </p:spPr>
      </p:sp>
      <p:sp>
        <p:nvSpPr>
          <p:cNvPr id="12" name="Title box"/>
          <p:cNvSpPr/>
          <p:nvPr/>
        </p:nvSpPr>
        <p:spPr>
          <a:xfrm>
            <a:off x="365760" y="896112"/>
            <a:ext cx="8412480" cy="502920"/>
          </a:xfrm>
          <a:prstGeom prst="roundRect">
            <a:avLst>
              <a:gd name="adj" fmla="val 45455"/>
            </a:avLst>
          </a:prstGeom>
          <a:solidFill>
            <a:srgbClr val="E8590C"/>
          </a:solidFill>
          <a:ln w="76200">
            <a:solidFill>
              <a:srgbClr val="E8590C"/>
            </a:solidFill>
            <a:prstDash val="solid"/>
          </a:ln>
        </p:spPr>
      </p:sp>
      <p:sp>
        <p:nvSpPr>
          <p:cNvPr id="13"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Rule 2: CONNECTING → skip it</a:t>
            </a:r>
            <a:endParaRPr lang="en-US" sz="1800" dirty="0"/>
          </a:p>
        </p:txBody>
      </p:sp>
      <p:sp>
        <p:nvSpPr>
          <p:cNvPr id="14" name="Lines panel"/>
          <p:cNvSpPr/>
          <p:nvPr/>
        </p:nvSpPr>
        <p:spPr>
          <a:xfrm>
            <a:off x="365760" y="1536192"/>
            <a:ext cx="5486400" cy="2697480"/>
          </a:xfrm>
          <a:prstGeom prst="roundRect">
            <a:avLst>
              <a:gd name="adj" fmla="val 8475"/>
            </a:avLst>
          </a:prstGeom>
          <a:solidFill>
            <a:srgbClr val="FFFFFF"/>
          </a:solidFill>
          <a:ln w="76200">
            <a:solidFill>
              <a:srgbClr val="E8590C"/>
            </a:solidFill>
            <a:prstDash val="solid"/>
          </a:ln>
        </p:spPr>
      </p:sp>
      <p:sp>
        <p:nvSpPr>
          <p:cNvPr id="15" name="C1 line 1"/>
          <p:cNvSpPr txBox="1"/>
          <p:nvPr/>
        </p:nvSpPr>
        <p:spPr>
          <a:xfrm>
            <a:off x="502920" y="165036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When the word is joined to the word before it,</a:t>
            </a:r>
            <a:endParaRPr lang="en-US" sz="1700" dirty="0"/>
          </a:p>
        </p:txBody>
      </p:sp>
      <p:sp>
        <p:nvSpPr>
          <p:cNvPr id="16" name="C2 line 2"/>
          <p:cNvSpPr txBox="1"/>
          <p:nvPr/>
        </p:nvSpPr>
        <p:spPr>
          <a:xfrm>
            <a:off x="502920" y="227901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do NOT say the hamza at all.</a:t>
            </a:r>
            <a:endParaRPr lang="en-US" sz="1700" dirty="0"/>
          </a:p>
        </p:txBody>
      </p:sp>
      <p:sp>
        <p:nvSpPr>
          <p:cNvPr id="17" name="C3 line 3"/>
          <p:cNvSpPr txBox="1"/>
          <p:nvPr/>
        </p:nvSpPr>
        <p:spPr>
          <a:xfrm>
            <a:off x="502920" y="290766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Jump from the last sound of the word before</a:t>
            </a:r>
            <a:endParaRPr lang="en-US" sz="1700" dirty="0"/>
          </a:p>
        </p:txBody>
      </p:sp>
      <p:sp>
        <p:nvSpPr>
          <p:cNvPr id="18" name="C4 line 4"/>
          <p:cNvSpPr txBox="1"/>
          <p:nvPr/>
        </p:nvSpPr>
        <p:spPr>
          <a:xfrm>
            <a:off x="502920" y="3553155"/>
            <a:ext cx="5212080" cy="548640"/>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straight to the letter after ٱ.</a:t>
            </a:r>
            <a:endParaRPr lang="en-US" sz="1700" dirty="0"/>
          </a:p>
        </p:txBody>
      </p:sp>
      <p:sp>
        <p:nvSpPr>
          <p:cNvPr id="19" name="Arabic panel"/>
          <p:cNvSpPr/>
          <p:nvPr/>
        </p:nvSpPr>
        <p:spPr>
          <a:xfrm>
            <a:off x="6035040" y="1536192"/>
            <a:ext cx="2743200" cy="2697480"/>
          </a:xfrm>
          <a:prstGeom prst="roundRect">
            <a:avLst>
              <a:gd name="adj" fmla="val 8475"/>
            </a:avLst>
          </a:prstGeom>
          <a:solidFill>
            <a:srgbClr val="FFFFFF"/>
          </a:solidFill>
          <a:ln w="76200">
            <a:solidFill>
              <a:srgbClr val="E8590C"/>
            </a:solidFill>
            <a:prstDash val="solid"/>
          </a:ln>
        </p:spPr>
      </p:sp>
      <p:sp>
        <p:nvSpPr>
          <p:cNvPr id="20" name="Arabic sample"/>
          <p:cNvSpPr txBox="1"/>
          <p:nvPr/>
        </p:nvSpPr>
        <p:spPr>
          <a:xfrm>
            <a:off x="6035040" y="1561383"/>
            <a:ext cx="2743200" cy="2697480"/>
          </a:xfrm>
          <a:prstGeom prst="rect">
            <a:avLst/>
          </a:prstGeom>
          <a:noFill/>
          <a:ln/>
        </p:spPr>
        <p:txBody>
          <a:bodyPr wrap="none" lIns="0" tIns="0" rIns="0" bIns="0" rtlCol="0" anchor="ctr"/>
          <a:lstStyle/>
          <a:p>
            <a:pPr algn="ctr" indent="0" marL="0">
              <a:buNone/>
            </a:pPr>
            <a:r>
              <a:rPr lang="ar-SA" altLang="en-US" sz="4100" dirty="0">
                <a:solidFill>
                  <a:srgbClr val="16213E"/>
                </a:solidFill>
                <a:latin typeface="Traditional Arabic" pitchFamily="34" charset="0"/>
                <a:ea typeface="Traditional Arabic" pitchFamily="34" charset="-122"/>
                <a:cs typeface="Traditional Arabic" pitchFamily="34" charset="-120"/>
              </a:rPr>
              <a:t>بِسۡمِ </a:t>
            </a:r>
            <a:r>
              <a:rPr lang="ar-SA" altLang="en-US" sz="4100" dirty="0">
                <a:solidFill>
                  <a:srgbClr val="ADB5BD"/>
                </a:solidFill>
                <a:latin typeface="Traditional Arabic" pitchFamily="34" charset="0"/>
                <a:ea typeface="Traditional Arabic" pitchFamily="34" charset="-122"/>
                <a:cs typeface="Traditional Arabic" pitchFamily="34" charset="-120"/>
              </a:rPr>
              <a:t>ٱ</a:t>
            </a:r>
            <a:r>
              <a:rPr lang="ar-SA" altLang="en-US" sz="4100" dirty="0">
                <a:solidFill>
                  <a:srgbClr val="16213E"/>
                </a:solidFill>
                <a:latin typeface="Traditional Arabic" pitchFamily="34" charset="0"/>
                <a:ea typeface="Traditional Arabic" pitchFamily="34" charset="-122"/>
                <a:cs typeface="Traditional Arabic" pitchFamily="34" charset="-120"/>
              </a:rPr>
              <a:t>للَّهِ</a:t>
            </a:r>
            <a:endParaRPr lang="ar-SA" sz="4100" dirty="0"/>
          </a:p>
        </p:txBody>
      </p:sp>
    </p:spTree>
  </p:cSld>
  <p:clrMapOvr>
    <a:masterClrMapping/>
  </p:clrMapOvr>
  <p:transition spd="med">
    <p:split orient="vert" dir="out"/>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2F7C5"/>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855CD6"/>
          </a:solidFill>
          <a:ln w="12700">
            <a:solidFill>
              <a:srgbClr val="855CD6"/>
            </a:solidFill>
            <a:prstDash val="solid"/>
          </a:ln>
        </p:spPr>
      </p:sp>
      <p:sp>
        <p:nvSpPr>
          <p:cNvPr id="3" name="Deco sea floor"/>
          <p:cNvSpPr/>
          <p:nvPr/>
        </p:nvSpPr>
        <p:spPr>
          <a:xfrm>
            <a:off x="0" y="4709160"/>
            <a:ext cx="9144000" cy="457200"/>
          </a:xfrm>
          <a:prstGeom prst="rect">
            <a:avLst/>
          </a:prstGeom>
          <a:solidFill>
            <a:srgbClr val="7333CC"/>
          </a:solidFill>
          <a:ln w="12700">
            <a:solidFill>
              <a:srgbClr val="7333CC"/>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E8590C"/>
          </a:solidFill>
          <a:ln w="76200">
            <a:solidFill>
              <a:srgbClr val="E8590C"/>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Connecting: skip it</a:t>
            </a:r>
            <a:endParaRPr lang="en-US" sz="18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03115"/>
            <a:ext cx="3886200" cy="1353312"/>
          </a:xfrm>
          <a:prstGeom prst="rect">
            <a:avLst/>
          </a:prstGeom>
          <a:noFill/>
          <a:ln/>
        </p:spPr>
        <p:txBody>
          <a:bodyPr wrap="none" lIns="0" tIns="0" rIns="0" bIns="0" rtlCol="0" anchor="ctr"/>
          <a:lstStyle/>
          <a:p>
            <a:pPr algn="ctr" indent="0" marL="0">
              <a:buNone/>
            </a:pPr>
            <a:r>
              <a:rPr lang="ar-SA" altLang="en-US" sz="4100" dirty="0">
                <a:solidFill>
                  <a:srgbClr val="16213E"/>
                </a:solidFill>
                <a:latin typeface="Traditional Arabic" pitchFamily="34" charset="0"/>
                <a:ea typeface="Traditional Arabic" pitchFamily="34" charset="-122"/>
                <a:cs typeface="Traditional Arabic" pitchFamily="34" charset="-120"/>
              </a:rPr>
              <a:t>بِسۡمِ </a:t>
            </a:r>
            <a:r>
              <a:rPr lang="ar-SA" altLang="en-US" sz="4100" dirty="0">
                <a:solidFill>
                  <a:srgbClr val="E03131"/>
                </a:solidFill>
                <a:latin typeface="Traditional Arabic" pitchFamily="34" charset="0"/>
                <a:ea typeface="Traditional Arabic" pitchFamily="34" charset="-122"/>
                <a:cs typeface="Traditional Arabic" pitchFamily="34" charset="-120"/>
              </a:rPr>
              <a:t>ٱ</a:t>
            </a:r>
            <a:r>
              <a:rPr lang="ar-SA" altLang="en-US" sz="4100" dirty="0">
                <a:solidFill>
                  <a:srgbClr val="16213E"/>
                </a:solidFill>
                <a:latin typeface="Traditional Arabic" pitchFamily="34" charset="0"/>
                <a:ea typeface="Traditional Arabic" pitchFamily="34" charset="-122"/>
                <a:cs typeface="Traditional Arabic" pitchFamily="34" charset="-120"/>
              </a:rPr>
              <a:t>للَّهِ</a:t>
            </a:r>
            <a:endParaRPr lang="ar-SA" sz="4100" dirty="0"/>
          </a:p>
        </p:txBody>
      </p:sp>
      <p:sp>
        <p:nvSpPr>
          <p:cNvPr id="15" name="C2 arrow"/>
          <p:cNvSpPr/>
          <p:nvPr/>
        </p:nvSpPr>
        <p:spPr>
          <a:xfrm>
            <a:off x="4315968" y="2125980"/>
            <a:ext cx="512064" cy="457200"/>
          </a:xfrm>
          <a:prstGeom prst="leftArrow">
            <a:avLst/>
          </a:prstGeom>
          <a:solidFill>
            <a:srgbClr val="B82EAC"/>
          </a:solidFill>
          <a:ln w="12700">
            <a:solidFill>
              <a:srgbClr val="333333"/>
            </a:solidFill>
            <a:prstDash val="solid"/>
          </a:ln>
        </p:spPr>
      </p:sp>
      <p:sp>
        <p:nvSpPr>
          <p:cNvPr id="16" name="C2 read arabic"/>
          <p:cNvSpPr txBox="1"/>
          <p:nvPr/>
        </p:nvSpPr>
        <p:spPr>
          <a:xfrm>
            <a:off x="365760" y="1525349"/>
            <a:ext cx="3886200" cy="981151"/>
          </a:xfrm>
          <a:prstGeom prst="rect">
            <a:avLst/>
          </a:prstGeom>
          <a:noFill/>
          <a:ln/>
        </p:spPr>
        <p:txBody>
          <a:bodyPr wrap="none" lIns="0" tIns="0" rIns="0" bIns="0" rtlCol="0" anchor="ctr"/>
          <a:lstStyle/>
          <a:p>
            <a:pPr algn="ctr" indent="0" marL="0">
              <a:buNone/>
            </a:pPr>
            <a:r>
              <a:rPr lang="ar-SA" altLang="en-US" sz="2700" dirty="0">
                <a:solidFill>
                  <a:srgbClr val="16213E"/>
                </a:solidFill>
                <a:latin typeface="Traditional Arabic" pitchFamily="34" charset="0"/>
                <a:ea typeface="Traditional Arabic" pitchFamily="34" charset="-122"/>
                <a:cs typeface="Traditional Arabic" pitchFamily="34" charset="-120"/>
              </a:rPr>
              <a:t>بِسۡمِ </a:t>
            </a:r>
            <a:r>
              <a:rPr lang="ar-SA" altLang="en-US" sz="2700" dirty="0">
                <a:solidFill>
                  <a:srgbClr val="ADB5BD"/>
                </a:solidFill>
                <a:latin typeface="Traditional Arabic" pitchFamily="34" charset="0"/>
                <a:ea typeface="Traditional Arabic" pitchFamily="34" charset="-122"/>
                <a:cs typeface="Traditional Arabic" pitchFamily="34" charset="-120"/>
              </a:rPr>
              <a:t>ٱ</a:t>
            </a:r>
            <a:r>
              <a:rPr lang="ar-SA" altLang="en-US" sz="2700" dirty="0">
                <a:solidFill>
                  <a:srgbClr val="16213E"/>
                </a:solidFill>
                <a:latin typeface="Traditional Arabic" pitchFamily="34" charset="0"/>
                <a:ea typeface="Traditional Arabic" pitchFamily="34" charset="-122"/>
                <a:cs typeface="Traditional Arabic" pitchFamily="34" charset="-120"/>
              </a:rPr>
              <a:t>للَّهِ</a:t>
            </a:r>
            <a:endParaRPr lang="ar-SA" sz="2700" dirty="0"/>
          </a:p>
        </p:txBody>
      </p:sp>
      <p:sp>
        <p:nvSpPr>
          <p:cNvPr id="17"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Bis-mil-laah</a:t>
            </a:r>
            <a:endParaRPr lang="en-US" sz="30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E8590C"/>
            </a:solidFill>
            <a:prstDash val="solid"/>
          </a:ln>
        </p:spPr>
      </p:sp>
      <p:sp>
        <p:nvSpPr>
          <p:cNvPr id="19" name="C3 tip"/>
          <p:cNvSpPr txBox="1"/>
          <p:nvPr/>
        </p:nvSpPr>
        <p:spPr>
          <a:xfrm>
            <a:off x="502920" y="3382264"/>
            <a:ext cx="8138160" cy="768096"/>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Not 'Bismi Allaah'.  The kasrah of meem runs straight into the L.</a:t>
            </a:r>
            <a:endParaRPr lang="en-US" sz="1900" dirty="0"/>
          </a:p>
        </p:txBody>
      </p:sp>
    </p:spTree>
  </p:cSld>
  <p:clrMapOvr>
    <a:masterClrMapping/>
  </p:clrMapOvr>
  <p:transition spd="med">
    <p:pull dir="l"/>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5D3F7"/>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C653B3"/>
          </a:solidFill>
          <a:ln w="12700">
            <a:solidFill>
              <a:srgbClr val="C653B3"/>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5EB7ED"/>
          </a:solidFill>
          <a:ln w="12700">
            <a:solidFill>
              <a:srgbClr val="5EB7ED"/>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E8590C"/>
          </a:solidFill>
          <a:ln w="76200">
            <a:solidFill>
              <a:srgbClr val="E8590C"/>
            </a:solidFill>
            <a:prstDash val="solid"/>
          </a:ln>
        </p:spPr>
      </p:sp>
      <p:sp>
        <p:nvSpPr>
          <p:cNvPr id="19"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Connecting: skip it</a:t>
            </a:r>
            <a:endParaRPr lang="en-US" sz="1800" dirty="0"/>
          </a:p>
        </p:txBody>
      </p:sp>
      <p:sp>
        <p:nvSpPr>
          <p:cNvPr id="20"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21"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22" name="C1 mushaf"/>
          <p:cNvSpPr txBox="1"/>
          <p:nvPr/>
        </p:nvSpPr>
        <p:spPr>
          <a:xfrm>
            <a:off x="4892040" y="1717929"/>
            <a:ext cx="3886200" cy="1353312"/>
          </a:xfrm>
          <a:prstGeom prst="rect">
            <a:avLst/>
          </a:prstGeom>
          <a:noFill/>
          <a:ln/>
        </p:spPr>
        <p:txBody>
          <a:bodyPr wrap="none" lIns="0" tIns="0" rIns="0" bIns="0" rtlCol="0" anchor="ctr"/>
          <a:lstStyle/>
          <a:p>
            <a:pPr algn="ctr" indent="0" marL="0">
              <a:buNone/>
            </a:pPr>
            <a:r>
              <a:rPr lang="ar-SA" altLang="en-US" sz="5000" dirty="0">
                <a:solidFill>
                  <a:srgbClr val="16213E"/>
                </a:solidFill>
                <a:latin typeface="Traditional Arabic" pitchFamily="34" charset="0"/>
                <a:ea typeface="Traditional Arabic" pitchFamily="34" charset="-122"/>
                <a:cs typeface="Traditional Arabic" pitchFamily="34" charset="-120"/>
              </a:rPr>
              <a:t>رَبِّ </a:t>
            </a: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لۡعَٰلَمِينَ</a:t>
            </a:r>
            <a:endParaRPr lang="ar-SA" sz="5000" dirty="0"/>
          </a:p>
        </p:txBody>
      </p:sp>
      <p:sp>
        <p:nvSpPr>
          <p:cNvPr id="23" name="C2 arrow"/>
          <p:cNvSpPr/>
          <p:nvPr/>
        </p:nvSpPr>
        <p:spPr>
          <a:xfrm>
            <a:off x="4315968" y="2125980"/>
            <a:ext cx="512064" cy="457200"/>
          </a:xfrm>
          <a:prstGeom prst="leftArrow">
            <a:avLst/>
          </a:prstGeom>
          <a:solidFill>
            <a:srgbClr val="84B82E"/>
          </a:solidFill>
          <a:ln w="12700">
            <a:solidFill>
              <a:srgbClr val="333333"/>
            </a:solidFill>
            <a:prstDash val="solid"/>
          </a:ln>
        </p:spPr>
      </p:sp>
      <p:sp>
        <p:nvSpPr>
          <p:cNvPr id="24" name="C2 read arabic"/>
          <p:cNvSpPr txBox="1"/>
          <p:nvPr/>
        </p:nvSpPr>
        <p:spPr>
          <a:xfrm>
            <a:off x="365760" y="1535163"/>
            <a:ext cx="3886200" cy="981151"/>
          </a:xfrm>
          <a:prstGeom prst="rect">
            <a:avLst/>
          </a:prstGeom>
          <a:noFill/>
          <a:ln/>
        </p:spPr>
        <p:txBody>
          <a:bodyPr wrap="none" lIns="0" tIns="0" rIns="0" bIns="0" rtlCol="0" anchor="ctr"/>
          <a:lstStyle/>
          <a:p>
            <a:pPr algn="ctr" indent="0" marL="0">
              <a:buNone/>
            </a:pPr>
            <a:r>
              <a:rPr lang="ar-SA" altLang="en-US" sz="3300" dirty="0">
                <a:solidFill>
                  <a:srgbClr val="16213E"/>
                </a:solidFill>
                <a:latin typeface="Traditional Arabic" pitchFamily="34" charset="0"/>
                <a:ea typeface="Traditional Arabic" pitchFamily="34" charset="-122"/>
                <a:cs typeface="Traditional Arabic" pitchFamily="34" charset="-120"/>
              </a:rPr>
              <a:t>رَبِّ </a:t>
            </a:r>
            <a:r>
              <a:rPr lang="ar-SA" altLang="en-US" sz="3300" dirty="0">
                <a:solidFill>
                  <a:srgbClr val="ADB5BD"/>
                </a:solidFill>
                <a:latin typeface="Traditional Arabic" pitchFamily="34" charset="0"/>
                <a:ea typeface="Traditional Arabic" pitchFamily="34" charset="-122"/>
                <a:cs typeface="Traditional Arabic" pitchFamily="34" charset="-120"/>
              </a:rPr>
              <a:t>ٱ</a:t>
            </a:r>
            <a:r>
              <a:rPr lang="ar-SA" altLang="en-US" sz="3300" dirty="0">
                <a:solidFill>
                  <a:srgbClr val="16213E"/>
                </a:solidFill>
                <a:latin typeface="Traditional Arabic" pitchFamily="34" charset="0"/>
                <a:ea typeface="Traditional Arabic" pitchFamily="34" charset="-122"/>
                <a:cs typeface="Traditional Arabic" pitchFamily="34" charset="-120"/>
              </a:rPr>
              <a:t>لۡعَٰلَمِينَ</a:t>
            </a:r>
            <a:endParaRPr lang="ar-SA" sz="3300" dirty="0"/>
          </a:p>
        </p:txBody>
      </p:sp>
      <p:sp>
        <p:nvSpPr>
          <p:cNvPr id="25" name="C2 read sounds"/>
          <p:cNvSpPr txBox="1"/>
          <p:nvPr/>
        </p:nvSpPr>
        <p:spPr>
          <a:xfrm>
            <a:off x="457200" y="2497023"/>
            <a:ext cx="3703320" cy="637337"/>
          </a:xfrm>
          <a:prstGeom prst="rect">
            <a:avLst/>
          </a:prstGeom>
          <a:noFill/>
          <a:ln/>
        </p:spPr>
        <p:txBody>
          <a:bodyPr wrap="non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Rab-bil-'aa-la-meen</a:t>
            </a:r>
            <a:endParaRPr lang="en-US" sz="2800" dirty="0"/>
          </a:p>
        </p:txBody>
      </p:sp>
      <p:sp>
        <p:nvSpPr>
          <p:cNvPr id="26" name="C3 tip box"/>
          <p:cNvSpPr/>
          <p:nvPr/>
        </p:nvSpPr>
        <p:spPr>
          <a:xfrm>
            <a:off x="365760" y="3364992"/>
            <a:ext cx="8412480" cy="841248"/>
          </a:xfrm>
          <a:prstGeom prst="roundRect">
            <a:avLst>
              <a:gd name="adj" fmla="val 27174"/>
            </a:avLst>
          </a:prstGeom>
          <a:solidFill>
            <a:srgbClr val="FFFFFF"/>
          </a:solidFill>
          <a:ln w="76200">
            <a:solidFill>
              <a:srgbClr val="E8590C"/>
            </a:solidFill>
            <a:prstDash val="solid"/>
          </a:ln>
        </p:spPr>
      </p:sp>
      <p:sp>
        <p:nvSpPr>
          <p:cNvPr id="27"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The kasrah of baa joins the L:  rab-bil-...</a:t>
            </a:r>
            <a:endParaRPr lang="en-US" sz="2200" dirty="0"/>
          </a:p>
        </p:txBody>
      </p:sp>
    </p:spTree>
  </p:cSld>
  <p:clrMapOvr>
    <a:masterClrMapping/>
  </p:clrMapOvr>
  <p:transition spd="med">
    <p:fade/>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31414"/>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E09952"/>
          </a:solidFill>
          <a:ln w="12700">
            <a:solidFill>
              <a:srgbClr val="E09952"/>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F2F28C"/>
            </a:solidFill>
            <a:prstDash val="solid"/>
          </a:ln>
        </p:spPr>
      </p:sp>
      <p:sp>
        <p:nvSpPr>
          <p:cNvPr id="4" name="Deco small planet"/>
          <p:cNvSpPr/>
          <p:nvPr/>
        </p:nvSpPr>
        <p:spPr>
          <a:xfrm>
            <a:off x="274320" y="182880"/>
            <a:ext cx="502920" cy="502920"/>
          </a:xfrm>
          <a:prstGeom prst="ellipse">
            <a:avLst/>
          </a:prstGeom>
          <a:solidFill>
            <a:srgbClr val="70DBDB"/>
          </a:solidFill>
          <a:ln w="12700">
            <a:solidFill>
              <a:srgbClr val="70DBDB"/>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5C4785"/>
          </a:solidFill>
          <a:ln w="12700">
            <a:solidFill>
              <a:srgbClr val="5C4785"/>
            </a:solidFill>
            <a:prstDash val="solid"/>
          </a:ln>
        </p:spPr>
      </p:sp>
      <p:sp>
        <p:nvSpPr>
          <p:cNvPr id="15" name="Title box"/>
          <p:cNvSpPr/>
          <p:nvPr/>
        </p:nvSpPr>
        <p:spPr>
          <a:xfrm>
            <a:off x="365760" y="896112"/>
            <a:ext cx="8412480" cy="502920"/>
          </a:xfrm>
          <a:prstGeom prst="roundRect">
            <a:avLst>
              <a:gd name="adj" fmla="val 45455"/>
            </a:avLst>
          </a:prstGeom>
          <a:solidFill>
            <a:srgbClr val="E8590C"/>
          </a:solidFill>
          <a:ln w="76200">
            <a:solidFill>
              <a:srgbClr val="E8590C"/>
            </a:solidFill>
            <a:prstDash val="solid"/>
          </a:ln>
        </p:spPr>
      </p:sp>
      <p:sp>
        <p:nvSpPr>
          <p:cNvPr id="16"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Inside a word too</a:t>
            </a:r>
            <a:endParaRPr lang="en-US" sz="2200" dirty="0"/>
          </a:p>
        </p:txBody>
      </p:sp>
      <p:sp>
        <p:nvSpPr>
          <p:cNvPr id="17"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8"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9" name="C1 mushaf"/>
          <p:cNvSpPr txBox="1"/>
          <p:nvPr/>
        </p:nvSpPr>
        <p:spPr>
          <a:xfrm>
            <a:off x="4892040" y="1718564"/>
            <a:ext cx="3886200" cy="1353312"/>
          </a:xfrm>
          <a:prstGeom prst="rect">
            <a:avLst/>
          </a:prstGeom>
          <a:noFill/>
          <a:ln/>
        </p:spPr>
        <p:txBody>
          <a:bodyPr wrap="none" lIns="0" tIns="0" rIns="0" bIns="0" rtlCol="0" anchor="ctr"/>
          <a:lstStyle/>
          <a:p>
            <a:pPr algn="ctr" indent="0" marL="0">
              <a:buNone/>
            </a:pPr>
            <a:r>
              <a:rPr lang="ar-SA" altLang="en-US" sz="5000" dirty="0">
                <a:solidFill>
                  <a:srgbClr val="16213E"/>
                </a:solidFill>
                <a:latin typeface="Traditional Arabic" pitchFamily="34" charset="0"/>
                <a:ea typeface="Traditional Arabic" pitchFamily="34" charset="-122"/>
                <a:cs typeface="Traditional Arabic" pitchFamily="34" charset="-120"/>
              </a:rPr>
              <a:t>وَ</a:t>
            </a: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تَّقُوا۟</a:t>
            </a:r>
            <a:endParaRPr lang="ar-SA" sz="5000" dirty="0"/>
          </a:p>
        </p:txBody>
      </p:sp>
      <p:sp>
        <p:nvSpPr>
          <p:cNvPr id="20" name="C2 arrow"/>
          <p:cNvSpPr/>
          <p:nvPr/>
        </p:nvSpPr>
        <p:spPr>
          <a:xfrm>
            <a:off x="4315968" y="2125980"/>
            <a:ext cx="512064" cy="457200"/>
          </a:xfrm>
          <a:prstGeom prst="leftArrow">
            <a:avLst/>
          </a:prstGeom>
          <a:solidFill>
            <a:srgbClr val="2E5BB8"/>
          </a:solidFill>
          <a:ln w="12700">
            <a:solidFill>
              <a:srgbClr val="333333"/>
            </a:solidFill>
            <a:prstDash val="solid"/>
          </a:ln>
        </p:spPr>
      </p:sp>
      <p:sp>
        <p:nvSpPr>
          <p:cNvPr id="21" name="C2 read arabic"/>
          <p:cNvSpPr txBox="1"/>
          <p:nvPr/>
        </p:nvSpPr>
        <p:spPr>
          <a:xfrm>
            <a:off x="365760" y="1535582"/>
            <a:ext cx="3886200" cy="981151"/>
          </a:xfrm>
          <a:prstGeom prst="rect">
            <a:avLst/>
          </a:prstGeom>
          <a:noFill/>
          <a:ln/>
        </p:spPr>
        <p:txBody>
          <a:bodyPr wrap="none" lIns="0" tIns="0" rIns="0" bIns="0" rtlCol="0" anchor="ctr"/>
          <a:lstStyle/>
          <a:p>
            <a:pPr algn="ctr" indent="0" marL="0">
              <a:buNone/>
            </a:pPr>
            <a:r>
              <a:rPr lang="ar-SA" altLang="en-US" sz="3300" dirty="0">
                <a:solidFill>
                  <a:srgbClr val="16213E"/>
                </a:solidFill>
                <a:latin typeface="Traditional Arabic" pitchFamily="34" charset="0"/>
                <a:ea typeface="Traditional Arabic" pitchFamily="34" charset="-122"/>
                <a:cs typeface="Traditional Arabic" pitchFamily="34" charset="-120"/>
              </a:rPr>
              <a:t>وَ</a:t>
            </a:r>
            <a:r>
              <a:rPr lang="ar-SA" altLang="en-US" sz="3300" dirty="0">
                <a:solidFill>
                  <a:srgbClr val="ADB5BD"/>
                </a:solidFill>
                <a:latin typeface="Traditional Arabic" pitchFamily="34" charset="0"/>
                <a:ea typeface="Traditional Arabic" pitchFamily="34" charset="-122"/>
                <a:cs typeface="Traditional Arabic" pitchFamily="34" charset="-120"/>
              </a:rPr>
              <a:t>ٱ</a:t>
            </a:r>
            <a:r>
              <a:rPr lang="ar-SA" altLang="en-US" sz="3300" dirty="0">
                <a:solidFill>
                  <a:srgbClr val="16213E"/>
                </a:solidFill>
                <a:latin typeface="Traditional Arabic" pitchFamily="34" charset="0"/>
                <a:ea typeface="Traditional Arabic" pitchFamily="34" charset="-122"/>
                <a:cs typeface="Traditional Arabic" pitchFamily="34" charset="-120"/>
              </a:rPr>
              <a:t>تَّقُوا۟</a:t>
            </a:r>
            <a:endParaRPr lang="ar-SA" sz="3300" dirty="0"/>
          </a:p>
        </p:txBody>
      </p:sp>
      <p:sp>
        <p:nvSpPr>
          <p:cNvPr id="22" name="C2 read sounds"/>
          <p:cNvSpPr txBox="1"/>
          <p:nvPr/>
        </p:nvSpPr>
        <p:spPr>
          <a:xfrm>
            <a:off x="457200" y="2456129"/>
            <a:ext cx="3703320" cy="637337"/>
          </a:xfrm>
          <a:prstGeom prst="rect">
            <a:avLst/>
          </a:prstGeom>
          <a:noFill/>
          <a:ln/>
        </p:spPr>
        <p:txBody>
          <a:bodyPr wrap="none" lIns="0" tIns="0" rIns="0" bIns="0" rtlCol="0" anchor="ctr"/>
          <a:lstStyle/>
          <a:p>
            <a:pPr algn="ctr" indent="0" marL="0">
              <a:buNone/>
            </a:pPr>
            <a:r>
              <a:rPr lang="en-US" sz="2800" b="1" dirty="0">
                <a:solidFill>
                  <a:srgbClr val="D9480F"/>
                </a:solidFill>
                <a:latin typeface="Arial" pitchFamily="34" charset="0"/>
                <a:ea typeface="Arial" pitchFamily="34" charset="-122"/>
                <a:cs typeface="Arial" pitchFamily="34" charset="-120"/>
              </a:rPr>
              <a:t>Wat-ta-qoo</a:t>
            </a:r>
            <a:endParaRPr lang="en-US" sz="2800" dirty="0"/>
          </a:p>
        </p:txBody>
      </p:sp>
      <p:sp>
        <p:nvSpPr>
          <p:cNvPr id="23" name="C3 tip box"/>
          <p:cNvSpPr/>
          <p:nvPr/>
        </p:nvSpPr>
        <p:spPr>
          <a:xfrm>
            <a:off x="365760" y="3364992"/>
            <a:ext cx="8412480" cy="841248"/>
          </a:xfrm>
          <a:prstGeom prst="roundRect">
            <a:avLst>
              <a:gd name="adj" fmla="val 27174"/>
            </a:avLst>
          </a:prstGeom>
          <a:solidFill>
            <a:srgbClr val="FFFFFF"/>
          </a:solidFill>
          <a:ln w="76200">
            <a:solidFill>
              <a:srgbClr val="E8590C"/>
            </a:solidFill>
            <a:prstDash val="solid"/>
          </a:ln>
        </p:spPr>
      </p:sp>
      <p:sp>
        <p:nvSpPr>
          <p:cNvPr id="24" name="C3 tip"/>
          <p:cNvSpPr txBox="1"/>
          <p:nvPr/>
        </p:nvSpPr>
        <p:spPr>
          <a:xfrm>
            <a:off x="502920" y="3385312"/>
            <a:ext cx="8138160" cy="768096"/>
          </a:xfrm>
          <a:prstGeom prst="rect">
            <a:avLst/>
          </a:prstGeom>
          <a:noFill/>
          <a:ln/>
        </p:spPr>
        <p:txBody>
          <a:bodyPr wrap="none" lIns="0" tIns="0" rIns="0" bIns="0" rtlCol="0" anchor="ctr"/>
          <a:lstStyle/>
          <a:p>
            <a:pPr algn="ctr" indent="0" marL="0">
              <a:buNone/>
            </a:pPr>
            <a:r>
              <a:rPr lang="en-US" sz="1600" dirty="0">
                <a:solidFill>
                  <a:srgbClr val="16213E"/>
                </a:solidFill>
                <a:latin typeface="Arial" pitchFamily="34" charset="0"/>
                <a:ea typeface="Arial" pitchFamily="34" charset="-122"/>
                <a:cs typeface="Arial" pitchFamily="34" charset="-120"/>
              </a:rPr>
              <a:t>wa + ittaqoo  =  wattaqoo.  Small words like wa, fa, bi join the same way.</a:t>
            </a:r>
            <a:endParaRPr lang="en-US" sz="1600" dirty="0"/>
          </a:p>
        </p:txBody>
      </p:sp>
    </p:spTree>
  </p:cSld>
  <p:clrMapOvr>
    <a:masterClrMapping/>
  </p:clrMapOvr>
  <p:transition spd="med">
    <p:cover dir="l"/>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C5F7D4"/>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64D8B7"/>
          </a:solidFill>
          <a:ln w="12700">
            <a:solidFill>
              <a:srgbClr val="64D8B7"/>
            </a:solidFill>
            <a:prstDash val="solid"/>
          </a:ln>
        </p:spPr>
      </p:sp>
      <p:sp>
        <p:nvSpPr>
          <p:cNvPr id="4" name="Deco dune right"/>
          <p:cNvSpPr/>
          <p:nvPr/>
        </p:nvSpPr>
        <p:spPr>
          <a:xfrm>
            <a:off x="5303520" y="4617720"/>
            <a:ext cx="5120640" cy="1280160"/>
          </a:xfrm>
          <a:prstGeom prst="ellipse">
            <a:avLst/>
          </a:prstGeom>
          <a:solidFill>
            <a:srgbClr val="47D192"/>
          </a:solidFill>
          <a:ln w="12700">
            <a:solidFill>
              <a:srgbClr val="47D192"/>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1"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1: a long vowel before ٱ becomes short</a:t>
            </a:r>
            <a:endParaRPr lang="en-US" sz="16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682216"/>
            <a:ext cx="3886200" cy="1353312"/>
          </a:xfrm>
          <a:prstGeom prst="rect">
            <a:avLst/>
          </a:prstGeom>
          <a:noFill/>
          <a:ln/>
        </p:spPr>
        <p:txBody>
          <a:bodyPr wrap="none" lIns="0" tIns="0" rIns="0" bIns="0" rtlCol="0" anchor="ctr"/>
          <a:lstStyle/>
          <a:p>
            <a:pPr algn="ctr" indent="0" marL="0">
              <a:buNone/>
            </a:pPr>
            <a:r>
              <a:rPr lang="ar-SA" altLang="en-US" sz="4100" dirty="0">
                <a:solidFill>
                  <a:srgbClr val="16213E"/>
                </a:solidFill>
                <a:latin typeface="Traditional Arabic" pitchFamily="34" charset="0"/>
                <a:ea typeface="Traditional Arabic" pitchFamily="34" charset="-122"/>
                <a:cs typeface="Traditional Arabic" pitchFamily="34" charset="-120"/>
              </a:rPr>
              <a:t>فِي </a:t>
            </a:r>
            <a:r>
              <a:rPr lang="ar-SA" altLang="en-US" sz="4100" dirty="0">
                <a:solidFill>
                  <a:srgbClr val="E03131"/>
                </a:solidFill>
                <a:latin typeface="Traditional Arabic" pitchFamily="34" charset="0"/>
                <a:ea typeface="Traditional Arabic" pitchFamily="34" charset="-122"/>
                <a:cs typeface="Traditional Arabic" pitchFamily="34" charset="-120"/>
              </a:rPr>
              <a:t>ٱ</a:t>
            </a:r>
            <a:r>
              <a:rPr lang="ar-SA" altLang="en-US" sz="4100" dirty="0">
                <a:solidFill>
                  <a:srgbClr val="16213E"/>
                </a:solidFill>
                <a:latin typeface="Traditional Arabic" pitchFamily="34" charset="0"/>
                <a:ea typeface="Traditional Arabic" pitchFamily="34" charset="-122"/>
                <a:cs typeface="Traditional Arabic" pitchFamily="34" charset="-120"/>
              </a:rPr>
              <a:t>لۡأَرۡضِ</a:t>
            </a:r>
            <a:endParaRPr lang="ar-SA" sz="4100" dirty="0"/>
          </a:p>
        </p:txBody>
      </p:sp>
      <p:sp>
        <p:nvSpPr>
          <p:cNvPr id="15" name="C2 arrow"/>
          <p:cNvSpPr/>
          <p:nvPr/>
        </p:nvSpPr>
        <p:spPr>
          <a:xfrm>
            <a:off x="4315968" y="2125980"/>
            <a:ext cx="512064" cy="457200"/>
          </a:xfrm>
          <a:prstGeom prst="leftArrow">
            <a:avLst/>
          </a:prstGeom>
          <a:solidFill>
            <a:srgbClr val="B82E33"/>
          </a:solidFill>
          <a:ln w="12700">
            <a:solidFill>
              <a:srgbClr val="333333"/>
            </a:solidFill>
            <a:prstDash val="solid"/>
          </a:ln>
        </p:spPr>
      </p:sp>
      <p:sp>
        <p:nvSpPr>
          <p:cNvPr id="16" name="C2 read arabic"/>
          <p:cNvSpPr txBox="1"/>
          <p:nvPr/>
        </p:nvSpPr>
        <p:spPr>
          <a:xfrm>
            <a:off x="365760" y="1511586"/>
            <a:ext cx="3886200" cy="981151"/>
          </a:xfrm>
          <a:prstGeom prst="rect">
            <a:avLst/>
          </a:prstGeom>
          <a:noFill/>
          <a:ln/>
        </p:spPr>
        <p:txBody>
          <a:bodyPr wrap="none" lIns="0" tIns="0" rIns="0" bIns="0" rtlCol="0" anchor="ctr"/>
          <a:lstStyle/>
          <a:p>
            <a:pPr algn="ctr" indent="0" marL="0">
              <a:buNone/>
            </a:pPr>
            <a:r>
              <a:rPr lang="ar-SA" altLang="en-US" sz="2700" dirty="0">
                <a:solidFill>
                  <a:srgbClr val="16213E"/>
                </a:solidFill>
                <a:latin typeface="Traditional Arabic" pitchFamily="34" charset="0"/>
                <a:ea typeface="Traditional Arabic" pitchFamily="34" charset="-122"/>
                <a:cs typeface="Traditional Arabic" pitchFamily="34" charset="-120"/>
              </a:rPr>
              <a:t>فِ</a:t>
            </a:r>
            <a:r>
              <a:rPr lang="ar-SA" altLang="en-US" sz="2700" dirty="0">
                <a:solidFill>
                  <a:srgbClr val="ADB5BD"/>
                </a:solidFill>
                <a:latin typeface="Traditional Arabic" pitchFamily="34" charset="0"/>
                <a:ea typeface="Traditional Arabic" pitchFamily="34" charset="-122"/>
                <a:cs typeface="Traditional Arabic" pitchFamily="34" charset="-120"/>
              </a:rPr>
              <a:t>ي</a:t>
            </a:r>
            <a:r>
              <a:rPr lang="ar-SA" altLang="en-US" sz="2700" dirty="0">
                <a:solidFill>
                  <a:srgbClr val="16213E"/>
                </a:solidFill>
                <a:latin typeface="Traditional Arabic" pitchFamily="34" charset="0"/>
                <a:ea typeface="Traditional Arabic" pitchFamily="34" charset="-122"/>
                <a:cs typeface="Traditional Arabic" pitchFamily="34" charset="-120"/>
              </a:rPr>
              <a:t> </a:t>
            </a:r>
            <a:r>
              <a:rPr lang="ar-SA" altLang="en-US" sz="2700" dirty="0">
                <a:solidFill>
                  <a:srgbClr val="ADB5BD"/>
                </a:solidFill>
                <a:latin typeface="Traditional Arabic" pitchFamily="34" charset="0"/>
                <a:ea typeface="Traditional Arabic" pitchFamily="34" charset="-122"/>
                <a:cs typeface="Traditional Arabic" pitchFamily="34" charset="-120"/>
              </a:rPr>
              <a:t>ٱ</a:t>
            </a:r>
            <a:r>
              <a:rPr lang="ar-SA" altLang="en-US" sz="2700" dirty="0">
                <a:solidFill>
                  <a:srgbClr val="16213E"/>
                </a:solidFill>
                <a:latin typeface="Traditional Arabic" pitchFamily="34" charset="0"/>
                <a:ea typeface="Traditional Arabic" pitchFamily="34" charset="-122"/>
                <a:cs typeface="Traditional Arabic" pitchFamily="34" charset="-120"/>
              </a:rPr>
              <a:t>لۡأَرۡضِ</a:t>
            </a:r>
            <a:endParaRPr lang="ar-SA" sz="2700" dirty="0"/>
          </a:p>
        </p:txBody>
      </p:sp>
      <p:sp>
        <p:nvSpPr>
          <p:cNvPr id="17"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Fil-ard</a:t>
            </a:r>
            <a:endParaRPr lang="en-US" sz="30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19" name="C3 tip"/>
          <p:cNvSpPr txBox="1"/>
          <p:nvPr/>
        </p:nvSpPr>
        <p:spPr>
          <a:xfrm>
            <a:off x="502920" y="3406648"/>
            <a:ext cx="8138160" cy="768096"/>
          </a:xfrm>
          <a:prstGeom prst="rect">
            <a:avLst/>
          </a:prstGeom>
          <a:noFill/>
          <a:ln/>
        </p:spPr>
        <p:txBody>
          <a:bodyPr wrap="none" lIns="0" tIns="0" rIns="0" bIns="0" rtlCol="0" anchor="ctr"/>
          <a:lstStyle/>
          <a:p>
            <a:pPr algn="ctr" indent="0" marL="0">
              <a:buNone/>
            </a:pPr>
            <a:r>
              <a:rPr lang="en-US" sz="2000" dirty="0">
                <a:solidFill>
                  <a:srgbClr val="16213E"/>
                </a:solidFill>
                <a:latin typeface="Arial" pitchFamily="34" charset="0"/>
                <a:ea typeface="Arial" pitchFamily="34" charset="-122"/>
                <a:cs typeface="Arial" pitchFamily="34" charset="-120"/>
              </a:rPr>
              <a:t>Not 'Fee-l-ard'.  The madd letter is written but not stretched.</a:t>
            </a:r>
            <a:endParaRPr lang="en-US" sz="2000" dirty="0"/>
          </a:p>
        </p:txBody>
      </p:sp>
    </p:spTree>
  </p:cSld>
  <p:clrMapOvr>
    <a:masterClrMapping/>
  </p:clrMapOvr>
  <p:transition spd="med">
    <p:zoom/>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2C5F7"/>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CC6666"/>
          </a:solidFill>
          <a:ln w="12700">
            <a:solidFill>
              <a:srgbClr val="CC6666"/>
            </a:solidFill>
            <a:prstDash val="solid"/>
          </a:ln>
        </p:spPr>
      </p:sp>
      <p:sp>
        <p:nvSpPr>
          <p:cNvPr id="3" name="Deco hill right"/>
          <p:cNvSpPr/>
          <p:nvPr/>
        </p:nvSpPr>
        <p:spPr>
          <a:xfrm>
            <a:off x="4023360" y="4526280"/>
            <a:ext cx="5852160" cy="1463040"/>
          </a:xfrm>
          <a:prstGeom prst="ellipse">
            <a:avLst/>
          </a:prstGeom>
          <a:solidFill>
            <a:srgbClr val="BF6A40"/>
          </a:solidFill>
          <a:ln w="12700">
            <a:solidFill>
              <a:srgbClr val="BF6A40"/>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2"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1: a long vowel before ٱ becomes short</a:t>
            </a:r>
            <a:endParaRPr lang="en-US" sz="1600" dirty="0"/>
          </a:p>
        </p:txBody>
      </p:sp>
      <p:sp>
        <p:nvSpPr>
          <p:cNvPr id="13"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4"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5" name="C1 mushaf"/>
          <p:cNvSpPr txBox="1"/>
          <p:nvPr/>
        </p:nvSpPr>
        <p:spPr>
          <a:xfrm>
            <a:off x="4892040" y="1614221"/>
            <a:ext cx="3886200" cy="1353312"/>
          </a:xfrm>
          <a:prstGeom prst="rect">
            <a:avLst/>
          </a:prstGeom>
          <a:noFill/>
          <a:ln/>
        </p:spPr>
        <p:txBody>
          <a:bodyPr wrap="none" lIns="0" tIns="0" rIns="0" bIns="0" rtlCol="0" anchor="ctr"/>
          <a:lstStyle/>
          <a:p>
            <a:pPr algn="ctr" indent="0" marL="0">
              <a:buNone/>
            </a:pPr>
            <a:r>
              <a:rPr lang="ar-SA" altLang="en-US" sz="4800" dirty="0">
                <a:solidFill>
                  <a:srgbClr val="16213E"/>
                </a:solidFill>
                <a:latin typeface="Traditional Arabic" pitchFamily="34" charset="0"/>
                <a:ea typeface="Traditional Arabic" pitchFamily="34" charset="-122"/>
                <a:cs typeface="Traditional Arabic" pitchFamily="34" charset="-120"/>
              </a:rPr>
              <a:t>إِذَا </a:t>
            </a:r>
            <a:r>
              <a:rPr lang="ar-SA" altLang="en-US" sz="4800" dirty="0">
                <a:solidFill>
                  <a:srgbClr val="E03131"/>
                </a:solidFill>
                <a:latin typeface="Traditional Arabic" pitchFamily="34" charset="0"/>
                <a:ea typeface="Traditional Arabic" pitchFamily="34" charset="-122"/>
                <a:cs typeface="Traditional Arabic" pitchFamily="34" charset="-120"/>
              </a:rPr>
              <a:t>ٱ</a:t>
            </a:r>
            <a:r>
              <a:rPr lang="ar-SA" altLang="en-US" sz="4800" dirty="0">
                <a:solidFill>
                  <a:srgbClr val="16213E"/>
                </a:solidFill>
                <a:latin typeface="Traditional Arabic" pitchFamily="34" charset="0"/>
                <a:ea typeface="Traditional Arabic" pitchFamily="34" charset="-122"/>
                <a:cs typeface="Traditional Arabic" pitchFamily="34" charset="-120"/>
              </a:rPr>
              <a:t>لسَّمَآءُ</a:t>
            </a:r>
            <a:endParaRPr lang="ar-SA" sz="4800" dirty="0"/>
          </a:p>
        </p:txBody>
      </p:sp>
      <p:sp>
        <p:nvSpPr>
          <p:cNvPr id="16" name="C2 arrow"/>
          <p:cNvSpPr/>
          <p:nvPr/>
        </p:nvSpPr>
        <p:spPr>
          <a:xfrm>
            <a:off x="4315968" y="2125980"/>
            <a:ext cx="512064" cy="457200"/>
          </a:xfrm>
          <a:prstGeom prst="leftArrow">
            <a:avLst/>
          </a:prstGeom>
          <a:solidFill>
            <a:srgbClr val="2EB851"/>
          </a:solidFill>
          <a:ln w="12700">
            <a:solidFill>
              <a:srgbClr val="333333"/>
            </a:solidFill>
            <a:prstDash val="solid"/>
          </a:ln>
        </p:spPr>
      </p:sp>
      <p:sp>
        <p:nvSpPr>
          <p:cNvPr id="17" name="C2 read arabic"/>
          <p:cNvSpPr txBox="1"/>
          <p:nvPr/>
        </p:nvSpPr>
        <p:spPr>
          <a:xfrm>
            <a:off x="365760" y="1466291"/>
            <a:ext cx="3886200" cy="981151"/>
          </a:xfrm>
          <a:prstGeom prst="rect">
            <a:avLst/>
          </a:prstGeom>
          <a:noFill/>
          <a:ln/>
        </p:spPr>
        <p:txBody>
          <a:bodyPr wrap="none" lIns="0" tIns="0" rIns="0" bIns="0" rtlCol="0" anchor="ctr"/>
          <a:lstStyle/>
          <a:p>
            <a:pPr algn="ctr" indent="0" marL="0">
              <a:buNone/>
            </a:pPr>
            <a:r>
              <a:rPr lang="ar-SA" altLang="en-US" sz="3200" dirty="0">
                <a:solidFill>
                  <a:srgbClr val="16213E"/>
                </a:solidFill>
                <a:latin typeface="Traditional Arabic" pitchFamily="34" charset="0"/>
                <a:ea typeface="Traditional Arabic" pitchFamily="34" charset="-122"/>
                <a:cs typeface="Traditional Arabic" pitchFamily="34" charset="-120"/>
              </a:rPr>
              <a:t>إِذَ</a:t>
            </a:r>
            <a:r>
              <a:rPr lang="ar-SA" altLang="en-US" sz="3200" dirty="0">
                <a:solidFill>
                  <a:srgbClr val="ADB5BD"/>
                </a:solidFill>
                <a:latin typeface="Traditional Arabic" pitchFamily="34" charset="0"/>
                <a:ea typeface="Traditional Arabic" pitchFamily="34" charset="-122"/>
                <a:cs typeface="Traditional Arabic" pitchFamily="34" charset="-120"/>
              </a:rPr>
              <a:t>ا</a:t>
            </a:r>
            <a:r>
              <a:rPr lang="ar-SA" altLang="en-US" sz="3200" dirty="0">
                <a:solidFill>
                  <a:srgbClr val="16213E"/>
                </a:solidFill>
                <a:latin typeface="Traditional Arabic" pitchFamily="34" charset="0"/>
                <a:ea typeface="Traditional Arabic" pitchFamily="34" charset="-122"/>
                <a:cs typeface="Traditional Arabic" pitchFamily="34" charset="-120"/>
              </a:rPr>
              <a:t> </a:t>
            </a:r>
            <a:r>
              <a:rPr lang="ar-SA" altLang="en-US" sz="3200" dirty="0">
                <a:solidFill>
                  <a:srgbClr val="ADB5BD"/>
                </a:solidFill>
                <a:latin typeface="Traditional Arabic" pitchFamily="34" charset="0"/>
                <a:ea typeface="Traditional Arabic" pitchFamily="34" charset="-122"/>
                <a:cs typeface="Traditional Arabic" pitchFamily="34" charset="-120"/>
              </a:rPr>
              <a:t>ٱ</a:t>
            </a:r>
            <a:r>
              <a:rPr lang="ar-SA" altLang="en-US" sz="3200" dirty="0">
                <a:solidFill>
                  <a:srgbClr val="16213E"/>
                </a:solidFill>
                <a:latin typeface="Traditional Arabic" pitchFamily="34" charset="0"/>
                <a:ea typeface="Traditional Arabic" pitchFamily="34" charset="-122"/>
                <a:cs typeface="Traditional Arabic" pitchFamily="34" charset="-120"/>
              </a:rPr>
              <a:t>لسَّمَآءُ</a:t>
            </a:r>
            <a:endParaRPr lang="ar-SA" sz="3200" dirty="0"/>
          </a:p>
        </p:txBody>
      </p:sp>
      <p:sp>
        <p:nvSpPr>
          <p:cNvPr id="18"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I-dhas-sa-maa'</a:t>
            </a:r>
            <a:endParaRPr lang="en-US" sz="3000" dirty="0"/>
          </a:p>
        </p:txBody>
      </p:sp>
      <p:sp>
        <p:nvSpPr>
          <p:cNvPr id="19"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0" name="C3 tip"/>
          <p:cNvSpPr txBox="1"/>
          <p:nvPr/>
        </p:nvSpPr>
        <p:spPr>
          <a:xfrm>
            <a:off x="502920" y="340715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Not 'Idhaa as-samaa''.  The alif of idhaa is not stretched.</a:t>
            </a:r>
            <a:endParaRPr lang="en-US" sz="2200" dirty="0"/>
          </a:p>
        </p:txBody>
      </p:sp>
    </p:spTree>
  </p:cSld>
  <p:clrMapOvr>
    <a:masterClrMapping/>
  </p:clrMapOvr>
  <p:transition spd="med">
    <p:wheel spokes="4"/>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33D14"/>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4E642B"/>
          </a:solidFill>
          <a:ln w="12700">
            <a:solidFill>
              <a:srgbClr val="4E642B"/>
            </a:solidFill>
            <a:prstDash val="solid"/>
          </a:ln>
        </p:spPr>
      </p:sp>
      <p:sp>
        <p:nvSpPr>
          <p:cNvPr id="11" name="Deco hill right"/>
          <p:cNvSpPr/>
          <p:nvPr/>
        </p:nvSpPr>
        <p:spPr>
          <a:xfrm>
            <a:off x="4206240" y="4572000"/>
            <a:ext cx="5669280" cy="1463040"/>
          </a:xfrm>
          <a:prstGeom prst="ellipse">
            <a:avLst/>
          </a:prstGeom>
          <a:solidFill>
            <a:srgbClr val="3C7934"/>
          </a:solidFill>
          <a:ln w="12700">
            <a:solidFill>
              <a:srgbClr val="3C7934"/>
            </a:solidFill>
            <a:prstDash val="solid"/>
          </a:ln>
        </p:spPr>
      </p:sp>
      <p:sp>
        <p:nvSpPr>
          <p:cNvPr id="12"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3"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1: a long vowel before ٱ becomes short</a:t>
            </a:r>
            <a:endParaRPr lang="en-US" sz="1600" dirty="0"/>
          </a:p>
        </p:txBody>
      </p:sp>
      <p:sp>
        <p:nvSpPr>
          <p:cNvPr id="14"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5"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6" name="C1 mushaf"/>
          <p:cNvSpPr txBox="1"/>
          <p:nvPr/>
        </p:nvSpPr>
        <p:spPr>
          <a:xfrm>
            <a:off x="4892040" y="1759632"/>
            <a:ext cx="3886200" cy="1353312"/>
          </a:xfrm>
          <a:prstGeom prst="rect">
            <a:avLst/>
          </a:prstGeom>
          <a:noFill/>
          <a:ln/>
        </p:spPr>
        <p:txBody>
          <a:bodyPr wrap="none" lIns="0" tIns="0" rIns="0" bIns="0" rtlCol="0" anchor="ctr"/>
          <a:lstStyle/>
          <a:p>
            <a:pPr algn="ctr" indent="0" marL="0">
              <a:buNone/>
            </a:pPr>
            <a:r>
              <a:rPr lang="ar-SA" altLang="en-US" sz="4600" dirty="0">
                <a:solidFill>
                  <a:srgbClr val="16213E"/>
                </a:solidFill>
                <a:latin typeface="Traditional Arabic" pitchFamily="34" charset="0"/>
                <a:ea typeface="Traditional Arabic" pitchFamily="34" charset="-122"/>
                <a:cs typeface="Traditional Arabic" pitchFamily="34" charset="-120"/>
              </a:rPr>
              <a:t>وَ</a:t>
            </a:r>
            <a:r>
              <a:rPr lang="ar-SA" altLang="en-US" sz="4600" dirty="0">
                <a:solidFill>
                  <a:srgbClr val="E03131"/>
                </a:solidFill>
                <a:latin typeface="Traditional Arabic" pitchFamily="34" charset="0"/>
                <a:ea typeface="Traditional Arabic" pitchFamily="34" charset="-122"/>
                <a:cs typeface="Traditional Arabic" pitchFamily="34" charset="-120"/>
              </a:rPr>
              <a:t>ٱ</a:t>
            </a:r>
            <a:r>
              <a:rPr lang="ar-SA" altLang="en-US" sz="4600" dirty="0">
                <a:solidFill>
                  <a:srgbClr val="16213E"/>
                </a:solidFill>
                <a:latin typeface="Traditional Arabic" pitchFamily="34" charset="0"/>
                <a:ea typeface="Traditional Arabic" pitchFamily="34" charset="-122"/>
                <a:cs typeface="Traditional Arabic" pitchFamily="34" charset="-120"/>
              </a:rPr>
              <a:t>تَّقُوا۟ </a:t>
            </a:r>
            <a:r>
              <a:rPr lang="ar-SA" altLang="en-US" sz="4600" dirty="0">
                <a:solidFill>
                  <a:srgbClr val="E03131"/>
                </a:solidFill>
                <a:latin typeface="Traditional Arabic" pitchFamily="34" charset="0"/>
                <a:ea typeface="Traditional Arabic" pitchFamily="34" charset="-122"/>
                <a:cs typeface="Traditional Arabic" pitchFamily="34" charset="-120"/>
              </a:rPr>
              <a:t>ٱ</a:t>
            </a:r>
            <a:r>
              <a:rPr lang="ar-SA" altLang="en-US" sz="4600" dirty="0">
                <a:solidFill>
                  <a:srgbClr val="16213E"/>
                </a:solidFill>
                <a:latin typeface="Traditional Arabic" pitchFamily="34" charset="0"/>
                <a:ea typeface="Traditional Arabic" pitchFamily="34" charset="-122"/>
                <a:cs typeface="Traditional Arabic" pitchFamily="34" charset="-120"/>
              </a:rPr>
              <a:t>للَّهَ</a:t>
            </a:r>
            <a:endParaRPr lang="ar-SA" sz="4600" dirty="0"/>
          </a:p>
        </p:txBody>
      </p:sp>
      <p:sp>
        <p:nvSpPr>
          <p:cNvPr id="17" name="C2 arrow"/>
          <p:cNvSpPr/>
          <p:nvPr/>
        </p:nvSpPr>
        <p:spPr>
          <a:xfrm>
            <a:off x="4315968" y="2125980"/>
            <a:ext cx="512064" cy="457200"/>
          </a:xfrm>
          <a:prstGeom prst="leftArrow">
            <a:avLst/>
          </a:prstGeom>
          <a:solidFill>
            <a:srgbClr val="792EB8"/>
          </a:solidFill>
          <a:ln w="12700">
            <a:solidFill>
              <a:srgbClr val="333333"/>
            </a:solidFill>
            <a:prstDash val="solid"/>
          </a:ln>
        </p:spPr>
      </p:sp>
      <p:sp>
        <p:nvSpPr>
          <p:cNvPr id="18" name="C2 read arabic"/>
          <p:cNvSpPr txBox="1"/>
          <p:nvPr/>
        </p:nvSpPr>
        <p:spPr>
          <a:xfrm>
            <a:off x="365760" y="1562048"/>
            <a:ext cx="3886200" cy="981151"/>
          </a:xfrm>
          <a:prstGeom prst="rect">
            <a:avLst/>
          </a:prstGeom>
          <a:noFill/>
          <a:ln/>
        </p:spPr>
        <p:txBody>
          <a:bodyPr wrap="none" lIns="0" tIns="0" rIns="0" bIns="0" rtlCol="0" anchor="ctr"/>
          <a:lstStyle/>
          <a:p>
            <a:pPr algn="ctr" indent="0" marL="0">
              <a:buNone/>
            </a:pPr>
            <a:r>
              <a:rPr lang="ar-SA" altLang="en-US" sz="3000" dirty="0">
                <a:solidFill>
                  <a:srgbClr val="16213E"/>
                </a:solidFill>
                <a:latin typeface="Traditional Arabic" pitchFamily="34" charset="0"/>
                <a:ea typeface="Traditional Arabic" pitchFamily="34" charset="-122"/>
                <a:cs typeface="Traditional Arabic" pitchFamily="34" charset="-120"/>
              </a:rPr>
              <a:t>وَ</a:t>
            </a:r>
            <a:r>
              <a:rPr lang="ar-SA" altLang="en-US" sz="3000" dirty="0">
                <a:solidFill>
                  <a:srgbClr val="ADB5BD"/>
                </a:solidFill>
                <a:latin typeface="Traditional Arabic" pitchFamily="34" charset="0"/>
                <a:ea typeface="Traditional Arabic" pitchFamily="34" charset="-122"/>
                <a:cs typeface="Traditional Arabic" pitchFamily="34" charset="-120"/>
              </a:rPr>
              <a:t>ٱ</a:t>
            </a:r>
            <a:r>
              <a:rPr lang="ar-SA" altLang="en-US" sz="3000" dirty="0">
                <a:solidFill>
                  <a:srgbClr val="16213E"/>
                </a:solidFill>
                <a:latin typeface="Traditional Arabic" pitchFamily="34" charset="0"/>
                <a:ea typeface="Traditional Arabic" pitchFamily="34" charset="-122"/>
                <a:cs typeface="Traditional Arabic" pitchFamily="34" charset="-120"/>
              </a:rPr>
              <a:t>تَّقُ</a:t>
            </a:r>
            <a:r>
              <a:rPr lang="ar-SA" altLang="en-US" sz="3000" dirty="0">
                <a:solidFill>
                  <a:srgbClr val="ADB5BD"/>
                </a:solidFill>
                <a:latin typeface="Traditional Arabic" pitchFamily="34" charset="0"/>
                <a:ea typeface="Traditional Arabic" pitchFamily="34" charset="-122"/>
                <a:cs typeface="Traditional Arabic" pitchFamily="34" charset="-120"/>
              </a:rPr>
              <a:t>وا۟</a:t>
            </a:r>
            <a:r>
              <a:rPr lang="ar-SA" altLang="en-US" sz="3000" dirty="0">
                <a:solidFill>
                  <a:srgbClr val="16213E"/>
                </a:solidFill>
                <a:latin typeface="Traditional Arabic" pitchFamily="34" charset="0"/>
                <a:ea typeface="Traditional Arabic" pitchFamily="34" charset="-122"/>
                <a:cs typeface="Traditional Arabic" pitchFamily="34" charset="-120"/>
              </a:rPr>
              <a:t> </a:t>
            </a:r>
            <a:r>
              <a:rPr lang="ar-SA" altLang="en-US" sz="3000" dirty="0">
                <a:solidFill>
                  <a:srgbClr val="ADB5BD"/>
                </a:solidFill>
                <a:latin typeface="Traditional Arabic" pitchFamily="34" charset="0"/>
                <a:ea typeface="Traditional Arabic" pitchFamily="34" charset="-122"/>
                <a:cs typeface="Traditional Arabic" pitchFamily="34" charset="-120"/>
              </a:rPr>
              <a:t>ٱ</a:t>
            </a:r>
            <a:r>
              <a:rPr lang="ar-SA" altLang="en-US" sz="3000" dirty="0">
                <a:solidFill>
                  <a:srgbClr val="16213E"/>
                </a:solidFill>
                <a:latin typeface="Traditional Arabic" pitchFamily="34" charset="0"/>
                <a:ea typeface="Traditional Arabic" pitchFamily="34" charset="-122"/>
                <a:cs typeface="Traditional Arabic" pitchFamily="34" charset="-120"/>
              </a:rPr>
              <a:t>للَّهَ</a:t>
            </a:r>
            <a:endParaRPr lang="ar-SA" sz="3000" dirty="0"/>
          </a:p>
        </p:txBody>
      </p:sp>
      <p:sp>
        <p:nvSpPr>
          <p:cNvPr id="19" name="C2 read sounds"/>
          <p:cNvSpPr txBox="1"/>
          <p:nvPr/>
        </p:nvSpPr>
        <p:spPr>
          <a:xfrm>
            <a:off x="457200" y="2462479"/>
            <a:ext cx="3703320" cy="637337"/>
          </a:xfrm>
          <a:prstGeom prst="rect">
            <a:avLst/>
          </a:prstGeom>
          <a:noFill/>
          <a:ln/>
        </p:spPr>
        <p:txBody>
          <a:bodyPr wrap="none" lIns="0" tIns="0" rIns="0" bIns="0" rtlCol="0" anchor="ctr"/>
          <a:lstStyle/>
          <a:p>
            <a:pPr algn="ctr" indent="0" marL="0">
              <a:buNone/>
            </a:pPr>
            <a:r>
              <a:rPr lang="en-US" sz="2700" b="1" dirty="0">
                <a:solidFill>
                  <a:srgbClr val="D9480F"/>
                </a:solidFill>
                <a:latin typeface="Arial" pitchFamily="34" charset="0"/>
                <a:ea typeface="Arial" pitchFamily="34" charset="-122"/>
                <a:cs typeface="Arial" pitchFamily="34" charset="-120"/>
              </a:rPr>
              <a:t>Wat-ta-qul-laah</a:t>
            </a:r>
            <a:endParaRPr lang="en-US" sz="2700" dirty="0"/>
          </a:p>
        </p:txBody>
      </p:sp>
      <p:sp>
        <p:nvSpPr>
          <p:cNvPr id="20"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1" name="C3 tip"/>
          <p:cNvSpPr txBox="1"/>
          <p:nvPr/>
        </p:nvSpPr>
        <p:spPr>
          <a:xfrm>
            <a:off x="502920" y="3381248"/>
            <a:ext cx="8138160" cy="768096"/>
          </a:xfrm>
          <a:prstGeom prst="rect">
            <a:avLst/>
          </a:prstGeom>
          <a:noFill/>
          <a:ln/>
        </p:spPr>
        <p:txBody>
          <a:bodyPr wrap="none" lIns="0" tIns="0" rIns="0" bIns="0" rtlCol="0" anchor="ctr"/>
          <a:lstStyle/>
          <a:p>
            <a:pPr algn="ctr" indent="0" marL="0">
              <a:buNone/>
            </a:pPr>
            <a:r>
              <a:rPr lang="en-US" sz="2000" dirty="0">
                <a:solidFill>
                  <a:srgbClr val="16213E"/>
                </a:solidFill>
                <a:latin typeface="Arial" pitchFamily="34" charset="0"/>
                <a:ea typeface="Arial" pitchFamily="34" charset="-122"/>
                <a:cs typeface="Arial" pitchFamily="34" charset="-120"/>
              </a:rPr>
              <a:t>Two hamzas are skipped, and the waw (oo) is not stretched.</a:t>
            </a:r>
            <a:endParaRPr lang="en-US" sz="2000" dirty="0"/>
          </a:p>
        </p:txBody>
      </p:sp>
    </p:spTree>
  </p:cSld>
  <p:clrMapOvr>
    <a:masterClrMapping/>
  </p:clrMapOvr>
  <p:transition spd="med">
    <p:wipe dir="l"/>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C5EEF7"/>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D6855C"/>
          </a:solidFill>
          <a:ln w="12700">
            <a:solidFill>
              <a:srgbClr val="D6855C"/>
            </a:solidFill>
            <a:prstDash val="solid"/>
          </a:ln>
        </p:spPr>
      </p:sp>
      <p:sp>
        <p:nvSpPr>
          <p:cNvPr id="3" name="Deco sea floor"/>
          <p:cNvSpPr/>
          <p:nvPr/>
        </p:nvSpPr>
        <p:spPr>
          <a:xfrm>
            <a:off x="0" y="4709160"/>
            <a:ext cx="9144000" cy="457200"/>
          </a:xfrm>
          <a:prstGeom prst="rect">
            <a:avLst/>
          </a:prstGeom>
          <a:solidFill>
            <a:srgbClr val="CC7333"/>
          </a:solidFill>
          <a:ln w="12700">
            <a:solidFill>
              <a:srgbClr val="CC7333"/>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1"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Watch out 2: moon letters (say the L)</a:t>
            </a:r>
            <a:endParaRPr lang="en-US" sz="18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17929"/>
            <a:ext cx="3886200" cy="1353312"/>
          </a:xfrm>
          <a:prstGeom prst="rect">
            <a:avLst/>
          </a:prstGeom>
          <a:noFill/>
          <a:ln/>
        </p:spPr>
        <p:txBody>
          <a:bodyPr wrap="none" lIns="0" tIns="0" rIns="0" bIns="0" rtlCol="0" anchor="ctr"/>
          <a:lstStyle/>
          <a:p>
            <a:pPr algn="ctr" indent="0" marL="0">
              <a:buNone/>
            </a:pP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لۡقَمَرُ</a:t>
            </a:r>
            <a:endParaRPr lang="ar-SA" sz="5000" dirty="0"/>
          </a:p>
        </p:txBody>
      </p:sp>
      <p:sp>
        <p:nvSpPr>
          <p:cNvPr id="15" name="C2 arrow"/>
          <p:cNvSpPr/>
          <p:nvPr/>
        </p:nvSpPr>
        <p:spPr>
          <a:xfrm>
            <a:off x="4315968" y="2125980"/>
            <a:ext cx="512064" cy="457200"/>
          </a:xfrm>
          <a:prstGeom prst="leftArrow">
            <a:avLst/>
          </a:prstGeom>
          <a:solidFill>
            <a:srgbClr val="B8A12E"/>
          </a:solidFill>
          <a:ln w="12700">
            <a:solidFill>
              <a:srgbClr val="333333"/>
            </a:solidFill>
            <a:prstDash val="solid"/>
          </a:ln>
        </p:spPr>
      </p:sp>
      <p:sp>
        <p:nvSpPr>
          <p:cNvPr id="16" name="C2 read arabic"/>
          <p:cNvSpPr txBox="1"/>
          <p:nvPr/>
        </p:nvSpPr>
        <p:spPr>
          <a:xfrm>
            <a:off x="365760" y="1535163"/>
            <a:ext cx="3886200" cy="981151"/>
          </a:xfrm>
          <a:prstGeom prst="rect">
            <a:avLst/>
          </a:prstGeom>
          <a:noFill/>
          <a:ln/>
        </p:spPr>
        <p:txBody>
          <a:bodyPr wrap="none" lIns="0" tIns="0" rIns="0" bIns="0" rtlCol="0" anchor="ctr"/>
          <a:lstStyle/>
          <a:p>
            <a:pPr algn="ctr" indent="0" marL="0">
              <a:buNone/>
            </a:pPr>
            <a:r>
              <a:rPr lang="ar-SA" altLang="en-US" sz="3300" dirty="0">
                <a:solidFill>
                  <a:srgbClr val="2F9E44"/>
                </a:solidFill>
                <a:latin typeface="Traditional Arabic" pitchFamily="34" charset="0"/>
                <a:ea typeface="Traditional Arabic" pitchFamily="34" charset="-122"/>
                <a:cs typeface="Traditional Arabic" pitchFamily="34" charset="-120"/>
              </a:rPr>
              <a:t>اَ</a:t>
            </a:r>
            <a:r>
              <a:rPr lang="ar-SA" altLang="en-US" sz="3300" dirty="0">
                <a:solidFill>
                  <a:srgbClr val="16213E"/>
                </a:solidFill>
                <a:latin typeface="Traditional Arabic" pitchFamily="34" charset="0"/>
                <a:ea typeface="Traditional Arabic" pitchFamily="34" charset="-122"/>
                <a:cs typeface="Traditional Arabic" pitchFamily="34" charset="-120"/>
              </a:rPr>
              <a:t>لۡقَمَرُ</a:t>
            </a:r>
            <a:endParaRPr lang="ar-SA" sz="3300" dirty="0"/>
          </a:p>
        </p:txBody>
      </p:sp>
      <p:sp>
        <p:nvSpPr>
          <p:cNvPr id="17" name="C2 read sounds"/>
          <p:cNvSpPr txBox="1"/>
          <p:nvPr/>
        </p:nvSpPr>
        <p:spPr>
          <a:xfrm>
            <a:off x="457200" y="2462479"/>
            <a:ext cx="3703320" cy="637337"/>
          </a:xfrm>
          <a:prstGeom prst="rect">
            <a:avLst/>
          </a:prstGeom>
          <a:noFill/>
          <a:ln/>
        </p:spPr>
        <p:txBody>
          <a:bodyPr wrap="none" lIns="0" tIns="0" rIns="0" bIns="0" rtlCol="0" anchor="ctr"/>
          <a:lstStyle/>
          <a:p>
            <a:pPr algn="ctr" indent="0" marL="0">
              <a:buNone/>
            </a:pPr>
            <a:r>
              <a:rPr lang="en-US" sz="2700" b="1" dirty="0">
                <a:solidFill>
                  <a:srgbClr val="D9480F"/>
                </a:solidFill>
                <a:latin typeface="Arial" pitchFamily="34" charset="0"/>
                <a:ea typeface="Arial" pitchFamily="34" charset="-122"/>
                <a:cs typeface="Arial" pitchFamily="34" charset="-120"/>
              </a:rPr>
              <a:t>Al-qa-mar</a:t>
            </a:r>
            <a:endParaRPr lang="en-US" sz="27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19"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The lam has a sukun  →  pronounce the L clearly.</a:t>
            </a:r>
            <a:endParaRPr lang="en-US" sz="2200" dirty="0"/>
          </a:p>
        </p:txBody>
      </p:sp>
    </p:spTree>
  </p:cSld>
  <p:clrMapOvr>
    <a:masterClrMapping/>
  </p:clrMapOvr>
  <p:transition spd="med">
    <p:circle/>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C5E0"/>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B3C653"/>
          </a:solidFill>
          <a:ln w="12700">
            <a:solidFill>
              <a:srgbClr val="B3C653"/>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ED5EDB"/>
          </a:solidFill>
          <a:ln w="12700">
            <a:solidFill>
              <a:srgbClr val="ED5EDB"/>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9" name="Title"/>
          <p:cNvSpPr txBox="1"/>
          <p:nvPr/>
        </p:nvSpPr>
        <p:spPr>
          <a:xfrm>
            <a:off x="365760" y="877824"/>
            <a:ext cx="8412480" cy="502920"/>
          </a:xfrm>
          <a:prstGeom prst="rect">
            <a:avLst/>
          </a:prstGeom>
          <a:noFill/>
          <a:ln/>
        </p:spPr>
        <p:txBody>
          <a:bodyPr wrap="non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Watch out 2: sun letters (the L is silent)</a:t>
            </a:r>
            <a:endParaRPr lang="en-US" sz="1800" dirty="0"/>
          </a:p>
        </p:txBody>
      </p:sp>
      <p:sp>
        <p:nvSpPr>
          <p:cNvPr id="20"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21"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22" name="C1 mushaf"/>
          <p:cNvSpPr txBox="1"/>
          <p:nvPr/>
        </p:nvSpPr>
        <p:spPr>
          <a:xfrm>
            <a:off x="4892040" y="1729575"/>
            <a:ext cx="3886200" cy="1353312"/>
          </a:xfrm>
          <a:prstGeom prst="rect">
            <a:avLst/>
          </a:prstGeom>
          <a:noFill/>
          <a:ln/>
        </p:spPr>
        <p:txBody>
          <a:bodyPr wrap="none" lIns="0" tIns="0" rIns="0" bIns="0" rtlCol="0" anchor="ctr"/>
          <a:lstStyle/>
          <a:p>
            <a:pPr algn="ctr" indent="0" marL="0">
              <a:buNone/>
            </a:pPr>
            <a:r>
              <a:rPr lang="ar-SA" altLang="en-US" sz="4900" dirty="0">
                <a:solidFill>
                  <a:srgbClr val="E03131"/>
                </a:solidFill>
                <a:latin typeface="Traditional Arabic" pitchFamily="34" charset="0"/>
                <a:ea typeface="Traditional Arabic" pitchFamily="34" charset="-122"/>
                <a:cs typeface="Traditional Arabic" pitchFamily="34" charset="-120"/>
              </a:rPr>
              <a:t>ٱ</a:t>
            </a:r>
            <a:r>
              <a:rPr lang="ar-SA" altLang="en-US" sz="4900" dirty="0">
                <a:solidFill>
                  <a:srgbClr val="16213E"/>
                </a:solidFill>
                <a:latin typeface="Traditional Arabic" pitchFamily="34" charset="0"/>
                <a:ea typeface="Traditional Arabic" pitchFamily="34" charset="-122"/>
                <a:cs typeface="Traditional Arabic" pitchFamily="34" charset="-120"/>
              </a:rPr>
              <a:t>لشَّمۡسُ</a:t>
            </a:r>
            <a:endParaRPr lang="ar-SA" sz="4900" dirty="0"/>
          </a:p>
        </p:txBody>
      </p:sp>
      <p:sp>
        <p:nvSpPr>
          <p:cNvPr id="23" name="C2 arrow"/>
          <p:cNvSpPr/>
          <p:nvPr/>
        </p:nvSpPr>
        <p:spPr>
          <a:xfrm>
            <a:off x="4315968" y="2125980"/>
            <a:ext cx="512064" cy="457200"/>
          </a:xfrm>
          <a:prstGeom prst="leftArrow">
            <a:avLst/>
          </a:prstGeom>
          <a:solidFill>
            <a:srgbClr val="2EA6B8"/>
          </a:solidFill>
          <a:ln w="12700">
            <a:solidFill>
              <a:srgbClr val="333333"/>
            </a:solidFill>
            <a:prstDash val="solid"/>
          </a:ln>
        </p:spPr>
      </p:sp>
      <p:sp>
        <p:nvSpPr>
          <p:cNvPr id="24" name="C2 read arabic"/>
          <p:cNvSpPr txBox="1"/>
          <p:nvPr/>
        </p:nvSpPr>
        <p:spPr>
          <a:xfrm>
            <a:off x="365760" y="1542491"/>
            <a:ext cx="3886200" cy="981151"/>
          </a:xfrm>
          <a:prstGeom prst="rect">
            <a:avLst/>
          </a:prstGeom>
          <a:noFill/>
          <a:ln/>
        </p:spPr>
        <p:txBody>
          <a:bodyPr wrap="none" lIns="0" tIns="0" rIns="0" bIns="0" rtlCol="0" anchor="ctr"/>
          <a:lstStyle/>
          <a:p>
            <a:pPr algn="ctr" indent="0" marL="0">
              <a:buNone/>
            </a:pPr>
            <a:r>
              <a:rPr lang="ar-SA" altLang="en-US" sz="3200" dirty="0">
                <a:solidFill>
                  <a:srgbClr val="2F9E44"/>
                </a:solidFill>
                <a:latin typeface="Traditional Arabic" pitchFamily="34" charset="0"/>
                <a:ea typeface="Traditional Arabic" pitchFamily="34" charset="-122"/>
                <a:cs typeface="Traditional Arabic" pitchFamily="34" charset="-120"/>
              </a:rPr>
              <a:t>اَ</a:t>
            </a:r>
            <a:r>
              <a:rPr lang="ar-SA" altLang="en-US" sz="3200" dirty="0">
                <a:solidFill>
                  <a:srgbClr val="ADB5BD"/>
                </a:solidFill>
                <a:latin typeface="Traditional Arabic" pitchFamily="34" charset="0"/>
                <a:ea typeface="Traditional Arabic" pitchFamily="34" charset="-122"/>
                <a:cs typeface="Traditional Arabic" pitchFamily="34" charset="-120"/>
              </a:rPr>
              <a:t>ل</a:t>
            </a:r>
            <a:r>
              <a:rPr lang="ar-SA" altLang="en-US" sz="3200" dirty="0">
                <a:solidFill>
                  <a:srgbClr val="16213E"/>
                </a:solidFill>
                <a:latin typeface="Traditional Arabic" pitchFamily="34" charset="0"/>
                <a:ea typeface="Traditional Arabic" pitchFamily="34" charset="-122"/>
                <a:cs typeface="Traditional Arabic" pitchFamily="34" charset="-120"/>
              </a:rPr>
              <a:t>شَّمۡسُ</a:t>
            </a:r>
            <a:endParaRPr lang="ar-SA" sz="3200" dirty="0"/>
          </a:p>
        </p:txBody>
      </p:sp>
      <p:sp>
        <p:nvSpPr>
          <p:cNvPr id="25"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Ash-shams</a:t>
            </a:r>
            <a:endParaRPr lang="en-US" sz="3000" dirty="0"/>
          </a:p>
        </p:txBody>
      </p:sp>
      <p:sp>
        <p:nvSpPr>
          <p:cNvPr id="26"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7" name="C3 tip"/>
          <p:cNvSpPr txBox="1"/>
          <p:nvPr/>
        </p:nvSpPr>
        <p:spPr>
          <a:xfrm>
            <a:off x="502920" y="3383280"/>
            <a:ext cx="8138160" cy="768096"/>
          </a:xfrm>
          <a:prstGeom prst="rect">
            <a:avLst/>
          </a:prstGeom>
          <a:noFill/>
          <a:ln/>
        </p:spPr>
        <p:txBody>
          <a:bodyPr wrap="none" lIns="0" tIns="0" rIns="0" bIns="0" rtlCol="0" anchor="ctr"/>
          <a:lstStyle/>
          <a:p>
            <a:pPr algn="ctr" indent="0" marL="0">
              <a:buNone/>
            </a:pPr>
            <a:r>
              <a:rPr lang="en-US" sz="1800" dirty="0">
                <a:solidFill>
                  <a:srgbClr val="16213E"/>
                </a:solidFill>
                <a:latin typeface="Arial" pitchFamily="34" charset="0"/>
                <a:ea typeface="Arial" pitchFamily="34" charset="-122"/>
                <a:cs typeface="Arial" pitchFamily="34" charset="-120"/>
              </a:rPr>
              <a:t>No mark on the lam + a shaddah on the next letter  →  skip the L.</a:t>
            </a:r>
            <a:endParaRPr lang="en-US" sz="1800" dirty="0"/>
          </a:p>
        </p:txBody>
      </p:sp>
    </p:spTree>
  </p:cSld>
  <p:clrMapOvr>
    <a:masterClrMapping/>
  </p:clrMapOvr>
  <p:transition spd="med">
    <p:randomBar dir="vert"/>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4314"/>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52E076"/>
          </a:solidFill>
          <a:ln w="12700">
            <a:solidFill>
              <a:srgbClr val="52E076"/>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8CF2D9"/>
            </a:solidFill>
            <a:prstDash val="solid"/>
          </a:ln>
        </p:spPr>
      </p:sp>
      <p:sp>
        <p:nvSpPr>
          <p:cNvPr id="4" name="Deco small planet"/>
          <p:cNvSpPr/>
          <p:nvPr/>
        </p:nvSpPr>
        <p:spPr>
          <a:xfrm>
            <a:off x="274320" y="182880"/>
            <a:ext cx="502920" cy="502920"/>
          </a:xfrm>
          <a:prstGeom prst="ellipse">
            <a:avLst/>
          </a:prstGeom>
          <a:solidFill>
            <a:srgbClr val="C170DB"/>
          </a:solidFill>
          <a:ln w="12700">
            <a:solidFill>
              <a:srgbClr val="C170DB"/>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854D47"/>
          </a:solidFill>
          <a:ln w="12700">
            <a:solidFill>
              <a:srgbClr val="854D47"/>
            </a:solidFill>
            <a:prstDash val="solid"/>
          </a:ln>
        </p:spPr>
      </p:sp>
      <p:sp>
        <p:nvSpPr>
          <p:cNvPr id="15"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6"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3: a silent letter before ٱ gets a vowel</a:t>
            </a:r>
            <a:endParaRPr lang="en-US" sz="1600" dirty="0"/>
          </a:p>
        </p:txBody>
      </p:sp>
      <p:sp>
        <p:nvSpPr>
          <p:cNvPr id="17"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8"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9" name="C1 mushaf"/>
          <p:cNvSpPr txBox="1"/>
          <p:nvPr/>
        </p:nvSpPr>
        <p:spPr>
          <a:xfrm>
            <a:off x="4892040" y="1667116"/>
            <a:ext cx="3886200" cy="1353312"/>
          </a:xfrm>
          <a:prstGeom prst="rect">
            <a:avLst/>
          </a:prstGeom>
          <a:noFill/>
          <a:ln/>
        </p:spPr>
        <p:txBody>
          <a:bodyPr wrap="none" lIns="0" tIns="0" rIns="0" bIns="0" rtlCol="0" anchor="ctr"/>
          <a:lstStyle/>
          <a:p>
            <a:pPr algn="ctr" indent="0" marL="0">
              <a:buNone/>
            </a:pPr>
            <a:r>
              <a:rPr lang="ar-SA" altLang="en-US" sz="4600" dirty="0">
                <a:solidFill>
                  <a:srgbClr val="16213E"/>
                </a:solidFill>
                <a:latin typeface="Traditional Arabic" pitchFamily="34" charset="0"/>
                <a:ea typeface="Traditional Arabic" pitchFamily="34" charset="-122"/>
                <a:cs typeface="Traditional Arabic" pitchFamily="34" charset="-120"/>
              </a:rPr>
              <a:t>قُلِ </a:t>
            </a:r>
            <a:r>
              <a:rPr lang="ar-SA" altLang="en-US" sz="4600" dirty="0">
                <a:solidFill>
                  <a:srgbClr val="E03131"/>
                </a:solidFill>
                <a:latin typeface="Traditional Arabic" pitchFamily="34" charset="0"/>
                <a:ea typeface="Traditional Arabic" pitchFamily="34" charset="-122"/>
                <a:cs typeface="Traditional Arabic" pitchFamily="34" charset="-120"/>
              </a:rPr>
              <a:t>ٱ</a:t>
            </a:r>
            <a:r>
              <a:rPr lang="ar-SA" altLang="en-US" sz="4600" dirty="0">
                <a:solidFill>
                  <a:srgbClr val="16213E"/>
                </a:solidFill>
                <a:latin typeface="Traditional Arabic" pitchFamily="34" charset="0"/>
                <a:ea typeface="Traditional Arabic" pitchFamily="34" charset="-122"/>
                <a:cs typeface="Traditional Arabic" pitchFamily="34" charset="-120"/>
              </a:rPr>
              <a:t>دۡعُوا۟</a:t>
            </a:r>
            <a:endParaRPr lang="ar-SA" sz="4600" dirty="0"/>
          </a:p>
        </p:txBody>
      </p:sp>
      <p:sp>
        <p:nvSpPr>
          <p:cNvPr id="20" name="C2 arrow"/>
          <p:cNvSpPr/>
          <p:nvPr/>
        </p:nvSpPr>
        <p:spPr>
          <a:xfrm>
            <a:off x="4315968" y="2125980"/>
            <a:ext cx="512064" cy="457200"/>
          </a:xfrm>
          <a:prstGeom prst="leftArrow">
            <a:avLst/>
          </a:prstGeom>
          <a:solidFill>
            <a:srgbClr val="B82E7E"/>
          </a:solidFill>
          <a:ln w="12700">
            <a:solidFill>
              <a:srgbClr val="333333"/>
            </a:solidFill>
            <a:prstDash val="solid"/>
          </a:ln>
        </p:spPr>
      </p:sp>
      <p:sp>
        <p:nvSpPr>
          <p:cNvPr id="21" name="C2 read arabic"/>
          <p:cNvSpPr txBox="1"/>
          <p:nvPr/>
        </p:nvSpPr>
        <p:spPr>
          <a:xfrm>
            <a:off x="365760" y="1501712"/>
            <a:ext cx="3886200" cy="981151"/>
          </a:xfrm>
          <a:prstGeom prst="rect">
            <a:avLst/>
          </a:prstGeom>
          <a:noFill/>
          <a:ln/>
        </p:spPr>
        <p:txBody>
          <a:bodyPr wrap="none" lIns="0" tIns="0" rIns="0" bIns="0" rtlCol="0" anchor="ctr"/>
          <a:lstStyle/>
          <a:p>
            <a:pPr algn="ctr" indent="0" marL="0">
              <a:buNone/>
            </a:pPr>
            <a:r>
              <a:rPr lang="ar-SA" altLang="en-US" sz="3000" dirty="0">
                <a:solidFill>
                  <a:srgbClr val="16213E"/>
                </a:solidFill>
                <a:latin typeface="Traditional Arabic" pitchFamily="34" charset="0"/>
                <a:ea typeface="Traditional Arabic" pitchFamily="34" charset="-122"/>
                <a:cs typeface="Traditional Arabic" pitchFamily="34" charset="-120"/>
              </a:rPr>
              <a:t>قُلِ </a:t>
            </a:r>
            <a:r>
              <a:rPr lang="ar-SA" altLang="en-US" sz="3000" dirty="0">
                <a:solidFill>
                  <a:srgbClr val="ADB5BD"/>
                </a:solidFill>
                <a:latin typeface="Traditional Arabic" pitchFamily="34" charset="0"/>
                <a:ea typeface="Traditional Arabic" pitchFamily="34" charset="-122"/>
                <a:cs typeface="Traditional Arabic" pitchFamily="34" charset="-120"/>
              </a:rPr>
              <a:t>ٱ</a:t>
            </a:r>
            <a:r>
              <a:rPr lang="ar-SA" altLang="en-US" sz="3000" dirty="0">
                <a:solidFill>
                  <a:srgbClr val="16213E"/>
                </a:solidFill>
                <a:latin typeface="Traditional Arabic" pitchFamily="34" charset="0"/>
                <a:ea typeface="Traditional Arabic" pitchFamily="34" charset="-122"/>
                <a:cs typeface="Traditional Arabic" pitchFamily="34" charset="-120"/>
              </a:rPr>
              <a:t>دۡعُوا۟</a:t>
            </a:r>
            <a:endParaRPr lang="ar-SA" sz="3000" dirty="0"/>
          </a:p>
        </p:txBody>
      </p:sp>
      <p:sp>
        <p:nvSpPr>
          <p:cNvPr id="22" name="C2 read sounds"/>
          <p:cNvSpPr txBox="1"/>
          <p:nvPr/>
        </p:nvSpPr>
        <p:spPr>
          <a:xfrm>
            <a:off x="457200" y="2469655"/>
            <a:ext cx="3703320" cy="637337"/>
          </a:xfrm>
          <a:prstGeom prst="rect">
            <a:avLst/>
          </a:prstGeom>
          <a:noFill/>
          <a:ln/>
        </p:spPr>
        <p:txBody>
          <a:bodyPr wrap="none" lIns="0" tIns="0" rIns="0" bIns="0" rtlCol="0" anchor="ctr"/>
          <a:lstStyle/>
          <a:p>
            <a:pPr algn="ctr" indent="0" marL="0">
              <a:buNone/>
            </a:pPr>
            <a:r>
              <a:rPr lang="en-US" sz="2900" b="1" dirty="0">
                <a:solidFill>
                  <a:srgbClr val="D9480F"/>
                </a:solidFill>
                <a:latin typeface="Arial" pitchFamily="34" charset="0"/>
                <a:ea typeface="Arial" pitchFamily="34" charset="-122"/>
                <a:cs typeface="Arial" pitchFamily="34" charset="-120"/>
              </a:rPr>
              <a:t>Qu-lid-'oo</a:t>
            </a:r>
            <a:endParaRPr lang="en-US" sz="2900" dirty="0"/>
          </a:p>
        </p:txBody>
      </p:sp>
      <p:sp>
        <p:nvSpPr>
          <p:cNvPr id="23"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4" name="C3 tip"/>
          <p:cNvSpPr txBox="1"/>
          <p:nvPr/>
        </p:nvSpPr>
        <p:spPr>
          <a:xfrm>
            <a:off x="502920" y="3380232"/>
            <a:ext cx="8138160" cy="768096"/>
          </a:xfrm>
          <a:prstGeom prst="rect">
            <a:avLst/>
          </a:prstGeom>
          <a:noFill/>
          <a:ln/>
        </p:spPr>
        <p:txBody>
          <a:bodyPr wrap="none" lIns="0" tIns="0" rIns="0" bIns="0" rtlCol="0" anchor="ctr"/>
          <a:lstStyle/>
          <a:p>
            <a:pPr algn="ctr" indent="0" marL="0">
              <a:buNone/>
            </a:pPr>
            <a:r>
              <a:rPr lang="en-US" sz="2100" dirty="0">
                <a:solidFill>
                  <a:srgbClr val="16213E"/>
                </a:solidFill>
                <a:latin typeface="Arial" pitchFamily="34" charset="0"/>
                <a:ea typeface="Arial" pitchFamily="34" charset="-122"/>
                <a:cs typeface="Arial" pitchFamily="34" charset="-120"/>
              </a:rPr>
              <a:t>Qul became quli: the Mushaf prints the new kasrah for you.</a:t>
            </a:r>
            <a:endParaRPr lang="en-US" sz="2100" dirty="0"/>
          </a:p>
        </p:txBody>
      </p:sp>
    </p:spTree>
  </p:cSld>
  <p:clrMapOvr>
    <a:masterClrMapping/>
  </p:clrMapOvr>
  <p:transition spd="med">
    <p:push dir="l"/>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C7C5F7"/>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9A64D8"/>
          </a:solidFill>
          <a:ln w="12700">
            <a:solidFill>
              <a:srgbClr val="9A64D8"/>
            </a:solidFill>
            <a:prstDash val="solid"/>
          </a:ln>
        </p:spPr>
      </p:sp>
      <p:sp>
        <p:nvSpPr>
          <p:cNvPr id="4" name="Deco dune right"/>
          <p:cNvSpPr/>
          <p:nvPr/>
        </p:nvSpPr>
        <p:spPr>
          <a:xfrm>
            <a:off x="5303520" y="4617720"/>
            <a:ext cx="5120640" cy="1280160"/>
          </a:xfrm>
          <a:prstGeom prst="ellipse">
            <a:avLst/>
          </a:prstGeom>
          <a:solidFill>
            <a:srgbClr val="7047D1"/>
          </a:solidFill>
          <a:ln w="12700">
            <a:solidFill>
              <a:srgbClr val="7047D1"/>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1"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3: a silent letter before ٱ gets a vowel</a:t>
            </a:r>
            <a:endParaRPr lang="en-US" sz="16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59632"/>
            <a:ext cx="3886200" cy="1353312"/>
          </a:xfrm>
          <a:prstGeom prst="rect">
            <a:avLst/>
          </a:prstGeom>
          <a:noFill/>
          <a:ln/>
        </p:spPr>
        <p:txBody>
          <a:bodyPr wrap="none" lIns="0" tIns="0" rIns="0" bIns="0" rtlCol="0" anchor="ctr"/>
          <a:lstStyle/>
          <a:p>
            <a:pPr algn="ctr" indent="0" marL="0">
              <a:buNone/>
            </a:pPr>
            <a:r>
              <a:rPr lang="ar-SA" altLang="en-US" sz="4600" dirty="0">
                <a:solidFill>
                  <a:srgbClr val="16213E"/>
                </a:solidFill>
                <a:latin typeface="Traditional Arabic" pitchFamily="34" charset="0"/>
                <a:ea typeface="Traditional Arabic" pitchFamily="34" charset="-122"/>
                <a:cs typeface="Traditional Arabic" pitchFamily="34" charset="-120"/>
              </a:rPr>
              <a:t>مِنَ </a:t>
            </a:r>
            <a:r>
              <a:rPr lang="ar-SA" altLang="en-US" sz="4600" dirty="0">
                <a:solidFill>
                  <a:srgbClr val="E03131"/>
                </a:solidFill>
                <a:latin typeface="Traditional Arabic" pitchFamily="34" charset="0"/>
                <a:ea typeface="Traditional Arabic" pitchFamily="34" charset="-122"/>
                <a:cs typeface="Traditional Arabic" pitchFamily="34" charset="-120"/>
              </a:rPr>
              <a:t>ٱ</a:t>
            </a:r>
            <a:r>
              <a:rPr lang="ar-SA" altLang="en-US" sz="4600" dirty="0">
                <a:solidFill>
                  <a:srgbClr val="16213E"/>
                </a:solidFill>
                <a:latin typeface="Traditional Arabic" pitchFamily="34" charset="0"/>
                <a:ea typeface="Traditional Arabic" pitchFamily="34" charset="-122"/>
                <a:cs typeface="Traditional Arabic" pitchFamily="34" charset="-120"/>
              </a:rPr>
              <a:t>للَّهِ</a:t>
            </a:r>
            <a:endParaRPr lang="ar-SA" sz="4600" dirty="0"/>
          </a:p>
        </p:txBody>
      </p:sp>
      <p:sp>
        <p:nvSpPr>
          <p:cNvPr id="15" name="C2 arrow"/>
          <p:cNvSpPr/>
          <p:nvPr/>
        </p:nvSpPr>
        <p:spPr>
          <a:xfrm>
            <a:off x="4315968" y="2125980"/>
            <a:ext cx="512064" cy="457200"/>
          </a:xfrm>
          <a:prstGeom prst="leftArrow">
            <a:avLst/>
          </a:prstGeom>
          <a:solidFill>
            <a:srgbClr val="56B82E"/>
          </a:solidFill>
          <a:ln w="12700">
            <a:solidFill>
              <a:srgbClr val="333333"/>
            </a:solidFill>
            <a:prstDash val="solid"/>
          </a:ln>
        </p:spPr>
      </p:sp>
      <p:sp>
        <p:nvSpPr>
          <p:cNvPr id="16" name="C2 read arabic"/>
          <p:cNvSpPr txBox="1"/>
          <p:nvPr/>
        </p:nvSpPr>
        <p:spPr>
          <a:xfrm>
            <a:off x="365760" y="1562048"/>
            <a:ext cx="3886200" cy="981151"/>
          </a:xfrm>
          <a:prstGeom prst="rect">
            <a:avLst/>
          </a:prstGeom>
          <a:noFill/>
          <a:ln/>
        </p:spPr>
        <p:txBody>
          <a:bodyPr wrap="none" lIns="0" tIns="0" rIns="0" bIns="0" rtlCol="0" anchor="ctr"/>
          <a:lstStyle/>
          <a:p>
            <a:pPr algn="ctr" indent="0" marL="0">
              <a:buNone/>
            </a:pPr>
            <a:r>
              <a:rPr lang="ar-SA" altLang="en-US" sz="3000" dirty="0">
                <a:solidFill>
                  <a:srgbClr val="16213E"/>
                </a:solidFill>
                <a:latin typeface="Traditional Arabic" pitchFamily="34" charset="0"/>
                <a:ea typeface="Traditional Arabic" pitchFamily="34" charset="-122"/>
                <a:cs typeface="Traditional Arabic" pitchFamily="34" charset="-120"/>
              </a:rPr>
              <a:t>مِنَ </a:t>
            </a:r>
            <a:r>
              <a:rPr lang="ar-SA" altLang="en-US" sz="3000" dirty="0">
                <a:solidFill>
                  <a:srgbClr val="ADB5BD"/>
                </a:solidFill>
                <a:latin typeface="Traditional Arabic" pitchFamily="34" charset="0"/>
                <a:ea typeface="Traditional Arabic" pitchFamily="34" charset="-122"/>
                <a:cs typeface="Traditional Arabic" pitchFamily="34" charset="-120"/>
              </a:rPr>
              <a:t>ٱ</a:t>
            </a:r>
            <a:r>
              <a:rPr lang="ar-SA" altLang="en-US" sz="3000" dirty="0">
                <a:solidFill>
                  <a:srgbClr val="16213E"/>
                </a:solidFill>
                <a:latin typeface="Traditional Arabic" pitchFamily="34" charset="0"/>
                <a:ea typeface="Traditional Arabic" pitchFamily="34" charset="-122"/>
                <a:cs typeface="Traditional Arabic" pitchFamily="34" charset="-120"/>
              </a:rPr>
              <a:t>للَّهِ</a:t>
            </a:r>
            <a:endParaRPr lang="ar-SA" sz="3000" dirty="0"/>
          </a:p>
        </p:txBody>
      </p:sp>
      <p:sp>
        <p:nvSpPr>
          <p:cNvPr id="17" name="C2 read sounds"/>
          <p:cNvSpPr txBox="1"/>
          <p:nvPr/>
        </p:nvSpPr>
        <p:spPr>
          <a:xfrm>
            <a:off x="457200" y="2497531"/>
            <a:ext cx="3703320" cy="637337"/>
          </a:xfrm>
          <a:prstGeom prst="rect">
            <a:avLst/>
          </a:prstGeom>
          <a:noFill/>
          <a:ln/>
        </p:spPr>
        <p:txBody>
          <a:bodyPr wrap="none" lIns="0" tIns="0" rIns="0" bIns="0" rtlCol="0" anchor="ctr"/>
          <a:lstStyle/>
          <a:p>
            <a:pPr algn="ctr" indent="0" marL="0">
              <a:buNone/>
            </a:pPr>
            <a:r>
              <a:rPr lang="en-US" sz="3000" b="1" dirty="0">
                <a:solidFill>
                  <a:srgbClr val="D9480F"/>
                </a:solidFill>
                <a:latin typeface="Arial" pitchFamily="34" charset="0"/>
                <a:ea typeface="Arial" pitchFamily="34" charset="-122"/>
                <a:cs typeface="Arial" pitchFamily="34" charset="-120"/>
              </a:rPr>
              <a:t>Mi-nal-laah</a:t>
            </a:r>
            <a:endParaRPr lang="en-US" sz="30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19"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Min became mina (with a fathah) before al-.</a:t>
            </a:r>
            <a:endParaRPr lang="en-US" sz="2200" dirty="0"/>
          </a:p>
        </p:txBody>
      </p:sp>
    </p:spTree>
  </p:cSld>
  <p:clrMapOvr>
    <a:masterClrMapping/>
  </p:clrMapOvr>
  <p:transition spd="med">
    <p:split orient="vert" dir="out"/>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D6C5"/>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66CC66"/>
          </a:solidFill>
          <a:ln w="12700">
            <a:solidFill>
              <a:srgbClr val="66CC66"/>
            </a:solidFill>
            <a:prstDash val="solid"/>
          </a:ln>
        </p:spPr>
      </p:sp>
      <p:sp>
        <p:nvSpPr>
          <p:cNvPr id="3" name="Deco hill right"/>
          <p:cNvSpPr/>
          <p:nvPr/>
        </p:nvSpPr>
        <p:spPr>
          <a:xfrm>
            <a:off x="4023360" y="4526280"/>
            <a:ext cx="5852160" cy="1463040"/>
          </a:xfrm>
          <a:prstGeom prst="ellipse">
            <a:avLst/>
          </a:prstGeom>
          <a:solidFill>
            <a:srgbClr val="40BF6A"/>
          </a:solidFill>
          <a:ln w="12700">
            <a:solidFill>
              <a:srgbClr val="40BF6A"/>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2" name="Title"/>
          <p:cNvSpPr txBox="1"/>
          <p:nvPr/>
        </p:nvSpPr>
        <p:spPr>
          <a:xfrm>
            <a:off x="365760" y="895706"/>
            <a:ext cx="8412480" cy="502920"/>
          </a:xfrm>
          <a:prstGeom prst="rect">
            <a:avLst/>
          </a:prstGeom>
          <a:noFill/>
          <a:ln/>
        </p:spPr>
        <p:txBody>
          <a:bodyPr wrap="non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Watch out 3: a silent letter before ٱ gets a vowel</a:t>
            </a:r>
            <a:endParaRPr lang="en-US" sz="1600" dirty="0"/>
          </a:p>
        </p:txBody>
      </p:sp>
      <p:sp>
        <p:nvSpPr>
          <p:cNvPr id="13"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4"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5" name="C1 mushaf"/>
          <p:cNvSpPr txBox="1"/>
          <p:nvPr/>
        </p:nvSpPr>
        <p:spPr>
          <a:xfrm>
            <a:off x="4892040" y="1664503"/>
            <a:ext cx="3886200" cy="1353312"/>
          </a:xfrm>
          <a:prstGeom prst="rect">
            <a:avLst/>
          </a:prstGeom>
          <a:noFill/>
          <a:ln/>
        </p:spPr>
        <p:txBody>
          <a:bodyPr wrap="none" lIns="0" tIns="0" rIns="0" bIns="0" rtlCol="0" anchor="ctr"/>
          <a:lstStyle/>
          <a:p>
            <a:pPr algn="ctr" indent="0" marL="0">
              <a:buNone/>
            </a:pPr>
            <a:r>
              <a:rPr lang="ar-SA" altLang="en-US" sz="4500" dirty="0">
                <a:solidFill>
                  <a:srgbClr val="16213E"/>
                </a:solidFill>
                <a:latin typeface="Traditional Arabic" pitchFamily="34" charset="0"/>
                <a:ea typeface="Traditional Arabic" pitchFamily="34" charset="-122"/>
                <a:cs typeface="Traditional Arabic" pitchFamily="34" charset="-120"/>
              </a:rPr>
              <a:t>عَلَيۡهِمُ </a:t>
            </a:r>
            <a:r>
              <a:rPr lang="ar-SA" altLang="en-US" sz="4500" dirty="0">
                <a:solidFill>
                  <a:srgbClr val="E03131"/>
                </a:solidFill>
                <a:latin typeface="Traditional Arabic" pitchFamily="34" charset="0"/>
                <a:ea typeface="Traditional Arabic" pitchFamily="34" charset="-122"/>
                <a:cs typeface="Traditional Arabic" pitchFamily="34" charset="-120"/>
              </a:rPr>
              <a:t>ٱ</a:t>
            </a:r>
            <a:r>
              <a:rPr lang="ar-SA" altLang="en-US" sz="4500" dirty="0">
                <a:solidFill>
                  <a:srgbClr val="16213E"/>
                </a:solidFill>
                <a:latin typeface="Traditional Arabic" pitchFamily="34" charset="0"/>
                <a:ea typeface="Traditional Arabic" pitchFamily="34" charset="-122"/>
                <a:cs typeface="Traditional Arabic" pitchFamily="34" charset="-120"/>
              </a:rPr>
              <a:t>لۡقِتَالُ</a:t>
            </a:r>
            <a:endParaRPr lang="ar-SA" sz="4500" dirty="0"/>
          </a:p>
        </p:txBody>
      </p:sp>
      <p:sp>
        <p:nvSpPr>
          <p:cNvPr id="16" name="C2 arrow"/>
          <p:cNvSpPr/>
          <p:nvPr/>
        </p:nvSpPr>
        <p:spPr>
          <a:xfrm>
            <a:off x="4315968" y="2125980"/>
            <a:ext cx="512064" cy="457200"/>
          </a:xfrm>
          <a:prstGeom prst="leftArrow">
            <a:avLst/>
          </a:prstGeom>
          <a:solidFill>
            <a:srgbClr val="2E2EB8"/>
          </a:solidFill>
          <a:ln w="12700">
            <a:solidFill>
              <a:srgbClr val="333333"/>
            </a:solidFill>
            <a:prstDash val="solid"/>
          </a:ln>
        </p:spPr>
      </p:sp>
      <p:sp>
        <p:nvSpPr>
          <p:cNvPr id="17" name="C2 read arabic"/>
          <p:cNvSpPr txBox="1"/>
          <p:nvPr/>
        </p:nvSpPr>
        <p:spPr>
          <a:xfrm>
            <a:off x="365760" y="1500111"/>
            <a:ext cx="3886200" cy="981151"/>
          </a:xfrm>
          <a:prstGeom prst="rect">
            <a:avLst/>
          </a:prstGeom>
          <a:noFill/>
          <a:ln/>
        </p:spPr>
        <p:txBody>
          <a:bodyPr wrap="none" lIns="0" tIns="0" rIns="0" bIns="0" rtlCol="0" anchor="ctr"/>
          <a:lstStyle/>
          <a:p>
            <a:pPr algn="ctr" indent="0" marL="0">
              <a:buNone/>
            </a:pPr>
            <a:r>
              <a:rPr lang="ar-SA" altLang="en-US" sz="2900" dirty="0">
                <a:solidFill>
                  <a:srgbClr val="16213E"/>
                </a:solidFill>
                <a:latin typeface="Traditional Arabic" pitchFamily="34" charset="0"/>
                <a:ea typeface="Traditional Arabic" pitchFamily="34" charset="-122"/>
                <a:cs typeface="Traditional Arabic" pitchFamily="34" charset="-120"/>
              </a:rPr>
              <a:t>عَلَيۡهِمُ </a:t>
            </a:r>
            <a:r>
              <a:rPr lang="ar-SA" altLang="en-US" sz="2900" dirty="0">
                <a:solidFill>
                  <a:srgbClr val="ADB5BD"/>
                </a:solidFill>
                <a:latin typeface="Traditional Arabic" pitchFamily="34" charset="0"/>
                <a:ea typeface="Traditional Arabic" pitchFamily="34" charset="-122"/>
                <a:cs typeface="Traditional Arabic" pitchFamily="34" charset="-120"/>
              </a:rPr>
              <a:t>ٱ</a:t>
            </a:r>
            <a:r>
              <a:rPr lang="ar-SA" altLang="en-US" sz="2900" dirty="0">
                <a:solidFill>
                  <a:srgbClr val="16213E"/>
                </a:solidFill>
                <a:latin typeface="Traditional Arabic" pitchFamily="34" charset="0"/>
                <a:ea typeface="Traditional Arabic" pitchFamily="34" charset="-122"/>
                <a:cs typeface="Traditional Arabic" pitchFamily="34" charset="-120"/>
              </a:rPr>
              <a:t>لۡقِتَالُ</a:t>
            </a:r>
            <a:endParaRPr lang="ar-SA" sz="2900" dirty="0"/>
          </a:p>
        </p:txBody>
      </p:sp>
      <p:sp>
        <p:nvSpPr>
          <p:cNvPr id="18" name="C2 read sounds"/>
          <p:cNvSpPr txBox="1"/>
          <p:nvPr/>
        </p:nvSpPr>
        <p:spPr>
          <a:xfrm>
            <a:off x="457200" y="2462479"/>
            <a:ext cx="3703320" cy="637337"/>
          </a:xfrm>
          <a:prstGeom prst="rect">
            <a:avLst/>
          </a:prstGeom>
          <a:noFill/>
          <a:ln/>
        </p:spPr>
        <p:txBody>
          <a:bodyPr wrap="none" lIns="0" tIns="0" rIns="0" bIns="0" rtlCol="0" anchor="ctr"/>
          <a:lstStyle/>
          <a:p>
            <a:pPr algn="ctr" indent="0" marL="0">
              <a:buNone/>
            </a:pPr>
            <a:r>
              <a:rPr lang="en-US" sz="2700" b="1" dirty="0">
                <a:solidFill>
                  <a:srgbClr val="D9480F"/>
                </a:solidFill>
                <a:latin typeface="Arial" pitchFamily="34" charset="0"/>
                <a:ea typeface="Arial" pitchFamily="34" charset="-122"/>
                <a:cs typeface="Arial" pitchFamily="34" charset="-120"/>
              </a:rPr>
              <a:t>'A-lay-hi-mul-qi-taal</a:t>
            </a:r>
            <a:endParaRPr lang="en-US" sz="2700" dirty="0"/>
          </a:p>
        </p:txBody>
      </p:sp>
      <p:sp>
        <p:nvSpPr>
          <p:cNvPr id="19"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0" name="C3 tip"/>
          <p:cNvSpPr txBox="1"/>
          <p:nvPr/>
        </p:nvSpPr>
        <p:spPr>
          <a:xfrm>
            <a:off x="502920" y="3379216"/>
            <a:ext cx="8138160" cy="768096"/>
          </a:xfrm>
          <a:prstGeom prst="rect">
            <a:avLst/>
          </a:prstGeom>
          <a:noFill/>
          <a:ln/>
        </p:spPr>
        <p:txBody>
          <a:bodyPr wrap="none" lIns="0" tIns="0" rIns="0" bIns="0" rtlCol="0" anchor="ctr"/>
          <a:lstStyle/>
          <a:p>
            <a:pPr algn="ctr" indent="0" marL="0">
              <a:buNone/>
            </a:pPr>
            <a:r>
              <a:rPr lang="en-US" sz="2200" dirty="0">
                <a:solidFill>
                  <a:srgbClr val="16213E"/>
                </a:solidFill>
                <a:latin typeface="Arial" pitchFamily="34" charset="0"/>
                <a:ea typeface="Arial" pitchFamily="34" charset="-122"/>
                <a:cs typeface="Arial" pitchFamily="34" charset="-120"/>
              </a:rPr>
              <a:t>The meem gets a dammah:  ...himul-qitaal.</a:t>
            </a:r>
            <a:endParaRPr lang="en-US" sz="2200" dirty="0"/>
          </a:p>
        </p:txBody>
      </p:sp>
    </p:spTree>
  </p:cSld>
  <p:clrMapOvr>
    <a:masterClrMapping/>
  </p:clrMapOvr>
  <p:transition spd="med">
    <p:pull dir="l"/>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4331"/>
        </a:solidFill>
      </p:bgPr>
    </p:bg>
    <p:spTree>
      <p:nvGrpSpPr>
        <p:cNvPr id="1" name=""/>
        <p:cNvGrpSpPr/>
        <p:nvPr/>
      </p:nvGrpSpPr>
      <p:grpSpPr>
        <a:xfrm>
          <a:off x="0" y="0"/>
          <a:ext cx="0" cy="0"/>
          <a:chOff x="0" y="0"/>
          <a:chExt cx="0" cy="0"/>
        </a:xfrm>
      </p:grpSpPr>
      <p:sp>
        <p:nvSpPr>
          <p:cNvPr id="2" name="Deco moon"/>
          <p:cNvSpPr/>
          <p:nvPr/>
        </p:nvSpPr>
        <p:spPr>
          <a:xfrm>
            <a:off x="365760" y="91440"/>
            <a:ext cx="502920" cy="731520"/>
          </a:xfrm>
          <a:prstGeom prst="moon">
            <a:avLst/>
          </a:prstGeom>
          <a:solidFill>
            <a:srgbClr val="FFE88A"/>
          </a:solidFill>
          <a:ln w="12700">
            <a:solidFill>
              <a:srgbClr val="FFE88A"/>
            </a:solidFill>
            <a:prstDash val="solid"/>
          </a:ln>
        </p:spPr>
      </p:sp>
      <p:sp>
        <p:nvSpPr>
          <p:cNvPr id="3" name="Deco star 0"/>
          <p:cNvSpPr/>
          <p:nvPr/>
        </p:nvSpPr>
        <p:spPr>
          <a:xfrm>
            <a:off x="1280160" y="182880"/>
            <a:ext cx="365760" cy="365760"/>
          </a:xfrm>
          <a:prstGeom prst="star5">
            <a:avLst/>
          </a:prstGeom>
          <a:solidFill>
            <a:srgbClr val="FFF3A3"/>
          </a:solidFill>
          <a:ln w="12700">
            <a:solidFill>
              <a:srgbClr val="FFF3A3"/>
            </a:solidFill>
            <a:prstDash val="solid"/>
          </a:ln>
        </p:spPr>
      </p:sp>
      <p:sp>
        <p:nvSpPr>
          <p:cNvPr id="4" name="Deco star 1"/>
          <p:cNvSpPr/>
          <p:nvPr/>
        </p:nvSpPr>
        <p:spPr>
          <a:xfrm>
            <a:off x="2194560" y="502920"/>
            <a:ext cx="274320" cy="274320"/>
          </a:xfrm>
          <a:prstGeom prst="star4">
            <a:avLst/>
          </a:prstGeom>
          <a:solidFill>
            <a:srgbClr val="FFF3A3"/>
          </a:solidFill>
          <a:ln w="12700">
            <a:solidFill>
              <a:srgbClr val="FFF3A3"/>
            </a:solidFill>
            <a:prstDash val="solid"/>
          </a:ln>
        </p:spPr>
      </p:sp>
      <p:sp>
        <p:nvSpPr>
          <p:cNvPr id="5" name="Deco star 2"/>
          <p:cNvSpPr/>
          <p:nvPr/>
        </p:nvSpPr>
        <p:spPr>
          <a:xfrm>
            <a:off x="3291840" y="137160"/>
            <a:ext cx="274320" cy="274320"/>
          </a:xfrm>
          <a:prstGeom prst="star5">
            <a:avLst/>
          </a:prstGeom>
          <a:solidFill>
            <a:srgbClr val="FFF3A3"/>
          </a:solidFill>
          <a:ln w="12700">
            <a:solidFill>
              <a:srgbClr val="FFF3A3"/>
            </a:solidFill>
            <a:prstDash val="solid"/>
          </a:ln>
        </p:spPr>
      </p:sp>
      <p:sp>
        <p:nvSpPr>
          <p:cNvPr id="6" name="Deco star 3"/>
          <p:cNvSpPr/>
          <p:nvPr/>
        </p:nvSpPr>
        <p:spPr>
          <a:xfrm>
            <a:off x="5760720" y="457200"/>
            <a:ext cx="365760" cy="365760"/>
          </a:xfrm>
          <a:prstGeom prst="star4">
            <a:avLst/>
          </a:prstGeom>
          <a:solidFill>
            <a:srgbClr val="FFF3A3"/>
          </a:solidFill>
          <a:ln w="12700">
            <a:solidFill>
              <a:srgbClr val="FFF3A3"/>
            </a:solidFill>
            <a:prstDash val="solid"/>
          </a:ln>
        </p:spPr>
      </p:sp>
      <p:sp>
        <p:nvSpPr>
          <p:cNvPr id="7" name="Deco star 4"/>
          <p:cNvSpPr/>
          <p:nvPr/>
        </p:nvSpPr>
        <p:spPr>
          <a:xfrm>
            <a:off x="6766560" y="109728"/>
            <a:ext cx="274320" cy="274320"/>
          </a:xfrm>
          <a:prstGeom prst="star5">
            <a:avLst/>
          </a:prstGeom>
          <a:solidFill>
            <a:srgbClr val="FFF3A3"/>
          </a:solidFill>
          <a:ln w="12700">
            <a:solidFill>
              <a:srgbClr val="FFF3A3"/>
            </a:solidFill>
            <a:prstDash val="solid"/>
          </a:ln>
        </p:spPr>
      </p:sp>
      <p:sp>
        <p:nvSpPr>
          <p:cNvPr id="8" name="Deco star 5"/>
          <p:cNvSpPr/>
          <p:nvPr/>
        </p:nvSpPr>
        <p:spPr>
          <a:xfrm>
            <a:off x="7772400" y="411480"/>
            <a:ext cx="274320" cy="274320"/>
          </a:xfrm>
          <a:prstGeom prst="star4">
            <a:avLst/>
          </a:prstGeom>
          <a:solidFill>
            <a:srgbClr val="FFF3A3"/>
          </a:solidFill>
          <a:ln w="12700">
            <a:solidFill>
              <a:srgbClr val="FFF3A3"/>
            </a:solidFill>
            <a:prstDash val="solid"/>
          </a:ln>
        </p:spPr>
      </p:sp>
      <p:sp>
        <p:nvSpPr>
          <p:cNvPr id="9" name="Deco star 6"/>
          <p:cNvSpPr/>
          <p:nvPr/>
        </p:nvSpPr>
        <p:spPr>
          <a:xfrm>
            <a:off x="8503920" y="137160"/>
            <a:ext cx="365760" cy="365760"/>
          </a:xfrm>
          <a:prstGeom prst="star5">
            <a:avLst/>
          </a:prstGeom>
          <a:solidFill>
            <a:srgbClr val="FFF3A3"/>
          </a:solidFill>
          <a:ln w="12700">
            <a:solidFill>
              <a:srgbClr val="FFF3A3"/>
            </a:solidFill>
            <a:prstDash val="solid"/>
          </a:ln>
        </p:spPr>
      </p:sp>
      <p:sp>
        <p:nvSpPr>
          <p:cNvPr id="10" name="Deco hill left"/>
          <p:cNvSpPr/>
          <p:nvPr/>
        </p:nvSpPr>
        <p:spPr>
          <a:xfrm>
            <a:off x="-914400" y="4480560"/>
            <a:ext cx="4937760" cy="1463040"/>
          </a:xfrm>
          <a:prstGeom prst="ellipse">
            <a:avLst/>
          </a:prstGeom>
          <a:solidFill>
            <a:srgbClr val="2B5D64"/>
          </a:solidFill>
          <a:ln w="12700">
            <a:solidFill>
              <a:srgbClr val="2B5D64"/>
            </a:solidFill>
            <a:prstDash val="solid"/>
          </a:ln>
        </p:spPr>
      </p:sp>
      <p:sp>
        <p:nvSpPr>
          <p:cNvPr id="11" name="Deco hill right"/>
          <p:cNvSpPr/>
          <p:nvPr/>
        </p:nvSpPr>
        <p:spPr>
          <a:xfrm>
            <a:off x="4206240" y="4572000"/>
            <a:ext cx="5669280" cy="1463040"/>
          </a:xfrm>
          <a:prstGeom prst="ellipse">
            <a:avLst/>
          </a:prstGeom>
          <a:solidFill>
            <a:srgbClr val="344E79"/>
          </a:solidFill>
          <a:ln w="12700">
            <a:solidFill>
              <a:srgbClr val="344E79"/>
            </a:solidFill>
            <a:prstDash val="solid"/>
          </a:ln>
        </p:spPr>
      </p:sp>
      <p:sp>
        <p:nvSpPr>
          <p:cNvPr id="12" name="Title box"/>
          <p:cNvSpPr/>
          <p:nvPr/>
        </p:nvSpPr>
        <p:spPr>
          <a:xfrm>
            <a:off x="365760" y="896112"/>
            <a:ext cx="8412480" cy="502920"/>
          </a:xfrm>
          <a:prstGeom prst="roundRect">
            <a:avLst>
              <a:gd name="adj" fmla="val 45455"/>
            </a:avLst>
          </a:prstGeom>
          <a:solidFill>
            <a:srgbClr val="C2255C"/>
          </a:solidFill>
          <a:ln w="76200">
            <a:solidFill>
              <a:srgbClr val="C2255C"/>
            </a:solidFill>
            <a:prstDash val="solid"/>
          </a:ln>
        </p:spPr>
      </p:sp>
      <p:sp>
        <p:nvSpPr>
          <p:cNvPr id="13" name="Title"/>
          <p:cNvSpPr txBox="1"/>
          <p:nvPr/>
        </p:nvSpPr>
        <p:spPr>
          <a:xfrm>
            <a:off x="365760" y="916140"/>
            <a:ext cx="8412480" cy="502920"/>
          </a:xfrm>
          <a:prstGeom prst="rect">
            <a:avLst/>
          </a:prstGeom>
          <a:noFill/>
          <a:ln/>
        </p:spPr>
        <p:txBody>
          <a:bodyPr wrap="non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Watch out 3: tanween before ٱ</a:t>
            </a:r>
            <a:endParaRPr lang="en-US" sz="1900" dirty="0"/>
          </a:p>
        </p:txBody>
      </p:sp>
      <p:sp>
        <p:nvSpPr>
          <p:cNvPr id="14"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5"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6" name="C1 mushaf"/>
          <p:cNvSpPr txBox="1"/>
          <p:nvPr/>
        </p:nvSpPr>
        <p:spPr>
          <a:xfrm>
            <a:off x="4892040" y="1726184"/>
            <a:ext cx="3886200" cy="1353312"/>
          </a:xfrm>
          <a:prstGeom prst="rect">
            <a:avLst/>
          </a:prstGeom>
          <a:noFill/>
          <a:ln/>
        </p:spPr>
        <p:txBody>
          <a:bodyPr wrap="none" lIns="0" tIns="0" rIns="0" bIns="0" rtlCol="0" anchor="ctr"/>
          <a:lstStyle/>
          <a:p>
            <a:pPr algn="ctr" indent="0" marL="0">
              <a:buNone/>
            </a:pPr>
            <a:r>
              <a:rPr lang="ar-SA" altLang="en-US" sz="5000" dirty="0">
                <a:solidFill>
                  <a:srgbClr val="16213E"/>
                </a:solidFill>
                <a:latin typeface="Traditional Arabic" pitchFamily="34" charset="0"/>
                <a:ea typeface="Traditional Arabic" pitchFamily="34" charset="-122"/>
                <a:cs typeface="Traditional Arabic" pitchFamily="34" charset="-120"/>
              </a:rPr>
              <a:t>خَيۡرًا </a:t>
            </a:r>
            <a:r>
              <a:rPr lang="ar-SA" altLang="en-US" sz="5000" dirty="0">
                <a:solidFill>
                  <a:srgbClr val="E03131"/>
                </a:solidFill>
                <a:latin typeface="Traditional Arabic" pitchFamily="34" charset="0"/>
                <a:ea typeface="Traditional Arabic" pitchFamily="34" charset="-122"/>
                <a:cs typeface="Traditional Arabic" pitchFamily="34" charset="-120"/>
              </a:rPr>
              <a:t>ٱ</a:t>
            </a:r>
            <a:r>
              <a:rPr lang="ar-SA" altLang="en-US" sz="5000" dirty="0">
                <a:solidFill>
                  <a:srgbClr val="16213E"/>
                </a:solidFill>
                <a:latin typeface="Traditional Arabic" pitchFamily="34" charset="0"/>
                <a:ea typeface="Traditional Arabic" pitchFamily="34" charset="-122"/>
                <a:cs typeface="Traditional Arabic" pitchFamily="34" charset="-120"/>
              </a:rPr>
              <a:t>لۡوَصِيَّةُ</a:t>
            </a:r>
            <a:endParaRPr lang="ar-SA" sz="5000" dirty="0"/>
          </a:p>
        </p:txBody>
      </p:sp>
      <p:sp>
        <p:nvSpPr>
          <p:cNvPr id="17" name="C2 arrow"/>
          <p:cNvSpPr/>
          <p:nvPr/>
        </p:nvSpPr>
        <p:spPr>
          <a:xfrm>
            <a:off x="4315968" y="2125980"/>
            <a:ext cx="512064" cy="457200"/>
          </a:xfrm>
          <a:prstGeom prst="leftArrow">
            <a:avLst/>
          </a:prstGeom>
          <a:solidFill>
            <a:srgbClr val="B8572E"/>
          </a:solidFill>
          <a:ln w="12700">
            <a:solidFill>
              <a:srgbClr val="333333"/>
            </a:solidFill>
            <a:prstDash val="solid"/>
          </a:ln>
        </p:spPr>
      </p:sp>
      <p:sp>
        <p:nvSpPr>
          <p:cNvPr id="18" name="C2 read arabic"/>
          <p:cNvSpPr txBox="1"/>
          <p:nvPr/>
        </p:nvSpPr>
        <p:spPr>
          <a:xfrm>
            <a:off x="365760" y="1540612"/>
            <a:ext cx="3886200" cy="981151"/>
          </a:xfrm>
          <a:prstGeom prst="rect">
            <a:avLst/>
          </a:prstGeom>
          <a:noFill/>
          <a:ln/>
        </p:spPr>
        <p:txBody>
          <a:bodyPr wrap="none" lIns="0" tIns="0" rIns="0" bIns="0" rtlCol="0" anchor="ctr"/>
          <a:lstStyle/>
          <a:p>
            <a:pPr algn="ctr" indent="0" marL="0">
              <a:buNone/>
            </a:pPr>
            <a:r>
              <a:rPr lang="ar-SA" altLang="en-US" sz="3300" dirty="0">
                <a:solidFill>
                  <a:srgbClr val="16213E"/>
                </a:solidFill>
                <a:latin typeface="Traditional Arabic" pitchFamily="34" charset="0"/>
                <a:ea typeface="Traditional Arabic" pitchFamily="34" charset="-122"/>
                <a:cs typeface="Traditional Arabic" pitchFamily="34" charset="-120"/>
              </a:rPr>
              <a:t>خَيۡرً</a:t>
            </a:r>
            <a:r>
              <a:rPr lang="ar-SA" altLang="en-US" sz="3300" dirty="0">
                <a:solidFill>
                  <a:srgbClr val="ADB5BD"/>
                </a:solidFill>
                <a:latin typeface="Traditional Arabic" pitchFamily="34" charset="0"/>
                <a:ea typeface="Traditional Arabic" pitchFamily="34" charset="-122"/>
                <a:cs typeface="Traditional Arabic" pitchFamily="34" charset="-120"/>
              </a:rPr>
              <a:t>ا</a:t>
            </a:r>
            <a:r>
              <a:rPr lang="ar-SA" altLang="en-US" sz="3300" dirty="0">
                <a:solidFill>
                  <a:srgbClr val="16213E"/>
                </a:solidFill>
                <a:latin typeface="Traditional Arabic" pitchFamily="34" charset="0"/>
                <a:ea typeface="Traditional Arabic" pitchFamily="34" charset="-122"/>
                <a:cs typeface="Traditional Arabic" pitchFamily="34" charset="-120"/>
              </a:rPr>
              <a:t> </a:t>
            </a:r>
            <a:r>
              <a:rPr lang="ar-SA" altLang="en-US" sz="3300" dirty="0">
                <a:solidFill>
                  <a:srgbClr val="ADB5BD"/>
                </a:solidFill>
                <a:latin typeface="Traditional Arabic" pitchFamily="34" charset="0"/>
                <a:ea typeface="Traditional Arabic" pitchFamily="34" charset="-122"/>
                <a:cs typeface="Traditional Arabic" pitchFamily="34" charset="-120"/>
              </a:rPr>
              <a:t>ٱ</a:t>
            </a:r>
            <a:r>
              <a:rPr lang="ar-SA" altLang="en-US" sz="3300" dirty="0">
                <a:solidFill>
                  <a:srgbClr val="16213E"/>
                </a:solidFill>
                <a:latin typeface="Traditional Arabic" pitchFamily="34" charset="0"/>
                <a:ea typeface="Traditional Arabic" pitchFamily="34" charset="-122"/>
                <a:cs typeface="Traditional Arabic" pitchFamily="34" charset="-120"/>
              </a:rPr>
              <a:t>لۡوَصِيَّةُ</a:t>
            </a:r>
            <a:endParaRPr lang="ar-SA" sz="3300" dirty="0"/>
          </a:p>
        </p:txBody>
      </p:sp>
      <p:sp>
        <p:nvSpPr>
          <p:cNvPr id="19" name="C2 read sounds"/>
          <p:cNvSpPr txBox="1"/>
          <p:nvPr/>
        </p:nvSpPr>
        <p:spPr>
          <a:xfrm>
            <a:off x="457200" y="2464511"/>
            <a:ext cx="3703320" cy="637337"/>
          </a:xfrm>
          <a:prstGeom prst="rect">
            <a:avLst/>
          </a:prstGeom>
          <a:noFill/>
          <a:ln/>
        </p:spPr>
        <p:txBody>
          <a:bodyPr wrap="none" lIns="0" tIns="0" rIns="0" bIns="0" rtlCol="0" anchor="ctr"/>
          <a:lstStyle/>
          <a:p>
            <a:pPr algn="ctr" indent="0" marL="0">
              <a:buNone/>
            </a:pPr>
            <a:r>
              <a:rPr lang="en-US" sz="2500" b="1" dirty="0">
                <a:solidFill>
                  <a:srgbClr val="D9480F"/>
                </a:solidFill>
                <a:latin typeface="Arial" pitchFamily="34" charset="0"/>
                <a:ea typeface="Arial" pitchFamily="34" charset="-122"/>
                <a:cs typeface="Arial" pitchFamily="34" charset="-120"/>
              </a:rPr>
              <a:t>Khay-ra-nil-wa-siy-yah</a:t>
            </a:r>
            <a:endParaRPr lang="en-US" sz="2500" dirty="0"/>
          </a:p>
        </p:txBody>
      </p:sp>
      <p:sp>
        <p:nvSpPr>
          <p:cNvPr id="20" name="C3 tip box"/>
          <p:cNvSpPr/>
          <p:nvPr/>
        </p:nvSpPr>
        <p:spPr>
          <a:xfrm>
            <a:off x="365760" y="3364992"/>
            <a:ext cx="8412480" cy="841248"/>
          </a:xfrm>
          <a:prstGeom prst="roundRect">
            <a:avLst>
              <a:gd name="adj" fmla="val 27174"/>
            </a:avLst>
          </a:prstGeom>
          <a:solidFill>
            <a:srgbClr val="FFFFFF"/>
          </a:solidFill>
          <a:ln w="76200">
            <a:solidFill>
              <a:srgbClr val="C2255C"/>
            </a:solidFill>
            <a:prstDash val="solid"/>
          </a:ln>
        </p:spPr>
      </p:sp>
      <p:sp>
        <p:nvSpPr>
          <p:cNvPr id="21" name="C3 tip"/>
          <p:cNvSpPr txBox="1"/>
          <p:nvPr/>
        </p:nvSpPr>
        <p:spPr>
          <a:xfrm>
            <a:off x="502920" y="3383280"/>
            <a:ext cx="8138160" cy="768096"/>
          </a:xfrm>
          <a:prstGeom prst="rect">
            <a:avLst/>
          </a:prstGeom>
          <a:noFill/>
          <a:ln/>
        </p:spPr>
        <p:txBody>
          <a:bodyPr wrap="none" lIns="0" tIns="0" rIns="0" bIns="0" rtlCol="0" anchor="ctr"/>
          <a:lstStyle/>
          <a:p>
            <a:pPr algn="ctr" indent="0" marL="0">
              <a:buNone/>
            </a:pPr>
            <a:r>
              <a:rPr lang="en-US" sz="1800" dirty="0">
                <a:solidFill>
                  <a:srgbClr val="16213E"/>
                </a:solidFill>
                <a:latin typeface="Arial" pitchFamily="34" charset="0"/>
                <a:ea typeface="Arial" pitchFamily="34" charset="-122"/>
                <a:cs typeface="Arial" pitchFamily="34" charset="-120"/>
              </a:rPr>
              <a:t>Tanween = vowel + hidden noon. The noon gets a kasrah:  ...ra-nil-...</a:t>
            </a:r>
            <a:endParaRPr lang="en-US" sz="1800" dirty="0"/>
          </a:p>
        </p:txBody>
      </p:sp>
    </p:spTree>
  </p:cSld>
  <p:clrMapOvr>
    <a:masterClrMapping/>
  </p:clrMapOvr>
  <p:transition spd="med">
    <p:fade/>
    <p:sndAc>
      <p:stSnd>
        <p:snd r:embed="rIdTrSnd" name="harp.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3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5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3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C5F7"/>
        </a:solidFill>
      </p:bgPr>
    </p:bg>
    <p:spTree>
      <p:nvGrpSpPr>
        <p:cNvPr id="1" name=""/>
        <p:cNvGrpSpPr/>
        <p:nvPr/>
      </p:nvGrpSpPr>
      <p:grpSpPr>
        <a:xfrm>
          <a:off x="0" y="0"/>
          <a:ext cx="0" cy="0"/>
          <a:chOff x="0" y="0"/>
          <a:chExt cx="0" cy="0"/>
        </a:xfrm>
      </p:grpSpPr>
      <p:sp>
        <p:nvSpPr>
          <p:cNvPr id="2" name="Deco wave back"/>
          <p:cNvSpPr/>
          <p:nvPr/>
        </p:nvSpPr>
        <p:spPr>
          <a:xfrm>
            <a:off x="-182880" y="4389120"/>
            <a:ext cx="9509760" cy="548640"/>
          </a:xfrm>
          <a:prstGeom prst="wave">
            <a:avLst/>
          </a:prstGeom>
          <a:solidFill>
            <a:srgbClr val="70D65C"/>
          </a:solidFill>
          <a:ln w="12700">
            <a:solidFill>
              <a:srgbClr val="70D65C"/>
            </a:solidFill>
            <a:prstDash val="solid"/>
          </a:ln>
        </p:spPr>
      </p:sp>
      <p:sp>
        <p:nvSpPr>
          <p:cNvPr id="3" name="Deco sea floor"/>
          <p:cNvSpPr/>
          <p:nvPr/>
        </p:nvSpPr>
        <p:spPr>
          <a:xfrm>
            <a:off x="0" y="4709160"/>
            <a:ext cx="9144000" cy="457200"/>
          </a:xfrm>
          <a:prstGeom prst="rect">
            <a:avLst/>
          </a:prstGeom>
          <a:solidFill>
            <a:srgbClr val="40CC33"/>
          </a:solidFill>
          <a:ln w="12700">
            <a:solidFill>
              <a:srgbClr val="40CC33"/>
            </a:solidFill>
            <a:prstDash val="solid"/>
          </a:ln>
        </p:spPr>
      </p:sp>
      <p:sp>
        <p:nvSpPr>
          <p:cNvPr id="4" name="Deco bubble 0"/>
          <p:cNvSpPr/>
          <p:nvPr/>
        </p:nvSpPr>
        <p:spPr>
          <a:xfrm>
            <a:off x="365760" y="182880"/>
            <a:ext cx="411480" cy="411480"/>
          </a:xfrm>
          <a:prstGeom prst="ellipse">
            <a:avLst/>
          </a:prstGeom>
          <a:solidFill>
            <a:srgbClr val="FFFFFF">
              <a:alpha val="55000"/>
            </a:srgbClr>
          </a:solidFill>
          <a:ln w="19050">
            <a:solidFill>
              <a:srgbClr val="FFFFFF"/>
            </a:solidFill>
            <a:prstDash val="solid"/>
          </a:ln>
        </p:spPr>
      </p:sp>
      <p:sp>
        <p:nvSpPr>
          <p:cNvPr id="5" name="Deco bubble 1"/>
          <p:cNvSpPr/>
          <p:nvPr/>
        </p:nvSpPr>
        <p:spPr>
          <a:xfrm>
            <a:off x="914400" y="502920"/>
            <a:ext cx="256032" cy="256032"/>
          </a:xfrm>
          <a:prstGeom prst="ellipse">
            <a:avLst/>
          </a:prstGeom>
          <a:solidFill>
            <a:srgbClr val="FFFFFF">
              <a:alpha val="55000"/>
            </a:srgbClr>
          </a:solidFill>
          <a:ln w="19050">
            <a:solidFill>
              <a:srgbClr val="FFFFFF"/>
            </a:solidFill>
            <a:prstDash val="solid"/>
          </a:ln>
        </p:spPr>
      </p:sp>
      <p:sp>
        <p:nvSpPr>
          <p:cNvPr id="6" name="Deco bubble 2"/>
          <p:cNvSpPr/>
          <p:nvPr/>
        </p:nvSpPr>
        <p:spPr>
          <a:xfrm>
            <a:off x="8138160" y="137160"/>
            <a:ext cx="457200" cy="457200"/>
          </a:xfrm>
          <a:prstGeom prst="ellipse">
            <a:avLst/>
          </a:prstGeom>
          <a:solidFill>
            <a:srgbClr val="FFFFFF">
              <a:alpha val="55000"/>
            </a:srgbClr>
          </a:solidFill>
          <a:ln w="19050">
            <a:solidFill>
              <a:srgbClr val="FFFFFF"/>
            </a:solidFill>
            <a:prstDash val="solid"/>
          </a:ln>
        </p:spPr>
      </p:sp>
      <p:sp>
        <p:nvSpPr>
          <p:cNvPr id="7" name="Deco bubble 3"/>
          <p:cNvSpPr/>
          <p:nvPr/>
        </p:nvSpPr>
        <p:spPr>
          <a:xfrm>
            <a:off x="7680960" y="548640"/>
            <a:ext cx="228600" cy="228600"/>
          </a:xfrm>
          <a:prstGeom prst="ellipse">
            <a:avLst/>
          </a:prstGeom>
          <a:solidFill>
            <a:srgbClr val="FFFFFF">
              <a:alpha val="55000"/>
            </a:srgbClr>
          </a:solidFill>
          <a:ln w="19050">
            <a:solidFill>
              <a:srgbClr val="FFFFFF"/>
            </a:solidFill>
            <a:prstDash val="solid"/>
          </a:ln>
        </p:spPr>
      </p:sp>
      <p:sp>
        <p:nvSpPr>
          <p:cNvPr id="8" name="Deco bubble 4"/>
          <p:cNvSpPr/>
          <p:nvPr/>
        </p:nvSpPr>
        <p:spPr>
          <a:xfrm>
            <a:off x="8686800" y="566928"/>
            <a:ext cx="182880" cy="182880"/>
          </a:xfrm>
          <a:prstGeom prst="ellipse">
            <a:avLst/>
          </a:prstGeom>
          <a:solidFill>
            <a:srgbClr val="FFFFFF">
              <a:alpha val="55000"/>
            </a:srgbClr>
          </a:solidFill>
          <a:ln w="19050">
            <a:solidFill>
              <a:srgbClr val="FFFFFF"/>
            </a:solidFill>
            <a:prstDash val="solid"/>
          </a:ln>
        </p:spPr>
      </p:sp>
      <p:sp>
        <p:nvSpPr>
          <p:cNvPr id="9" name="Deco sun"/>
          <p:cNvSpPr/>
          <p:nvPr/>
        </p:nvSpPr>
        <p:spPr>
          <a:xfrm>
            <a:off x="4206240" y="109728"/>
            <a:ext cx="685800" cy="685800"/>
          </a:xfrm>
          <a:prstGeom prst="sun">
            <a:avLst/>
          </a:prstGeom>
          <a:solidFill>
            <a:srgbClr val="FFD23F"/>
          </a:solidFill>
          <a:ln w="12700">
            <a:solidFill>
              <a:srgbClr val="FFD23F"/>
            </a:solidFill>
            <a:prstDash val="solid"/>
          </a:ln>
        </p:spPr>
      </p:sp>
      <p:sp>
        <p:nvSpPr>
          <p:cNvPr id="10" name="Title box"/>
          <p:cNvSpPr/>
          <p:nvPr/>
        </p:nvSpPr>
        <p:spPr>
          <a:xfrm>
            <a:off x="365760" y="896112"/>
            <a:ext cx="8412480" cy="502920"/>
          </a:xfrm>
          <a:prstGeom prst="roundRect">
            <a:avLst>
              <a:gd name="adj" fmla="val 45455"/>
            </a:avLst>
          </a:prstGeom>
          <a:solidFill>
            <a:srgbClr val="5F3DC4"/>
          </a:solidFill>
          <a:ln w="76200">
            <a:solidFill>
              <a:srgbClr val="5F3DC4"/>
            </a:solidFill>
            <a:prstDash val="solid"/>
          </a:ln>
        </p:spPr>
      </p:sp>
      <p:sp>
        <p:nvSpPr>
          <p:cNvPr id="11"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Practice: Al-Fatiha</a:t>
            </a:r>
            <a:endParaRPr lang="en-US" sz="22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725883"/>
            <a:ext cx="3886200" cy="1353312"/>
          </a:xfrm>
          <a:prstGeom prst="rect">
            <a:avLst/>
          </a:prstGeom>
          <a:noFill/>
          <a:ln/>
        </p:spPr>
        <p:txBody>
          <a:bodyPr wrap="none" lIns="0" tIns="0" rIns="0" bIns="0" rtlCol="0" anchor="ctr"/>
          <a:lstStyle/>
          <a:p>
            <a:pPr algn="ctr" indent="0" marL="0">
              <a:buNone/>
            </a:pPr>
            <a:r>
              <a:rPr lang="ar-SA" altLang="en-US" sz="2700" dirty="0">
                <a:solidFill>
                  <a:srgbClr val="E03131"/>
                </a:solidFill>
                <a:latin typeface="Traditional Arabic" pitchFamily="34" charset="0"/>
                <a:ea typeface="Traditional Arabic" pitchFamily="34" charset="-122"/>
                <a:cs typeface="Traditional Arabic" pitchFamily="34" charset="-120"/>
              </a:rPr>
              <a:t>ٱ</a:t>
            </a:r>
            <a:r>
              <a:rPr lang="ar-SA" altLang="en-US" sz="2700" dirty="0">
                <a:solidFill>
                  <a:srgbClr val="16213E"/>
                </a:solidFill>
                <a:latin typeface="Traditional Arabic" pitchFamily="34" charset="0"/>
                <a:ea typeface="Traditional Arabic" pitchFamily="34" charset="-122"/>
                <a:cs typeface="Traditional Arabic" pitchFamily="34" charset="-120"/>
              </a:rPr>
              <a:t>لۡحَمۡدُ لِلَّهِ رَبِّ </a:t>
            </a:r>
            <a:r>
              <a:rPr lang="ar-SA" altLang="en-US" sz="2700" dirty="0">
                <a:solidFill>
                  <a:srgbClr val="E03131"/>
                </a:solidFill>
                <a:latin typeface="Traditional Arabic" pitchFamily="34" charset="0"/>
                <a:ea typeface="Traditional Arabic" pitchFamily="34" charset="-122"/>
                <a:cs typeface="Traditional Arabic" pitchFamily="34" charset="-120"/>
              </a:rPr>
              <a:t>ٱ</a:t>
            </a:r>
            <a:r>
              <a:rPr lang="ar-SA" altLang="en-US" sz="2700" dirty="0">
                <a:solidFill>
                  <a:srgbClr val="16213E"/>
                </a:solidFill>
                <a:latin typeface="Traditional Arabic" pitchFamily="34" charset="0"/>
                <a:ea typeface="Traditional Arabic" pitchFamily="34" charset="-122"/>
                <a:cs typeface="Traditional Arabic" pitchFamily="34" charset="-120"/>
              </a:rPr>
              <a:t>لۡعَٰلَمِينَ</a:t>
            </a:r>
            <a:endParaRPr lang="ar-SA" sz="2700" dirty="0"/>
          </a:p>
        </p:txBody>
      </p:sp>
      <p:sp>
        <p:nvSpPr>
          <p:cNvPr id="15" name="C2 arrow"/>
          <p:cNvSpPr/>
          <p:nvPr/>
        </p:nvSpPr>
        <p:spPr>
          <a:xfrm>
            <a:off x="4315968" y="2125980"/>
            <a:ext cx="512064" cy="457200"/>
          </a:xfrm>
          <a:prstGeom prst="leftArrow">
            <a:avLst/>
          </a:prstGeom>
          <a:solidFill>
            <a:srgbClr val="2EB87F"/>
          </a:solidFill>
          <a:ln w="12700">
            <a:solidFill>
              <a:srgbClr val="333333"/>
            </a:solidFill>
            <a:prstDash val="solid"/>
          </a:ln>
        </p:spPr>
      </p:sp>
      <p:sp>
        <p:nvSpPr>
          <p:cNvPr id="16" name="C2 read arabic"/>
          <p:cNvSpPr txBox="1"/>
          <p:nvPr/>
        </p:nvSpPr>
        <p:spPr>
          <a:xfrm>
            <a:off x="365760" y="1556719"/>
            <a:ext cx="3886200" cy="981151"/>
          </a:xfrm>
          <a:prstGeom prst="rect">
            <a:avLst/>
          </a:prstGeom>
          <a:noFill/>
          <a:ln/>
        </p:spPr>
        <p:txBody>
          <a:bodyPr wrap="none" lIns="0" tIns="0" rIns="0" bIns="0" rtlCol="0" anchor="ctr"/>
          <a:lstStyle/>
          <a:p>
            <a:pPr algn="ctr" indent="0" marL="0">
              <a:buNone/>
            </a:pPr>
            <a:r>
              <a:rPr lang="ar-SA" altLang="en-US" sz="2700" dirty="0">
                <a:solidFill>
                  <a:srgbClr val="2F9E44"/>
                </a:solidFill>
                <a:latin typeface="Traditional Arabic" pitchFamily="34" charset="0"/>
                <a:ea typeface="Traditional Arabic" pitchFamily="34" charset="-122"/>
                <a:cs typeface="Traditional Arabic" pitchFamily="34" charset="-120"/>
              </a:rPr>
              <a:t>اَ</a:t>
            </a:r>
            <a:r>
              <a:rPr lang="ar-SA" altLang="en-US" sz="2700" dirty="0">
                <a:solidFill>
                  <a:srgbClr val="16213E"/>
                </a:solidFill>
                <a:latin typeface="Traditional Arabic" pitchFamily="34" charset="0"/>
                <a:ea typeface="Traditional Arabic" pitchFamily="34" charset="-122"/>
                <a:cs typeface="Traditional Arabic" pitchFamily="34" charset="-120"/>
              </a:rPr>
              <a:t>لۡحَمۡدُ لِلَّهِ رَبِّ </a:t>
            </a:r>
            <a:r>
              <a:rPr lang="ar-SA" altLang="en-US" sz="2700" dirty="0">
                <a:solidFill>
                  <a:srgbClr val="ADB5BD"/>
                </a:solidFill>
                <a:latin typeface="Traditional Arabic" pitchFamily="34" charset="0"/>
                <a:ea typeface="Traditional Arabic" pitchFamily="34" charset="-122"/>
                <a:cs typeface="Traditional Arabic" pitchFamily="34" charset="-120"/>
              </a:rPr>
              <a:t>ٱ</a:t>
            </a:r>
            <a:r>
              <a:rPr lang="ar-SA" altLang="en-US" sz="2700" dirty="0">
                <a:solidFill>
                  <a:srgbClr val="16213E"/>
                </a:solidFill>
                <a:latin typeface="Traditional Arabic" pitchFamily="34" charset="0"/>
                <a:ea typeface="Traditional Arabic" pitchFamily="34" charset="-122"/>
                <a:cs typeface="Traditional Arabic" pitchFamily="34" charset="-120"/>
              </a:rPr>
              <a:t>لۡعَٰلَمِينَ</a:t>
            </a:r>
            <a:endParaRPr lang="ar-SA" sz="2700" dirty="0"/>
          </a:p>
        </p:txBody>
      </p:sp>
      <p:sp>
        <p:nvSpPr>
          <p:cNvPr id="17" name="C2 read sounds"/>
          <p:cNvSpPr txBox="1"/>
          <p:nvPr/>
        </p:nvSpPr>
        <p:spPr>
          <a:xfrm>
            <a:off x="457200" y="2493467"/>
            <a:ext cx="3703320" cy="637337"/>
          </a:xfrm>
          <a:prstGeom prst="rect">
            <a:avLst/>
          </a:prstGeom>
          <a:noFill/>
          <a:ln/>
        </p:spPr>
        <p:txBody>
          <a:bodyPr wrap="none" lIns="0" tIns="0" rIns="0" bIns="0" rtlCol="0" anchor="ctr"/>
          <a:lstStyle/>
          <a:p>
            <a:pPr algn="ctr" indent="0" marL="0">
              <a:buNone/>
            </a:pPr>
            <a:r>
              <a:rPr lang="en-US" sz="1400" b="1" dirty="0">
                <a:solidFill>
                  <a:srgbClr val="D9480F"/>
                </a:solidFill>
                <a:latin typeface="Arial" pitchFamily="34" charset="0"/>
                <a:ea typeface="Arial" pitchFamily="34" charset="-122"/>
                <a:cs typeface="Arial" pitchFamily="34" charset="-120"/>
              </a:rPr>
              <a:t>Al-ham-du lil-laa-hi rab-bil-'aa-la-meen</a:t>
            </a:r>
            <a:endParaRPr lang="en-US" sz="14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5F3DC4"/>
            </a:solidFill>
            <a:prstDash val="solid"/>
          </a:ln>
        </p:spPr>
      </p:sp>
      <p:sp>
        <p:nvSpPr>
          <p:cNvPr id="19" name="C3 tip"/>
          <p:cNvSpPr txBox="1"/>
          <p:nvPr/>
        </p:nvSpPr>
        <p:spPr>
          <a:xfrm>
            <a:off x="502920" y="3384296"/>
            <a:ext cx="8138160" cy="768096"/>
          </a:xfrm>
          <a:prstGeom prst="rect">
            <a:avLst/>
          </a:prstGeom>
          <a:noFill/>
          <a:ln/>
        </p:spPr>
        <p:txBody>
          <a:bodyPr wrap="none" lIns="0" tIns="0" rIns="0" bIns="0" rtlCol="0" anchor="ctr"/>
          <a:lstStyle/>
          <a:p>
            <a:pPr algn="ctr" indent="0" marL="0">
              <a:buNone/>
            </a:pPr>
            <a:r>
              <a:rPr lang="en-US" sz="1700" dirty="0">
                <a:solidFill>
                  <a:srgbClr val="16213E"/>
                </a:solidFill>
                <a:latin typeface="Arial" pitchFamily="34" charset="0"/>
                <a:ea typeface="Arial" pitchFamily="34" charset="-122"/>
                <a:cs typeface="Arial" pitchFamily="34" charset="-120"/>
              </a:rPr>
              <a:t>First hamza: we START → say 'a'.   Second hamza: we CONNECT → skip it.</a:t>
            </a:r>
            <a:endParaRPr lang="en-US" sz="1700" dirty="0"/>
          </a:p>
        </p:txBody>
      </p:sp>
    </p:spTree>
  </p:cSld>
  <p:clrMapOvr>
    <a:masterClrMapping/>
  </p:clrMapOvr>
  <p:transition spd="med">
    <p:cover dir="l"/>
    <p:sndAc>
      <p:stSnd>
        <p:snd r:embed="rIdTrSnd" name="chim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CF7C5"/>
        </a:solidFill>
      </p:bgPr>
    </p:bg>
    <p:spTree>
      <p:nvGrpSpPr>
        <p:cNvPr id="1" name=""/>
        <p:cNvGrpSpPr/>
        <p:nvPr/>
      </p:nvGrpSpPr>
      <p:grpSpPr>
        <a:xfrm>
          <a:off x="0" y="0"/>
          <a:ext cx="0" cy="0"/>
          <a:chOff x="0" y="0"/>
          <a:chExt cx="0" cy="0"/>
        </a:xfrm>
      </p:grpSpPr>
      <p:sp>
        <p:nvSpPr>
          <p:cNvPr id="2" name="Deco grass"/>
          <p:cNvSpPr/>
          <p:nvPr/>
        </p:nvSpPr>
        <p:spPr>
          <a:xfrm>
            <a:off x="0" y="4617720"/>
            <a:ext cx="9144000" cy="548640"/>
          </a:xfrm>
          <a:prstGeom prst="rect">
            <a:avLst/>
          </a:prstGeom>
          <a:solidFill>
            <a:srgbClr val="53C68C"/>
          </a:solidFill>
          <a:ln w="12700">
            <a:solidFill>
              <a:srgbClr val="53C68C"/>
            </a:solidFill>
            <a:prstDash val="solid"/>
          </a:ln>
        </p:spPr>
      </p:sp>
      <p:sp>
        <p:nvSpPr>
          <p:cNvPr id="3" name="Deco stem 0"/>
          <p:cNvSpPr/>
          <p:nvPr/>
        </p:nvSpPr>
        <p:spPr>
          <a:xfrm>
            <a:off x="576072" y="4736592"/>
            <a:ext cx="36576" cy="365760"/>
          </a:xfrm>
          <a:prstGeom prst="ellipse">
            <a:avLst/>
          </a:prstGeom>
          <a:solidFill>
            <a:srgbClr val="3C8D40"/>
          </a:solidFill>
          <a:ln w="12700">
            <a:solidFill>
              <a:srgbClr val="3C8D40"/>
            </a:solidFill>
            <a:prstDash val="solid"/>
          </a:ln>
        </p:spPr>
      </p:sp>
      <p:sp>
        <p:nvSpPr>
          <p:cNvPr id="4" name="Deco flower 0"/>
          <p:cNvSpPr/>
          <p:nvPr/>
        </p:nvSpPr>
        <p:spPr>
          <a:xfrm>
            <a:off x="457200" y="4370832"/>
            <a:ext cx="274320" cy="274320"/>
          </a:xfrm>
          <a:prstGeom prst="flowChartConnector">
            <a:avLst/>
          </a:prstGeom>
          <a:solidFill>
            <a:srgbClr val="FF7A90"/>
          </a:solidFill>
          <a:ln w="12700">
            <a:solidFill>
              <a:srgbClr val="FF7A90"/>
            </a:solidFill>
            <a:prstDash val="solid"/>
          </a:ln>
        </p:spPr>
      </p:sp>
      <p:sp>
        <p:nvSpPr>
          <p:cNvPr id="5" name="Deco stem 1"/>
          <p:cNvSpPr/>
          <p:nvPr/>
        </p:nvSpPr>
        <p:spPr>
          <a:xfrm>
            <a:off x="1399032" y="4736592"/>
            <a:ext cx="36576" cy="365760"/>
          </a:xfrm>
          <a:prstGeom prst="ellipse">
            <a:avLst/>
          </a:prstGeom>
          <a:solidFill>
            <a:srgbClr val="3C8D40"/>
          </a:solidFill>
          <a:ln w="12700">
            <a:solidFill>
              <a:srgbClr val="3C8D40"/>
            </a:solidFill>
            <a:prstDash val="solid"/>
          </a:ln>
        </p:spPr>
      </p:sp>
      <p:sp>
        <p:nvSpPr>
          <p:cNvPr id="6" name="Deco flower 1"/>
          <p:cNvSpPr/>
          <p:nvPr/>
        </p:nvSpPr>
        <p:spPr>
          <a:xfrm>
            <a:off x="1280160" y="4370832"/>
            <a:ext cx="274320" cy="274320"/>
          </a:xfrm>
          <a:prstGeom prst="flowChartConnector">
            <a:avLst/>
          </a:prstGeom>
          <a:solidFill>
            <a:srgbClr val="FFB347"/>
          </a:solidFill>
          <a:ln w="12700">
            <a:solidFill>
              <a:srgbClr val="FFB347"/>
            </a:solidFill>
            <a:prstDash val="solid"/>
          </a:ln>
        </p:spPr>
      </p:sp>
      <p:sp>
        <p:nvSpPr>
          <p:cNvPr id="7" name="Deco stem 2"/>
          <p:cNvSpPr/>
          <p:nvPr/>
        </p:nvSpPr>
        <p:spPr>
          <a:xfrm>
            <a:off x="2221992" y="4736592"/>
            <a:ext cx="36576" cy="365760"/>
          </a:xfrm>
          <a:prstGeom prst="ellipse">
            <a:avLst/>
          </a:prstGeom>
          <a:solidFill>
            <a:srgbClr val="3C8D40"/>
          </a:solidFill>
          <a:ln w="12700">
            <a:solidFill>
              <a:srgbClr val="3C8D40"/>
            </a:solidFill>
            <a:prstDash val="solid"/>
          </a:ln>
        </p:spPr>
      </p:sp>
      <p:sp>
        <p:nvSpPr>
          <p:cNvPr id="8" name="Deco flower 2"/>
          <p:cNvSpPr/>
          <p:nvPr/>
        </p:nvSpPr>
        <p:spPr>
          <a:xfrm>
            <a:off x="2103120" y="4370832"/>
            <a:ext cx="274320" cy="274320"/>
          </a:xfrm>
          <a:prstGeom prst="flowChartConnector">
            <a:avLst/>
          </a:prstGeom>
          <a:solidFill>
            <a:srgbClr val="B892FF"/>
          </a:solidFill>
          <a:ln w="12700">
            <a:solidFill>
              <a:srgbClr val="B892FF"/>
            </a:solidFill>
            <a:prstDash val="solid"/>
          </a:ln>
        </p:spPr>
      </p:sp>
      <p:sp>
        <p:nvSpPr>
          <p:cNvPr id="9" name="Deco stem 3"/>
          <p:cNvSpPr/>
          <p:nvPr/>
        </p:nvSpPr>
        <p:spPr>
          <a:xfrm>
            <a:off x="6885432" y="4736592"/>
            <a:ext cx="36576" cy="365760"/>
          </a:xfrm>
          <a:prstGeom prst="ellipse">
            <a:avLst/>
          </a:prstGeom>
          <a:solidFill>
            <a:srgbClr val="3C8D40"/>
          </a:solidFill>
          <a:ln w="12700">
            <a:solidFill>
              <a:srgbClr val="3C8D40"/>
            </a:solidFill>
            <a:prstDash val="solid"/>
          </a:ln>
        </p:spPr>
      </p:sp>
      <p:sp>
        <p:nvSpPr>
          <p:cNvPr id="10" name="Deco flower 3"/>
          <p:cNvSpPr/>
          <p:nvPr/>
        </p:nvSpPr>
        <p:spPr>
          <a:xfrm>
            <a:off x="6766560" y="4370832"/>
            <a:ext cx="274320" cy="274320"/>
          </a:xfrm>
          <a:prstGeom prst="flowChartConnector">
            <a:avLst/>
          </a:prstGeom>
          <a:solidFill>
            <a:srgbClr val="FF6F91"/>
          </a:solidFill>
          <a:ln w="12700">
            <a:solidFill>
              <a:srgbClr val="FF6F91"/>
            </a:solidFill>
            <a:prstDash val="solid"/>
          </a:ln>
        </p:spPr>
      </p:sp>
      <p:sp>
        <p:nvSpPr>
          <p:cNvPr id="11" name="Deco stem 4"/>
          <p:cNvSpPr/>
          <p:nvPr/>
        </p:nvSpPr>
        <p:spPr>
          <a:xfrm>
            <a:off x="7708392" y="4736592"/>
            <a:ext cx="36576" cy="365760"/>
          </a:xfrm>
          <a:prstGeom prst="ellipse">
            <a:avLst/>
          </a:prstGeom>
          <a:solidFill>
            <a:srgbClr val="3C8D40"/>
          </a:solidFill>
          <a:ln w="12700">
            <a:solidFill>
              <a:srgbClr val="3C8D40"/>
            </a:solidFill>
            <a:prstDash val="solid"/>
          </a:ln>
        </p:spPr>
      </p:sp>
      <p:sp>
        <p:nvSpPr>
          <p:cNvPr id="12" name="Deco flower 4"/>
          <p:cNvSpPr/>
          <p:nvPr/>
        </p:nvSpPr>
        <p:spPr>
          <a:xfrm>
            <a:off x="7589520" y="4370832"/>
            <a:ext cx="274320" cy="274320"/>
          </a:xfrm>
          <a:prstGeom prst="flowChartConnector">
            <a:avLst/>
          </a:prstGeom>
          <a:solidFill>
            <a:srgbClr val="FFD23F"/>
          </a:solidFill>
          <a:ln w="12700">
            <a:solidFill>
              <a:srgbClr val="FFD23F"/>
            </a:solidFill>
            <a:prstDash val="solid"/>
          </a:ln>
        </p:spPr>
      </p:sp>
      <p:sp>
        <p:nvSpPr>
          <p:cNvPr id="13" name="Deco stem 5"/>
          <p:cNvSpPr/>
          <p:nvPr/>
        </p:nvSpPr>
        <p:spPr>
          <a:xfrm>
            <a:off x="8439912" y="4736592"/>
            <a:ext cx="36576" cy="365760"/>
          </a:xfrm>
          <a:prstGeom prst="ellipse">
            <a:avLst/>
          </a:prstGeom>
          <a:solidFill>
            <a:srgbClr val="3C8D40"/>
          </a:solidFill>
          <a:ln w="12700">
            <a:solidFill>
              <a:srgbClr val="3C8D40"/>
            </a:solidFill>
            <a:prstDash val="solid"/>
          </a:ln>
        </p:spPr>
      </p:sp>
      <p:sp>
        <p:nvSpPr>
          <p:cNvPr id="14" name="Deco flower 5"/>
          <p:cNvSpPr/>
          <p:nvPr/>
        </p:nvSpPr>
        <p:spPr>
          <a:xfrm>
            <a:off x="8321040" y="4370832"/>
            <a:ext cx="274320" cy="274320"/>
          </a:xfrm>
          <a:prstGeom prst="flowChartConnector">
            <a:avLst/>
          </a:prstGeom>
          <a:solidFill>
            <a:srgbClr val="7EC8FF"/>
          </a:solidFill>
          <a:ln w="12700">
            <a:solidFill>
              <a:srgbClr val="7EC8FF"/>
            </a:solidFill>
            <a:prstDash val="solid"/>
          </a:ln>
        </p:spPr>
      </p:sp>
      <p:sp>
        <p:nvSpPr>
          <p:cNvPr id="15" name="Deco heart"/>
          <p:cNvSpPr/>
          <p:nvPr/>
        </p:nvSpPr>
        <p:spPr>
          <a:xfrm>
            <a:off x="411480" y="228600"/>
            <a:ext cx="457200" cy="411480"/>
          </a:xfrm>
          <a:prstGeom prst="heart">
            <a:avLst/>
          </a:prstGeom>
          <a:solidFill>
            <a:srgbClr val="EDDC5E"/>
          </a:solidFill>
          <a:ln w="12700">
            <a:solidFill>
              <a:srgbClr val="EDDC5E"/>
            </a:solidFill>
            <a:prstDash val="solid"/>
          </a:ln>
        </p:spPr>
      </p:sp>
      <p:sp>
        <p:nvSpPr>
          <p:cNvPr id="16" name="Deco cloud"/>
          <p:cNvSpPr/>
          <p:nvPr/>
        </p:nvSpPr>
        <p:spPr>
          <a:xfrm>
            <a:off x="7132320" y="109728"/>
            <a:ext cx="1463040" cy="640080"/>
          </a:xfrm>
          <a:prstGeom prst="cloud">
            <a:avLst/>
          </a:prstGeom>
          <a:solidFill>
            <a:srgbClr val="FFFFFF"/>
          </a:solidFill>
          <a:ln w="12700">
            <a:solidFill>
              <a:srgbClr val="FFFFFF"/>
            </a:solidFill>
            <a:prstDash val="solid"/>
          </a:ln>
        </p:spPr>
      </p:sp>
      <p:sp>
        <p:nvSpPr>
          <p:cNvPr id="17" name="Deco friend"/>
          <p:cNvSpPr/>
          <p:nvPr/>
        </p:nvSpPr>
        <p:spPr>
          <a:xfrm>
            <a:off x="6309360" y="182880"/>
            <a:ext cx="548640" cy="548640"/>
          </a:xfrm>
          <a:prstGeom prst="smileyFace">
            <a:avLst/>
          </a:prstGeom>
          <a:solidFill>
            <a:srgbClr val="FFD166"/>
          </a:solidFill>
          <a:ln w="12700">
            <a:solidFill>
              <a:srgbClr val="FFD166"/>
            </a:solidFill>
            <a:prstDash val="solid"/>
          </a:ln>
        </p:spPr>
      </p:sp>
      <p:sp>
        <p:nvSpPr>
          <p:cNvPr id="18" name="Title box"/>
          <p:cNvSpPr/>
          <p:nvPr/>
        </p:nvSpPr>
        <p:spPr>
          <a:xfrm>
            <a:off x="365760" y="896112"/>
            <a:ext cx="8412480" cy="502920"/>
          </a:xfrm>
          <a:prstGeom prst="roundRect">
            <a:avLst>
              <a:gd name="adj" fmla="val 45455"/>
            </a:avLst>
          </a:prstGeom>
          <a:solidFill>
            <a:srgbClr val="5F3DC4"/>
          </a:solidFill>
          <a:ln w="76200">
            <a:solidFill>
              <a:srgbClr val="5F3DC4"/>
            </a:solidFill>
            <a:prstDash val="solid"/>
          </a:ln>
        </p:spPr>
      </p:sp>
      <p:sp>
        <p:nvSpPr>
          <p:cNvPr id="19"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Practice: Al-Fatiha</a:t>
            </a:r>
            <a:endParaRPr lang="en-US" sz="2200" dirty="0"/>
          </a:p>
        </p:txBody>
      </p:sp>
      <p:sp>
        <p:nvSpPr>
          <p:cNvPr id="20"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21"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22" name="C1 mushaf"/>
          <p:cNvSpPr txBox="1"/>
          <p:nvPr/>
        </p:nvSpPr>
        <p:spPr>
          <a:xfrm>
            <a:off x="4892040" y="1624192"/>
            <a:ext cx="3886200" cy="1353312"/>
          </a:xfrm>
          <a:prstGeom prst="rect">
            <a:avLst/>
          </a:prstGeom>
          <a:noFill/>
          <a:ln/>
        </p:spPr>
        <p:txBody>
          <a:bodyPr wrap="none" lIns="0" tIns="0" rIns="0" bIns="0" rtlCol="0" anchor="ctr"/>
          <a:lstStyle/>
          <a:p>
            <a:pPr algn="ctr" indent="0" marL="0">
              <a:buNone/>
            </a:pPr>
            <a:r>
              <a:rPr lang="ar-SA" altLang="en-US" sz="3900" dirty="0">
                <a:solidFill>
                  <a:srgbClr val="E03131"/>
                </a:solidFill>
                <a:latin typeface="Traditional Arabic" pitchFamily="34" charset="0"/>
                <a:ea typeface="Traditional Arabic" pitchFamily="34" charset="-122"/>
                <a:cs typeface="Traditional Arabic" pitchFamily="34" charset="-120"/>
              </a:rPr>
              <a:t>ٱ</a:t>
            </a:r>
            <a:r>
              <a:rPr lang="ar-SA" altLang="en-US" sz="3900" dirty="0">
                <a:solidFill>
                  <a:srgbClr val="16213E"/>
                </a:solidFill>
                <a:latin typeface="Traditional Arabic" pitchFamily="34" charset="0"/>
                <a:ea typeface="Traditional Arabic" pitchFamily="34" charset="-122"/>
                <a:cs typeface="Traditional Arabic" pitchFamily="34" charset="-120"/>
              </a:rPr>
              <a:t>لرَّحۡمَٰنِ </a:t>
            </a:r>
            <a:r>
              <a:rPr lang="ar-SA" altLang="en-US" sz="3900" dirty="0">
                <a:solidFill>
                  <a:srgbClr val="E03131"/>
                </a:solidFill>
                <a:latin typeface="Traditional Arabic" pitchFamily="34" charset="0"/>
                <a:ea typeface="Traditional Arabic" pitchFamily="34" charset="-122"/>
                <a:cs typeface="Traditional Arabic" pitchFamily="34" charset="-120"/>
              </a:rPr>
              <a:t>ٱ</a:t>
            </a:r>
            <a:r>
              <a:rPr lang="ar-SA" altLang="en-US" sz="3900" dirty="0">
                <a:solidFill>
                  <a:srgbClr val="16213E"/>
                </a:solidFill>
                <a:latin typeface="Traditional Arabic" pitchFamily="34" charset="0"/>
                <a:ea typeface="Traditional Arabic" pitchFamily="34" charset="-122"/>
                <a:cs typeface="Traditional Arabic" pitchFamily="34" charset="-120"/>
              </a:rPr>
              <a:t>لرَّحِيمِ</a:t>
            </a:r>
            <a:endParaRPr lang="ar-SA" sz="3900" dirty="0"/>
          </a:p>
        </p:txBody>
      </p:sp>
      <p:sp>
        <p:nvSpPr>
          <p:cNvPr id="23" name="C2 arrow"/>
          <p:cNvSpPr/>
          <p:nvPr/>
        </p:nvSpPr>
        <p:spPr>
          <a:xfrm>
            <a:off x="4315968" y="2125980"/>
            <a:ext cx="512064" cy="457200"/>
          </a:xfrm>
          <a:prstGeom prst="leftArrow">
            <a:avLst/>
          </a:prstGeom>
          <a:solidFill>
            <a:srgbClr val="A72EB8"/>
          </a:solidFill>
          <a:ln w="12700">
            <a:solidFill>
              <a:srgbClr val="333333"/>
            </a:solidFill>
            <a:prstDash val="solid"/>
          </a:ln>
        </p:spPr>
      </p:sp>
      <p:sp>
        <p:nvSpPr>
          <p:cNvPr id="24" name="C2 read arabic"/>
          <p:cNvSpPr txBox="1"/>
          <p:nvPr/>
        </p:nvSpPr>
        <p:spPr>
          <a:xfrm>
            <a:off x="365760" y="1479829"/>
            <a:ext cx="3886200" cy="981151"/>
          </a:xfrm>
          <a:prstGeom prst="rect">
            <a:avLst/>
          </a:prstGeom>
          <a:noFill/>
          <a:ln/>
        </p:spPr>
        <p:txBody>
          <a:bodyPr wrap="none" lIns="0" tIns="0" rIns="0" bIns="0" rtlCol="0" anchor="ctr"/>
          <a:lstStyle/>
          <a:p>
            <a:pPr algn="ctr" indent="0" marL="0">
              <a:buNone/>
            </a:pPr>
            <a:r>
              <a:rPr lang="ar-SA" altLang="en-US" sz="3100" dirty="0">
                <a:solidFill>
                  <a:srgbClr val="2F9E44"/>
                </a:solidFill>
                <a:latin typeface="Traditional Arabic" pitchFamily="34" charset="0"/>
                <a:ea typeface="Traditional Arabic" pitchFamily="34" charset="-122"/>
                <a:cs typeface="Traditional Arabic" pitchFamily="34" charset="-120"/>
              </a:rPr>
              <a:t>اَ</a:t>
            </a:r>
            <a:r>
              <a:rPr lang="ar-SA" altLang="en-US" sz="3100" dirty="0">
                <a:solidFill>
                  <a:srgbClr val="ADB5BD"/>
                </a:solidFill>
                <a:latin typeface="Traditional Arabic" pitchFamily="34" charset="0"/>
                <a:ea typeface="Traditional Arabic" pitchFamily="34" charset="-122"/>
                <a:cs typeface="Traditional Arabic" pitchFamily="34" charset="-120"/>
              </a:rPr>
              <a:t>ل</a:t>
            </a:r>
            <a:r>
              <a:rPr lang="ar-SA" altLang="en-US" sz="3100" dirty="0">
                <a:solidFill>
                  <a:srgbClr val="16213E"/>
                </a:solidFill>
                <a:latin typeface="Traditional Arabic" pitchFamily="34" charset="0"/>
                <a:ea typeface="Traditional Arabic" pitchFamily="34" charset="-122"/>
                <a:cs typeface="Traditional Arabic" pitchFamily="34" charset="-120"/>
              </a:rPr>
              <a:t>رَّحۡمَٰنِ </a:t>
            </a:r>
            <a:r>
              <a:rPr lang="ar-SA" altLang="en-US" sz="3100" dirty="0">
                <a:solidFill>
                  <a:srgbClr val="ADB5BD"/>
                </a:solidFill>
                <a:latin typeface="Traditional Arabic" pitchFamily="34" charset="0"/>
                <a:ea typeface="Traditional Arabic" pitchFamily="34" charset="-122"/>
                <a:cs typeface="Traditional Arabic" pitchFamily="34" charset="-120"/>
              </a:rPr>
              <a:t>ٱل</a:t>
            </a:r>
            <a:r>
              <a:rPr lang="ar-SA" altLang="en-US" sz="3100" dirty="0">
                <a:solidFill>
                  <a:srgbClr val="16213E"/>
                </a:solidFill>
                <a:latin typeface="Traditional Arabic" pitchFamily="34" charset="0"/>
                <a:ea typeface="Traditional Arabic" pitchFamily="34" charset="-122"/>
                <a:cs typeface="Traditional Arabic" pitchFamily="34" charset="-120"/>
              </a:rPr>
              <a:t>رَّحِيمِ</a:t>
            </a:r>
            <a:endParaRPr lang="ar-SA" sz="3100" dirty="0"/>
          </a:p>
        </p:txBody>
      </p:sp>
      <p:sp>
        <p:nvSpPr>
          <p:cNvPr id="25" name="C2 read sounds"/>
          <p:cNvSpPr txBox="1"/>
          <p:nvPr/>
        </p:nvSpPr>
        <p:spPr>
          <a:xfrm>
            <a:off x="457200" y="2495753"/>
            <a:ext cx="3703320" cy="637337"/>
          </a:xfrm>
          <a:prstGeom prst="rect">
            <a:avLst/>
          </a:prstGeom>
          <a:noFill/>
          <a:ln/>
        </p:spPr>
        <p:txBody>
          <a:bodyPr wrap="none" lIns="0" tIns="0" rIns="0" bIns="0" rtlCol="0" anchor="ctr"/>
          <a:lstStyle/>
          <a:p>
            <a:pPr algn="ctr" indent="0" marL="0">
              <a:buNone/>
            </a:pPr>
            <a:r>
              <a:rPr lang="en-US" sz="2300" b="1" dirty="0">
                <a:solidFill>
                  <a:srgbClr val="D9480F"/>
                </a:solidFill>
                <a:latin typeface="Arial" pitchFamily="34" charset="0"/>
                <a:ea typeface="Arial" pitchFamily="34" charset="-122"/>
                <a:cs typeface="Arial" pitchFamily="34" charset="-120"/>
              </a:rPr>
              <a:t>Ar-rah-maa-nir-ra-heem</a:t>
            </a:r>
            <a:endParaRPr lang="en-US" sz="2300" dirty="0"/>
          </a:p>
        </p:txBody>
      </p:sp>
      <p:sp>
        <p:nvSpPr>
          <p:cNvPr id="26" name="C3 tip box"/>
          <p:cNvSpPr/>
          <p:nvPr/>
        </p:nvSpPr>
        <p:spPr>
          <a:xfrm>
            <a:off x="365760" y="3364992"/>
            <a:ext cx="8412480" cy="841248"/>
          </a:xfrm>
          <a:prstGeom prst="roundRect">
            <a:avLst>
              <a:gd name="adj" fmla="val 27174"/>
            </a:avLst>
          </a:prstGeom>
          <a:solidFill>
            <a:srgbClr val="FFFFFF"/>
          </a:solidFill>
          <a:ln w="76200">
            <a:solidFill>
              <a:srgbClr val="5F3DC4"/>
            </a:solidFill>
            <a:prstDash val="solid"/>
          </a:ln>
        </p:spPr>
      </p:sp>
      <p:sp>
        <p:nvSpPr>
          <p:cNvPr id="27" name="C3 tip"/>
          <p:cNvSpPr txBox="1"/>
          <p:nvPr/>
        </p:nvSpPr>
        <p:spPr>
          <a:xfrm>
            <a:off x="502920" y="3385312"/>
            <a:ext cx="8138160" cy="768096"/>
          </a:xfrm>
          <a:prstGeom prst="rect">
            <a:avLst/>
          </a:prstGeom>
          <a:noFill/>
          <a:ln/>
        </p:spPr>
        <p:txBody>
          <a:bodyPr wrap="none" lIns="0" tIns="0" rIns="0" bIns="0" rtlCol="0" anchor="ctr"/>
          <a:lstStyle/>
          <a:p>
            <a:pPr algn="ctr" indent="0" marL="0">
              <a:buNone/>
            </a:pPr>
            <a:r>
              <a:rPr lang="en-US" sz="1600" dirty="0">
                <a:solidFill>
                  <a:srgbClr val="16213E"/>
                </a:solidFill>
                <a:latin typeface="Arial" pitchFamily="34" charset="0"/>
                <a:ea typeface="Arial" pitchFamily="34" charset="-122"/>
                <a:cs typeface="Arial" pitchFamily="34" charset="-120"/>
              </a:rPr>
              <a:t>Start: 'a'.  Connect: skip.  Raa is a sun letter, so the L is silent both times.</a:t>
            </a:r>
            <a:endParaRPr lang="en-US" sz="1600" dirty="0"/>
          </a:p>
        </p:txBody>
      </p:sp>
    </p:spTree>
  </p:cSld>
  <p:clrMapOvr>
    <a:masterClrMapping/>
  </p:clrMapOvr>
  <p:transition spd="med">
    <p:zoom/>
    <p:sndAc>
      <p:stSnd>
        <p:snd r:embed="rIdTrSnd" name="whoo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35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B43"/>
        </a:solidFill>
      </p:bgPr>
    </p:bg>
    <p:spTree>
      <p:nvGrpSpPr>
        <p:cNvPr id="1" name=""/>
        <p:cNvGrpSpPr/>
        <p:nvPr/>
      </p:nvGrpSpPr>
      <p:grpSpPr>
        <a:xfrm>
          <a:off x="0" y="0"/>
          <a:ext cx="0" cy="0"/>
          <a:chOff x="0" y="0"/>
          <a:chExt cx="0" cy="0"/>
        </a:xfrm>
      </p:grpSpPr>
      <p:sp>
        <p:nvSpPr>
          <p:cNvPr id="2" name="Deco planet"/>
          <p:cNvSpPr/>
          <p:nvPr/>
        </p:nvSpPr>
        <p:spPr>
          <a:xfrm>
            <a:off x="7680960" y="91440"/>
            <a:ext cx="731520" cy="731520"/>
          </a:xfrm>
          <a:prstGeom prst="ellipse">
            <a:avLst/>
          </a:prstGeom>
          <a:solidFill>
            <a:srgbClr val="5252E0"/>
          </a:solidFill>
          <a:ln w="12700">
            <a:solidFill>
              <a:srgbClr val="5252E0"/>
            </a:solidFill>
            <a:prstDash val="solid"/>
          </a:ln>
        </p:spPr>
      </p:sp>
      <p:sp>
        <p:nvSpPr>
          <p:cNvPr id="3" name="Deco planet ring"/>
          <p:cNvSpPr/>
          <p:nvPr/>
        </p:nvSpPr>
        <p:spPr>
          <a:xfrm>
            <a:off x="7452360" y="384048"/>
            <a:ext cx="1188720" cy="164592"/>
          </a:xfrm>
          <a:prstGeom prst="ellipse">
            <a:avLst/>
          </a:prstGeom>
          <a:solidFill>
            <a:srgbClr val="FFFFFF">
              <a:alpha val="0"/>
            </a:srgbClr>
          </a:solidFill>
          <a:ln w="25400">
            <a:solidFill>
              <a:srgbClr val="C08CF2"/>
            </a:solidFill>
            <a:prstDash val="solid"/>
          </a:ln>
        </p:spPr>
      </p:sp>
      <p:sp>
        <p:nvSpPr>
          <p:cNvPr id="4" name="Deco small planet"/>
          <p:cNvSpPr/>
          <p:nvPr/>
        </p:nvSpPr>
        <p:spPr>
          <a:xfrm>
            <a:off x="274320" y="182880"/>
            <a:ext cx="502920" cy="502920"/>
          </a:xfrm>
          <a:prstGeom prst="ellipse">
            <a:avLst/>
          </a:prstGeom>
          <a:solidFill>
            <a:srgbClr val="DBA670"/>
          </a:solidFill>
          <a:ln w="12700">
            <a:solidFill>
              <a:srgbClr val="DBA670"/>
            </a:solidFill>
            <a:prstDash val="solid"/>
          </a:ln>
        </p:spPr>
      </p:sp>
      <p:sp>
        <p:nvSpPr>
          <p:cNvPr id="5" name="Deco star 0"/>
          <p:cNvSpPr/>
          <p:nvPr/>
        </p:nvSpPr>
        <p:spPr>
          <a:xfrm>
            <a:off x="1371600" y="274320"/>
            <a:ext cx="256032" cy="256032"/>
          </a:xfrm>
          <a:prstGeom prst="star5">
            <a:avLst/>
          </a:prstGeom>
          <a:solidFill>
            <a:srgbClr val="FFE066"/>
          </a:solidFill>
          <a:ln w="12700">
            <a:solidFill>
              <a:srgbClr val="FFE066"/>
            </a:solidFill>
            <a:prstDash val="solid"/>
          </a:ln>
        </p:spPr>
      </p:sp>
      <p:sp>
        <p:nvSpPr>
          <p:cNvPr id="6" name="Deco star 1"/>
          <p:cNvSpPr/>
          <p:nvPr/>
        </p:nvSpPr>
        <p:spPr>
          <a:xfrm>
            <a:off x="2468880" y="91440"/>
            <a:ext cx="256032" cy="256032"/>
          </a:xfrm>
          <a:prstGeom prst="star4">
            <a:avLst/>
          </a:prstGeom>
          <a:solidFill>
            <a:srgbClr val="FFFFFF"/>
          </a:solidFill>
          <a:ln w="12700">
            <a:solidFill>
              <a:srgbClr val="FFFFFF"/>
            </a:solidFill>
            <a:prstDash val="solid"/>
          </a:ln>
        </p:spPr>
      </p:sp>
      <p:sp>
        <p:nvSpPr>
          <p:cNvPr id="7" name="Deco star 2"/>
          <p:cNvSpPr/>
          <p:nvPr/>
        </p:nvSpPr>
        <p:spPr>
          <a:xfrm>
            <a:off x="3840480" y="502920"/>
            <a:ext cx="256032" cy="256032"/>
          </a:xfrm>
          <a:prstGeom prst="star5">
            <a:avLst/>
          </a:prstGeom>
          <a:solidFill>
            <a:srgbClr val="FFFFFF"/>
          </a:solidFill>
          <a:ln w="12700">
            <a:solidFill>
              <a:srgbClr val="FFFFFF"/>
            </a:solidFill>
            <a:prstDash val="solid"/>
          </a:ln>
        </p:spPr>
      </p:sp>
      <p:sp>
        <p:nvSpPr>
          <p:cNvPr id="8" name="Deco star 3"/>
          <p:cNvSpPr/>
          <p:nvPr/>
        </p:nvSpPr>
        <p:spPr>
          <a:xfrm>
            <a:off x="5120640" y="137160"/>
            <a:ext cx="256032" cy="256032"/>
          </a:xfrm>
          <a:prstGeom prst="star4">
            <a:avLst/>
          </a:prstGeom>
          <a:solidFill>
            <a:srgbClr val="FFE066"/>
          </a:solidFill>
          <a:ln w="12700">
            <a:solidFill>
              <a:srgbClr val="FFE066"/>
            </a:solidFill>
            <a:prstDash val="solid"/>
          </a:ln>
        </p:spPr>
      </p:sp>
      <p:sp>
        <p:nvSpPr>
          <p:cNvPr id="9" name="Deco star 4"/>
          <p:cNvSpPr/>
          <p:nvPr/>
        </p:nvSpPr>
        <p:spPr>
          <a:xfrm>
            <a:off x="6583680" y="457200"/>
            <a:ext cx="256032" cy="256032"/>
          </a:xfrm>
          <a:prstGeom prst="star5">
            <a:avLst/>
          </a:prstGeom>
          <a:solidFill>
            <a:srgbClr val="FFFFFF"/>
          </a:solidFill>
          <a:ln w="12700">
            <a:solidFill>
              <a:srgbClr val="FFFFFF"/>
            </a:solidFill>
            <a:prstDash val="solid"/>
          </a:ln>
        </p:spPr>
      </p:sp>
      <p:sp>
        <p:nvSpPr>
          <p:cNvPr id="10" name="Deco star 5"/>
          <p:cNvSpPr/>
          <p:nvPr/>
        </p:nvSpPr>
        <p:spPr>
          <a:xfrm>
            <a:off x="1097280" y="4572000"/>
            <a:ext cx="256032" cy="256032"/>
          </a:xfrm>
          <a:prstGeom prst="star4">
            <a:avLst/>
          </a:prstGeom>
          <a:solidFill>
            <a:srgbClr val="FFFFFF"/>
          </a:solidFill>
          <a:ln w="12700">
            <a:solidFill>
              <a:srgbClr val="FFFFFF"/>
            </a:solidFill>
            <a:prstDash val="solid"/>
          </a:ln>
        </p:spPr>
      </p:sp>
      <p:sp>
        <p:nvSpPr>
          <p:cNvPr id="11" name="Deco star 6"/>
          <p:cNvSpPr/>
          <p:nvPr/>
        </p:nvSpPr>
        <p:spPr>
          <a:xfrm>
            <a:off x="2743200" y="4754880"/>
            <a:ext cx="256032" cy="256032"/>
          </a:xfrm>
          <a:prstGeom prst="star5">
            <a:avLst/>
          </a:prstGeom>
          <a:solidFill>
            <a:srgbClr val="FFE066"/>
          </a:solidFill>
          <a:ln w="12700">
            <a:solidFill>
              <a:srgbClr val="FFE066"/>
            </a:solidFill>
            <a:prstDash val="solid"/>
          </a:ln>
        </p:spPr>
      </p:sp>
      <p:sp>
        <p:nvSpPr>
          <p:cNvPr id="12" name="Deco star 7"/>
          <p:cNvSpPr/>
          <p:nvPr/>
        </p:nvSpPr>
        <p:spPr>
          <a:xfrm>
            <a:off x="6217920" y="4663440"/>
            <a:ext cx="256032" cy="256032"/>
          </a:xfrm>
          <a:prstGeom prst="star4">
            <a:avLst/>
          </a:prstGeom>
          <a:solidFill>
            <a:srgbClr val="FFFFFF"/>
          </a:solidFill>
          <a:ln w="12700">
            <a:solidFill>
              <a:srgbClr val="FFFFFF"/>
            </a:solidFill>
            <a:prstDash val="solid"/>
          </a:ln>
        </p:spPr>
      </p:sp>
      <p:sp>
        <p:nvSpPr>
          <p:cNvPr id="13" name="Deco star 8"/>
          <p:cNvSpPr/>
          <p:nvPr/>
        </p:nvSpPr>
        <p:spPr>
          <a:xfrm>
            <a:off x="8138160" y="4572000"/>
            <a:ext cx="256032" cy="256032"/>
          </a:xfrm>
          <a:prstGeom prst="star5">
            <a:avLst/>
          </a:prstGeom>
          <a:solidFill>
            <a:srgbClr val="FFFFFF"/>
          </a:solidFill>
          <a:ln w="12700">
            <a:solidFill>
              <a:srgbClr val="FFFFFF"/>
            </a:solidFill>
            <a:prstDash val="solid"/>
          </a:ln>
        </p:spPr>
      </p:sp>
      <p:sp>
        <p:nvSpPr>
          <p:cNvPr id="14" name="Deco moon surface"/>
          <p:cNvSpPr/>
          <p:nvPr/>
        </p:nvSpPr>
        <p:spPr>
          <a:xfrm>
            <a:off x="3200400" y="4709160"/>
            <a:ext cx="2743200" cy="1097280"/>
          </a:xfrm>
          <a:prstGeom prst="ellipse">
            <a:avLst/>
          </a:prstGeom>
          <a:solidFill>
            <a:srgbClr val="518547"/>
          </a:solidFill>
          <a:ln w="12700">
            <a:solidFill>
              <a:srgbClr val="518547"/>
            </a:solidFill>
            <a:prstDash val="solid"/>
          </a:ln>
        </p:spPr>
      </p:sp>
      <p:sp>
        <p:nvSpPr>
          <p:cNvPr id="15" name="Title box"/>
          <p:cNvSpPr/>
          <p:nvPr/>
        </p:nvSpPr>
        <p:spPr>
          <a:xfrm>
            <a:off x="365760" y="896112"/>
            <a:ext cx="8412480" cy="502920"/>
          </a:xfrm>
          <a:prstGeom prst="roundRect">
            <a:avLst>
              <a:gd name="adj" fmla="val 45455"/>
            </a:avLst>
          </a:prstGeom>
          <a:solidFill>
            <a:srgbClr val="5F3DC4"/>
          </a:solidFill>
          <a:ln w="76200">
            <a:solidFill>
              <a:srgbClr val="5F3DC4"/>
            </a:solidFill>
            <a:prstDash val="solid"/>
          </a:ln>
        </p:spPr>
      </p:sp>
      <p:sp>
        <p:nvSpPr>
          <p:cNvPr id="16"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Practice: Al-Fatiha</a:t>
            </a:r>
            <a:endParaRPr lang="en-US" sz="2200" dirty="0"/>
          </a:p>
        </p:txBody>
      </p:sp>
      <p:sp>
        <p:nvSpPr>
          <p:cNvPr id="17"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8"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9" name="C1 mushaf"/>
          <p:cNvSpPr txBox="1"/>
          <p:nvPr/>
        </p:nvSpPr>
        <p:spPr>
          <a:xfrm>
            <a:off x="4892040" y="1635883"/>
            <a:ext cx="3886200" cy="1353312"/>
          </a:xfrm>
          <a:prstGeom prst="rect">
            <a:avLst/>
          </a:prstGeom>
          <a:noFill/>
          <a:ln/>
        </p:spPr>
        <p:txBody>
          <a:bodyPr wrap="none" lIns="0" tIns="0" rIns="0" bIns="0" rtlCol="0" anchor="ctr"/>
          <a:lstStyle/>
          <a:p>
            <a:pPr algn="ctr" indent="0" marL="0">
              <a:buNone/>
            </a:pPr>
            <a:r>
              <a:rPr lang="ar-SA" altLang="en-US" sz="4300" dirty="0">
                <a:solidFill>
                  <a:srgbClr val="16213E"/>
                </a:solidFill>
                <a:latin typeface="Traditional Arabic" pitchFamily="34" charset="0"/>
                <a:ea typeface="Traditional Arabic" pitchFamily="34" charset="-122"/>
                <a:cs typeface="Traditional Arabic" pitchFamily="34" charset="-120"/>
              </a:rPr>
              <a:t>مَٰلِكِ يَوۡمِ </a:t>
            </a:r>
            <a:r>
              <a:rPr lang="ar-SA" altLang="en-US" sz="4300" dirty="0">
                <a:solidFill>
                  <a:srgbClr val="E03131"/>
                </a:solidFill>
                <a:latin typeface="Traditional Arabic" pitchFamily="34" charset="0"/>
                <a:ea typeface="Traditional Arabic" pitchFamily="34" charset="-122"/>
                <a:cs typeface="Traditional Arabic" pitchFamily="34" charset="-120"/>
              </a:rPr>
              <a:t>ٱ</a:t>
            </a:r>
            <a:r>
              <a:rPr lang="ar-SA" altLang="en-US" sz="4300" dirty="0">
                <a:solidFill>
                  <a:srgbClr val="16213E"/>
                </a:solidFill>
                <a:latin typeface="Traditional Arabic" pitchFamily="34" charset="0"/>
                <a:ea typeface="Traditional Arabic" pitchFamily="34" charset="-122"/>
                <a:cs typeface="Traditional Arabic" pitchFamily="34" charset="-120"/>
              </a:rPr>
              <a:t>لدِّينِ</a:t>
            </a:r>
            <a:endParaRPr lang="ar-SA" sz="4300" dirty="0"/>
          </a:p>
        </p:txBody>
      </p:sp>
      <p:sp>
        <p:nvSpPr>
          <p:cNvPr id="20" name="C2 arrow"/>
          <p:cNvSpPr/>
          <p:nvPr/>
        </p:nvSpPr>
        <p:spPr>
          <a:xfrm>
            <a:off x="4315968" y="2125980"/>
            <a:ext cx="512064" cy="457200"/>
          </a:xfrm>
          <a:prstGeom prst="leftArrow">
            <a:avLst/>
          </a:prstGeom>
          <a:solidFill>
            <a:srgbClr val="A0B82E"/>
          </a:solidFill>
          <a:ln w="12700">
            <a:solidFill>
              <a:srgbClr val="333333"/>
            </a:solidFill>
            <a:prstDash val="solid"/>
          </a:ln>
        </p:spPr>
      </p:sp>
      <p:sp>
        <p:nvSpPr>
          <p:cNvPr id="21" name="C2 read arabic"/>
          <p:cNvSpPr txBox="1"/>
          <p:nvPr/>
        </p:nvSpPr>
        <p:spPr>
          <a:xfrm>
            <a:off x="365760" y="1478451"/>
            <a:ext cx="3886200" cy="981151"/>
          </a:xfrm>
          <a:prstGeom prst="rect">
            <a:avLst/>
          </a:prstGeom>
          <a:noFill/>
          <a:ln/>
        </p:spPr>
        <p:txBody>
          <a:bodyPr wrap="none" lIns="0" tIns="0" rIns="0" bIns="0" rtlCol="0" anchor="ctr"/>
          <a:lstStyle/>
          <a:p>
            <a:pPr algn="ctr" indent="0" marL="0">
              <a:buNone/>
            </a:pPr>
            <a:r>
              <a:rPr lang="ar-SA" altLang="en-US" sz="3100" dirty="0">
                <a:solidFill>
                  <a:srgbClr val="16213E"/>
                </a:solidFill>
                <a:latin typeface="Traditional Arabic" pitchFamily="34" charset="0"/>
                <a:ea typeface="Traditional Arabic" pitchFamily="34" charset="-122"/>
                <a:cs typeface="Traditional Arabic" pitchFamily="34" charset="-120"/>
              </a:rPr>
              <a:t>مَٰلِكِ يَوۡمِ </a:t>
            </a:r>
            <a:r>
              <a:rPr lang="ar-SA" altLang="en-US" sz="3100" dirty="0">
                <a:solidFill>
                  <a:srgbClr val="ADB5BD"/>
                </a:solidFill>
                <a:latin typeface="Traditional Arabic" pitchFamily="34" charset="0"/>
                <a:ea typeface="Traditional Arabic" pitchFamily="34" charset="-122"/>
                <a:cs typeface="Traditional Arabic" pitchFamily="34" charset="-120"/>
              </a:rPr>
              <a:t>ٱل</a:t>
            </a:r>
            <a:r>
              <a:rPr lang="ar-SA" altLang="en-US" sz="3100" dirty="0">
                <a:solidFill>
                  <a:srgbClr val="16213E"/>
                </a:solidFill>
                <a:latin typeface="Traditional Arabic" pitchFamily="34" charset="0"/>
                <a:ea typeface="Traditional Arabic" pitchFamily="34" charset="-122"/>
                <a:cs typeface="Traditional Arabic" pitchFamily="34" charset="-120"/>
              </a:rPr>
              <a:t>دِّينِ</a:t>
            </a:r>
            <a:endParaRPr lang="ar-SA" sz="3100" dirty="0"/>
          </a:p>
        </p:txBody>
      </p:sp>
      <p:sp>
        <p:nvSpPr>
          <p:cNvPr id="22" name="C2 read sounds"/>
          <p:cNvSpPr txBox="1"/>
          <p:nvPr/>
        </p:nvSpPr>
        <p:spPr>
          <a:xfrm>
            <a:off x="457200" y="2466543"/>
            <a:ext cx="3703320" cy="637337"/>
          </a:xfrm>
          <a:prstGeom prst="rect">
            <a:avLst/>
          </a:prstGeom>
          <a:noFill/>
          <a:ln/>
        </p:spPr>
        <p:txBody>
          <a:bodyPr wrap="none" lIns="0" tIns="0" rIns="0" bIns="0" rtlCol="0" anchor="ctr"/>
          <a:lstStyle/>
          <a:p>
            <a:pPr algn="ctr" indent="0" marL="0">
              <a:buNone/>
            </a:pPr>
            <a:r>
              <a:rPr lang="en-US" sz="2300" b="1" dirty="0">
                <a:solidFill>
                  <a:srgbClr val="D9480F"/>
                </a:solidFill>
                <a:latin typeface="Arial" pitchFamily="34" charset="0"/>
                <a:ea typeface="Arial" pitchFamily="34" charset="-122"/>
                <a:cs typeface="Arial" pitchFamily="34" charset="-120"/>
              </a:rPr>
              <a:t>Maa-li-ki yaw-mid-deen</a:t>
            </a:r>
            <a:endParaRPr lang="en-US" sz="2300" dirty="0"/>
          </a:p>
        </p:txBody>
      </p:sp>
      <p:sp>
        <p:nvSpPr>
          <p:cNvPr id="23" name="C3 tip box"/>
          <p:cNvSpPr/>
          <p:nvPr/>
        </p:nvSpPr>
        <p:spPr>
          <a:xfrm>
            <a:off x="365760" y="3364992"/>
            <a:ext cx="8412480" cy="841248"/>
          </a:xfrm>
          <a:prstGeom prst="roundRect">
            <a:avLst>
              <a:gd name="adj" fmla="val 27174"/>
            </a:avLst>
          </a:prstGeom>
          <a:solidFill>
            <a:srgbClr val="FFFFFF"/>
          </a:solidFill>
          <a:ln w="76200">
            <a:solidFill>
              <a:srgbClr val="5F3DC4"/>
            </a:solidFill>
            <a:prstDash val="solid"/>
          </a:ln>
        </p:spPr>
      </p:sp>
      <p:sp>
        <p:nvSpPr>
          <p:cNvPr id="24" name="C3 tip"/>
          <p:cNvSpPr txBox="1"/>
          <p:nvPr/>
        </p:nvSpPr>
        <p:spPr>
          <a:xfrm>
            <a:off x="502920" y="3381248"/>
            <a:ext cx="8138160" cy="768096"/>
          </a:xfrm>
          <a:prstGeom prst="rect">
            <a:avLst/>
          </a:prstGeom>
          <a:noFill/>
          <a:ln/>
        </p:spPr>
        <p:txBody>
          <a:bodyPr wrap="none" lIns="0" tIns="0" rIns="0" bIns="0" rtlCol="0" anchor="ctr"/>
          <a:lstStyle/>
          <a:p>
            <a:pPr algn="ctr" indent="0" marL="0">
              <a:buNone/>
            </a:pPr>
            <a:r>
              <a:rPr lang="en-US" sz="2000" dirty="0">
                <a:solidFill>
                  <a:srgbClr val="16213E"/>
                </a:solidFill>
                <a:latin typeface="Arial" pitchFamily="34" charset="0"/>
                <a:ea typeface="Arial" pitchFamily="34" charset="-122"/>
                <a:cs typeface="Arial" pitchFamily="34" charset="-120"/>
              </a:rPr>
              <a:t>Connect: the kasrah of meem runs into the daal (a sun letter).</a:t>
            </a:r>
            <a:endParaRPr lang="en-US" sz="2000" dirty="0"/>
          </a:p>
        </p:txBody>
      </p:sp>
    </p:spTree>
  </p:cSld>
  <p:clrMapOvr>
    <a:masterClrMapping/>
  </p:clrMapOvr>
  <p:transition spd="med">
    <p:wheel spokes="4"/>
    <p:sndAc>
      <p:stSnd>
        <p:snd r:embed="rIdTrSnd" name="bubbles.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C5CF"/>
        </a:solidFill>
      </p:bgPr>
    </p:bg>
    <p:spTree>
      <p:nvGrpSpPr>
        <p:cNvPr id="1" name=""/>
        <p:cNvGrpSpPr/>
        <p:nvPr/>
      </p:nvGrpSpPr>
      <p:grpSpPr>
        <a:xfrm>
          <a:off x="0" y="0"/>
          <a:ext cx="0" cy="0"/>
          <a:chOff x="0" y="0"/>
          <a:chExt cx="0" cy="0"/>
        </a:xfrm>
      </p:grpSpPr>
      <p:sp>
        <p:nvSpPr>
          <p:cNvPr id="2" name="Deco sun low"/>
          <p:cNvSpPr/>
          <p:nvPr/>
        </p:nvSpPr>
        <p:spPr>
          <a:xfrm>
            <a:off x="3566160" y="4343400"/>
            <a:ext cx="2011680" cy="2011680"/>
          </a:xfrm>
          <a:prstGeom prst="ellipse">
            <a:avLst/>
          </a:prstGeom>
          <a:solidFill>
            <a:srgbClr val="FFB347"/>
          </a:solidFill>
          <a:ln w="12700">
            <a:solidFill>
              <a:srgbClr val="FFB347"/>
            </a:solidFill>
            <a:prstDash val="solid"/>
          </a:ln>
        </p:spPr>
      </p:sp>
      <p:sp>
        <p:nvSpPr>
          <p:cNvPr id="3" name="Deco dune left"/>
          <p:cNvSpPr/>
          <p:nvPr/>
        </p:nvSpPr>
        <p:spPr>
          <a:xfrm>
            <a:off x="-1097280" y="4572000"/>
            <a:ext cx="4572000" cy="1280160"/>
          </a:xfrm>
          <a:prstGeom prst="ellipse">
            <a:avLst/>
          </a:prstGeom>
          <a:solidFill>
            <a:srgbClr val="D87D64"/>
          </a:solidFill>
          <a:ln w="12700">
            <a:solidFill>
              <a:srgbClr val="D87D64"/>
            </a:solidFill>
            <a:prstDash val="solid"/>
          </a:ln>
        </p:spPr>
      </p:sp>
      <p:sp>
        <p:nvSpPr>
          <p:cNvPr id="4" name="Deco dune right"/>
          <p:cNvSpPr/>
          <p:nvPr/>
        </p:nvSpPr>
        <p:spPr>
          <a:xfrm>
            <a:off x="5303520" y="4617720"/>
            <a:ext cx="5120640" cy="1280160"/>
          </a:xfrm>
          <a:prstGeom prst="ellipse">
            <a:avLst/>
          </a:prstGeom>
          <a:solidFill>
            <a:srgbClr val="D14E47"/>
          </a:solidFill>
          <a:ln w="12700">
            <a:solidFill>
              <a:srgbClr val="D14E47"/>
            </a:solidFill>
            <a:prstDash val="solid"/>
          </a:ln>
        </p:spPr>
      </p:sp>
      <p:sp>
        <p:nvSpPr>
          <p:cNvPr id="5" name="Deco cloud"/>
          <p:cNvSpPr/>
          <p:nvPr/>
        </p:nvSpPr>
        <p:spPr>
          <a:xfrm>
            <a:off x="320040" y="137160"/>
            <a:ext cx="1371600" cy="594360"/>
          </a:xfrm>
          <a:prstGeom prst="cloud">
            <a:avLst/>
          </a:prstGeom>
          <a:solidFill>
            <a:srgbClr val="FFFFFF"/>
          </a:solidFill>
          <a:ln w="12700">
            <a:solidFill>
              <a:srgbClr val="FFFFFF"/>
            </a:solidFill>
            <a:prstDash val="solid"/>
          </a:ln>
        </p:spPr>
      </p:sp>
      <p:sp>
        <p:nvSpPr>
          <p:cNvPr id="6" name="Deco cloud right"/>
          <p:cNvSpPr/>
          <p:nvPr/>
        </p:nvSpPr>
        <p:spPr>
          <a:xfrm>
            <a:off x="7223760" y="182880"/>
            <a:ext cx="1280160" cy="548640"/>
          </a:xfrm>
          <a:prstGeom prst="cloud">
            <a:avLst/>
          </a:prstGeom>
          <a:solidFill>
            <a:srgbClr val="FFF3E8"/>
          </a:solidFill>
          <a:ln w="12700">
            <a:solidFill>
              <a:srgbClr val="FFF3E8"/>
            </a:solidFill>
            <a:prstDash val="solid"/>
          </a:ln>
        </p:spPr>
      </p:sp>
      <p:sp>
        <p:nvSpPr>
          <p:cNvPr id="7" name="Deco bird 0"/>
          <p:cNvSpPr/>
          <p:nvPr/>
        </p:nvSpPr>
        <p:spPr>
          <a:xfrm rot="5400000">
            <a:off x="2926080" y="320040"/>
            <a:ext cx="274320" cy="128016"/>
          </a:xfrm>
          <a:prstGeom prst="chevron">
            <a:avLst/>
          </a:prstGeom>
          <a:solidFill>
            <a:srgbClr val="6B4A3A"/>
          </a:solidFill>
          <a:ln w="12700">
            <a:solidFill>
              <a:srgbClr val="6B4A3A"/>
            </a:solidFill>
            <a:prstDash val="solid"/>
          </a:ln>
        </p:spPr>
      </p:sp>
      <p:sp>
        <p:nvSpPr>
          <p:cNvPr id="8" name="Deco bird 1"/>
          <p:cNvSpPr/>
          <p:nvPr/>
        </p:nvSpPr>
        <p:spPr>
          <a:xfrm rot="5400000">
            <a:off x="3291840" y="228600"/>
            <a:ext cx="274320" cy="128016"/>
          </a:xfrm>
          <a:prstGeom prst="chevron">
            <a:avLst/>
          </a:prstGeom>
          <a:solidFill>
            <a:srgbClr val="6B4A3A"/>
          </a:solidFill>
          <a:ln w="12700">
            <a:solidFill>
              <a:srgbClr val="6B4A3A"/>
            </a:solidFill>
            <a:prstDash val="solid"/>
          </a:ln>
        </p:spPr>
      </p:sp>
      <p:sp>
        <p:nvSpPr>
          <p:cNvPr id="9" name="Deco bird 2"/>
          <p:cNvSpPr/>
          <p:nvPr/>
        </p:nvSpPr>
        <p:spPr>
          <a:xfrm rot="5400000">
            <a:off x="5394960" y="365760"/>
            <a:ext cx="274320" cy="128016"/>
          </a:xfrm>
          <a:prstGeom prst="chevron">
            <a:avLst/>
          </a:prstGeom>
          <a:solidFill>
            <a:srgbClr val="6B4A3A"/>
          </a:solidFill>
          <a:ln w="12700">
            <a:solidFill>
              <a:srgbClr val="6B4A3A"/>
            </a:solidFill>
            <a:prstDash val="solid"/>
          </a:ln>
        </p:spPr>
      </p:sp>
      <p:sp>
        <p:nvSpPr>
          <p:cNvPr id="10" name="Title box"/>
          <p:cNvSpPr/>
          <p:nvPr/>
        </p:nvSpPr>
        <p:spPr>
          <a:xfrm>
            <a:off x="365760" y="896112"/>
            <a:ext cx="8412480" cy="502920"/>
          </a:xfrm>
          <a:prstGeom prst="roundRect">
            <a:avLst>
              <a:gd name="adj" fmla="val 45455"/>
            </a:avLst>
          </a:prstGeom>
          <a:solidFill>
            <a:srgbClr val="5F3DC4"/>
          </a:solidFill>
          <a:ln w="76200">
            <a:solidFill>
              <a:srgbClr val="5F3DC4"/>
            </a:solidFill>
            <a:prstDash val="solid"/>
          </a:ln>
        </p:spPr>
      </p:sp>
      <p:sp>
        <p:nvSpPr>
          <p:cNvPr id="11" name="Title"/>
          <p:cNvSpPr txBox="1"/>
          <p:nvPr/>
        </p:nvSpPr>
        <p:spPr>
          <a:xfrm>
            <a:off x="365760" y="901700"/>
            <a:ext cx="8412480" cy="502920"/>
          </a:xfrm>
          <a:prstGeom prst="rect">
            <a:avLst/>
          </a:prstGeom>
          <a:noFill/>
          <a:ln/>
        </p:spPr>
        <p:txBody>
          <a:bodyPr wrap="non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Practice: Al-Fatiha</a:t>
            </a:r>
            <a:endParaRPr lang="en-US" sz="2200" dirty="0"/>
          </a:p>
        </p:txBody>
      </p:sp>
      <p:sp>
        <p:nvSpPr>
          <p:cNvPr id="12" name="Mushaf panel"/>
          <p:cNvSpPr/>
          <p:nvPr/>
        </p:nvSpPr>
        <p:spPr>
          <a:xfrm>
            <a:off x="4892040" y="1508760"/>
            <a:ext cx="3886200" cy="1691640"/>
          </a:xfrm>
          <a:prstGeom prst="roundRect">
            <a:avLst>
              <a:gd name="adj" fmla="val 13514"/>
            </a:avLst>
          </a:prstGeom>
          <a:solidFill>
            <a:srgbClr val="FFFFFF"/>
          </a:solidFill>
          <a:ln w="76200">
            <a:solidFill>
              <a:srgbClr val="2F9E44"/>
            </a:solidFill>
            <a:prstDash val="solid"/>
          </a:ln>
        </p:spPr>
      </p:sp>
      <p:sp>
        <p:nvSpPr>
          <p:cNvPr id="13" name="Read panel"/>
          <p:cNvSpPr/>
          <p:nvPr/>
        </p:nvSpPr>
        <p:spPr>
          <a:xfrm>
            <a:off x="365760" y="1508760"/>
            <a:ext cx="3886200" cy="1691640"/>
          </a:xfrm>
          <a:prstGeom prst="roundRect">
            <a:avLst>
              <a:gd name="adj" fmla="val 13514"/>
            </a:avLst>
          </a:prstGeom>
          <a:solidFill>
            <a:srgbClr val="FFFBE3"/>
          </a:solidFill>
          <a:ln w="76200">
            <a:solidFill>
              <a:srgbClr val="F2B134"/>
            </a:solidFill>
            <a:prstDash val="solid"/>
          </a:ln>
        </p:spPr>
      </p:sp>
      <p:sp>
        <p:nvSpPr>
          <p:cNvPr id="14" name="C1 mushaf"/>
          <p:cNvSpPr txBox="1"/>
          <p:nvPr/>
        </p:nvSpPr>
        <p:spPr>
          <a:xfrm>
            <a:off x="4892040" y="1674114"/>
            <a:ext cx="3886200" cy="1353312"/>
          </a:xfrm>
          <a:prstGeom prst="rect">
            <a:avLst/>
          </a:prstGeom>
          <a:noFill/>
          <a:ln/>
        </p:spPr>
        <p:txBody>
          <a:bodyPr wrap="none" lIns="0" tIns="0" rIns="0" bIns="0" rtlCol="0" anchor="ctr"/>
          <a:lstStyle/>
          <a:p>
            <a:pPr algn="ctr" indent="0" marL="0">
              <a:buNone/>
            </a:pPr>
            <a:r>
              <a:rPr lang="ar-SA" altLang="en-US" sz="2500" dirty="0">
                <a:solidFill>
                  <a:srgbClr val="E03131"/>
                </a:solidFill>
                <a:latin typeface="Traditional Arabic" pitchFamily="34" charset="0"/>
                <a:ea typeface="Traditional Arabic" pitchFamily="34" charset="-122"/>
                <a:cs typeface="Traditional Arabic" pitchFamily="34" charset="-120"/>
              </a:rPr>
              <a:t>ٱ</a:t>
            </a:r>
            <a:r>
              <a:rPr lang="ar-SA" altLang="en-US" sz="2500" dirty="0">
                <a:solidFill>
                  <a:srgbClr val="16213E"/>
                </a:solidFill>
                <a:latin typeface="Traditional Arabic" pitchFamily="34" charset="0"/>
                <a:ea typeface="Traditional Arabic" pitchFamily="34" charset="-122"/>
                <a:cs typeface="Traditional Arabic" pitchFamily="34" charset="-120"/>
              </a:rPr>
              <a:t>هۡدِنَا </a:t>
            </a:r>
            <a:r>
              <a:rPr lang="ar-SA" altLang="en-US" sz="2500" dirty="0">
                <a:solidFill>
                  <a:srgbClr val="E03131"/>
                </a:solidFill>
                <a:latin typeface="Traditional Arabic" pitchFamily="34" charset="0"/>
                <a:ea typeface="Traditional Arabic" pitchFamily="34" charset="-122"/>
                <a:cs typeface="Traditional Arabic" pitchFamily="34" charset="-120"/>
              </a:rPr>
              <a:t>ٱ</a:t>
            </a:r>
            <a:r>
              <a:rPr lang="ar-SA" altLang="en-US" sz="2500" dirty="0">
                <a:solidFill>
                  <a:srgbClr val="16213E"/>
                </a:solidFill>
                <a:latin typeface="Traditional Arabic" pitchFamily="34" charset="0"/>
                <a:ea typeface="Traditional Arabic" pitchFamily="34" charset="-122"/>
                <a:cs typeface="Traditional Arabic" pitchFamily="34" charset="-120"/>
              </a:rPr>
              <a:t>لصِّرَٰطَ </a:t>
            </a:r>
            <a:r>
              <a:rPr lang="ar-SA" altLang="en-US" sz="2500" dirty="0">
                <a:solidFill>
                  <a:srgbClr val="E03131"/>
                </a:solidFill>
                <a:latin typeface="Traditional Arabic" pitchFamily="34" charset="0"/>
                <a:ea typeface="Traditional Arabic" pitchFamily="34" charset="-122"/>
                <a:cs typeface="Traditional Arabic" pitchFamily="34" charset="-120"/>
              </a:rPr>
              <a:t>ٱ</a:t>
            </a:r>
            <a:r>
              <a:rPr lang="ar-SA" altLang="en-US" sz="2500" dirty="0">
                <a:solidFill>
                  <a:srgbClr val="16213E"/>
                </a:solidFill>
                <a:latin typeface="Traditional Arabic" pitchFamily="34" charset="0"/>
                <a:ea typeface="Traditional Arabic" pitchFamily="34" charset="-122"/>
                <a:cs typeface="Traditional Arabic" pitchFamily="34" charset="-120"/>
              </a:rPr>
              <a:t>لۡمُسۡتَقِيمَ</a:t>
            </a:r>
            <a:endParaRPr lang="ar-SA" sz="2500" dirty="0"/>
          </a:p>
        </p:txBody>
      </p:sp>
      <p:sp>
        <p:nvSpPr>
          <p:cNvPr id="15" name="C2 arrow"/>
          <p:cNvSpPr/>
          <p:nvPr/>
        </p:nvSpPr>
        <p:spPr>
          <a:xfrm>
            <a:off x="4315968" y="2125980"/>
            <a:ext cx="512064" cy="457200"/>
          </a:xfrm>
          <a:prstGeom prst="leftArrow">
            <a:avLst/>
          </a:prstGeom>
          <a:solidFill>
            <a:srgbClr val="2E78B8"/>
          </a:solidFill>
          <a:ln w="12700">
            <a:solidFill>
              <a:srgbClr val="333333"/>
            </a:solidFill>
            <a:prstDash val="solid"/>
          </a:ln>
        </p:spPr>
      </p:sp>
      <p:sp>
        <p:nvSpPr>
          <p:cNvPr id="16" name="C2 read arabic"/>
          <p:cNvSpPr txBox="1"/>
          <p:nvPr/>
        </p:nvSpPr>
        <p:spPr>
          <a:xfrm>
            <a:off x="365760" y="1505102"/>
            <a:ext cx="3886200" cy="981151"/>
          </a:xfrm>
          <a:prstGeom prst="rect">
            <a:avLst/>
          </a:prstGeom>
          <a:noFill/>
          <a:ln/>
        </p:spPr>
        <p:txBody>
          <a:bodyPr wrap="none" lIns="0" tIns="0" rIns="0" bIns="0" rtlCol="0" anchor="ctr"/>
          <a:lstStyle/>
          <a:p>
            <a:pPr algn="ctr" indent="0" marL="0">
              <a:buNone/>
            </a:pPr>
            <a:r>
              <a:rPr lang="ar-SA" altLang="en-US" sz="2400" dirty="0">
                <a:solidFill>
                  <a:srgbClr val="2F9E44"/>
                </a:solidFill>
                <a:latin typeface="Traditional Arabic" pitchFamily="34" charset="0"/>
                <a:ea typeface="Traditional Arabic" pitchFamily="34" charset="-122"/>
                <a:cs typeface="Traditional Arabic" pitchFamily="34" charset="-120"/>
              </a:rPr>
              <a:t>اِ</a:t>
            </a:r>
            <a:r>
              <a:rPr lang="ar-SA" altLang="en-US" sz="2400" dirty="0">
                <a:solidFill>
                  <a:srgbClr val="16213E"/>
                </a:solidFill>
                <a:latin typeface="Traditional Arabic" pitchFamily="34" charset="0"/>
                <a:ea typeface="Traditional Arabic" pitchFamily="34" charset="-122"/>
                <a:cs typeface="Traditional Arabic" pitchFamily="34" charset="-120"/>
              </a:rPr>
              <a:t>هۡدِنَ</a:t>
            </a:r>
            <a:r>
              <a:rPr lang="ar-SA" altLang="en-US" sz="2400" dirty="0">
                <a:solidFill>
                  <a:srgbClr val="ADB5BD"/>
                </a:solidFill>
                <a:latin typeface="Traditional Arabic" pitchFamily="34" charset="0"/>
                <a:ea typeface="Traditional Arabic" pitchFamily="34" charset="-122"/>
                <a:cs typeface="Traditional Arabic" pitchFamily="34" charset="-120"/>
              </a:rPr>
              <a:t>ا</a:t>
            </a:r>
            <a:r>
              <a:rPr lang="ar-SA" altLang="en-US" sz="2400" dirty="0">
                <a:solidFill>
                  <a:srgbClr val="16213E"/>
                </a:solidFill>
                <a:latin typeface="Traditional Arabic" pitchFamily="34" charset="0"/>
                <a:ea typeface="Traditional Arabic" pitchFamily="34" charset="-122"/>
                <a:cs typeface="Traditional Arabic" pitchFamily="34" charset="-120"/>
              </a:rPr>
              <a:t> </a:t>
            </a:r>
            <a:r>
              <a:rPr lang="ar-SA" altLang="en-US" sz="2400" dirty="0">
                <a:solidFill>
                  <a:srgbClr val="ADB5BD"/>
                </a:solidFill>
                <a:latin typeface="Traditional Arabic" pitchFamily="34" charset="0"/>
                <a:ea typeface="Traditional Arabic" pitchFamily="34" charset="-122"/>
                <a:cs typeface="Traditional Arabic" pitchFamily="34" charset="-120"/>
              </a:rPr>
              <a:t>ٱل</a:t>
            </a:r>
            <a:r>
              <a:rPr lang="ar-SA" altLang="en-US" sz="2400" dirty="0">
                <a:solidFill>
                  <a:srgbClr val="16213E"/>
                </a:solidFill>
                <a:latin typeface="Traditional Arabic" pitchFamily="34" charset="0"/>
                <a:ea typeface="Traditional Arabic" pitchFamily="34" charset="-122"/>
                <a:cs typeface="Traditional Arabic" pitchFamily="34" charset="-120"/>
              </a:rPr>
              <a:t>صِّرَٰطَ </a:t>
            </a:r>
            <a:r>
              <a:rPr lang="ar-SA" altLang="en-US" sz="2400" dirty="0">
                <a:solidFill>
                  <a:srgbClr val="ADB5BD"/>
                </a:solidFill>
                <a:latin typeface="Traditional Arabic" pitchFamily="34" charset="0"/>
                <a:ea typeface="Traditional Arabic" pitchFamily="34" charset="-122"/>
                <a:cs typeface="Traditional Arabic" pitchFamily="34" charset="-120"/>
              </a:rPr>
              <a:t>ٱ</a:t>
            </a:r>
            <a:r>
              <a:rPr lang="ar-SA" altLang="en-US" sz="2400" dirty="0">
                <a:solidFill>
                  <a:srgbClr val="16213E"/>
                </a:solidFill>
                <a:latin typeface="Traditional Arabic" pitchFamily="34" charset="0"/>
                <a:ea typeface="Traditional Arabic" pitchFamily="34" charset="-122"/>
                <a:cs typeface="Traditional Arabic" pitchFamily="34" charset="-120"/>
              </a:rPr>
              <a:t>لۡمُسۡتَقِيمَ</a:t>
            </a:r>
            <a:endParaRPr lang="ar-SA" sz="2400" dirty="0"/>
          </a:p>
        </p:txBody>
      </p:sp>
      <p:sp>
        <p:nvSpPr>
          <p:cNvPr id="17" name="C2 read sounds"/>
          <p:cNvSpPr txBox="1"/>
          <p:nvPr/>
        </p:nvSpPr>
        <p:spPr>
          <a:xfrm>
            <a:off x="457200" y="2472639"/>
            <a:ext cx="3703320" cy="637337"/>
          </a:xfrm>
          <a:prstGeom prst="rect">
            <a:avLst/>
          </a:prstGeom>
          <a:noFill/>
          <a:ln/>
        </p:spPr>
        <p:txBody>
          <a:bodyPr wrap="none" lIns="0" tIns="0" rIns="0" bIns="0" rtlCol="0" anchor="ctr"/>
          <a:lstStyle/>
          <a:p>
            <a:pPr algn="ctr" indent="0" marL="0">
              <a:buNone/>
            </a:pPr>
            <a:r>
              <a:rPr lang="en-US" sz="1700" b="1" dirty="0">
                <a:solidFill>
                  <a:srgbClr val="D9480F"/>
                </a:solidFill>
                <a:latin typeface="Arial" pitchFamily="34" charset="0"/>
                <a:ea typeface="Arial" pitchFamily="34" charset="-122"/>
                <a:cs typeface="Arial" pitchFamily="34" charset="-120"/>
              </a:rPr>
              <a:t>Ih-di-nas-si-raa-tal-mus-ta-qeem</a:t>
            </a:r>
            <a:endParaRPr lang="en-US" sz="1700" dirty="0"/>
          </a:p>
        </p:txBody>
      </p:sp>
      <p:sp>
        <p:nvSpPr>
          <p:cNvPr id="18" name="C3 tip box"/>
          <p:cNvSpPr/>
          <p:nvPr/>
        </p:nvSpPr>
        <p:spPr>
          <a:xfrm>
            <a:off x="365760" y="3364992"/>
            <a:ext cx="8412480" cy="841248"/>
          </a:xfrm>
          <a:prstGeom prst="roundRect">
            <a:avLst>
              <a:gd name="adj" fmla="val 27174"/>
            </a:avLst>
          </a:prstGeom>
          <a:solidFill>
            <a:srgbClr val="FFFFFF"/>
          </a:solidFill>
          <a:ln w="76200">
            <a:solidFill>
              <a:srgbClr val="5F3DC4"/>
            </a:solidFill>
            <a:prstDash val="solid"/>
          </a:ln>
        </p:spPr>
      </p:sp>
      <p:sp>
        <p:nvSpPr>
          <p:cNvPr id="19" name="C3 tip"/>
          <p:cNvSpPr txBox="1"/>
          <p:nvPr/>
        </p:nvSpPr>
        <p:spPr>
          <a:xfrm>
            <a:off x="502920" y="3386328"/>
            <a:ext cx="8138160" cy="768096"/>
          </a:xfrm>
          <a:prstGeom prst="rect">
            <a:avLst/>
          </a:prstGeom>
          <a:noFill/>
          <a:ln/>
        </p:spPr>
        <p:txBody>
          <a:bodyPr wrap="none" lIns="0" tIns="0" rIns="0" bIns="0" rtlCol="0" anchor="ctr"/>
          <a:lstStyle/>
          <a:p>
            <a:pPr algn="ctr" indent="0" marL="0">
              <a:buNone/>
            </a:pPr>
            <a:r>
              <a:rPr lang="en-US" sz="1500" dirty="0">
                <a:solidFill>
                  <a:srgbClr val="16213E"/>
                </a:solidFill>
                <a:latin typeface="Arial" pitchFamily="34" charset="0"/>
                <a:ea typeface="Arial" pitchFamily="34" charset="-122"/>
                <a:cs typeface="Arial" pitchFamily="34" charset="-120"/>
              </a:rPr>
              <a:t>Start 'i' (verb, 3rd letter has kasrah).  Then skip twice.  The alif of naa is short.</a:t>
            </a:r>
            <a:endParaRPr lang="en-US" sz="1500" dirty="0"/>
          </a:p>
        </p:txBody>
      </p:sp>
    </p:spTree>
  </p:cSld>
  <p:clrMapOvr>
    <a:masterClrMapping/>
  </p:clrMapOvr>
  <p:transition spd="med">
    <p:wipe dir="l"/>
    <p:sndAc>
      <p:stSnd>
        <p:snd r:embed="rIdTrSnd" name="sparkl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C5F7C9"/>
        </a:solidFill>
      </p:bgPr>
    </p:bg>
    <p:spTree>
      <p:nvGrpSpPr>
        <p:cNvPr id="1" name=""/>
        <p:cNvGrpSpPr/>
        <p:nvPr/>
      </p:nvGrpSpPr>
      <p:grpSpPr>
        <a:xfrm>
          <a:off x="0" y="0"/>
          <a:ext cx="0" cy="0"/>
          <a:chOff x="0" y="0"/>
          <a:chExt cx="0" cy="0"/>
        </a:xfrm>
      </p:grpSpPr>
      <p:sp>
        <p:nvSpPr>
          <p:cNvPr id="2" name="Deco hill left"/>
          <p:cNvSpPr/>
          <p:nvPr/>
        </p:nvSpPr>
        <p:spPr>
          <a:xfrm>
            <a:off x="-914400" y="4434840"/>
            <a:ext cx="4754880" cy="1463040"/>
          </a:xfrm>
          <a:prstGeom prst="ellipse">
            <a:avLst/>
          </a:prstGeom>
          <a:solidFill>
            <a:srgbClr val="6666CC"/>
          </a:solidFill>
          <a:ln w="12700">
            <a:solidFill>
              <a:srgbClr val="6666CC"/>
            </a:solidFill>
            <a:prstDash val="solid"/>
          </a:ln>
        </p:spPr>
      </p:sp>
      <p:sp>
        <p:nvSpPr>
          <p:cNvPr id="3" name="Deco hill right"/>
          <p:cNvSpPr/>
          <p:nvPr/>
        </p:nvSpPr>
        <p:spPr>
          <a:xfrm>
            <a:off x="4023360" y="4526280"/>
            <a:ext cx="5852160" cy="1463040"/>
          </a:xfrm>
          <a:prstGeom prst="ellipse">
            <a:avLst/>
          </a:prstGeom>
          <a:solidFill>
            <a:srgbClr val="6A40BF"/>
          </a:solidFill>
          <a:ln w="12700">
            <a:solidFill>
              <a:srgbClr val="6A40BF"/>
            </a:solidFill>
            <a:prstDash val="solid"/>
          </a:ln>
        </p:spPr>
      </p:sp>
      <p:sp>
        <p:nvSpPr>
          <p:cNvPr id="4" name="Deco sun"/>
          <p:cNvSpPr/>
          <p:nvPr/>
        </p:nvSpPr>
        <p:spPr>
          <a:xfrm>
            <a:off x="274320" y="91440"/>
            <a:ext cx="731520" cy="731520"/>
          </a:xfrm>
          <a:prstGeom prst="sun">
            <a:avLst/>
          </a:prstGeom>
          <a:solidFill>
            <a:srgbClr val="FFD23F"/>
          </a:solidFill>
          <a:ln w="12700">
            <a:solidFill>
              <a:srgbClr val="FFD23F"/>
            </a:solidFill>
            <a:prstDash val="solid"/>
          </a:ln>
        </p:spPr>
      </p:sp>
      <p:sp>
        <p:nvSpPr>
          <p:cNvPr id="5" name="Deco cloud"/>
          <p:cNvSpPr/>
          <p:nvPr/>
        </p:nvSpPr>
        <p:spPr>
          <a:xfrm>
            <a:off x="6858000" y="109728"/>
            <a:ext cx="1463040" cy="640080"/>
          </a:xfrm>
          <a:prstGeom prst="cloud">
            <a:avLst/>
          </a:prstGeom>
          <a:solidFill>
            <a:srgbClr val="FFFFFF"/>
          </a:solidFill>
          <a:ln w="12700">
            <a:solidFill>
              <a:srgbClr val="FFFFFF"/>
            </a:solidFill>
            <a:prstDash val="solid"/>
          </a:ln>
        </p:spPr>
      </p:sp>
      <p:sp>
        <p:nvSpPr>
          <p:cNvPr id="6" name="Deco cloud small"/>
          <p:cNvSpPr/>
          <p:nvPr/>
        </p:nvSpPr>
        <p:spPr>
          <a:xfrm>
            <a:off x="7863840" y="457200"/>
            <a:ext cx="822960" cy="365760"/>
          </a:xfrm>
          <a:prstGeom prst="cloud">
            <a:avLst/>
          </a:prstGeom>
          <a:solidFill>
            <a:srgbClr val="F4FAFF"/>
          </a:solidFill>
          <a:ln w="12700">
            <a:solidFill>
              <a:srgbClr val="F4FAFF"/>
            </a:solidFill>
            <a:prstDash val="solid"/>
          </a:ln>
        </p:spPr>
      </p:sp>
      <p:sp>
        <p:nvSpPr>
          <p:cNvPr id="7" name="Deco flower 0"/>
          <p:cNvSpPr/>
          <p:nvPr/>
        </p:nvSpPr>
        <p:spPr>
          <a:xfrm>
            <a:off x="1280160" y="4526280"/>
            <a:ext cx="292608" cy="292608"/>
          </a:xfrm>
          <a:prstGeom prst="star5">
            <a:avLst/>
          </a:prstGeom>
          <a:solidFill>
            <a:srgbClr val="FF7A90"/>
          </a:solidFill>
          <a:ln w="12700">
            <a:solidFill>
              <a:srgbClr val="FF7A90"/>
            </a:solidFill>
            <a:prstDash val="solid"/>
          </a:ln>
        </p:spPr>
      </p:sp>
      <p:sp>
        <p:nvSpPr>
          <p:cNvPr id="8" name="Deco flower 1"/>
          <p:cNvSpPr/>
          <p:nvPr/>
        </p:nvSpPr>
        <p:spPr>
          <a:xfrm>
            <a:off x="1828800" y="4526280"/>
            <a:ext cx="292608" cy="292608"/>
          </a:xfrm>
          <a:prstGeom prst="star5">
            <a:avLst/>
          </a:prstGeom>
          <a:solidFill>
            <a:srgbClr val="FFB347"/>
          </a:solidFill>
          <a:ln w="12700">
            <a:solidFill>
              <a:srgbClr val="FFB347"/>
            </a:solidFill>
            <a:prstDash val="solid"/>
          </a:ln>
        </p:spPr>
      </p:sp>
      <p:sp>
        <p:nvSpPr>
          <p:cNvPr id="9" name="Deco flower 2"/>
          <p:cNvSpPr/>
          <p:nvPr/>
        </p:nvSpPr>
        <p:spPr>
          <a:xfrm>
            <a:off x="7315200" y="4526280"/>
            <a:ext cx="292608" cy="292608"/>
          </a:xfrm>
          <a:prstGeom prst="star5">
            <a:avLst/>
          </a:prstGeom>
          <a:solidFill>
            <a:srgbClr val="8E5BD0"/>
          </a:solidFill>
          <a:ln w="12700">
            <a:solidFill>
              <a:srgbClr val="8E5BD0"/>
            </a:solidFill>
            <a:prstDash val="solid"/>
          </a:ln>
        </p:spPr>
      </p:sp>
      <p:sp>
        <p:nvSpPr>
          <p:cNvPr id="10" name="Deco flower 3"/>
          <p:cNvSpPr/>
          <p:nvPr/>
        </p:nvSpPr>
        <p:spPr>
          <a:xfrm>
            <a:off x="7955280" y="4526280"/>
            <a:ext cx="292608" cy="292608"/>
          </a:xfrm>
          <a:prstGeom prst="star5">
            <a:avLst/>
          </a:prstGeom>
          <a:solidFill>
            <a:srgbClr val="FF7A90"/>
          </a:solidFill>
          <a:ln w="12700">
            <a:solidFill>
              <a:srgbClr val="FF7A90"/>
            </a:solidFill>
            <a:prstDash val="solid"/>
          </a:ln>
        </p:spPr>
      </p:sp>
      <p:sp>
        <p:nvSpPr>
          <p:cNvPr id="11" name="Title box"/>
          <p:cNvSpPr/>
          <p:nvPr/>
        </p:nvSpPr>
        <p:spPr>
          <a:xfrm>
            <a:off x="365760" y="896112"/>
            <a:ext cx="8412480" cy="502920"/>
          </a:xfrm>
          <a:prstGeom prst="roundRect">
            <a:avLst>
              <a:gd name="adj" fmla="val 45455"/>
            </a:avLst>
          </a:prstGeom>
          <a:solidFill>
            <a:srgbClr val="1971C2"/>
          </a:solidFill>
          <a:ln w="76200">
            <a:solidFill>
              <a:srgbClr val="1971C2"/>
            </a:solidFill>
            <a:prstDash val="solid"/>
          </a:ln>
        </p:spPr>
      </p:sp>
      <p:sp>
        <p:nvSpPr>
          <p:cNvPr id="12" name="Title"/>
          <p:cNvSpPr txBox="1"/>
          <p:nvPr/>
        </p:nvSpPr>
        <p:spPr>
          <a:xfrm>
            <a:off x="365760" y="875602"/>
            <a:ext cx="8412480" cy="502920"/>
          </a:xfrm>
          <a:prstGeom prst="rect">
            <a:avLst/>
          </a:prstGeom>
          <a:noFill/>
          <a:ln/>
        </p:spPr>
        <p:txBody>
          <a:bodyPr wrap="non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Summary</a:t>
            </a:r>
            <a:endParaRPr lang="en-US" sz="1900" dirty="0"/>
          </a:p>
        </p:txBody>
      </p:sp>
      <p:sp>
        <p:nvSpPr>
          <p:cNvPr id="13" name="Lines panel"/>
          <p:cNvSpPr/>
          <p:nvPr/>
        </p:nvSpPr>
        <p:spPr>
          <a:xfrm>
            <a:off x="365760" y="1536192"/>
            <a:ext cx="8412480" cy="2697480"/>
          </a:xfrm>
          <a:prstGeom prst="roundRect">
            <a:avLst>
              <a:gd name="adj" fmla="val 8475"/>
            </a:avLst>
          </a:prstGeom>
          <a:solidFill>
            <a:srgbClr val="FFFFFF"/>
          </a:solidFill>
          <a:ln w="76200">
            <a:solidFill>
              <a:srgbClr val="1971C2"/>
            </a:solidFill>
            <a:prstDash val="solid"/>
          </a:ln>
        </p:spPr>
      </p:sp>
      <p:sp>
        <p:nvSpPr>
          <p:cNvPr id="14" name="C1 line 1"/>
          <p:cNvSpPr txBox="1"/>
          <p:nvPr/>
        </p:nvSpPr>
        <p:spPr>
          <a:xfrm>
            <a:off x="502920" y="1648333"/>
            <a:ext cx="8138160" cy="548640"/>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START  →  say it  ('a' / 'i' / 'u')</a:t>
            </a:r>
            <a:endParaRPr lang="en-US" sz="1900" dirty="0"/>
          </a:p>
        </p:txBody>
      </p:sp>
      <p:sp>
        <p:nvSpPr>
          <p:cNvPr id="15" name="C2 line 2"/>
          <p:cNvSpPr txBox="1"/>
          <p:nvPr/>
        </p:nvSpPr>
        <p:spPr>
          <a:xfrm>
            <a:off x="502920" y="2276983"/>
            <a:ext cx="8138160" cy="548640"/>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CONNECT  →  skip it, jump to the next letter</a:t>
            </a:r>
            <a:endParaRPr lang="en-US" sz="1900" dirty="0"/>
          </a:p>
        </p:txBody>
      </p:sp>
      <p:sp>
        <p:nvSpPr>
          <p:cNvPr id="16" name="C3 line 3"/>
          <p:cNvSpPr txBox="1"/>
          <p:nvPr/>
        </p:nvSpPr>
        <p:spPr>
          <a:xfrm>
            <a:off x="502920" y="2924454"/>
            <a:ext cx="8138160" cy="548640"/>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Long vowel before ٱ  →  make it short</a:t>
            </a:r>
            <a:endParaRPr lang="en-US" sz="1900" dirty="0"/>
          </a:p>
        </p:txBody>
      </p:sp>
      <p:sp>
        <p:nvSpPr>
          <p:cNvPr id="17" name="C4 line 4"/>
          <p:cNvSpPr txBox="1"/>
          <p:nvPr/>
        </p:nvSpPr>
        <p:spPr>
          <a:xfrm>
            <a:off x="502920" y="3553104"/>
            <a:ext cx="8138160" cy="548640"/>
          </a:xfrm>
          <a:prstGeom prst="rect">
            <a:avLst/>
          </a:prstGeom>
          <a:noFill/>
          <a:ln/>
        </p:spPr>
        <p:txBody>
          <a:bodyPr wrap="none" lIns="0" tIns="0" rIns="0" bIns="0" rtlCol="0" anchor="ctr"/>
          <a:lstStyle/>
          <a:p>
            <a:pPr algn="ctr" indent="0" marL="0">
              <a:buNone/>
            </a:pPr>
            <a:r>
              <a:rPr lang="en-US" sz="1900" dirty="0">
                <a:solidFill>
                  <a:srgbClr val="16213E"/>
                </a:solidFill>
                <a:latin typeface="Arial" pitchFamily="34" charset="0"/>
                <a:ea typeface="Arial" pitchFamily="34" charset="-122"/>
                <a:cs typeface="Arial" pitchFamily="34" charset="-120"/>
              </a:rPr>
              <a:t>Silent letter before ٱ  →  it gets a vowel</a:t>
            </a:r>
            <a:endParaRPr lang="en-US" sz="1900" dirty="0"/>
          </a:p>
        </p:txBody>
      </p:sp>
    </p:spTree>
  </p:cSld>
  <p:clrMapOvr>
    <a:masterClrMapping/>
  </p:clrMapOvr>
  <p:transition spd="med">
    <p:circle/>
    <p:sndAc>
      <p:stSnd>
        <p:snd r:embed="rIdTrSnd" name="marimb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Hamzat al-Wasl</dc:title>
  <dc:subject>PptxGenJS Presentation</dc:subject>
  <dc:creator>PptxGenJS</dc:creator>
  <cp:lastModifiedBy>PptxGenJS</cp:lastModifiedBy>
  <cp:revision>1</cp:revision>
  <dcterms:created xsi:type="dcterms:W3CDTF">2026-10-21T18:29:50Z</dcterms:created>
  <dcterms:modified xsi:type="dcterms:W3CDTF">2026-10-21T18:29:50Z</dcterms:modified>
</cp:coreProperties>
</file>