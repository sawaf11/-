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«ال» حرفان: همزة وصل «ٱ» ولام. تُكتب اللام دائماً، لكنها تُنطق مع بعض الحروف ولا تُنطق مع بعضها. نسمّي الحروف التي تُنطق معها اللام قمرية، والتي لا تُنطق معها شمسية.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اللام القمرية: على اللام سكون المصحف «ۡ»، فننطقها واضحة: «ٱلۡقَمَرُ» = اَلۡقَمَرُ (al-qamaru). الحروف القمرية 14 يجمعها: «ٱبۡغِ حَجَّكَ وَخَفۡ عَقِيمَهُۥ».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اللام الشمسية: اللام بلا أي علامة، والحرف بعدها عليه شدة، فتدخل اللام فيه ولا تُنطق: «ٱلشَّمۡسُ» = اَشَّمۡسُ (ash-shamsu). الحروف الشمسية هي الـ14 الباقية.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اللام القمرية: على اللام سكون المصحف «ۡ»، فننطقها واضحة: «ٱلۡقَمَرُ» = اَلۡقَمَرُ (al-qamaru). الحروف القمرية 14 يجمعها: «ٱبۡغِ حَجَّكَ وَخَفۡ عَقِيمَهُۥ».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الحروف الشمسية الأربعة عشر: ت ث د ذ ر ز س ش ص ض ط ظ ل ن. معها لا تُنطق اللام، والحرف بعدها مشدد. في المصحف لا نحتاج حفظ القائمة عند القراءة: إذا رأيت سكوناً على اللام فانطقها، وإذا رأيت اللام بلا علامة وبعدها شدة فلا تنطقها.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«أ»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«ٱلۡأَرۡضُ»: على اللام سكون، فنقرأ «اَلۡأَرۡضُ»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«ب»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«ٱلۡبَيۡتُ»: على اللام سكون، فنقرأ «اَلۡبَيۡتُ»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«ت»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«ٱلتِّينُ»: اللام بلا علامة و«ت» عليها شدة، فنقرأ «اَتِّينُ».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«ث»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«ٱلثَّمَرَٰتُ»: اللام بلا علامة و«ث» عليها شدة، فنقرأ «اَثَّمَرَاتُ».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«ن»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«ٱلنَّاسُ»: اللام بلا علامة و«ن» عليها شدة، فنقرأ «اَنَّاسُ».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«ي»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«ٱلۡيَوۡمُ»: على اللام سكون، فنقرأ «اَلۡيَوۡمُ»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«ج»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«ٱلۡجَنَّةُ»: على اللام سكون، فنقرأ «اَلۡجَنَّةُ»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«ح»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«ٱلۡحَمۡدُ»: على اللام سكون، فنقرأ «اَلۡحَمۡدُ»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«خ»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«ٱلۡخَيۡرُ»: على اللام سكون، فنقرأ «اَلۡخَيۡرُ»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«د»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«ٱلدِّينُ»: اللام بلا علامة و«د» عليها شدة، فنقرأ «اَدِّينُ».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«ذ»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«ٱلذِّكۡرُ»: اللام بلا علامة و«ذ» عليها شدة، فنقرأ «اَذِّكۡرُ».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«ر»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«ٱلرَّحۡمَٰنُ»: اللام بلا علامة و«ر» عليها شدة، فنقرأ «اَرَّحۡمَانُ».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«ز»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«ٱلزَّكَوٰةُ»: اللام بلا علامة و«ز» عليها شدة، فنقرأ «اَزَّكَاةُ».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«س»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«ٱلسَّمَآءُ»: اللام بلا علامة و«س» عليها شدة، فنقرأ «اَسَّمَاءُ».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«ش»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«ٱلشَّمۡسُ»: اللام بلا علامة و«ش» عليها شدة، فنقرأ «اَشَّمۡسُ».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«ص»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«ٱلصَّلَوٰةُ»: اللام بلا علامة و«ص» عليها شدة، فنقرأ «اَصَّلَاةُ».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«ض»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«ٱلضُّحَىٰ»: اللام بلا علامة و«ض» عليها شدة، فنقرأ «اَضُّحَى».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«ط»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«ٱلطَّارِقُ»: اللام بلا علامة و«ط» عليها شدة، فنقرأ «اَطَّارِقُ».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«ظ»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«ٱلظُّلُمَٰتُ»: اللام بلا علامة و«ظ» عليها شدة، فنقرأ «اَظُّلُمَاتُ».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«ع»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«ٱلۡعِلۡمُ»: على اللام سكون، فنقرأ «اَلۡعِلۡمُ»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«غ»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«ٱلۡغَفُورُ»: على اللام سكون، فنقرأ «اَلۡغَفُورُ»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«ف»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«ٱلۡفَلَقُ»: على اللام سكون، فنقرأ «اَلۡفَلَقُ»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«ق»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«ٱلۡقَمَرُ»: على اللام سكون، فنقرأ «اَلۡقَمَرُ»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«ك»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«ٱلۡكِتَٰبُ»: على اللام سكون، فنقرأ «اَلۡكِتَابُ»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«ل» شمسي أم قمري؟ اسأل الطلاب قبل النقر. شمسي: اللام قبله لا تُنطق، والحرف يُشدَّد.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«ٱللَّيۡلُ»: اللام بلا علامة و«ل» عليها شدة، فنقرأ «اَللَّيۡلُ».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«م»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«ٱلۡمَلِكُ»: على اللام سكون، فنقرأ «اَلۡمَلِكُ»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«ه»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«ٱلۡهُدَىٰ»: على اللام سكون، فنقرأ «اَلۡهُدَى»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هل «و» شمسي أم قمري؟ اسأل الطلاب قبل النقر. قمري: اللام قبله ساكنة وتُنطق.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«ٱلۡوَلَدُ»: على اللام سكون، فنقرأ «اَلۡوَلَدُ» ونُظهر اللام.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لا: اللام بلا علامة وبعدها شدة (شمسية).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نعم: على اللام سكون (قمرية).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لا: اللام بلا علامة وبعدها شدة (شمسية).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نعم: على اللام سكون (قمرية).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لا: اللام بلا علامة وبعدها شدة (شمسية).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نعم: على اللام سكون (قمرية).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لا: اللام بلا علامة وبعدها شدة (شمسية).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نعم: على اللام سكون (قمرية).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لا: اللام بلا علامة وبعدها شدة (شمسية).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هل تُنطق اللام هنا؟ انظر إلى ما فوق اللام قبل النقر. نعم: على اللام سكون (قمرية).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ابحث عن «ال» في الآية: هل على اللام سكون (تُنطق) أم بعدها شدة (لا تُنطق)؟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hamza"/>
          <p:cNvSpPr/>
          <p:nvPr/>
        </p:nvSpPr>
        <p:spPr>
          <a:xfrm>
            <a:off x="6309360" y="1051560"/>
            <a:ext cx="2377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12" name="C1 hamza"/>
          <p:cNvSpPr txBox="1"/>
          <p:nvPr/>
        </p:nvSpPr>
        <p:spPr>
          <a:xfrm>
            <a:off x="6309360" y="1158024"/>
            <a:ext cx="237744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endParaRPr lang="ar-SA" sz="10100" dirty="0"/>
          </a:p>
        </p:txBody>
      </p:sp>
      <p:sp>
        <p:nvSpPr>
          <p:cNvPr id="13" name="C2 plus"/>
          <p:cNvSpPr/>
          <p:nvPr/>
        </p:nvSpPr>
        <p:spPr>
          <a:xfrm>
            <a:off x="5623560" y="1691640"/>
            <a:ext cx="548640" cy="54864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lam"/>
          <p:cNvSpPr/>
          <p:nvPr/>
        </p:nvSpPr>
        <p:spPr>
          <a:xfrm>
            <a:off x="3108960" y="1051560"/>
            <a:ext cx="237744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5" name="C2 lam"/>
          <p:cNvSpPr txBox="1"/>
          <p:nvPr/>
        </p:nvSpPr>
        <p:spPr>
          <a:xfrm>
            <a:off x="3108960" y="939546"/>
            <a:ext cx="237744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9800" dirty="0"/>
          </a:p>
        </p:txBody>
      </p:sp>
      <p:sp>
        <p:nvSpPr>
          <p:cNvPr id="16" name="C3 arrow"/>
          <p:cNvSpPr/>
          <p:nvPr/>
        </p:nvSpPr>
        <p:spPr>
          <a:xfrm>
            <a:off x="2377440" y="1691640"/>
            <a:ext cx="594360" cy="548640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Panel al"/>
          <p:cNvSpPr/>
          <p:nvPr/>
        </p:nvSpPr>
        <p:spPr>
          <a:xfrm>
            <a:off x="365760" y="1051560"/>
            <a:ext cx="187452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8" name="C3 al"/>
          <p:cNvSpPr txBox="1"/>
          <p:nvPr/>
        </p:nvSpPr>
        <p:spPr>
          <a:xfrm>
            <a:off x="365760" y="1038301"/>
            <a:ext cx="18745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</a:t>
            </a:r>
            <a:endParaRPr lang="ar-SA" sz="8700" dirty="0"/>
          </a:p>
        </p:txBody>
      </p:sp>
      <p:sp>
        <p:nvSpPr>
          <p:cNvPr id="19" name="C1 label hamza box"/>
          <p:cNvSpPr/>
          <p:nvPr/>
        </p:nvSpPr>
        <p:spPr>
          <a:xfrm>
            <a:off x="6309360" y="3063240"/>
            <a:ext cx="237744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1 label hamza"/>
          <p:cNvSpPr txBox="1"/>
          <p:nvPr/>
        </p:nvSpPr>
        <p:spPr>
          <a:xfrm>
            <a:off x="6309360" y="3028252"/>
            <a:ext cx="23774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همزة وصل</a:t>
            </a:r>
            <a:endParaRPr lang="ar-SA" sz="2900" dirty="0"/>
          </a:p>
        </p:txBody>
      </p:sp>
      <p:sp>
        <p:nvSpPr>
          <p:cNvPr id="21" name="C2 label lam box"/>
          <p:cNvSpPr/>
          <p:nvPr/>
        </p:nvSpPr>
        <p:spPr>
          <a:xfrm>
            <a:off x="3108960" y="3063240"/>
            <a:ext cx="2377440" cy="548640"/>
          </a:xfrm>
          <a:prstGeom prst="roundRect">
            <a:avLst>
              <a:gd name="adj" fmla="val 33333"/>
            </a:avLst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2 label lam"/>
          <p:cNvSpPr txBox="1"/>
          <p:nvPr/>
        </p:nvSpPr>
        <p:spPr>
          <a:xfrm>
            <a:off x="3108960" y="3007106"/>
            <a:ext cx="23774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لام</a:t>
            </a:r>
            <a:endParaRPr lang="ar-SA" sz="2600" dirty="0"/>
          </a:p>
        </p:txBody>
      </p:sp>
      <p:sp>
        <p:nvSpPr>
          <p:cNvPr id="23" name="C3 label al box"/>
          <p:cNvSpPr/>
          <p:nvPr/>
        </p:nvSpPr>
        <p:spPr>
          <a:xfrm>
            <a:off x="365760" y="3063240"/>
            <a:ext cx="187452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3 label al"/>
          <p:cNvSpPr txBox="1"/>
          <p:nvPr/>
        </p:nvSpPr>
        <p:spPr>
          <a:xfrm>
            <a:off x="365760" y="3028950"/>
            <a:ext cx="18745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</a:t>
            </a:r>
            <a:endParaRPr lang="ar-SA" sz="3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0" grpId="0" animBg="1"/>
      <p:bldP spid="13" grpId="0" animBg="1"/>
      <p:bldP spid="15" grpId="0" animBg="1"/>
      <p:bldP spid="21" grpId="0" animBg="1"/>
      <p:bldP spid="22" grpId="0" animBg="1"/>
      <p:bldP spid="16" grpId="0" animBg="1"/>
      <p:bldP spid="18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3" name="C1 written"/>
          <p:cNvSpPr txBox="1"/>
          <p:nvPr/>
        </p:nvSpPr>
        <p:spPr>
          <a:xfrm>
            <a:off x="4937760" y="111316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قَمَرُ</a:t>
            </a:r>
            <a:endParaRPr lang="ar-SA" sz="7700" dirty="0"/>
          </a:p>
        </p:txBody>
      </p:sp>
      <p:sp>
        <p:nvSpPr>
          <p:cNvPr id="14" name="C1 icon"/>
          <p:cNvSpPr/>
          <p:nvPr/>
        </p:nvSpPr>
        <p:spPr>
          <a:xfrm>
            <a:off x="5157216" y="1124712"/>
            <a:ext cx="384048" cy="64008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5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7" name="C2 read"/>
          <p:cNvSpPr txBox="1"/>
          <p:nvPr/>
        </p:nvSpPr>
        <p:spPr>
          <a:xfrm>
            <a:off x="365760" y="111316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اَلۡقَمَرُ</a:t>
            </a:r>
            <a:endParaRPr lang="ar-SA" sz="7700" dirty="0"/>
          </a:p>
        </p:txBody>
      </p:sp>
      <p:sp>
        <p:nvSpPr>
          <p:cNvPr id="18" name="C3 label written box"/>
          <p:cNvSpPr/>
          <p:nvPr/>
        </p:nvSpPr>
        <p:spPr>
          <a:xfrm>
            <a:off x="4937760" y="3063240"/>
            <a:ext cx="3840480" cy="548640"/>
          </a:xfrm>
          <a:prstGeom prst="roundRect">
            <a:avLst>
              <a:gd name="adj" fmla="val 33333"/>
            </a:avLst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 written"/>
          <p:cNvSpPr txBox="1"/>
          <p:nvPr/>
        </p:nvSpPr>
        <p:spPr>
          <a:xfrm>
            <a:off x="4937760" y="3007106"/>
            <a:ext cx="3840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على اللام سكون</a:t>
            </a:r>
            <a:endParaRPr lang="ar-SA" sz="2600" dirty="0"/>
          </a:p>
        </p:txBody>
      </p:sp>
      <p:sp>
        <p:nvSpPr>
          <p:cNvPr id="20" name="C3 label read box"/>
          <p:cNvSpPr/>
          <p:nvPr/>
        </p:nvSpPr>
        <p:spPr>
          <a:xfrm>
            <a:off x="365760" y="3063240"/>
            <a:ext cx="3840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3 label read"/>
          <p:cNvSpPr txBox="1"/>
          <p:nvPr/>
        </p:nvSpPr>
        <p:spPr>
          <a:xfrm>
            <a:off x="365760" y="3007106"/>
            <a:ext cx="3840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ننطق اللام</a:t>
            </a:r>
            <a:endParaRPr lang="ar-SA" sz="2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21131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66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شَّ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مۡسُ</a:t>
            </a:r>
            <a:endParaRPr lang="ar-SA" sz="6600" dirty="0"/>
          </a:p>
        </p:txBody>
      </p:sp>
      <p:sp>
        <p:nvSpPr>
          <p:cNvPr id="12" name="C1 icon"/>
          <p:cNvSpPr/>
          <p:nvPr/>
        </p:nvSpPr>
        <p:spPr>
          <a:xfrm>
            <a:off x="5029200" y="1124712"/>
            <a:ext cx="640080" cy="64008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3061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اَشَّمۡسُ</a:t>
            </a:r>
            <a:endParaRPr lang="ar-SA" sz="7500" dirty="0"/>
          </a:p>
        </p:txBody>
      </p:sp>
      <p:sp>
        <p:nvSpPr>
          <p:cNvPr id="16" name="C3 label written box"/>
          <p:cNvSpPr/>
          <p:nvPr/>
        </p:nvSpPr>
        <p:spPr>
          <a:xfrm>
            <a:off x="4937760" y="3063240"/>
            <a:ext cx="3840480" cy="548640"/>
          </a:xfrm>
          <a:prstGeom prst="roundRect">
            <a:avLst>
              <a:gd name="adj" fmla="val 33333"/>
            </a:avLst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label written"/>
          <p:cNvSpPr txBox="1"/>
          <p:nvPr/>
        </p:nvSpPr>
        <p:spPr>
          <a:xfrm>
            <a:off x="4937760" y="3007106"/>
            <a:ext cx="3840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بلا علامة + شدة</a:t>
            </a:r>
            <a:endParaRPr lang="ar-SA" sz="2600" dirty="0"/>
          </a:p>
        </p:txBody>
      </p:sp>
      <p:sp>
        <p:nvSpPr>
          <p:cNvPr id="18" name="C3 label read box"/>
          <p:cNvSpPr/>
          <p:nvPr/>
        </p:nvSpPr>
        <p:spPr>
          <a:xfrm>
            <a:off x="365760" y="3063240"/>
            <a:ext cx="3840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 read"/>
          <p:cNvSpPr txBox="1"/>
          <p:nvPr/>
        </p:nvSpPr>
        <p:spPr>
          <a:xfrm>
            <a:off x="365760" y="3007106"/>
            <a:ext cx="3840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0"/>
          </a:solidFill>
          <a:ln w="12700">
            <a:solidFill>
              <a:srgbClr val="ED5E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Kind icon"/>
          <p:cNvSpPr/>
          <p:nvPr/>
        </p:nvSpPr>
        <p:spPr>
          <a:xfrm>
            <a:off x="4352544" y="914400"/>
            <a:ext cx="438912" cy="73152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9" name="C1 circle 1"/>
          <p:cNvSpPr/>
          <p:nvPr/>
        </p:nvSpPr>
        <p:spPr>
          <a:xfrm>
            <a:off x="7635240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20" name="C1 letter 1"/>
          <p:cNvSpPr txBox="1"/>
          <p:nvPr/>
        </p:nvSpPr>
        <p:spPr>
          <a:xfrm>
            <a:off x="7635240" y="1882140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21" name="C2 circle 2"/>
          <p:cNvSpPr/>
          <p:nvPr/>
        </p:nvSpPr>
        <p:spPr>
          <a:xfrm>
            <a:off x="6565392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22" name="C2 letter 2"/>
          <p:cNvSpPr txBox="1"/>
          <p:nvPr/>
        </p:nvSpPr>
        <p:spPr>
          <a:xfrm>
            <a:off x="6565392" y="1739367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23" name="C3 circle 3"/>
          <p:cNvSpPr/>
          <p:nvPr/>
        </p:nvSpPr>
        <p:spPr>
          <a:xfrm>
            <a:off x="5495544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24" name="C3 letter 3"/>
          <p:cNvSpPr txBox="1"/>
          <p:nvPr/>
        </p:nvSpPr>
        <p:spPr>
          <a:xfrm>
            <a:off x="5495544" y="170967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25" name="C4 circle 4"/>
          <p:cNvSpPr/>
          <p:nvPr/>
        </p:nvSpPr>
        <p:spPr>
          <a:xfrm>
            <a:off x="4425696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26" name="C4 letter 4"/>
          <p:cNvSpPr txBox="1"/>
          <p:nvPr/>
        </p:nvSpPr>
        <p:spPr>
          <a:xfrm>
            <a:off x="4425696" y="170967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27" name="C5 circle 5"/>
          <p:cNvSpPr/>
          <p:nvPr/>
        </p:nvSpPr>
        <p:spPr>
          <a:xfrm>
            <a:off x="3355848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28" name="C5 letter 5"/>
          <p:cNvSpPr txBox="1"/>
          <p:nvPr/>
        </p:nvSpPr>
        <p:spPr>
          <a:xfrm>
            <a:off x="3355848" y="1743989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29" name="C6 circle 6"/>
          <p:cNvSpPr/>
          <p:nvPr/>
        </p:nvSpPr>
        <p:spPr>
          <a:xfrm>
            <a:off x="2286000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30" name="C6 letter 6"/>
          <p:cNvSpPr txBox="1"/>
          <p:nvPr/>
        </p:nvSpPr>
        <p:spPr>
          <a:xfrm>
            <a:off x="2286000" y="172745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800" dirty="0"/>
          </a:p>
        </p:txBody>
      </p:sp>
      <p:sp>
        <p:nvSpPr>
          <p:cNvPr id="31" name="C7 circle 7"/>
          <p:cNvSpPr/>
          <p:nvPr/>
        </p:nvSpPr>
        <p:spPr>
          <a:xfrm>
            <a:off x="1216152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32" name="C7 letter 7"/>
          <p:cNvSpPr txBox="1"/>
          <p:nvPr/>
        </p:nvSpPr>
        <p:spPr>
          <a:xfrm>
            <a:off x="1216152" y="1758747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800" dirty="0"/>
          </a:p>
        </p:txBody>
      </p:sp>
      <p:sp>
        <p:nvSpPr>
          <p:cNvPr id="33" name="C8 circle 8"/>
          <p:cNvSpPr/>
          <p:nvPr/>
        </p:nvSpPr>
        <p:spPr>
          <a:xfrm>
            <a:off x="7635240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34" name="C8 letter 8"/>
          <p:cNvSpPr txBox="1"/>
          <p:nvPr/>
        </p:nvSpPr>
        <p:spPr>
          <a:xfrm>
            <a:off x="7635240" y="301005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800" dirty="0"/>
          </a:p>
        </p:txBody>
      </p:sp>
      <p:sp>
        <p:nvSpPr>
          <p:cNvPr id="35" name="C9 circle 9"/>
          <p:cNvSpPr/>
          <p:nvPr/>
        </p:nvSpPr>
        <p:spPr>
          <a:xfrm>
            <a:off x="6565392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36" name="C9 letter 9"/>
          <p:cNvSpPr txBox="1"/>
          <p:nvPr/>
        </p:nvSpPr>
        <p:spPr>
          <a:xfrm>
            <a:off x="6565392" y="2967736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2800" dirty="0"/>
          </a:p>
        </p:txBody>
      </p:sp>
      <p:sp>
        <p:nvSpPr>
          <p:cNvPr id="37" name="C10 circle 10"/>
          <p:cNvSpPr/>
          <p:nvPr/>
        </p:nvSpPr>
        <p:spPr>
          <a:xfrm>
            <a:off x="5495544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38" name="C10 letter 10"/>
          <p:cNvSpPr txBox="1"/>
          <p:nvPr/>
        </p:nvSpPr>
        <p:spPr>
          <a:xfrm>
            <a:off x="5495544" y="302285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2800" dirty="0"/>
          </a:p>
        </p:txBody>
      </p:sp>
      <p:sp>
        <p:nvSpPr>
          <p:cNvPr id="39" name="C11 circle 11"/>
          <p:cNvSpPr/>
          <p:nvPr/>
        </p:nvSpPr>
        <p:spPr>
          <a:xfrm>
            <a:off x="4425696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40" name="C11 letter 11"/>
          <p:cNvSpPr txBox="1"/>
          <p:nvPr/>
        </p:nvSpPr>
        <p:spPr>
          <a:xfrm>
            <a:off x="4425696" y="289128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2800" dirty="0"/>
          </a:p>
        </p:txBody>
      </p:sp>
      <p:sp>
        <p:nvSpPr>
          <p:cNvPr id="41" name="C12 circle 12"/>
          <p:cNvSpPr/>
          <p:nvPr/>
        </p:nvSpPr>
        <p:spPr>
          <a:xfrm>
            <a:off x="3355848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42" name="C12 letter 12"/>
          <p:cNvSpPr txBox="1"/>
          <p:nvPr/>
        </p:nvSpPr>
        <p:spPr>
          <a:xfrm>
            <a:off x="3355848" y="290906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2800" dirty="0"/>
          </a:p>
        </p:txBody>
      </p:sp>
      <p:sp>
        <p:nvSpPr>
          <p:cNvPr id="43" name="C13 circle 13"/>
          <p:cNvSpPr/>
          <p:nvPr/>
        </p:nvSpPr>
        <p:spPr>
          <a:xfrm>
            <a:off x="2286000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44" name="C13 letter 13"/>
          <p:cNvSpPr txBox="1"/>
          <p:nvPr/>
        </p:nvSpPr>
        <p:spPr>
          <a:xfrm>
            <a:off x="2286000" y="2976626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2800" dirty="0"/>
          </a:p>
        </p:txBody>
      </p:sp>
      <p:sp>
        <p:nvSpPr>
          <p:cNvPr id="45" name="C14 circle 14"/>
          <p:cNvSpPr/>
          <p:nvPr/>
        </p:nvSpPr>
        <p:spPr>
          <a:xfrm>
            <a:off x="1216152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263EB"/>
            </a:solidFill>
            <a:prstDash val="solid"/>
          </a:ln>
        </p:spPr>
      </p:sp>
      <p:sp>
        <p:nvSpPr>
          <p:cNvPr id="46" name="C14 letter 14"/>
          <p:cNvSpPr txBox="1"/>
          <p:nvPr/>
        </p:nvSpPr>
        <p:spPr>
          <a:xfrm>
            <a:off x="1216152" y="289270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2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Kind icon"/>
          <p:cNvSpPr/>
          <p:nvPr/>
        </p:nvSpPr>
        <p:spPr>
          <a:xfrm>
            <a:off x="4206240" y="914400"/>
            <a:ext cx="731520" cy="73152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6" name="C1 circle 1"/>
          <p:cNvSpPr/>
          <p:nvPr/>
        </p:nvSpPr>
        <p:spPr>
          <a:xfrm>
            <a:off x="7635240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17" name="C1 letter 1"/>
          <p:cNvSpPr txBox="1"/>
          <p:nvPr/>
        </p:nvSpPr>
        <p:spPr>
          <a:xfrm>
            <a:off x="7635240" y="1793081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500" dirty="0"/>
          </a:p>
        </p:txBody>
      </p:sp>
      <p:sp>
        <p:nvSpPr>
          <p:cNvPr id="18" name="C2 circle 2"/>
          <p:cNvSpPr/>
          <p:nvPr/>
        </p:nvSpPr>
        <p:spPr>
          <a:xfrm>
            <a:off x="6565392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19" name="C2 letter 2"/>
          <p:cNvSpPr txBox="1"/>
          <p:nvPr/>
        </p:nvSpPr>
        <p:spPr>
          <a:xfrm>
            <a:off x="6565392" y="181054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500" dirty="0"/>
          </a:p>
        </p:txBody>
      </p:sp>
      <p:sp>
        <p:nvSpPr>
          <p:cNvPr id="20" name="C3 circle 3"/>
          <p:cNvSpPr/>
          <p:nvPr/>
        </p:nvSpPr>
        <p:spPr>
          <a:xfrm>
            <a:off x="5495544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21" name="C3 letter 3"/>
          <p:cNvSpPr txBox="1"/>
          <p:nvPr/>
        </p:nvSpPr>
        <p:spPr>
          <a:xfrm>
            <a:off x="5495544" y="178911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500" dirty="0"/>
          </a:p>
        </p:txBody>
      </p:sp>
      <p:sp>
        <p:nvSpPr>
          <p:cNvPr id="22" name="C4 circle 4"/>
          <p:cNvSpPr/>
          <p:nvPr/>
        </p:nvSpPr>
        <p:spPr>
          <a:xfrm>
            <a:off x="4425696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23" name="C4 letter 4"/>
          <p:cNvSpPr txBox="1"/>
          <p:nvPr/>
        </p:nvSpPr>
        <p:spPr>
          <a:xfrm>
            <a:off x="4425696" y="1819910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500" dirty="0"/>
          </a:p>
        </p:txBody>
      </p:sp>
      <p:sp>
        <p:nvSpPr>
          <p:cNvPr id="24" name="C5 circle 5"/>
          <p:cNvSpPr/>
          <p:nvPr/>
        </p:nvSpPr>
        <p:spPr>
          <a:xfrm>
            <a:off x="3355848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25" name="C5 letter 5"/>
          <p:cNvSpPr txBox="1"/>
          <p:nvPr/>
        </p:nvSpPr>
        <p:spPr>
          <a:xfrm>
            <a:off x="3355848" y="173196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500" dirty="0"/>
          </a:p>
        </p:txBody>
      </p:sp>
      <p:sp>
        <p:nvSpPr>
          <p:cNvPr id="26" name="C6 circle 6"/>
          <p:cNvSpPr/>
          <p:nvPr/>
        </p:nvSpPr>
        <p:spPr>
          <a:xfrm>
            <a:off x="2286000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27" name="C6 letter 6"/>
          <p:cNvSpPr txBox="1"/>
          <p:nvPr/>
        </p:nvSpPr>
        <p:spPr>
          <a:xfrm>
            <a:off x="2286000" y="1766570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500" dirty="0"/>
          </a:p>
        </p:txBody>
      </p:sp>
      <p:sp>
        <p:nvSpPr>
          <p:cNvPr id="28" name="C7 circle 7"/>
          <p:cNvSpPr/>
          <p:nvPr/>
        </p:nvSpPr>
        <p:spPr>
          <a:xfrm>
            <a:off x="1216152" y="182880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29" name="C7 letter 7"/>
          <p:cNvSpPr txBox="1"/>
          <p:nvPr/>
        </p:nvSpPr>
        <p:spPr>
          <a:xfrm>
            <a:off x="1216152" y="1743075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500" dirty="0"/>
          </a:p>
        </p:txBody>
      </p:sp>
      <p:sp>
        <p:nvSpPr>
          <p:cNvPr id="30" name="C8 circle 8"/>
          <p:cNvSpPr/>
          <p:nvPr/>
        </p:nvSpPr>
        <p:spPr>
          <a:xfrm>
            <a:off x="7635240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31" name="C8 letter 8"/>
          <p:cNvSpPr txBox="1"/>
          <p:nvPr/>
        </p:nvSpPr>
        <p:spPr>
          <a:xfrm>
            <a:off x="7635240" y="2969736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500" dirty="0"/>
          </a:p>
        </p:txBody>
      </p:sp>
      <p:sp>
        <p:nvSpPr>
          <p:cNvPr id="32" name="C9 circle 9"/>
          <p:cNvSpPr/>
          <p:nvPr/>
        </p:nvSpPr>
        <p:spPr>
          <a:xfrm>
            <a:off x="6565392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33" name="C9 letter 9"/>
          <p:cNvSpPr txBox="1"/>
          <p:nvPr/>
        </p:nvSpPr>
        <p:spPr>
          <a:xfrm>
            <a:off x="6565392" y="292703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500" dirty="0"/>
          </a:p>
        </p:txBody>
      </p:sp>
      <p:sp>
        <p:nvSpPr>
          <p:cNvPr id="34" name="C10 circle 10"/>
          <p:cNvSpPr/>
          <p:nvPr/>
        </p:nvSpPr>
        <p:spPr>
          <a:xfrm>
            <a:off x="5495544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35" name="C10 letter 10"/>
          <p:cNvSpPr txBox="1"/>
          <p:nvPr/>
        </p:nvSpPr>
        <p:spPr>
          <a:xfrm>
            <a:off x="5495544" y="2958941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500" dirty="0"/>
          </a:p>
        </p:txBody>
      </p:sp>
      <p:sp>
        <p:nvSpPr>
          <p:cNvPr id="36" name="C11 circle 11"/>
          <p:cNvSpPr/>
          <p:nvPr/>
        </p:nvSpPr>
        <p:spPr>
          <a:xfrm>
            <a:off x="4425696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37" name="C11 letter 11"/>
          <p:cNvSpPr txBox="1"/>
          <p:nvPr/>
        </p:nvSpPr>
        <p:spPr>
          <a:xfrm>
            <a:off x="4425696" y="3023870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500" dirty="0"/>
          </a:p>
        </p:txBody>
      </p:sp>
      <p:sp>
        <p:nvSpPr>
          <p:cNvPr id="38" name="C12 circle 12"/>
          <p:cNvSpPr/>
          <p:nvPr/>
        </p:nvSpPr>
        <p:spPr>
          <a:xfrm>
            <a:off x="3355848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39" name="C12 letter 12"/>
          <p:cNvSpPr txBox="1"/>
          <p:nvPr/>
        </p:nvSpPr>
        <p:spPr>
          <a:xfrm>
            <a:off x="3355848" y="3023870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500" dirty="0"/>
          </a:p>
        </p:txBody>
      </p:sp>
      <p:sp>
        <p:nvSpPr>
          <p:cNvPr id="40" name="C13 circle 13"/>
          <p:cNvSpPr/>
          <p:nvPr/>
        </p:nvSpPr>
        <p:spPr>
          <a:xfrm>
            <a:off x="2286000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41" name="C13 letter 13"/>
          <p:cNvSpPr txBox="1"/>
          <p:nvPr/>
        </p:nvSpPr>
        <p:spPr>
          <a:xfrm>
            <a:off x="2286000" y="2988945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2500" dirty="0"/>
          </a:p>
        </p:txBody>
      </p:sp>
      <p:sp>
        <p:nvSpPr>
          <p:cNvPr id="42" name="C14 circle 14"/>
          <p:cNvSpPr/>
          <p:nvPr/>
        </p:nvSpPr>
        <p:spPr>
          <a:xfrm>
            <a:off x="1216152" y="3017520"/>
            <a:ext cx="868680" cy="868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08C00"/>
            </a:solidFill>
            <a:prstDash val="solid"/>
          </a:ln>
        </p:spPr>
      </p:sp>
      <p:sp>
        <p:nvSpPr>
          <p:cNvPr id="43" name="C14 letter 14"/>
          <p:cNvSpPr txBox="1"/>
          <p:nvPr/>
        </p:nvSpPr>
        <p:spPr>
          <a:xfrm>
            <a:off x="1216152" y="2949575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2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47D1"/>
          </a:solidFill>
          <a:ln w="12700">
            <a:solidFill>
              <a:srgbClr val="A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1381125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2500" dirty="0"/>
          </a:p>
        </p:txBody>
      </p:sp>
      <p:sp>
        <p:nvSpPr>
          <p:cNvPr id="12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160344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6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أَرۡضُ</a:t>
            </a:r>
            <a:endParaRPr lang="ar-SA" sz="6900" dirty="0"/>
          </a:p>
        </p:txBody>
      </p:sp>
      <p:sp>
        <p:nvSpPr>
          <p:cNvPr id="13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122506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اَلۡأَرۡضُ</a:t>
            </a:r>
            <a:endParaRPr lang="ar-SA" sz="45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al-ardu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753326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2200" dirty="0"/>
          </a:p>
        </p:txBody>
      </p:sp>
      <p:sp>
        <p:nvSpPr>
          <p:cNvPr id="14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40060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بَيۡتُ</a:t>
            </a:r>
            <a:endParaRPr lang="ar-SA" sz="7700" dirty="0"/>
          </a:p>
        </p:txBody>
      </p:sp>
      <p:sp>
        <p:nvSpPr>
          <p:cNvPr id="12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09028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اَلۡبَيۡتُ</a:t>
            </a:r>
            <a:endParaRPr lang="ar-SA" sz="5000" dirty="0"/>
          </a:p>
        </p:txBody>
      </p:sp>
      <p:sp>
        <p:nvSpPr>
          <p:cNvPr id="16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al-baytu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ED5E"/>
          </a:solidFill>
          <a:ln w="12700">
            <a:solidFill>
              <a:srgbClr val="C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960120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2800" dirty="0"/>
          </a:p>
        </p:txBody>
      </p:sp>
      <p:sp>
        <p:nvSpPr>
          <p:cNvPr id="20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52E0"/>
          </a:solidFill>
          <a:ln w="12700">
            <a:solidFill>
              <a:srgbClr val="8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08087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81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تِّ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ينُ</a:t>
            </a:r>
            <a:endParaRPr lang="ar-SA" sz="8100" dirty="0"/>
          </a:p>
        </p:txBody>
      </p:sp>
      <p:sp>
        <p:nvSpPr>
          <p:cNvPr id="17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104684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اَتِّينُ</a:t>
            </a:r>
            <a:endParaRPr lang="ar-SA" sz="4700" dirty="0"/>
          </a:p>
        </p:txBody>
      </p:sp>
      <p:sp>
        <p:nvSpPr>
          <p:cNvPr id="21" name="C2 sounds"/>
          <p:cNvSpPr/>
          <p:nvPr/>
        </p:nvSpPr>
        <p:spPr>
          <a:xfrm>
            <a:off x="502920" y="2329815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at-teenu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747"/>
          </a:solidFill>
          <a:ln w="12700">
            <a:solidFill>
              <a:srgbClr val="D18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1054640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2100" dirty="0"/>
          </a:p>
        </p:txBody>
      </p:sp>
      <p:sp>
        <p:nvSpPr>
          <p:cNvPr id="12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108767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ثَّ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مَرَٰتُ</a:t>
            </a:r>
            <a:endParaRPr lang="ar-SA" sz="7700" dirty="0"/>
          </a:p>
        </p:txBody>
      </p:sp>
      <p:sp>
        <p:nvSpPr>
          <p:cNvPr id="13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119569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اَثَّمَرَاتُ</a:t>
            </a:r>
            <a:endParaRPr lang="ar-SA" sz="45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ath-thamaraatu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773379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3600" dirty="0"/>
          </a:p>
        </p:txBody>
      </p:sp>
      <p:sp>
        <p:nvSpPr>
          <p:cNvPr id="14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055249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83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نَّ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اسُ</a:t>
            </a:r>
            <a:endParaRPr lang="ar-SA" sz="8300" dirty="0"/>
          </a:p>
        </p:txBody>
      </p:sp>
      <p:sp>
        <p:nvSpPr>
          <p:cNvPr id="12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091387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اَنَّاسُ</a:t>
            </a:r>
            <a:endParaRPr lang="ar-SA" sz="4900" dirty="0"/>
          </a:p>
        </p:txBody>
      </p:sp>
      <p:sp>
        <p:nvSpPr>
          <p:cNvPr id="16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an-naasu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612534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900" dirty="0"/>
          </a:p>
        </p:txBody>
      </p:sp>
      <p:sp>
        <p:nvSpPr>
          <p:cNvPr id="20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A52"/>
          </a:solidFill>
          <a:ln w="12700">
            <a:solidFill>
              <a:srgbClr val="E06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040892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يَوۡمُ</a:t>
            </a:r>
            <a:endParaRPr lang="ar-SA" sz="7000" dirty="0"/>
          </a:p>
        </p:txBody>
      </p:sp>
      <p:sp>
        <p:nvSpPr>
          <p:cNvPr id="17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044854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اَلۡيَوۡمُ</a:t>
            </a:r>
            <a:endParaRPr lang="ar-SA" sz="4400" dirty="0"/>
          </a:p>
        </p:txBody>
      </p:sp>
      <p:sp>
        <p:nvSpPr>
          <p:cNvPr id="21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al-yawmu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4"/>
          </a:solidFill>
          <a:ln w="12700">
            <a:solidFill>
              <a:srgbClr val="47D1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611188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2500" dirty="0"/>
          </a:p>
        </p:txBody>
      </p:sp>
      <p:sp>
        <p:nvSpPr>
          <p:cNvPr id="12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158913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جَنَّةُ</a:t>
            </a:r>
            <a:endParaRPr lang="ar-SA" sz="7900" dirty="0"/>
          </a:p>
        </p:txBody>
      </p:sp>
      <p:sp>
        <p:nvSpPr>
          <p:cNvPr id="13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11950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اَلۡجَنَّةُ</a:t>
            </a:r>
            <a:endParaRPr lang="ar-SA" sz="5000" dirty="0"/>
          </a:p>
        </p:txBody>
      </p:sp>
      <p:sp>
        <p:nvSpPr>
          <p:cNvPr id="17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al-jannatu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611188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2500" dirty="0"/>
          </a:p>
        </p:txBody>
      </p:sp>
      <p:sp>
        <p:nvSpPr>
          <p:cNvPr id="14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42416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حَمۡدُ</a:t>
            </a:r>
            <a:endParaRPr lang="ar-SA" sz="7300" dirty="0"/>
          </a:p>
        </p:txBody>
      </p:sp>
      <p:sp>
        <p:nvSpPr>
          <p:cNvPr id="12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1503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اَلۡحَمۡدُ</a:t>
            </a:r>
            <a:endParaRPr lang="ar-SA" sz="5100" dirty="0"/>
          </a:p>
        </p:txBody>
      </p:sp>
      <p:sp>
        <p:nvSpPr>
          <p:cNvPr id="16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al-hamdu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809816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000" dirty="0"/>
          </a:p>
        </p:txBody>
      </p:sp>
      <p:sp>
        <p:nvSpPr>
          <p:cNvPr id="20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E052"/>
          </a:solidFill>
          <a:ln w="12700">
            <a:solidFill>
              <a:srgbClr val="5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110767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خَيۡرُ</a:t>
            </a:r>
            <a:endParaRPr lang="ar-SA" sz="7400" dirty="0"/>
          </a:p>
        </p:txBody>
      </p:sp>
      <p:sp>
        <p:nvSpPr>
          <p:cNvPr id="17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09076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اَلۡخَيۡرُ</a:t>
            </a:r>
            <a:endParaRPr lang="ar-SA" sz="4900" dirty="0"/>
          </a:p>
        </p:txBody>
      </p:sp>
      <p:sp>
        <p:nvSpPr>
          <p:cNvPr id="21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al-khayru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DD1"/>
          </a:solidFill>
          <a:ln w="12700">
            <a:solidFill>
              <a:srgbClr val="474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873125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7000" dirty="0"/>
          </a:p>
        </p:txBody>
      </p:sp>
      <p:sp>
        <p:nvSpPr>
          <p:cNvPr id="12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066660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82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دِّ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ينُ</a:t>
            </a:r>
            <a:endParaRPr lang="ar-SA" sz="8200" dirty="0"/>
          </a:p>
        </p:txBody>
      </p:sp>
      <p:sp>
        <p:nvSpPr>
          <p:cNvPr id="13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063447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اَدِّينُ</a:t>
            </a:r>
            <a:endParaRPr lang="ar-SA" sz="52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ad-deenu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1087526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5600" dirty="0"/>
          </a:p>
        </p:txBody>
      </p:sp>
      <p:sp>
        <p:nvSpPr>
          <p:cNvPr id="14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57173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2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ذِّ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كۡرُ</a:t>
            </a:r>
            <a:endParaRPr lang="ar-SA" sz="7200" dirty="0"/>
          </a:p>
        </p:txBody>
      </p:sp>
      <p:sp>
        <p:nvSpPr>
          <p:cNvPr id="12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17568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اَذِّكۡرُ</a:t>
            </a:r>
            <a:endParaRPr lang="ar-SA" sz="4500" dirty="0"/>
          </a:p>
        </p:txBody>
      </p:sp>
      <p:sp>
        <p:nvSpPr>
          <p:cNvPr id="16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adh-dhikru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542608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5500" dirty="0"/>
          </a:p>
        </p:txBody>
      </p:sp>
      <p:sp>
        <p:nvSpPr>
          <p:cNvPr id="20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036447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0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حۡمَٰنُ</a:t>
            </a:r>
            <a:endParaRPr lang="ar-SA" sz="7000" dirty="0"/>
          </a:p>
        </p:txBody>
      </p:sp>
      <p:sp>
        <p:nvSpPr>
          <p:cNvPr id="17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063447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اَرَّحۡمَانُ</a:t>
            </a:r>
            <a:endParaRPr lang="ar-SA" sz="5200" dirty="0"/>
          </a:p>
        </p:txBody>
      </p:sp>
      <p:sp>
        <p:nvSpPr>
          <p:cNvPr id="21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ar-rahmaanu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F"/>
          </a:solidFill>
          <a:ln w="12700">
            <a:solidFill>
              <a:srgbClr val="D147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816915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3100" dirty="0"/>
          </a:p>
        </p:txBody>
      </p:sp>
      <p:sp>
        <p:nvSpPr>
          <p:cNvPr id="12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092194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9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زَّ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كَوٰةُ</a:t>
            </a:r>
            <a:endParaRPr lang="ar-SA" sz="7900" dirty="0"/>
          </a:p>
        </p:txBody>
      </p:sp>
      <p:sp>
        <p:nvSpPr>
          <p:cNvPr id="13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077278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اَزَّكَاةُ</a:t>
            </a:r>
            <a:endParaRPr lang="ar-SA" sz="50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az-zakaatu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779526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0600" dirty="0"/>
          </a:p>
        </p:txBody>
      </p:sp>
      <p:sp>
        <p:nvSpPr>
          <p:cNvPr id="14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60145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95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9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سَّ</a:t>
            </a:r>
            <a:pPr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مَآءُ</a:t>
            </a:r>
            <a:endParaRPr lang="ar-SA" sz="9500" dirty="0"/>
          </a:p>
        </p:txBody>
      </p:sp>
      <p:sp>
        <p:nvSpPr>
          <p:cNvPr id="12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37666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اَسَّمَاءُ</a:t>
            </a:r>
            <a:endParaRPr lang="ar-SA" sz="6000" dirty="0"/>
          </a:p>
        </p:txBody>
      </p:sp>
      <p:sp>
        <p:nvSpPr>
          <p:cNvPr id="16" name="C2 sounds"/>
          <p:cNvSpPr/>
          <p:nvPr/>
        </p:nvSpPr>
        <p:spPr>
          <a:xfrm>
            <a:off x="502920" y="2333625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as-samaa'u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9"/>
          </a:solidFill>
          <a:ln w="12700">
            <a:solidFill>
              <a:srgbClr val="5EED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959510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9600" dirty="0"/>
          </a:p>
        </p:txBody>
      </p:sp>
      <p:sp>
        <p:nvSpPr>
          <p:cNvPr id="20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4"/>
          </a:solidFill>
          <a:ln w="12700">
            <a:solidFill>
              <a:srgbClr val="E052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121131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66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شَّ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مۡسُ</a:t>
            </a:r>
            <a:endParaRPr lang="ar-SA" sz="6600" dirty="0"/>
          </a:p>
        </p:txBody>
      </p:sp>
      <p:sp>
        <p:nvSpPr>
          <p:cNvPr id="17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101103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اَشَّمۡسُ</a:t>
            </a:r>
            <a:endParaRPr lang="ar-SA" sz="4700" dirty="0"/>
          </a:p>
        </p:txBody>
      </p:sp>
      <p:sp>
        <p:nvSpPr>
          <p:cNvPr id="21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ash-shamsu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D147"/>
          </a:solidFill>
          <a:ln w="12700">
            <a:solidFill>
              <a:srgbClr val="9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773811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0200" dirty="0"/>
          </a:p>
        </p:txBody>
      </p:sp>
      <p:sp>
        <p:nvSpPr>
          <p:cNvPr id="12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092194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9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صَّ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لَوٰةُ</a:t>
            </a:r>
            <a:endParaRPr lang="ar-SA" sz="7900" dirty="0"/>
          </a:p>
        </p:txBody>
      </p:sp>
      <p:sp>
        <p:nvSpPr>
          <p:cNvPr id="13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164330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اَصَّلَاةُ</a:t>
            </a:r>
            <a:endParaRPr lang="ar-SA" sz="59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as-salaatu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922744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9400" dirty="0"/>
          </a:p>
        </p:txBody>
      </p:sp>
      <p:sp>
        <p:nvSpPr>
          <p:cNvPr id="14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46950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4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ضُّ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حَىٰ</a:t>
            </a:r>
            <a:endParaRPr lang="ar-SA" sz="7400" dirty="0"/>
          </a:p>
        </p:txBody>
      </p:sp>
      <p:sp>
        <p:nvSpPr>
          <p:cNvPr id="12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1214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اَضُّحَى</a:t>
            </a:r>
            <a:endParaRPr lang="ar-SA" sz="4700" dirty="0"/>
          </a:p>
        </p:txBody>
      </p:sp>
      <p:sp>
        <p:nvSpPr>
          <p:cNvPr id="16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ad-duhaa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5EED"/>
          </a:solidFill>
          <a:ln w="12700">
            <a:solidFill>
              <a:srgbClr val="6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1173734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2100" dirty="0"/>
          </a:p>
        </p:txBody>
      </p:sp>
      <p:sp>
        <p:nvSpPr>
          <p:cNvPr id="20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E052"/>
          </a:solidFill>
          <a:ln w="12700">
            <a:solidFill>
              <a:srgbClr val="C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3DB"/>
          </a:solidFill>
          <a:ln w="12700">
            <a:solidFill>
              <a:srgbClr val="709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106719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64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6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طَّ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ارِقُ</a:t>
            </a:r>
            <a:endParaRPr lang="ar-SA" sz="6400" dirty="0"/>
          </a:p>
        </p:txBody>
      </p:sp>
      <p:sp>
        <p:nvSpPr>
          <p:cNvPr id="17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086896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اَطَّارِقُ</a:t>
            </a:r>
            <a:endParaRPr lang="ar-SA" sz="4100" dirty="0"/>
          </a:p>
        </p:txBody>
      </p:sp>
      <p:sp>
        <p:nvSpPr>
          <p:cNvPr id="21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at-taariqu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1173734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2100" dirty="0"/>
          </a:p>
        </p:txBody>
      </p:sp>
      <p:sp>
        <p:nvSpPr>
          <p:cNvPr id="12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344043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2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ظُّ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لُمَٰتُ</a:t>
            </a:r>
            <a:endParaRPr lang="ar-SA" sz="7200" dirty="0"/>
          </a:p>
        </p:txBody>
      </p:sp>
      <p:sp>
        <p:nvSpPr>
          <p:cNvPr id="13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244266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اَظُّلُمَاتُ</a:t>
            </a:r>
            <a:endParaRPr lang="ar-SA" sz="46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adh-dhulumaatu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719519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700" dirty="0"/>
          </a:p>
        </p:txBody>
      </p:sp>
      <p:sp>
        <p:nvSpPr>
          <p:cNvPr id="14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040892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عِلۡمُ</a:t>
            </a:r>
            <a:endParaRPr lang="ar-SA" sz="7000" dirty="0"/>
          </a:p>
        </p:txBody>
      </p:sp>
      <p:sp>
        <p:nvSpPr>
          <p:cNvPr id="12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044854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اَلۡعِلۡمُ</a:t>
            </a:r>
            <a:endParaRPr lang="ar-SA" sz="4400" dirty="0"/>
          </a:p>
        </p:txBody>
      </p:sp>
      <p:sp>
        <p:nvSpPr>
          <p:cNvPr id="16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al-'ilmu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B"/>
          </a:solidFill>
          <a:ln w="12700">
            <a:solidFill>
              <a:srgbClr val="ED5E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882802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0400" dirty="0"/>
          </a:p>
        </p:txBody>
      </p:sp>
      <p:sp>
        <p:nvSpPr>
          <p:cNvPr id="20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11316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غَفُورُ</a:t>
            </a:r>
            <a:endParaRPr lang="ar-SA" sz="7700" dirty="0"/>
          </a:p>
        </p:txBody>
      </p:sp>
      <p:sp>
        <p:nvSpPr>
          <p:cNvPr id="17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09076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اَلۡغَفُورُ</a:t>
            </a:r>
            <a:endParaRPr lang="ar-SA" sz="4900" dirty="0"/>
          </a:p>
        </p:txBody>
      </p:sp>
      <p:sp>
        <p:nvSpPr>
          <p:cNvPr id="21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al-ghafooru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1112596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400" dirty="0"/>
          </a:p>
        </p:txBody>
      </p:sp>
      <p:sp>
        <p:nvSpPr>
          <p:cNvPr id="12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097280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5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فَلَقُ</a:t>
            </a:r>
            <a:endParaRPr lang="ar-SA" sz="7500" dirty="0"/>
          </a:p>
        </p:txBody>
      </p:sp>
      <p:sp>
        <p:nvSpPr>
          <p:cNvPr id="13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080821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اَلۡفَلَقُ</a:t>
            </a:r>
            <a:endParaRPr lang="ar-SA" sz="4800" dirty="0"/>
          </a:p>
        </p:txBody>
      </p:sp>
      <p:sp>
        <p:nvSpPr>
          <p:cNvPr id="17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al-falaqu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931418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900" dirty="0"/>
          </a:p>
        </p:txBody>
      </p:sp>
      <p:sp>
        <p:nvSpPr>
          <p:cNvPr id="14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1316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قَمَرُ</a:t>
            </a:r>
            <a:endParaRPr lang="ar-SA" sz="7700" dirty="0"/>
          </a:p>
        </p:txBody>
      </p:sp>
      <p:sp>
        <p:nvSpPr>
          <p:cNvPr id="12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09076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اَلۡقَمَرُ</a:t>
            </a:r>
            <a:endParaRPr lang="ar-SA" sz="4900" dirty="0"/>
          </a:p>
        </p:txBody>
      </p:sp>
      <p:sp>
        <p:nvSpPr>
          <p:cNvPr id="16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al-qamaru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ED5E"/>
          </a:solidFill>
          <a:ln w="12700">
            <a:solidFill>
              <a:srgbClr val="9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1165479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800" dirty="0"/>
          </a:p>
        </p:txBody>
      </p:sp>
      <p:sp>
        <p:nvSpPr>
          <p:cNvPr id="20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52E0"/>
          </a:solidFill>
          <a:ln w="12700">
            <a:solidFill>
              <a:srgbClr val="B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133207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كِتَٰبُ</a:t>
            </a:r>
            <a:endParaRPr lang="ar-SA" sz="7900" dirty="0"/>
          </a:p>
        </p:txBody>
      </p:sp>
      <p:sp>
        <p:nvSpPr>
          <p:cNvPr id="17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103236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اَلۡكِتَابُ</a:t>
            </a:r>
            <a:endParaRPr lang="ar-SA" sz="5000" dirty="0"/>
          </a:p>
        </p:txBody>
      </p:sp>
      <p:sp>
        <p:nvSpPr>
          <p:cNvPr id="21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al-kitaabu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A47"/>
          </a:solidFill>
          <a:ln w="12700">
            <a:solidFill>
              <a:srgbClr val="D1A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08C00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1014984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00" dirty="0"/>
          </a:p>
        </p:txBody>
      </p:sp>
      <p:sp>
        <p:nvSpPr>
          <p:cNvPr id="12" name="C1 icon"/>
          <p:cNvSpPr/>
          <p:nvPr/>
        </p:nvSpPr>
        <p:spPr>
          <a:xfrm>
            <a:off x="2377440" y="1188720"/>
            <a:ext cx="1463040" cy="14630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شمسي: لا ننطق اللام</a:t>
            </a:r>
            <a:endParaRPr lang="ar-SA" sz="2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F08C00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180343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000" dirty="0">
                <a:solidFill>
                  <a:srgbClr val="ADB5B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لَّ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يۡلُ</a:t>
            </a:r>
            <a:endParaRPr lang="ar-SA" sz="7000" dirty="0"/>
          </a:p>
        </p:txBody>
      </p:sp>
      <p:sp>
        <p:nvSpPr>
          <p:cNvPr id="13" name="Icon"/>
          <p:cNvSpPr/>
          <p:nvPr/>
        </p:nvSpPr>
        <p:spPr>
          <a:xfrm>
            <a:off x="5029200" y="1124712"/>
            <a:ext cx="548640" cy="5486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F08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132510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اَللَّيۡلُ</a:t>
            </a:r>
            <a:endParaRPr lang="ar-SA" sz="4400" dirty="0"/>
          </a:p>
        </p:txBody>
      </p:sp>
      <p:sp>
        <p:nvSpPr>
          <p:cNvPr id="17" name="C2 sounds"/>
          <p:cNvSpPr/>
          <p:nvPr/>
        </p:nvSpPr>
        <p:spPr>
          <a:xfrm>
            <a:off x="502920" y="2301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al-laylu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لا تُنطق والحرف مشدد</a:t>
            </a:r>
            <a:endParaRPr lang="ar-SA" sz="2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3" name="Letter"/>
          <p:cNvSpPr txBox="1"/>
          <p:nvPr/>
        </p:nvSpPr>
        <p:spPr>
          <a:xfrm>
            <a:off x="5394960" y="525336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3700" dirty="0"/>
          </a:p>
        </p:txBody>
      </p:sp>
      <p:sp>
        <p:nvSpPr>
          <p:cNvPr id="14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5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1" name="C1 written"/>
          <p:cNvSpPr txBox="1"/>
          <p:nvPr/>
        </p:nvSpPr>
        <p:spPr>
          <a:xfrm>
            <a:off x="4937760" y="1146643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8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مَلِكُ</a:t>
            </a:r>
            <a:endParaRPr lang="ar-SA" sz="8000" dirty="0"/>
          </a:p>
        </p:txBody>
      </p:sp>
      <p:sp>
        <p:nvSpPr>
          <p:cNvPr id="12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5" name="C2 read"/>
          <p:cNvSpPr txBox="1"/>
          <p:nvPr/>
        </p:nvSpPr>
        <p:spPr>
          <a:xfrm>
            <a:off x="365760" y="1112176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اَلۡمَلِكُ</a:t>
            </a:r>
            <a:endParaRPr lang="ar-SA" sz="5100" dirty="0"/>
          </a:p>
        </p:txBody>
      </p:sp>
      <p:sp>
        <p:nvSpPr>
          <p:cNvPr id="16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al-maliku</a:t>
            </a:r>
            <a:endParaRPr lang="en-US" sz="3000" dirty="0"/>
          </a:p>
        </p:txBody>
      </p:sp>
      <p:sp>
        <p:nvSpPr>
          <p:cNvPr id="17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2ED"/>
          </a:solidFill>
          <a:ln w="12700">
            <a:solidFill>
              <a:srgbClr val="5EC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9" name="Letter"/>
          <p:cNvSpPr txBox="1"/>
          <p:nvPr/>
        </p:nvSpPr>
        <p:spPr>
          <a:xfrm>
            <a:off x="5394960" y="915162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5600" dirty="0"/>
          </a:p>
        </p:txBody>
      </p:sp>
      <p:sp>
        <p:nvSpPr>
          <p:cNvPr id="20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21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E52"/>
          </a:solidFill>
          <a:ln w="12700">
            <a:solidFill>
              <a:srgbClr val="E08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3"/>
          </a:solidFill>
          <a:ln w="12700">
            <a:solidFill>
              <a:srgbClr val="70DB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6" name="C1 written"/>
          <p:cNvSpPr txBox="1"/>
          <p:nvPr/>
        </p:nvSpPr>
        <p:spPr>
          <a:xfrm>
            <a:off x="4937760" y="111316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هُدَىٰ</a:t>
            </a:r>
            <a:endParaRPr lang="ar-SA" sz="7700" dirty="0"/>
          </a:p>
        </p:txBody>
      </p:sp>
      <p:sp>
        <p:nvSpPr>
          <p:cNvPr id="17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8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20" name="C2 read"/>
          <p:cNvSpPr txBox="1"/>
          <p:nvPr/>
        </p:nvSpPr>
        <p:spPr>
          <a:xfrm>
            <a:off x="365760" y="109076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اَلۡهُدَى</a:t>
            </a:r>
            <a:endParaRPr lang="ar-SA" sz="4900" dirty="0"/>
          </a:p>
        </p:txBody>
      </p:sp>
      <p:sp>
        <p:nvSpPr>
          <p:cNvPr id="21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al-hudaa</a:t>
            </a:r>
            <a:endParaRPr lang="en-US" sz="3000" dirty="0"/>
          </a:p>
        </p:txBody>
      </p:sp>
      <p:sp>
        <p:nvSpPr>
          <p:cNvPr id="22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E"/>
          </a:solidFill>
          <a:ln w="12700">
            <a:solidFill>
              <a:srgbClr val="64D8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8"/>
          </a:solidFill>
          <a:ln w="12700">
            <a:solidFill>
              <a:srgbClr val="47D1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letter"/>
          <p:cNvSpPr/>
          <p:nvPr/>
        </p:nvSpPr>
        <p:spPr>
          <a:xfrm>
            <a:off x="5394960" y="1143000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4263EB"/>
            </a:solidFill>
            <a:prstDash val="solid"/>
          </a:ln>
        </p:spPr>
      </p:sp>
      <p:sp>
        <p:nvSpPr>
          <p:cNvPr id="11" name="Letter"/>
          <p:cNvSpPr txBox="1"/>
          <p:nvPr/>
        </p:nvSpPr>
        <p:spPr>
          <a:xfrm>
            <a:off x="5394960" y="542608"/>
            <a:ext cx="23774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5500" dirty="0"/>
          </a:p>
        </p:txBody>
      </p:sp>
      <p:sp>
        <p:nvSpPr>
          <p:cNvPr id="12" name="C1 icon"/>
          <p:cNvSpPr/>
          <p:nvPr/>
        </p:nvSpPr>
        <p:spPr>
          <a:xfrm>
            <a:off x="2670048" y="1188720"/>
            <a:ext cx="877824" cy="14630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3" name="C1 label box"/>
          <p:cNvSpPr/>
          <p:nvPr/>
        </p:nvSpPr>
        <p:spPr>
          <a:xfrm>
            <a:off x="914400" y="29260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1 label"/>
          <p:cNvSpPr txBox="1"/>
          <p:nvPr/>
        </p:nvSpPr>
        <p:spPr>
          <a:xfrm>
            <a:off x="914400" y="2866314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قمري: ننطق اللام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4937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0">
            <a:solidFill>
              <a:srgbClr val="4263EB"/>
            </a:solidFill>
            <a:prstDash val="solid"/>
          </a:ln>
        </p:spPr>
      </p:sp>
      <p:sp>
        <p:nvSpPr>
          <p:cNvPr id="12" name="C1 written"/>
          <p:cNvSpPr txBox="1"/>
          <p:nvPr/>
        </p:nvSpPr>
        <p:spPr>
          <a:xfrm>
            <a:off x="4937760" y="1113168"/>
            <a:ext cx="38404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</a:t>
            </a:r>
            <a:pPr algn="ctr" indent="0" marL="0">
              <a:buNone/>
            </a:pPr>
            <a:r>
              <a:rPr lang="ar-SA" altLang="en-US" sz="7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وَلَدُ</a:t>
            </a:r>
            <a:endParaRPr lang="ar-SA" sz="7700" dirty="0"/>
          </a:p>
        </p:txBody>
      </p:sp>
      <p:sp>
        <p:nvSpPr>
          <p:cNvPr id="13" name="Icon"/>
          <p:cNvSpPr/>
          <p:nvPr/>
        </p:nvSpPr>
        <p:spPr>
          <a:xfrm>
            <a:off x="5138928" y="1124712"/>
            <a:ext cx="329184" cy="5486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  <p:sp>
        <p:nvSpPr>
          <p:cNvPr id="14" name="C2 arrow"/>
          <p:cNvSpPr/>
          <p:nvPr/>
        </p:nvSpPr>
        <p:spPr>
          <a:xfrm>
            <a:off x="4343400" y="1691640"/>
            <a:ext cx="502920" cy="548640"/>
          </a:xfrm>
          <a:prstGeom prst="leftArrow">
            <a:avLst/>
          </a:prstGeom>
          <a:solidFill>
            <a:srgbClr val="42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read"/>
          <p:cNvSpPr/>
          <p:nvPr/>
        </p:nvSpPr>
        <p:spPr>
          <a:xfrm>
            <a:off x="365760" y="1051560"/>
            <a:ext cx="3840480" cy="1828800"/>
          </a:xfrm>
          <a:prstGeom prst="roundRect">
            <a:avLst>
              <a:gd name="adj" fmla="val 12500"/>
            </a:avLst>
          </a:prstGeom>
          <a:solidFill>
            <a:srgbClr val="FFFBE3"/>
          </a:solidFill>
          <a:ln w="88900">
            <a:solidFill>
              <a:srgbClr val="F2B134"/>
            </a:solidFill>
            <a:prstDash val="solid"/>
          </a:ln>
        </p:spPr>
      </p:sp>
      <p:sp>
        <p:nvSpPr>
          <p:cNvPr id="16" name="C2 read"/>
          <p:cNvSpPr txBox="1"/>
          <p:nvPr/>
        </p:nvSpPr>
        <p:spPr>
          <a:xfrm>
            <a:off x="365760" y="1090765"/>
            <a:ext cx="38404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اَلۡوَلَدُ</a:t>
            </a:r>
            <a:endParaRPr lang="ar-SA" sz="4900" dirty="0"/>
          </a:p>
        </p:txBody>
      </p:sp>
      <p:sp>
        <p:nvSpPr>
          <p:cNvPr id="17" name="C2 sounds"/>
          <p:cNvSpPr/>
          <p:nvPr/>
        </p:nvSpPr>
        <p:spPr>
          <a:xfrm>
            <a:off x="502920" y="23393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al-waladu</a:t>
            </a:r>
            <a:endParaRPr lang="en-US" sz="3000" dirty="0"/>
          </a:p>
        </p:txBody>
      </p:sp>
      <p:sp>
        <p:nvSpPr>
          <p:cNvPr id="18" name="C3 label box"/>
          <p:cNvSpPr/>
          <p:nvPr/>
        </p:nvSpPr>
        <p:spPr>
          <a:xfrm>
            <a:off x="365760" y="3063240"/>
            <a:ext cx="841248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label"/>
          <p:cNvSpPr txBox="1"/>
          <p:nvPr/>
        </p:nvSpPr>
        <p:spPr>
          <a:xfrm>
            <a:off x="365760" y="3046197"/>
            <a:ext cx="84124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اللام ساكنة وتُنطق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3" name="Word"/>
          <p:cNvSpPr txBox="1"/>
          <p:nvPr/>
        </p:nvSpPr>
        <p:spPr>
          <a:xfrm>
            <a:off x="2286000" y="1089114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ٱلشَّمۡسُ</a:t>
            </a:r>
            <a:endParaRPr lang="ar-SA" sz="7900" dirty="0"/>
          </a:p>
        </p:txBody>
      </p:sp>
      <p:sp>
        <p:nvSpPr>
          <p:cNvPr id="14" name="C1 icon"/>
          <p:cNvSpPr/>
          <p:nvPr/>
        </p:nvSpPr>
        <p:spPr>
          <a:xfrm>
            <a:off x="4023360" y="3063240"/>
            <a:ext cx="1005840" cy="10058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1" name="Word"/>
          <p:cNvSpPr txBox="1"/>
          <p:nvPr/>
        </p:nvSpPr>
        <p:spPr>
          <a:xfrm>
            <a:off x="2286000" y="1071448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ٱلۡقَمَرُ</a:t>
            </a:r>
            <a:endParaRPr lang="ar-SA" sz="8200" dirty="0"/>
          </a:p>
        </p:txBody>
      </p:sp>
      <p:sp>
        <p:nvSpPr>
          <p:cNvPr id="12" name="C1 icon"/>
          <p:cNvSpPr/>
          <p:nvPr/>
        </p:nvSpPr>
        <p:spPr>
          <a:xfrm>
            <a:off x="4224528" y="3063240"/>
            <a:ext cx="603504" cy="10058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6"/>
          </a:solidFill>
          <a:ln w="12700">
            <a:solidFill>
              <a:srgbClr val="ED5E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9" name="Word"/>
          <p:cNvSpPr txBox="1"/>
          <p:nvPr/>
        </p:nvSpPr>
        <p:spPr>
          <a:xfrm>
            <a:off x="2286000" y="987489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ٱلرَّحۡمَٰنُ</a:t>
            </a:r>
            <a:endParaRPr lang="ar-SA" sz="8500" dirty="0"/>
          </a:p>
        </p:txBody>
      </p:sp>
      <p:sp>
        <p:nvSpPr>
          <p:cNvPr id="20" name="C1 icon"/>
          <p:cNvSpPr/>
          <p:nvPr/>
        </p:nvSpPr>
        <p:spPr>
          <a:xfrm>
            <a:off x="4023360" y="3063240"/>
            <a:ext cx="1005840" cy="10058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B"/>
          </a:solidFill>
          <a:ln w="12700">
            <a:solidFill>
              <a:srgbClr val="52E0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6" name="Word"/>
          <p:cNvSpPr txBox="1"/>
          <p:nvPr/>
        </p:nvSpPr>
        <p:spPr>
          <a:xfrm>
            <a:off x="2286000" y="1092655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ٱلۡكِتَٰبُ</a:t>
            </a:r>
            <a:endParaRPr lang="ar-SA" sz="8400" dirty="0"/>
          </a:p>
        </p:txBody>
      </p:sp>
      <p:sp>
        <p:nvSpPr>
          <p:cNvPr id="17" name="C1 icon"/>
          <p:cNvSpPr/>
          <p:nvPr/>
        </p:nvSpPr>
        <p:spPr>
          <a:xfrm>
            <a:off x="4224528" y="3063240"/>
            <a:ext cx="603504" cy="10058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64D8"/>
          </a:solidFill>
          <a:ln w="12700">
            <a:solidFill>
              <a:srgbClr val="9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47D1"/>
          </a:solidFill>
          <a:ln w="12700">
            <a:solidFill>
              <a:srgbClr val="6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1" name="Word"/>
          <p:cNvSpPr txBox="1"/>
          <p:nvPr/>
        </p:nvSpPr>
        <p:spPr>
          <a:xfrm>
            <a:off x="2286000" y="1009796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ٱلنَّاسُ</a:t>
            </a:r>
            <a:endParaRPr lang="ar-SA" sz="8900" dirty="0"/>
          </a:p>
        </p:txBody>
      </p:sp>
      <p:sp>
        <p:nvSpPr>
          <p:cNvPr id="12" name="C1 icon"/>
          <p:cNvSpPr/>
          <p:nvPr/>
        </p:nvSpPr>
        <p:spPr>
          <a:xfrm>
            <a:off x="4023360" y="3063240"/>
            <a:ext cx="1005840" cy="10058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2" name="Word"/>
          <p:cNvSpPr txBox="1"/>
          <p:nvPr/>
        </p:nvSpPr>
        <p:spPr>
          <a:xfrm>
            <a:off x="2286000" y="1103535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ٱلۡبَيۡتُ</a:t>
            </a:r>
            <a:endParaRPr lang="ar-SA" sz="8500" dirty="0"/>
          </a:p>
        </p:txBody>
      </p:sp>
      <p:sp>
        <p:nvSpPr>
          <p:cNvPr id="13" name="C1 icon"/>
          <p:cNvSpPr/>
          <p:nvPr/>
        </p:nvSpPr>
        <p:spPr>
          <a:xfrm>
            <a:off x="4224528" y="3063240"/>
            <a:ext cx="603504" cy="10058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3" name="Word"/>
          <p:cNvSpPr txBox="1"/>
          <p:nvPr/>
        </p:nvSpPr>
        <p:spPr>
          <a:xfrm>
            <a:off x="2286000" y="1049045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ٱلصَّلَوٰةُ</a:t>
            </a:r>
            <a:endParaRPr lang="ar-SA" sz="8400" dirty="0"/>
          </a:p>
        </p:txBody>
      </p:sp>
      <p:sp>
        <p:nvSpPr>
          <p:cNvPr id="14" name="C1 icon"/>
          <p:cNvSpPr/>
          <p:nvPr/>
        </p:nvSpPr>
        <p:spPr>
          <a:xfrm>
            <a:off x="4023360" y="3063240"/>
            <a:ext cx="1005840" cy="10058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1" name="Word"/>
          <p:cNvSpPr txBox="1"/>
          <p:nvPr/>
        </p:nvSpPr>
        <p:spPr>
          <a:xfrm>
            <a:off x="2286000" y="994562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ٱلۡعِلۡمُ</a:t>
            </a:r>
            <a:endParaRPr lang="ar-SA" sz="7400" dirty="0"/>
          </a:p>
        </p:txBody>
      </p:sp>
      <p:sp>
        <p:nvSpPr>
          <p:cNvPr id="12" name="C1 icon"/>
          <p:cNvSpPr/>
          <p:nvPr/>
        </p:nvSpPr>
        <p:spPr>
          <a:xfrm>
            <a:off x="4224528" y="3063240"/>
            <a:ext cx="603504" cy="10058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15E"/>
          </a:solidFill>
          <a:ln w="12700">
            <a:solidFill>
              <a:srgbClr val="EDD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9" name="Word"/>
          <p:cNvSpPr txBox="1"/>
          <p:nvPr/>
        </p:nvSpPr>
        <p:spPr>
          <a:xfrm>
            <a:off x="2286000" y="1021861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ٱلدِّينُ</a:t>
            </a:r>
            <a:endParaRPr lang="ar-SA" sz="8700" dirty="0"/>
          </a:p>
        </p:txBody>
      </p:sp>
      <p:sp>
        <p:nvSpPr>
          <p:cNvPr id="20" name="C1 icon"/>
          <p:cNvSpPr/>
          <p:nvPr/>
        </p:nvSpPr>
        <p:spPr>
          <a:xfrm>
            <a:off x="4023360" y="3063240"/>
            <a:ext cx="1005840" cy="1005840"/>
          </a:xfrm>
          <a:prstGeom prst="sun">
            <a:avLst/>
          </a:prstGeom>
          <a:solidFill>
            <a:srgbClr val="FFD43B"/>
          </a:solidFill>
          <a:ln w="25400">
            <a:solidFill>
              <a:srgbClr val="F08C00"/>
            </a:solidFill>
            <a:prstDash val="solid"/>
          </a:ln>
        </p:spPr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CE0"/>
          </a:solidFill>
          <a:ln w="12700">
            <a:solidFill>
              <a:srgbClr val="525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E70"/>
          </a:solidFill>
          <a:ln w="12700">
            <a:solidFill>
              <a:srgbClr val="DB9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Panel word"/>
          <p:cNvSpPr/>
          <p:nvPr/>
        </p:nvSpPr>
        <p:spPr>
          <a:xfrm>
            <a:off x="2286000" y="1005840"/>
            <a:ext cx="4572000" cy="19202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6" name="Word"/>
          <p:cNvSpPr txBox="1"/>
          <p:nvPr/>
        </p:nvSpPr>
        <p:spPr>
          <a:xfrm>
            <a:off x="2286000" y="1106866"/>
            <a:ext cx="4572000" cy="1920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ٱلۡمَلِكُ</a:t>
            </a:r>
            <a:endParaRPr lang="ar-SA" sz="8500" dirty="0"/>
          </a:p>
        </p:txBody>
      </p:sp>
      <p:sp>
        <p:nvSpPr>
          <p:cNvPr id="17" name="C1 icon"/>
          <p:cNvSpPr/>
          <p:nvPr/>
        </p:nvSpPr>
        <p:spPr>
          <a:xfrm>
            <a:off x="4224528" y="3063240"/>
            <a:ext cx="603504" cy="1005840"/>
          </a:xfrm>
          <a:prstGeom prst="moon">
            <a:avLst/>
          </a:prstGeom>
          <a:solidFill>
            <a:srgbClr val="BAC8FF"/>
          </a:solidFill>
          <a:ln w="25400">
            <a:solidFill>
              <a:srgbClr val="4263EB"/>
            </a:solidFill>
            <a:prstDash val="solid"/>
          </a:ln>
        </p:spPr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464"/>
          </a:solidFill>
          <a:ln w="12700">
            <a:solidFill>
              <a:srgbClr val="D87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C"/>
          </a:solidFill>
          <a:ln w="12700">
            <a:solidFill>
              <a:srgbClr val="D147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288053" y="896112"/>
            <a:ext cx="33385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8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288053" y="896112"/>
            <a:ext cx="33385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وَٱلشَّمۡسِ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517371" y="896112"/>
            <a:ext cx="2450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517371" y="896112"/>
            <a:ext cx="2450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وَضُحَىٰهَا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1848004" y="2834640"/>
            <a:ext cx="54479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1848004" y="2834640"/>
            <a:ext cx="54479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وَٱلشَّمۡسِ وَضُحَىٰهَا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279664" y="896112"/>
            <a:ext cx="22051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B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279664" y="896112"/>
            <a:ext cx="22051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وَٱلۡقَمَرِ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3672689" y="896112"/>
            <a:ext cx="1286935" cy="1371600"/>
          </a:xfrm>
          <a:prstGeom prst="roundRect">
            <a:avLst>
              <a:gd name="adj" fmla="val 28421"/>
            </a:avLst>
          </a:prstGeom>
          <a:solidFill>
            <a:srgbClr val="FFFFFF"/>
          </a:solidFill>
          <a:ln w="76200">
            <a:solidFill>
              <a:srgbClr val="AB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672689" y="896112"/>
            <a:ext cx="128693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إِذَا</a:t>
            </a:r>
            <a:endParaRPr lang="ar-SA" sz="4400" dirty="0"/>
          </a:p>
        </p:txBody>
      </p:sp>
      <p:sp>
        <p:nvSpPr>
          <p:cNvPr id="15" name="C3 W3 pill"/>
          <p:cNvSpPr/>
          <p:nvPr/>
        </p:nvSpPr>
        <p:spPr>
          <a:xfrm>
            <a:off x="1659150" y="896112"/>
            <a:ext cx="16934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B36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59150" y="896112"/>
            <a:ext cx="16934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تَلَىٰهَا</a:t>
            </a:r>
            <a:endParaRPr lang="ar-SA" sz="44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509586" y="2834640"/>
            <a:ext cx="412482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509586" y="2834640"/>
            <a:ext cx="412482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وَٱلۡقَمَرِ إِذَا تَلَىٰهَا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413684" y="896112"/>
            <a:ext cx="29440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D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413684" y="896112"/>
            <a:ext cx="29440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ٱلرَّحۡمَٰنِ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1786218" y="896112"/>
            <a:ext cx="23074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D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1786218" y="896112"/>
            <a:ext cx="2307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ٱلرَّحِيمِ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118653" y="2834640"/>
            <a:ext cx="49066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118653" y="2834640"/>
            <a:ext cx="49066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ٱلرَّحۡمَٰنِ ٱلرَّحِيمِ</a:t>
            </a:r>
            <a:endParaRPr lang="ar-SA" sz="4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74789" y="896112"/>
            <a:ext cx="16968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6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74789" y="896112"/>
            <a:ext cx="16968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مَٰلِكِ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732927" y="896112"/>
            <a:ext cx="19218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32927" y="896112"/>
            <a:ext cx="19218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يَوۡمِ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1472390" y="896112"/>
            <a:ext cx="194049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472390" y="896112"/>
            <a:ext cx="194049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ٱلدِّينِ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11183" y="2834640"/>
            <a:ext cx="45216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11183" y="2834640"/>
            <a:ext cx="45216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مَٰلِكِ يَوۡمِ ٱلدِّينِ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D"/>
          </a:solidFill>
          <a:ln w="12700">
            <a:solidFill>
              <a:srgbClr val="5EED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899271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3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899271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20" name="C2 W2 pill"/>
          <p:cNvSpPr/>
          <p:nvPr/>
        </p:nvSpPr>
        <p:spPr>
          <a:xfrm>
            <a:off x="4826822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3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826822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22" name="C3 W3 pill"/>
          <p:cNvSpPr/>
          <p:nvPr/>
        </p:nvSpPr>
        <p:spPr>
          <a:xfrm>
            <a:off x="2794391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3E2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2794391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4" name="C4 W4 pill"/>
          <p:cNvSpPr/>
          <p:nvPr/>
        </p:nvSpPr>
        <p:spPr>
          <a:xfrm>
            <a:off x="533288" y="896112"/>
            <a:ext cx="194106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3E2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533288" y="896112"/>
            <a:ext cx="194106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ٱلۡفَلَقِ</a:t>
            </a:r>
            <a:endParaRPr lang="ar-SA" sz="4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1760619" y="2834640"/>
            <a:ext cx="56227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1760619" y="2834640"/>
            <a:ext cx="56227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ٱلۡفَلَقِ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0"/>
          </a:solidFill>
          <a:ln w="12700">
            <a:solidFill>
              <a:srgbClr val="E052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3"/>
          </a:solidFill>
          <a:ln w="12700">
            <a:solidFill>
              <a:srgbClr val="70DB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7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1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9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1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1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1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D864"/>
          </a:solidFill>
          <a:ln w="12700">
            <a:solidFill>
              <a:srgbClr val="7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D147"/>
          </a:solidFill>
          <a:ln w="12700">
            <a:solidFill>
              <a:srgbClr val="6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59163" y="896112"/>
            <a:ext cx="207624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D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59163" y="896112"/>
            <a:ext cx="207624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وَٱلتِّينِ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808591" y="896112"/>
            <a:ext cx="31305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808591" y="896112"/>
            <a:ext cx="31305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وَٱلزَّيۡتُونِ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135436" y="2834640"/>
            <a:ext cx="487312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135436" y="2834640"/>
            <a:ext cx="487312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وَٱلتِّينِ وَٱلزَّيۡتُونِ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201717" y="896112"/>
            <a:ext cx="24385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0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201717" y="896112"/>
            <a:ext cx="24385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</a:t>
            </a:r>
            <a:endParaRPr lang="ar-SA" sz="3500" dirty="0"/>
          </a:p>
        </p:txBody>
      </p:sp>
      <p:sp>
        <p:nvSpPr>
          <p:cNvPr id="13" name="C2 W2 pill"/>
          <p:cNvSpPr/>
          <p:nvPr/>
        </p:nvSpPr>
        <p:spPr>
          <a:xfrm>
            <a:off x="4618979" y="896112"/>
            <a:ext cx="1262698" cy="1371600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 w="76200">
            <a:solidFill>
              <a:srgbClr val="E280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618979" y="896112"/>
            <a:ext cx="12626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لِلَّهِ</a:t>
            </a:r>
            <a:endParaRPr lang="ar-SA" sz="3500" dirty="0"/>
          </a:p>
        </p:txBody>
      </p:sp>
      <p:sp>
        <p:nvSpPr>
          <p:cNvPr id="15" name="C3 W3 pill"/>
          <p:cNvSpPr/>
          <p:nvPr/>
        </p:nvSpPr>
        <p:spPr>
          <a:xfrm>
            <a:off x="2920454" y="896112"/>
            <a:ext cx="13784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0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2920454" y="896112"/>
            <a:ext cx="13784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3500" dirty="0"/>
          </a:p>
        </p:txBody>
      </p:sp>
      <p:sp>
        <p:nvSpPr>
          <p:cNvPr id="17" name="C4 W4 pill"/>
          <p:cNvSpPr/>
          <p:nvPr/>
        </p:nvSpPr>
        <p:spPr>
          <a:xfrm>
            <a:off x="503709" y="896112"/>
            <a:ext cx="209670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036E2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503709" y="896112"/>
            <a:ext cx="209670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35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1520492" y="2834640"/>
            <a:ext cx="610301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1520492" y="2834640"/>
            <a:ext cx="610301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 لِلَّهِ رَبِّ ٱلۡعَٰلَمِينَ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 and moon letters</dc:title>
  <dc:subject>PptxGenJS Presentation</dc:subject>
  <dc:creator>PptxGenJS</dc:creator>
  <cp:lastModifiedBy>PptxGenJS</cp:lastModifiedBy>
  <cp:revision>1</cp:revision>
  <dcterms:created xsi:type="dcterms:W3CDTF">2026-10-21T19:13:37Z</dcterms:created>
  <dcterms:modified xsi:type="dcterms:W3CDTF">2026-10-21T19:13:37Z</dcterms:modified>
</cp:coreProperties>
</file>