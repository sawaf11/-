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(ال) is two letters: a connecting hamza ٱ and a lam. The lam is always written, but it is pronounced before some letters and silent before others. The letters where we say the lam are the MOON letters; the letters where the lam is silent are the SUN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Moon lam: the lam carries the Quranic sukun, so we pronounce it clearly: al-qamaru (the moon). There are 14 moon letters, gathered in the phrase ٱبۡغِ حَجَّكَ وَخَفۡ عَقِيمَهُۥ.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Sun lam: the lam has no mark and the next letter has a shaddah, so the lam merges into it and is not pronounced: ash-shamsu (the sun), not al-shamsu. The other 14 letters are sun letters.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14 moon letters: ا ب ج ح خ ع غ ف ق ك م و ه ي. Before them the lam has a sukun and is pronounced. Moon lam: the lam carries the Quranic sukun, so we pronounce it clearly: al-qamaru (the moon). There are 14 moon letters, gathered in the phrase ٱبۡغِ حَجَّكَ وَخَفۡ عَقِيمَهُۥ.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14 sun letters: ت ث د ذ ر ز س ش ص ض ط ظ ل ن. Before them the lam is silent and the letter is doubled. When reading the Mushaf you do not need the list: a sukun on the lam means say it; a lam with no mark and a shaddah after it means skip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أ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al-ardu: the lam has a sukun, so we read اَلۡأَرۡضُ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ب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al-baytu: the lam has a sukun, so we read اَلۡبَيۡتُ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ت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at-teenu: the lam has no mark and the ت has a shaddah, so we read اَتِّينُ.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ث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ath-thamaraatu: the lam has no mark and the ث has a shaddah, so we read اَثَّمَرَاتُ.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ن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an-naasu: the lam has no mark and the ن has a shaddah, so we read اَنَّاسُ.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ي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al-yawmu: the lam has a sukun, so we read اَلۡيَوۡمُ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ج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al-jannatu: the lam has a sukun, so we read اَلۡجَنَّةُ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ح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al-hamdu: the lam has a sukun, so we read اَلۡحَمۡدُ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خ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al-khayru: the lam has a sukun, so we read اَلۡخَيۡرُ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د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ad-deenu: the lam has no mark and the د has a shaddah, so we read اَدِّينُ.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ذ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adh-dhikru: the lam has no mark and the ذ has a shaddah, so we read اَذِّكۡرُ.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ر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ar-rahmaanu: the lam has no mark and the ر has a shaddah, so we read اَرَّحۡمَانُ.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ز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az-zakaatu: the lam has no mark and the ز has a shaddah, so we read اَزَّكَاةُ.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س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as-samaa'u: the lam has no mark and the س has a shaddah, so we read اَسَّمَاءُ.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ش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ash-shamsu: the lam has no mark and the ش has a shaddah, so we read اَشَّمۡسُ.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ص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as-salaatu: the lam has no mark and the ص has a shaddah, so we read اَصَّلَاةُ.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ض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ad-duhaa: the lam has no mark and the ض has a shaddah, so we read اَضُّحَى.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ط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at-taariqu: the lam has no mark and the ط has a shaddah, so we read اَطَّارِقُ.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ظ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adh-dhulumaatu: the lam has no mark and the ظ has a shaddah, so we read اَظُّلُمَاتُ.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ع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al-'ilmu: the lam has a sukun, so we read اَلۡعِلۡمُ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غ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al-ghafooru: the lam has a sukun, so we read اَلۡغَفُورُ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ف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al-falaqu: the lam has a sukun, so we read اَلۡفَلَقُ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ق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al-qamaru: the lam has a sukun, so we read اَلۡقَمَرُ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ك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al-kitaabu: the lam has a sukun, so we read اَلۡكِتَابُ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ل a sun or a moon letter? Ask the learners before you click. Sun: the lam before it is silent and the letter is doubled.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al-laylu: the lam has no mark and the ل has a shaddah, so we read اَللَّيۡلُ.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م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al-maliku: the lam has a sukun, so we read اَلۡمَلِكُ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ه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al-hudaa: the lam has a sukun, so we read اَلۡهُدَى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و a sun or a moon letter? Ask the learners before you click. Moon: the lam before it has a sukun and is pronounced.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al-waladu: the lam has a sukun, so we read اَلۡوَلَدُ and say the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No: no mark on the lam and a shaddah after it (sun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Question: is the lam pronounced here? Look above the lam before clicking. Yes: a sukun on the lam (moon letter).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every al- in the verse: a sukun on the lam (say it) or a shaddah after it (skip it)?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hamza"/>
          <p:cNvSpPr/>
          <p:nvPr/>
        </p:nvSpPr>
        <p:spPr>
          <a:xfrm>
            <a:off x="6309360" y="1051560"/>
            <a:ext cx="237744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2F9E44"/>
            </a:solidFill>
            <a:prstDash val="solid"/>
          </a:ln>
        </p:spPr>
      </p:sp>
      <p:sp>
        <p:nvSpPr>
          <p:cNvPr id="12" name="C1 hamza"/>
          <p:cNvSpPr txBox="1"/>
          <p:nvPr/>
        </p:nvSpPr>
        <p:spPr>
          <a:xfrm>
            <a:off x="6309360" y="1158024"/>
            <a:ext cx="237744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endParaRPr lang="ar-SA" sz="10100" dirty="0"/>
          </a:p>
        </p:txBody>
      </p:sp>
      <p:sp>
        <p:nvSpPr>
          <p:cNvPr id="13" name="C2 plus"/>
          <p:cNvSpPr/>
          <p:nvPr/>
        </p:nvSpPr>
        <p:spPr>
          <a:xfrm>
            <a:off x="5623560" y="1691640"/>
            <a:ext cx="548640" cy="54864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lam"/>
          <p:cNvSpPr/>
          <p:nvPr/>
        </p:nvSpPr>
        <p:spPr>
          <a:xfrm>
            <a:off x="3108960" y="1051560"/>
            <a:ext cx="237744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5" name="C2 lam"/>
          <p:cNvSpPr txBox="1"/>
          <p:nvPr/>
        </p:nvSpPr>
        <p:spPr>
          <a:xfrm>
            <a:off x="3108960" y="939546"/>
            <a:ext cx="237744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9800" dirty="0"/>
          </a:p>
        </p:txBody>
      </p:sp>
      <p:sp>
        <p:nvSpPr>
          <p:cNvPr id="16" name="C3 arrow"/>
          <p:cNvSpPr/>
          <p:nvPr/>
        </p:nvSpPr>
        <p:spPr>
          <a:xfrm>
            <a:off x="2377440" y="1691640"/>
            <a:ext cx="594360" cy="548640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Panel al"/>
          <p:cNvSpPr/>
          <p:nvPr/>
        </p:nvSpPr>
        <p:spPr>
          <a:xfrm>
            <a:off x="365760" y="1051560"/>
            <a:ext cx="187452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8" name="C3 al"/>
          <p:cNvSpPr txBox="1"/>
          <p:nvPr/>
        </p:nvSpPr>
        <p:spPr>
          <a:xfrm>
            <a:off x="365760" y="1038301"/>
            <a:ext cx="187452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</a:t>
            </a:r>
            <a:endParaRPr lang="ar-SA" sz="8700" dirty="0"/>
          </a:p>
        </p:txBody>
      </p:sp>
      <p:sp>
        <p:nvSpPr>
          <p:cNvPr id="19" name="C1 label hamza box"/>
          <p:cNvSpPr/>
          <p:nvPr/>
        </p:nvSpPr>
        <p:spPr>
          <a:xfrm>
            <a:off x="6309360" y="3063240"/>
            <a:ext cx="237744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1 label hamza"/>
          <p:cNvSpPr txBox="1"/>
          <p:nvPr/>
        </p:nvSpPr>
        <p:spPr>
          <a:xfrm>
            <a:off x="6309360" y="3044952"/>
            <a:ext cx="237744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Connecting hamza</a:t>
            </a:r>
            <a:endParaRPr lang="en-US" sz="1800" dirty="0"/>
          </a:p>
        </p:txBody>
      </p:sp>
      <p:sp>
        <p:nvSpPr>
          <p:cNvPr id="21" name="C2 label lam box"/>
          <p:cNvSpPr/>
          <p:nvPr/>
        </p:nvSpPr>
        <p:spPr>
          <a:xfrm>
            <a:off x="3108960" y="3063240"/>
            <a:ext cx="2377440" cy="548640"/>
          </a:xfrm>
          <a:prstGeom prst="roundRect">
            <a:avLst>
              <a:gd name="adj" fmla="val 33333"/>
            </a:avLst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2 label lam"/>
          <p:cNvSpPr txBox="1"/>
          <p:nvPr/>
        </p:nvSpPr>
        <p:spPr>
          <a:xfrm>
            <a:off x="3108960" y="3036824"/>
            <a:ext cx="237744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 (L)</a:t>
            </a:r>
            <a:endParaRPr lang="en-US" sz="2600" dirty="0"/>
          </a:p>
        </p:txBody>
      </p:sp>
      <p:sp>
        <p:nvSpPr>
          <p:cNvPr id="23" name="C3 label al box"/>
          <p:cNvSpPr/>
          <p:nvPr/>
        </p:nvSpPr>
        <p:spPr>
          <a:xfrm>
            <a:off x="365760" y="3063240"/>
            <a:ext cx="1874520" cy="548640"/>
          </a:xfrm>
          <a:prstGeom prst="roundRect">
            <a:avLst>
              <a:gd name="adj" fmla="val 33333"/>
            </a:avLst>
          </a:prstGeom>
          <a:solidFill>
            <a:srgbClr val="D9480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3 label al"/>
          <p:cNvSpPr txBox="1"/>
          <p:nvPr/>
        </p:nvSpPr>
        <p:spPr>
          <a:xfrm>
            <a:off x="365760" y="3073146"/>
            <a:ext cx="187452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</a:t>
            </a:r>
            <a:endParaRPr lang="en-US" sz="2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9" grpId="0" animBg="1"/>
      <p:bldP spid="20" grpId="0" animBg="1"/>
      <p:bldP spid="13" grpId="0" animBg="1"/>
      <p:bldP spid="15" grpId="0" animBg="1"/>
      <p:bldP spid="21" grpId="0" animBg="1"/>
      <p:bldP spid="22" grpId="0" animBg="1"/>
      <p:bldP spid="16" grpId="0" animBg="1"/>
      <p:bldP spid="18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7642B"/>
          </a:solidFill>
          <a:ln w="12700">
            <a:solidFill>
              <a:srgbClr val="3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8"/>
          </a:solidFill>
          <a:ln w="12700">
            <a:solidFill>
              <a:srgbClr val="347948"/>
            </a:solidFill>
            <a:prstDash val="solid"/>
          </a:ln>
        </p:spPr>
      </p:sp>
      <p:sp>
        <p:nvSpPr>
          <p:cNvPr id="12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3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قَمَرُ</a:t>
            </a:r>
            <a:endParaRPr lang="ar-SA" sz="7700" dirty="0"/>
          </a:p>
        </p:txBody>
      </p:sp>
      <p:sp>
        <p:nvSpPr>
          <p:cNvPr id="14" name="C1 icon"/>
          <p:cNvSpPr/>
          <p:nvPr/>
        </p:nvSpPr>
        <p:spPr>
          <a:xfrm>
            <a:off x="5157216" y="1124712"/>
            <a:ext cx="384048" cy="64008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7" name="C2 read"/>
          <p:cNvSpPr txBox="1"/>
          <p:nvPr/>
        </p:nvSpPr>
        <p:spPr>
          <a:xfrm>
            <a:off x="365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اَلۡقَمَرُ</a:t>
            </a:r>
            <a:endParaRPr lang="ar-SA" sz="7700" dirty="0"/>
          </a:p>
        </p:txBody>
      </p:sp>
      <p:sp>
        <p:nvSpPr>
          <p:cNvPr id="18" name="C3 label written box"/>
          <p:cNvSpPr/>
          <p:nvPr/>
        </p:nvSpPr>
        <p:spPr>
          <a:xfrm>
            <a:off x="4937760" y="3063240"/>
            <a:ext cx="3840480" cy="548640"/>
          </a:xfrm>
          <a:prstGeom prst="roundRect">
            <a:avLst>
              <a:gd name="adj" fmla="val 33333"/>
            </a:avLst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 written"/>
          <p:cNvSpPr txBox="1"/>
          <p:nvPr/>
        </p:nvSpPr>
        <p:spPr>
          <a:xfrm>
            <a:off x="4937760" y="3069844"/>
            <a:ext cx="3840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sukun on the lam</a:t>
            </a:r>
            <a:endParaRPr lang="en-US" sz="2600" dirty="0"/>
          </a:p>
        </p:txBody>
      </p:sp>
      <p:sp>
        <p:nvSpPr>
          <p:cNvPr id="20" name="C3 label read box"/>
          <p:cNvSpPr/>
          <p:nvPr/>
        </p:nvSpPr>
        <p:spPr>
          <a:xfrm>
            <a:off x="365760" y="3063240"/>
            <a:ext cx="3840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3 label read"/>
          <p:cNvSpPr txBox="1"/>
          <p:nvPr/>
        </p:nvSpPr>
        <p:spPr>
          <a:xfrm>
            <a:off x="365760" y="3036824"/>
            <a:ext cx="3840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21131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66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شَّ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مۡسُ</a:t>
            </a:r>
            <a:endParaRPr lang="ar-SA" sz="6600" dirty="0"/>
          </a:p>
        </p:txBody>
      </p:sp>
      <p:sp>
        <p:nvSpPr>
          <p:cNvPr id="12" name="C1 icon"/>
          <p:cNvSpPr/>
          <p:nvPr/>
        </p:nvSpPr>
        <p:spPr>
          <a:xfrm>
            <a:off x="5029200" y="1124712"/>
            <a:ext cx="640080" cy="64008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3061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اَشَّمۡسُ</a:t>
            </a:r>
            <a:endParaRPr lang="ar-SA" sz="7500" dirty="0"/>
          </a:p>
        </p:txBody>
      </p:sp>
      <p:sp>
        <p:nvSpPr>
          <p:cNvPr id="16" name="C3 label written box"/>
          <p:cNvSpPr/>
          <p:nvPr/>
        </p:nvSpPr>
        <p:spPr>
          <a:xfrm>
            <a:off x="4937760" y="3063240"/>
            <a:ext cx="3840480" cy="548640"/>
          </a:xfrm>
          <a:prstGeom prst="roundRect">
            <a:avLst>
              <a:gd name="adj" fmla="val 33333"/>
            </a:avLst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label written"/>
          <p:cNvSpPr txBox="1"/>
          <p:nvPr/>
        </p:nvSpPr>
        <p:spPr>
          <a:xfrm>
            <a:off x="4937760" y="3067812"/>
            <a:ext cx="3840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mark on the lam + shaddah</a:t>
            </a:r>
            <a:endParaRPr lang="en-US" sz="1800" dirty="0"/>
          </a:p>
        </p:txBody>
      </p:sp>
      <p:sp>
        <p:nvSpPr>
          <p:cNvPr id="18" name="C3 label read box"/>
          <p:cNvSpPr/>
          <p:nvPr/>
        </p:nvSpPr>
        <p:spPr>
          <a:xfrm>
            <a:off x="365760" y="3063240"/>
            <a:ext cx="3840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 read"/>
          <p:cNvSpPr txBox="1"/>
          <p:nvPr/>
        </p:nvSpPr>
        <p:spPr>
          <a:xfrm>
            <a:off x="365760" y="3036824"/>
            <a:ext cx="3840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 the L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0"/>
          </a:solidFill>
          <a:ln w="12700">
            <a:solidFill>
              <a:srgbClr val="ED5E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Kind icon"/>
          <p:cNvSpPr/>
          <p:nvPr/>
        </p:nvSpPr>
        <p:spPr>
          <a:xfrm>
            <a:off x="4352544" y="914400"/>
            <a:ext cx="438912" cy="73152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9" name="C1 circle 1"/>
          <p:cNvSpPr/>
          <p:nvPr/>
        </p:nvSpPr>
        <p:spPr>
          <a:xfrm>
            <a:off x="7635240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0" name="C1 letter 1"/>
          <p:cNvSpPr txBox="1"/>
          <p:nvPr/>
        </p:nvSpPr>
        <p:spPr>
          <a:xfrm>
            <a:off x="7635240" y="188214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21" name="C2 circle 2"/>
          <p:cNvSpPr/>
          <p:nvPr/>
        </p:nvSpPr>
        <p:spPr>
          <a:xfrm>
            <a:off x="6565392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2" name="C2 letter 2"/>
          <p:cNvSpPr txBox="1"/>
          <p:nvPr/>
        </p:nvSpPr>
        <p:spPr>
          <a:xfrm>
            <a:off x="6565392" y="1739367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23" name="C3 circle 3"/>
          <p:cNvSpPr/>
          <p:nvPr/>
        </p:nvSpPr>
        <p:spPr>
          <a:xfrm>
            <a:off x="5495544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4" name="C3 letter 3"/>
          <p:cNvSpPr txBox="1"/>
          <p:nvPr/>
        </p:nvSpPr>
        <p:spPr>
          <a:xfrm>
            <a:off x="5495544" y="170967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25" name="C4 circle 4"/>
          <p:cNvSpPr/>
          <p:nvPr/>
        </p:nvSpPr>
        <p:spPr>
          <a:xfrm>
            <a:off x="4425696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6" name="C4 letter 4"/>
          <p:cNvSpPr txBox="1"/>
          <p:nvPr/>
        </p:nvSpPr>
        <p:spPr>
          <a:xfrm>
            <a:off x="4425696" y="170967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27" name="C5 circle 5"/>
          <p:cNvSpPr/>
          <p:nvPr/>
        </p:nvSpPr>
        <p:spPr>
          <a:xfrm>
            <a:off x="3355848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28" name="C5 letter 5"/>
          <p:cNvSpPr txBox="1"/>
          <p:nvPr/>
        </p:nvSpPr>
        <p:spPr>
          <a:xfrm>
            <a:off x="3355848" y="1743989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29" name="C6 circle 6"/>
          <p:cNvSpPr/>
          <p:nvPr/>
        </p:nvSpPr>
        <p:spPr>
          <a:xfrm>
            <a:off x="2286000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0" name="C6 letter 6"/>
          <p:cNvSpPr txBox="1"/>
          <p:nvPr/>
        </p:nvSpPr>
        <p:spPr>
          <a:xfrm>
            <a:off x="2286000" y="172745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800" dirty="0"/>
          </a:p>
        </p:txBody>
      </p:sp>
      <p:sp>
        <p:nvSpPr>
          <p:cNvPr id="31" name="C7 circle 7"/>
          <p:cNvSpPr/>
          <p:nvPr/>
        </p:nvSpPr>
        <p:spPr>
          <a:xfrm>
            <a:off x="1216152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2" name="C7 letter 7"/>
          <p:cNvSpPr txBox="1"/>
          <p:nvPr/>
        </p:nvSpPr>
        <p:spPr>
          <a:xfrm>
            <a:off x="1216152" y="1758747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800" dirty="0"/>
          </a:p>
        </p:txBody>
      </p:sp>
      <p:sp>
        <p:nvSpPr>
          <p:cNvPr id="33" name="C8 circle 8"/>
          <p:cNvSpPr/>
          <p:nvPr/>
        </p:nvSpPr>
        <p:spPr>
          <a:xfrm>
            <a:off x="7635240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4" name="C8 letter 8"/>
          <p:cNvSpPr txBox="1"/>
          <p:nvPr/>
        </p:nvSpPr>
        <p:spPr>
          <a:xfrm>
            <a:off x="7635240" y="301005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800" dirty="0"/>
          </a:p>
        </p:txBody>
      </p:sp>
      <p:sp>
        <p:nvSpPr>
          <p:cNvPr id="35" name="C9 circle 9"/>
          <p:cNvSpPr/>
          <p:nvPr/>
        </p:nvSpPr>
        <p:spPr>
          <a:xfrm>
            <a:off x="6565392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6" name="C9 letter 9"/>
          <p:cNvSpPr txBox="1"/>
          <p:nvPr/>
        </p:nvSpPr>
        <p:spPr>
          <a:xfrm>
            <a:off x="6565392" y="2967736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2800" dirty="0"/>
          </a:p>
        </p:txBody>
      </p:sp>
      <p:sp>
        <p:nvSpPr>
          <p:cNvPr id="37" name="C10 circle 10"/>
          <p:cNvSpPr/>
          <p:nvPr/>
        </p:nvSpPr>
        <p:spPr>
          <a:xfrm>
            <a:off x="5495544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38" name="C10 letter 10"/>
          <p:cNvSpPr txBox="1"/>
          <p:nvPr/>
        </p:nvSpPr>
        <p:spPr>
          <a:xfrm>
            <a:off x="5495544" y="302285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2800" dirty="0"/>
          </a:p>
        </p:txBody>
      </p:sp>
      <p:sp>
        <p:nvSpPr>
          <p:cNvPr id="39" name="C11 circle 11"/>
          <p:cNvSpPr/>
          <p:nvPr/>
        </p:nvSpPr>
        <p:spPr>
          <a:xfrm>
            <a:off x="4425696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40" name="C11 letter 11"/>
          <p:cNvSpPr txBox="1"/>
          <p:nvPr/>
        </p:nvSpPr>
        <p:spPr>
          <a:xfrm>
            <a:off x="4425696" y="289128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2800" dirty="0"/>
          </a:p>
        </p:txBody>
      </p:sp>
      <p:sp>
        <p:nvSpPr>
          <p:cNvPr id="41" name="C12 circle 12"/>
          <p:cNvSpPr/>
          <p:nvPr/>
        </p:nvSpPr>
        <p:spPr>
          <a:xfrm>
            <a:off x="3355848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42" name="C12 letter 12"/>
          <p:cNvSpPr txBox="1"/>
          <p:nvPr/>
        </p:nvSpPr>
        <p:spPr>
          <a:xfrm>
            <a:off x="3355848" y="290906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2800" dirty="0"/>
          </a:p>
        </p:txBody>
      </p:sp>
      <p:sp>
        <p:nvSpPr>
          <p:cNvPr id="43" name="C13 circle 13"/>
          <p:cNvSpPr/>
          <p:nvPr/>
        </p:nvSpPr>
        <p:spPr>
          <a:xfrm>
            <a:off x="2286000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44" name="C13 letter 13"/>
          <p:cNvSpPr txBox="1"/>
          <p:nvPr/>
        </p:nvSpPr>
        <p:spPr>
          <a:xfrm>
            <a:off x="2286000" y="2976626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2800" dirty="0"/>
          </a:p>
        </p:txBody>
      </p:sp>
      <p:sp>
        <p:nvSpPr>
          <p:cNvPr id="45" name="C14 circle 14"/>
          <p:cNvSpPr/>
          <p:nvPr/>
        </p:nvSpPr>
        <p:spPr>
          <a:xfrm>
            <a:off x="1216152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4263EB"/>
            </a:solidFill>
            <a:prstDash val="solid"/>
          </a:ln>
        </p:spPr>
      </p:sp>
      <p:sp>
        <p:nvSpPr>
          <p:cNvPr id="46" name="C14 letter 14"/>
          <p:cNvSpPr txBox="1"/>
          <p:nvPr/>
        </p:nvSpPr>
        <p:spPr>
          <a:xfrm>
            <a:off x="1216152" y="289270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2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1"/>
          </a:solidFill>
          <a:ln w="12700">
            <a:solidFill>
              <a:srgbClr val="52E0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9"/>
          </a:solidFill>
          <a:ln w="12700">
            <a:solidFill>
              <a:srgbClr val="DB70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647"/>
          </a:solidFill>
          <a:ln w="12700">
            <a:solidFill>
              <a:srgbClr val="856647"/>
            </a:solidFill>
            <a:prstDash val="solid"/>
          </a:ln>
        </p:spPr>
      </p:sp>
      <p:sp>
        <p:nvSpPr>
          <p:cNvPr id="15" name="Kind icon"/>
          <p:cNvSpPr/>
          <p:nvPr/>
        </p:nvSpPr>
        <p:spPr>
          <a:xfrm>
            <a:off x="4206240" y="914400"/>
            <a:ext cx="731520" cy="73152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6" name="C1 circle 1"/>
          <p:cNvSpPr/>
          <p:nvPr/>
        </p:nvSpPr>
        <p:spPr>
          <a:xfrm>
            <a:off x="7635240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17" name="C1 letter 1"/>
          <p:cNvSpPr txBox="1"/>
          <p:nvPr/>
        </p:nvSpPr>
        <p:spPr>
          <a:xfrm>
            <a:off x="7635240" y="1793081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500" dirty="0"/>
          </a:p>
        </p:txBody>
      </p:sp>
      <p:sp>
        <p:nvSpPr>
          <p:cNvPr id="18" name="C2 circle 2"/>
          <p:cNvSpPr/>
          <p:nvPr/>
        </p:nvSpPr>
        <p:spPr>
          <a:xfrm>
            <a:off x="6565392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19" name="C2 letter 2"/>
          <p:cNvSpPr txBox="1"/>
          <p:nvPr/>
        </p:nvSpPr>
        <p:spPr>
          <a:xfrm>
            <a:off x="6565392" y="1810544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500" dirty="0"/>
          </a:p>
        </p:txBody>
      </p:sp>
      <p:sp>
        <p:nvSpPr>
          <p:cNvPr id="20" name="C3 circle 3"/>
          <p:cNvSpPr/>
          <p:nvPr/>
        </p:nvSpPr>
        <p:spPr>
          <a:xfrm>
            <a:off x="5495544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1" name="C3 letter 3"/>
          <p:cNvSpPr txBox="1"/>
          <p:nvPr/>
        </p:nvSpPr>
        <p:spPr>
          <a:xfrm>
            <a:off x="5495544" y="178911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500" dirty="0"/>
          </a:p>
        </p:txBody>
      </p:sp>
      <p:sp>
        <p:nvSpPr>
          <p:cNvPr id="22" name="C4 circle 4"/>
          <p:cNvSpPr/>
          <p:nvPr/>
        </p:nvSpPr>
        <p:spPr>
          <a:xfrm>
            <a:off x="4425696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3" name="C4 letter 4"/>
          <p:cNvSpPr txBox="1"/>
          <p:nvPr/>
        </p:nvSpPr>
        <p:spPr>
          <a:xfrm>
            <a:off x="4425696" y="181991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500" dirty="0"/>
          </a:p>
        </p:txBody>
      </p:sp>
      <p:sp>
        <p:nvSpPr>
          <p:cNvPr id="24" name="C5 circle 5"/>
          <p:cNvSpPr/>
          <p:nvPr/>
        </p:nvSpPr>
        <p:spPr>
          <a:xfrm>
            <a:off x="3355848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5" name="C5 letter 5"/>
          <p:cNvSpPr txBox="1"/>
          <p:nvPr/>
        </p:nvSpPr>
        <p:spPr>
          <a:xfrm>
            <a:off x="3355848" y="1731963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500" dirty="0"/>
          </a:p>
        </p:txBody>
      </p:sp>
      <p:sp>
        <p:nvSpPr>
          <p:cNvPr id="26" name="C6 circle 6"/>
          <p:cNvSpPr/>
          <p:nvPr/>
        </p:nvSpPr>
        <p:spPr>
          <a:xfrm>
            <a:off x="2286000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7" name="C6 letter 6"/>
          <p:cNvSpPr txBox="1"/>
          <p:nvPr/>
        </p:nvSpPr>
        <p:spPr>
          <a:xfrm>
            <a:off x="2286000" y="176657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500" dirty="0"/>
          </a:p>
        </p:txBody>
      </p:sp>
      <p:sp>
        <p:nvSpPr>
          <p:cNvPr id="28" name="C7 circle 7"/>
          <p:cNvSpPr/>
          <p:nvPr/>
        </p:nvSpPr>
        <p:spPr>
          <a:xfrm>
            <a:off x="1216152" y="182880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29" name="C7 letter 7"/>
          <p:cNvSpPr txBox="1"/>
          <p:nvPr/>
        </p:nvSpPr>
        <p:spPr>
          <a:xfrm>
            <a:off x="1216152" y="1743075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500" dirty="0"/>
          </a:p>
        </p:txBody>
      </p:sp>
      <p:sp>
        <p:nvSpPr>
          <p:cNvPr id="30" name="C8 circle 8"/>
          <p:cNvSpPr/>
          <p:nvPr/>
        </p:nvSpPr>
        <p:spPr>
          <a:xfrm>
            <a:off x="7635240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1" name="C8 letter 8"/>
          <p:cNvSpPr txBox="1"/>
          <p:nvPr/>
        </p:nvSpPr>
        <p:spPr>
          <a:xfrm>
            <a:off x="7635240" y="2969736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500" dirty="0"/>
          </a:p>
        </p:txBody>
      </p:sp>
      <p:sp>
        <p:nvSpPr>
          <p:cNvPr id="32" name="C9 circle 9"/>
          <p:cNvSpPr/>
          <p:nvPr/>
        </p:nvSpPr>
        <p:spPr>
          <a:xfrm>
            <a:off x="6565392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3" name="C9 letter 9"/>
          <p:cNvSpPr txBox="1"/>
          <p:nvPr/>
        </p:nvSpPr>
        <p:spPr>
          <a:xfrm>
            <a:off x="6565392" y="2927032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500" dirty="0"/>
          </a:p>
        </p:txBody>
      </p:sp>
      <p:sp>
        <p:nvSpPr>
          <p:cNvPr id="34" name="C10 circle 10"/>
          <p:cNvSpPr/>
          <p:nvPr/>
        </p:nvSpPr>
        <p:spPr>
          <a:xfrm>
            <a:off x="5495544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5" name="C10 letter 10"/>
          <p:cNvSpPr txBox="1"/>
          <p:nvPr/>
        </p:nvSpPr>
        <p:spPr>
          <a:xfrm>
            <a:off x="5495544" y="2958941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500" dirty="0"/>
          </a:p>
        </p:txBody>
      </p:sp>
      <p:sp>
        <p:nvSpPr>
          <p:cNvPr id="36" name="C11 circle 11"/>
          <p:cNvSpPr/>
          <p:nvPr/>
        </p:nvSpPr>
        <p:spPr>
          <a:xfrm>
            <a:off x="4425696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7" name="C11 letter 11"/>
          <p:cNvSpPr txBox="1"/>
          <p:nvPr/>
        </p:nvSpPr>
        <p:spPr>
          <a:xfrm>
            <a:off x="4425696" y="302387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500" dirty="0"/>
          </a:p>
        </p:txBody>
      </p:sp>
      <p:sp>
        <p:nvSpPr>
          <p:cNvPr id="38" name="C12 circle 12"/>
          <p:cNvSpPr/>
          <p:nvPr/>
        </p:nvSpPr>
        <p:spPr>
          <a:xfrm>
            <a:off x="3355848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39" name="C12 letter 12"/>
          <p:cNvSpPr txBox="1"/>
          <p:nvPr/>
        </p:nvSpPr>
        <p:spPr>
          <a:xfrm>
            <a:off x="3355848" y="3023870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500" dirty="0"/>
          </a:p>
        </p:txBody>
      </p:sp>
      <p:sp>
        <p:nvSpPr>
          <p:cNvPr id="40" name="C13 circle 13"/>
          <p:cNvSpPr/>
          <p:nvPr/>
        </p:nvSpPr>
        <p:spPr>
          <a:xfrm>
            <a:off x="2286000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41" name="C13 letter 13"/>
          <p:cNvSpPr txBox="1"/>
          <p:nvPr/>
        </p:nvSpPr>
        <p:spPr>
          <a:xfrm>
            <a:off x="2286000" y="2988945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2500" dirty="0"/>
          </a:p>
        </p:txBody>
      </p:sp>
      <p:sp>
        <p:nvSpPr>
          <p:cNvPr id="42" name="C14 circle 14"/>
          <p:cNvSpPr/>
          <p:nvPr/>
        </p:nvSpPr>
        <p:spPr>
          <a:xfrm>
            <a:off x="1216152" y="3017520"/>
            <a:ext cx="868680" cy="868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F08C00"/>
            </a:solidFill>
            <a:prstDash val="solid"/>
          </a:ln>
        </p:spPr>
      </p:sp>
      <p:sp>
        <p:nvSpPr>
          <p:cNvPr id="43" name="C14 letter 14"/>
          <p:cNvSpPr txBox="1"/>
          <p:nvPr/>
        </p:nvSpPr>
        <p:spPr>
          <a:xfrm>
            <a:off x="1216152" y="2949575"/>
            <a:ext cx="868680" cy="868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2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64D8"/>
          </a:solidFill>
          <a:ln w="12700">
            <a:solidFill>
              <a:srgbClr val="C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47D1"/>
          </a:solidFill>
          <a:ln w="12700">
            <a:solidFill>
              <a:srgbClr val="A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381125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12500" dirty="0"/>
          </a:p>
        </p:txBody>
      </p:sp>
      <p:sp>
        <p:nvSpPr>
          <p:cNvPr id="12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60344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6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أَرۡضُ</a:t>
            </a:r>
            <a:endParaRPr lang="ar-SA" sz="6900" dirty="0"/>
          </a:p>
        </p:txBody>
      </p:sp>
      <p:sp>
        <p:nvSpPr>
          <p:cNvPr id="13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2250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اَلۡأَرۡضُ</a:t>
            </a:r>
            <a:endParaRPr lang="ar-SA" sz="45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al-ardu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564"/>
          </a:solidFill>
          <a:ln w="12700">
            <a:solidFill>
              <a:srgbClr val="2B4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73479"/>
          </a:solidFill>
          <a:ln w="12700">
            <a:solidFill>
              <a:srgbClr val="373479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75332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122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40060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بَيۡتُ</a:t>
            </a:r>
            <a:endParaRPr lang="ar-SA" sz="77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09028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اَلۡبَيۡتُ</a:t>
            </a:r>
            <a:endParaRPr lang="ar-SA" sz="5000" dirty="0"/>
          </a:p>
        </p:txBody>
      </p:sp>
      <p:sp>
        <p:nvSpPr>
          <p:cNvPr id="16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al-baytu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ED5E"/>
          </a:solidFill>
          <a:ln w="12700">
            <a:solidFill>
              <a:srgbClr val="C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960120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12800" dirty="0"/>
          </a:p>
        </p:txBody>
      </p:sp>
      <p:sp>
        <p:nvSpPr>
          <p:cNvPr id="20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D52E0"/>
          </a:solidFill>
          <a:ln w="12700">
            <a:solidFill>
              <a:srgbClr val="8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370"/>
          </a:solidFill>
          <a:ln w="12700">
            <a:solidFill>
              <a:srgbClr val="DBD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7"/>
          </a:solidFill>
          <a:ln w="12700">
            <a:solidFill>
              <a:srgbClr val="47855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08087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81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تِّ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ينُ</a:t>
            </a:r>
            <a:endParaRPr lang="ar-SA" sz="8100" dirty="0"/>
          </a:p>
        </p:txBody>
      </p:sp>
      <p:sp>
        <p:nvSpPr>
          <p:cNvPr id="17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104684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اَتِّينُ</a:t>
            </a:r>
            <a:endParaRPr lang="ar-SA" sz="4700" dirty="0"/>
          </a:p>
        </p:txBody>
      </p:sp>
      <p:sp>
        <p:nvSpPr>
          <p:cNvPr id="21" name="C2 sounds"/>
          <p:cNvSpPr/>
          <p:nvPr/>
        </p:nvSpPr>
        <p:spPr>
          <a:xfrm>
            <a:off x="502920" y="2329815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at-teenu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D64"/>
          </a:solidFill>
          <a:ln w="12700">
            <a:solidFill>
              <a:srgbClr val="D8A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747"/>
          </a:solidFill>
          <a:ln w="12700">
            <a:solidFill>
              <a:srgbClr val="D18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054640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121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08767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7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ثَّ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مَرَٰتُ</a:t>
            </a:r>
            <a:endParaRPr lang="ar-SA" sz="77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19569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اَثَّمَرَاتُ</a:t>
            </a:r>
            <a:endParaRPr lang="ar-SA" sz="45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ath-thamaraatu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3"/>
          </a:solidFill>
          <a:ln w="12700">
            <a:solidFill>
              <a:srgbClr val="642B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2"/>
          </a:solidFill>
          <a:ln w="12700">
            <a:solidFill>
              <a:srgbClr val="793442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773379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13600" dirty="0"/>
          </a:p>
        </p:txBody>
      </p:sp>
      <p:sp>
        <p:nvSpPr>
          <p:cNvPr id="14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055249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83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نَّ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اسُ</a:t>
            </a:r>
            <a:endParaRPr lang="ar-SA" sz="8300" dirty="0"/>
          </a:p>
        </p:txBody>
      </p:sp>
      <p:sp>
        <p:nvSpPr>
          <p:cNvPr id="12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091387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اَنَّاسُ</a:t>
            </a:r>
            <a:endParaRPr lang="ar-SA" sz="4900" dirty="0"/>
          </a:p>
        </p:txBody>
      </p:sp>
      <p:sp>
        <p:nvSpPr>
          <p:cNvPr id="16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an-naasu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7ED"/>
          </a:solidFill>
          <a:ln w="12700">
            <a:solidFill>
              <a:srgbClr val="5EE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61253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119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A52"/>
          </a:solidFill>
          <a:ln w="12700">
            <a:solidFill>
              <a:srgbClr val="E06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8"/>
          </a:solidFill>
          <a:ln w="12700">
            <a:solidFill>
              <a:srgbClr val="70DB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4785"/>
          </a:solidFill>
          <a:ln w="12700">
            <a:solidFill>
              <a:srgbClr val="4847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040892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يَوۡمُ</a:t>
            </a:r>
            <a:endParaRPr lang="ar-SA" sz="70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44854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اَلۡيَوۡمُ</a:t>
            </a:r>
            <a:endParaRPr lang="ar-SA" sz="4400" dirty="0"/>
          </a:p>
        </p:txBody>
      </p:sp>
      <p:sp>
        <p:nvSpPr>
          <p:cNvPr id="21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al-yawmu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0"/>
          </a:solidFill>
          <a:ln w="12700">
            <a:solidFill>
              <a:srgbClr val="64D89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4"/>
          </a:solidFill>
          <a:ln w="12700">
            <a:solidFill>
              <a:srgbClr val="47D1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61118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12500" dirty="0"/>
          </a:p>
        </p:txBody>
      </p:sp>
      <p:sp>
        <p:nvSpPr>
          <p:cNvPr id="12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5891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جَنَّةُ</a:t>
            </a:r>
            <a:endParaRPr lang="ar-SA" sz="7900" dirty="0"/>
          </a:p>
        </p:txBody>
      </p:sp>
      <p:sp>
        <p:nvSpPr>
          <p:cNvPr id="13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1950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اَلۡجَنَّةُ</a:t>
            </a:r>
            <a:endParaRPr lang="ar-SA" sz="5000" dirty="0"/>
          </a:p>
        </p:txBody>
      </p:sp>
      <p:sp>
        <p:nvSpPr>
          <p:cNvPr id="17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al-jannatu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642B"/>
          </a:solidFill>
          <a:ln w="12700">
            <a:solidFill>
              <a:srgbClr val="6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7934"/>
          </a:solidFill>
          <a:ln w="12700">
            <a:solidFill>
              <a:srgbClr val="547934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61118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125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42416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3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حَمۡدُ</a:t>
            </a:r>
            <a:endParaRPr lang="ar-SA" sz="73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1503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اَلۡحَمۡدُ</a:t>
            </a:r>
            <a:endParaRPr lang="ar-SA" sz="51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al-hamdu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5EED"/>
          </a:solidFill>
          <a:ln w="12700">
            <a:solidFill>
              <a:srgbClr val="D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80981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110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DE052"/>
          </a:solidFill>
          <a:ln w="12700">
            <a:solidFill>
              <a:srgbClr val="5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D70DB"/>
          </a:solidFill>
          <a:ln w="12700">
            <a:solidFill>
              <a:srgbClr val="9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7"/>
          </a:solidFill>
          <a:ln w="12700">
            <a:solidFill>
              <a:srgbClr val="85475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10767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4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خَيۡرُ</a:t>
            </a:r>
            <a:endParaRPr lang="ar-SA" sz="74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اَلۡخَيۡرُ</a:t>
            </a:r>
            <a:endParaRPr lang="ar-SA" sz="4900" dirty="0"/>
          </a:p>
        </p:txBody>
      </p:sp>
      <p:sp>
        <p:nvSpPr>
          <p:cNvPr id="21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al-khayru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64D8"/>
          </a:solidFill>
          <a:ln w="12700">
            <a:solidFill>
              <a:srgbClr val="7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DD1"/>
          </a:solidFill>
          <a:ln w="12700">
            <a:solidFill>
              <a:srgbClr val="474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873125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170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066660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82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82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دِّ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ينُ</a:t>
            </a:r>
            <a:endParaRPr lang="ar-SA" sz="82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063447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اَدِّينُ</a:t>
            </a:r>
            <a:endParaRPr lang="ar-SA" sz="52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ad-deenu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108752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15600" dirty="0"/>
          </a:p>
        </p:txBody>
      </p:sp>
      <p:sp>
        <p:nvSpPr>
          <p:cNvPr id="14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5717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2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ذِّ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كۡرُ</a:t>
            </a:r>
            <a:endParaRPr lang="ar-SA" sz="7200" dirty="0"/>
          </a:p>
        </p:txBody>
      </p:sp>
      <p:sp>
        <p:nvSpPr>
          <p:cNvPr id="12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17568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اَذِّكۡرُ</a:t>
            </a:r>
            <a:endParaRPr lang="ar-SA" sz="45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adh-dhikru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54260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15500" dirty="0"/>
          </a:p>
        </p:txBody>
      </p:sp>
      <p:sp>
        <p:nvSpPr>
          <p:cNvPr id="20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036447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0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رَّ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حۡمَٰنُ</a:t>
            </a:r>
            <a:endParaRPr lang="ar-SA" sz="7000" dirty="0"/>
          </a:p>
        </p:txBody>
      </p:sp>
      <p:sp>
        <p:nvSpPr>
          <p:cNvPr id="17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63447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اَرَّحۡمَانُ</a:t>
            </a:r>
            <a:endParaRPr lang="ar-SA" sz="5200" dirty="0"/>
          </a:p>
        </p:txBody>
      </p:sp>
      <p:sp>
        <p:nvSpPr>
          <p:cNvPr id="21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ar-rahmaanu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816915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131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092194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9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زَّ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كَوٰةُ</a:t>
            </a:r>
            <a:endParaRPr lang="ar-SA" sz="79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077278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اَزَّكَاةُ</a:t>
            </a:r>
            <a:endParaRPr lang="ar-SA" sz="50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az-zakaatu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77952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10600" dirty="0"/>
          </a:p>
        </p:txBody>
      </p:sp>
      <p:sp>
        <p:nvSpPr>
          <p:cNvPr id="14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60145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95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9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سَّ</a:t>
            </a:r>
            <a:pPr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مَآءُ</a:t>
            </a:r>
            <a:endParaRPr lang="ar-SA" sz="9500" dirty="0"/>
          </a:p>
        </p:txBody>
      </p:sp>
      <p:sp>
        <p:nvSpPr>
          <p:cNvPr id="12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3766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اَسَّمَاءُ</a:t>
            </a:r>
            <a:endParaRPr lang="ar-SA" sz="60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3625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as-samaa'u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9"/>
          </a:solidFill>
          <a:ln w="12700">
            <a:solidFill>
              <a:srgbClr val="5EED8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959510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9600" dirty="0"/>
          </a:p>
        </p:txBody>
      </p:sp>
      <p:sp>
        <p:nvSpPr>
          <p:cNvPr id="20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4"/>
          </a:solidFill>
          <a:ln w="12700">
            <a:solidFill>
              <a:srgbClr val="E052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21131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66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شَّ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مۡسُ</a:t>
            </a:r>
            <a:endParaRPr lang="ar-SA" sz="6600" dirty="0"/>
          </a:p>
        </p:txBody>
      </p:sp>
      <p:sp>
        <p:nvSpPr>
          <p:cNvPr id="17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101103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اَشَّمۡسُ</a:t>
            </a:r>
            <a:endParaRPr lang="ar-SA" sz="4700" dirty="0"/>
          </a:p>
        </p:txBody>
      </p:sp>
      <p:sp>
        <p:nvSpPr>
          <p:cNvPr id="21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ash-shamsu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1D147"/>
          </a:solidFill>
          <a:ln w="12700">
            <a:solidFill>
              <a:srgbClr val="9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773811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102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092194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9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صَّ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لَوٰةُ</a:t>
            </a:r>
            <a:endParaRPr lang="ar-SA" sz="79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64330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اَصَّلَاةُ</a:t>
            </a:r>
            <a:endParaRPr lang="ar-SA" sz="59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as-salaatu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92274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9400" dirty="0"/>
          </a:p>
        </p:txBody>
      </p:sp>
      <p:sp>
        <p:nvSpPr>
          <p:cNvPr id="14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46950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4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ضُّ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حَىٰ</a:t>
            </a:r>
            <a:endParaRPr lang="ar-SA" sz="7400" dirty="0"/>
          </a:p>
        </p:txBody>
      </p:sp>
      <p:sp>
        <p:nvSpPr>
          <p:cNvPr id="12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1214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اَضُّحَى</a:t>
            </a:r>
            <a:endParaRPr lang="ar-SA" sz="47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ad-duhaa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117373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12100" dirty="0"/>
          </a:p>
        </p:txBody>
      </p:sp>
      <p:sp>
        <p:nvSpPr>
          <p:cNvPr id="20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3DB"/>
          </a:solidFill>
          <a:ln w="12700">
            <a:solidFill>
              <a:srgbClr val="709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06719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64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طَّ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ارِقُ</a:t>
            </a:r>
            <a:endParaRPr lang="ar-SA" sz="6400" dirty="0"/>
          </a:p>
        </p:txBody>
      </p:sp>
      <p:sp>
        <p:nvSpPr>
          <p:cNvPr id="17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8689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اَطَّارِقُ</a:t>
            </a:r>
            <a:endParaRPr lang="ar-SA" sz="4100" dirty="0"/>
          </a:p>
        </p:txBody>
      </p:sp>
      <p:sp>
        <p:nvSpPr>
          <p:cNvPr id="21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at-taariqu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17373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121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34404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2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ظُّ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لُمَٰتُ</a:t>
            </a:r>
            <a:endParaRPr lang="ar-SA" sz="72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24426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اَظُّلُمَاتُ</a:t>
            </a:r>
            <a:endParaRPr lang="ar-SA" sz="46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adh-dhulumaatu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E"/>
          </a:solidFill>
          <a:ln w="12700">
            <a:solidFill>
              <a:srgbClr val="2B64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719519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117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040892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عِلۡمُ</a:t>
            </a:r>
            <a:endParaRPr lang="ar-SA" sz="70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044854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اَلۡعِلۡمُ</a:t>
            </a:r>
            <a:endParaRPr lang="ar-SA" sz="44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al-'ilmu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B"/>
          </a:solidFill>
          <a:ln w="12700">
            <a:solidFill>
              <a:srgbClr val="ED5E7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882802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104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غَفُورُ</a:t>
            </a:r>
            <a:endParaRPr lang="ar-SA" sz="77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اَلۡغَفُورُ</a:t>
            </a:r>
            <a:endParaRPr lang="ar-SA" sz="4900" dirty="0"/>
          </a:p>
        </p:txBody>
      </p:sp>
      <p:sp>
        <p:nvSpPr>
          <p:cNvPr id="21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al-ghafooru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11259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11400" dirty="0"/>
          </a:p>
        </p:txBody>
      </p:sp>
      <p:sp>
        <p:nvSpPr>
          <p:cNvPr id="12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097280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5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فَلَقُ</a:t>
            </a:r>
            <a:endParaRPr lang="ar-SA" sz="7500" dirty="0"/>
          </a:p>
        </p:txBody>
      </p:sp>
      <p:sp>
        <p:nvSpPr>
          <p:cNvPr id="13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080821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اَلۡفَلَقُ</a:t>
            </a:r>
            <a:endParaRPr lang="ar-SA" sz="4800" dirty="0"/>
          </a:p>
        </p:txBody>
      </p:sp>
      <p:sp>
        <p:nvSpPr>
          <p:cNvPr id="17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al-falaqu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93141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119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قَمَرُ</a:t>
            </a:r>
            <a:endParaRPr lang="ar-SA" sz="77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اَلۡقَمَرُ</a:t>
            </a:r>
            <a:endParaRPr lang="ar-SA" sz="4900" dirty="0"/>
          </a:p>
        </p:txBody>
      </p:sp>
      <p:sp>
        <p:nvSpPr>
          <p:cNvPr id="16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al-qamaru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ED5E"/>
          </a:solidFill>
          <a:ln w="12700">
            <a:solidFill>
              <a:srgbClr val="9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1165479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118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252E0"/>
          </a:solidFill>
          <a:ln w="12700">
            <a:solidFill>
              <a:srgbClr val="B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9DB70"/>
          </a:solidFill>
          <a:ln w="12700">
            <a:solidFill>
              <a:srgbClr val="C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6"/>
          </a:solidFill>
          <a:ln w="12700">
            <a:solidFill>
              <a:srgbClr val="478566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33207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9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كِتَٰبُ</a:t>
            </a:r>
            <a:endParaRPr lang="ar-SA" sz="79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10323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اَلۡكِتَابُ</a:t>
            </a:r>
            <a:endParaRPr lang="ar-SA" sz="5000" dirty="0"/>
          </a:p>
        </p:txBody>
      </p:sp>
      <p:sp>
        <p:nvSpPr>
          <p:cNvPr id="21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al-kitaabu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B64"/>
          </a:solidFill>
          <a:ln w="12700">
            <a:solidFill>
              <a:srgbClr val="D8C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A47"/>
          </a:solidFill>
          <a:ln w="12700">
            <a:solidFill>
              <a:srgbClr val="D1A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08C00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1014984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11200" dirty="0"/>
          </a:p>
        </p:txBody>
      </p:sp>
      <p:sp>
        <p:nvSpPr>
          <p:cNvPr id="12" name="C1 icon"/>
          <p:cNvSpPr/>
          <p:nvPr/>
        </p:nvSpPr>
        <p:spPr>
          <a:xfrm>
            <a:off x="2377440" y="1188720"/>
            <a:ext cx="1463040" cy="14630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letter: skip the L</a:t>
            </a:r>
            <a:endParaRPr lang="en-US" sz="2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F08C00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8034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000" dirty="0">
                <a:solidFill>
                  <a:srgbClr val="ADB5BD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لَّ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يۡلُ</a:t>
            </a:r>
            <a:endParaRPr lang="ar-SA" sz="7000" dirty="0"/>
          </a:p>
        </p:txBody>
      </p:sp>
      <p:sp>
        <p:nvSpPr>
          <p:cNvPr id="13" name="Icon"/>
          <p:cNvSpPr/>
          <p:nvPr/>
        </p:nvSpPr>
        <p:spPr>
          <a:xfrm>
            <a:off x="5029200" y="1124712"/>
            <a:ext cx="548640" cy="5486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F08C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132510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اَللَّيۡلُ</a:t>
            </a:r>
            <a:endParaRPr lang="ar-SA" sz="4400" dirty="0"/>
          </a:p>
        </p:txBody>
      </p:sp>
      <p:sp>
        <p:nvSpPr>
          <p:cNvPr id="17" name="C2 sounds"/>
          <p:cNvSpPr/>
          <p:nvPr/>
        </p:nvSpPr>
        <p:spPr>
          <a:xfrm>
            <a:off x="502920" y="23012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al-laylu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46730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is silent; the letter is doubled</a:t>
            </a:r>
            <a:endParaRPr lang="en-US" sz="2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5"/>
          </a:solidFill>
          <a:ln w="12700">
            <a:solidFill>
              <a:srgbClr val="642B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734"/>
          </a:solidFill>
          <a:ln w="12700">
            <a:solidFill>
              <a:srgbClr val="793734"/>
            </a:solidFill>
            <a:prstDash val="solid"/>
          </a:ln>
        </p:spPr>
      </p:sp>
      <p:sp>
        <p:nvSpPr>
          <p:cNvPr id="12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3" name="Letter"/>
          <p:cNvSpPr txBox="1"/>
          <p:nvPr/>
        </p:nvSpPr>
        <p:spPr>
          <a:xfrm>
            <a:off x="5394960" y="525336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13700" dirty="0"/>
          </a:p>
        </p:txBody>
      </p:sp>
      <p:sp>
        <p:nvSpPr>
          <p:cNvPr id="14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5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1" name="C1 written"/>
          <p:cNvSpPr txBox="1"/>
          <p:nvPr/>
        </p:nvSpPr>
        <p:spPr>
          <a:xfrm>
            <a:off x="4937760" y="1146643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80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مَلِكُ</a:t>
            </a:r>
            <a:endParaRPr lang="ar-SA" sz="8000" dirty="0"/>
          </a:p>
        </p:txBody>
      </p:sp>
      <p:sp>
        <p:nvSpPr>
          <p:cNvPr id="12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5" name="C2 read"/>
          <p:cNvSpPr txBox="1"/>
          <p:nvPr/>
        </p:nvSpPr>
        <p:spPr>
          <a:xfrm>
            <a:off x="365760" y="1112176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اَلۡمَلِكُ</a:t>
            </a:r>
            <a:endParaRPr lang="ar-SA" sz="5100" dirty="0"/>
          </a:p>
        </p:txBody>
      </p:sp>
      <p:sp>
        <p:nvSpPr>
          <p:cNvPr id="16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al-maliku</a:t>
            </a:r>
            <a:endParaRPr lang="en-US" sz="3000" dirty="0"/>
          </a:p>
        </p:txBody>
      </p:sp>
      <p:sp>
        <p:nvSpPr>
          <p:cNvPr id="17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2ED"/>
          </a:solidFill>
          <a:ln w="12700">
            <a:solidFill>
              <a:srgbClr val="5EC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9" name="Letter"/>
          <p:cNvSpPr txBox="1"/>
          <p:nvPr/>
        </p:nvSpPr>
        <p:spPr>
          <a:xfrm>
            <a:off x="5394960" y="915162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15600" dirty="0"/>
          </a:p>
        </p:txBody>
      </p:sp>
      <p:sp>
        <p:nvSpPr>
          <p:cNvPr id="20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21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E52"/>
          </a:solidFill>
          <a:ln w="12700">
            <a:solidFill>
              <a:srgbClr val="E08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3"/>
          </a:solidFill>
          <a:ln w="12700">
            <a:solidFill>
              <a:srgbClr val="70DB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4785"/>
          </a:solidFill>
          <a:ln w="12700">
            <a:solidFill>
              <a:srgbClr val="574785"/>
            </a:solidFill>
            <a:prstDash val="solid"/>
          </a:ln>
        </p:spPr>
      </p:sp>
      <p:sp>
        <p:nvSpPr>
          <p:cNvPr id="15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6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هُدَىٰ</a:t>
            </a:r>
            <a:endParaRPr lang="ar-SA" sz="7700" dirty="0"/>
          </a:p>
        </p:txBody>
      </p:sp>
      <p:sp>
        <p:nvSpPr>
          <p:cNvPr id="17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8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20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اَلۡهُدَى</a:t>
            </a:r>
            <a:endParaRPr lang="ar-SA" sz="4900" dirty="0"/>
          </a:p>
        </p:txBody>
      </p:sp>
      <p:sp>
        <p:nvSpPr>
          <p:cNvPr id="21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al-hudaa</a:t>
            </a:r>
            <a:endParaRPr lang="en-US" sz="3000" dirty="0"/>
          </a:p>
        </p:txBody>
      </p:sp>
      <p:sp>
        <p:nvSpPr>
          <p:cNvPr id="22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E"/>
          </a:solidFill>
          <a:ln w="12700">
            <a:solidFill>
              <a:srgbClr val="64D8A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8"/>
          </a:solidFill>
          <a:ln w="12700">
            <a:solidFill>
              <a:srgbClr val="47D18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letter"/>
          <p:cNvSpPr/>
          <p:nvPr/>
        </p:nvSpPr>
        <p:spPr>
          <a:xfrm>
            <a:off x="5394960" y="1143000"/>
            <a:ext cx="2377440" cy="237744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4263EB"/>
            </a:solidFill>
            <a:prstDash val="solid"/>
          </a:ln>
        </p:spPr>
      </p:sp>
      <p:sp>
        <p:nvSpPr>
          <p:cNvPr id="11" name="Letter"/>
          <p:cNvSpPr txBox="1"/>
          <p:nvPr/>
        </p:nvSpPr>
        <p:spPr>
          <a:xfrm>
            <a:off x="5394960" y="542608"/>
            <a:ext cx="237744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15500" dirty="0"/>
          </a:p>
        </p:txBody>
      </p:sp>
      <p:sp>
        <p:nvSpPr>
          <p:cNvPr id="12" name="C1 icon"/>
          <p:cNvSpPr/>
          <p:nvPr/>
        </p:nvSpPr>
        <p:spPr>
          <a:xfrm>
            <a:off x="2670048" y="1188720"/>
            <a:ext cx="877824" cy="14630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3" name="C1 label box"/>
          <p:cNvSpPr/>
          <p:nvPr/>
        </p:nvSpPr>
        <p:spPr>
          <a:xfrm>
            <a:off x="914400" y="2926080"/>
            <a:ext cx="402336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C1 label"/>
          <p:cNvSpPr txBox="1"/>
          <p:nvPr/>
        </p:nvSpPr>
        <p:spPr>
          <a:xfrm>
            <a:off x="914400" y="2899664"/>
            <a:ext cx="402336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Moon letter: say the L</a:t>
            </a:r>
            <a:endParaRPr lang="en-US" sz="2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ritten"/>
          <p:cNvSpPr/>
          <p:nvPr/>
        </p:nvSpPr>
        <p:spPr>
          <a:xfrm>
            <a:off x="4937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0">
            <a:solidFill>
              <a:srgbClr val="4263EB"/>
            </a:solidFill>
            <a:prstDash val="solid"/>
          </a:ln>
        </p:spPr>
      </p:sp>
      <p:sp>
        <p:nvSpPr>
          <p:cNvPr id="12" name="C1 written"/>
          <p:cNvSpPr txBox="1"/>
          <p:nvPr/>
        </p:nvSpPr>
        <p:spPr>
          <a:xfrm>
            <a:off x="4937760" y="1113168"/>
            <a:ext cx="384048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</a:t>
            </a:r>
            <a:pPr algn="ctr" indent="0" marL="0">
              <a:buNone/>
            </a:pPr>
            <a:r>
              <a:rPr lang="ar-SA" altLang="en-US" sz="7700" dirty="0">
                <a:solidFill>
                  <a:srgbClr val="2F9E44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وَلَدُ</a:t>
            </a:r>
            <a:endParaRPr lang="ar-SA" sz="7700" dirty="0"/>
          </a:p>
        </p:txBody>
      </p:sp>
      <p:sp>
        <p:nvSpPr>
          <p:cNvPr id="13" name="Icon"/>
          <p:cNvSpPr/>
          <p:nvPr/>
        </p:nvSpPr>
        <p:spPr>
          <a:xfrm>
            <a:off x="5138928" y="1124712"/>
            <a:ext cx="329184" cy="5486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  <p:sp>
        <p:nvSpPr>
          <p:cNvPr id="14" name="C2 arrow"/>
          <p:cNvSpPr/>
          <p:nvPr/>
        </p:nvSpPr>
        <p:spPr>
          <a:xfrm>
            <a:off x="4343400" y="1691640"/>
            <a:ext cx="502920" cy="548640"/>
          </a:xfrm>
          <a:prstGeom prst="leftArrow">
            <a:avLst/>
          </a:prstGeom>
          <a:solidFill>
            <a:srgbClr val="4263E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Panel read"/>
          <p:cNvSpPr/>
          <p:nvPr/>
        </p:nvSpPr>
        <p:spPr>
          <a:xfrm>
            <a:off x="365760" y="1051560"/>
            <a:ext cx="3840480" cy="1828800"/>
          </a:xfrm>
          <a:prstGeom prst="roundRect">
            <a:avLst>
              <a:gd name="adj" fmla="val 12500"/>
            </a:avLst>
          </a:prstGeom>
          <a:solidFill>
            <a:srgbClr val="FFFBE3"/>
          </a:solidFill>
          <a:ln w="88900">
            <a:solidFill>
              <a:srgbClr val="F2B134"/>
            </a:solidFill>
            <a:prstDash val="solid"/>
          </a:ln>
        </p:spPr>
      </p:sp>
      <p:sp>
        <p:nvSpPr>
          <p:cNvPr id="16" name="C2 read"/>
          <p:cNvSpPr txBox="1"/>
          <p:nvPr/>
        </p:nvSpPr>
        <p:spPr>
          <a:xfrm>
            <a:off x="365760" y="1090765"/>
            <a:ext cx="38404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اَلۡوَلَدُ</a:t>
            </a:r>
            <a:endParaRPr lang="ar-SA" sz="4900" dirty="0"/>
          </a:p>
        </p:txBody>
      </p:sp>
      <p:sp>
        <p:nvSpPr>
          <p:cNvPr id="17" name="C2 sounds"/>
          <p:cNvSpPr/>
          <p:nvPr/>
        </p:nvSpPr>
        <p:spPr>
          <a:xfrm>
            <a:off x="502920" y="23393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al-waladu</a:t>
            </a:r>
            <a:endParaRPr lang="en-US" sz="3000" dirty="0"/>
          </a:p>
        </p:txBody>
      </p:sp>
      <p:sp>
        <p:nvSpPr>
          <p:cNvPr id="18" name="C3 label box"/>
          <p:cNvSpPr/>
          <p:nvPr/>
        </p:nvSpPr>
        <p:spPr>
          <a:xfrm>
            <a:off x="365760" y="3063240"/>
            <a:ext cx="8412480" cy="548640"/>
          </a:xfrm>
          <a:prstGeom prst="roundRect">
            <a:avLst>
              <a:gd name="adj" fmla="val 33333"/>
            </a:avLst>
          </a:prstGeom>
          <a:solidFill>
            <a:srgbClr val="2F9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3 label"/>
          <p:cNvSpPr txBox="1"/>
          <p:nvPr/>
        </p:nvSpPr>
        <p:spPr>
          <a:xfrm>
            <a:off x="365760" y="3036824"/>
            <a:ext cx="8412480" cy="5486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 has a sukun: say it</a:t>
            </a:r>
            <a:endParaRPr lang="en-US" sz="2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642B"/>
          </a:solidFill>
          <a:ln w="12700">
            <a:solidFill>
              <a:srgbClr val="5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7934"/>
          </a:solidFill>
          <a:ln w="12700">
            <a:solidFill>
              <a:srgbClr val="427934"/>
            </a:solidFill>
            <a:prstDash val="solid"/>
          </a:ln>
        </p:spPr>
      </p:sp>
      <p:sp>
        <p:nvSpPr>
          <p:cNvPr id="12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3" name="Word"/>
          <p:cNvSpPr txBox="1"/>
          <p:nvPr/>
        </p:nvSpPr>
        <p:spPr>
          <a:xfrm>
            <a:off x="2286000" y="1089114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ٱلشَّمۡسُ</a:t>
            </a:r>
            <a:endParaRPr lang="ar-SA" sz="7900" dirty="0"/>
          </a:p>
        </p:txBody>
      </p:sp>
      <p:sp>
        <p:nvSpPr>
          <p:cNvPr id="14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1" name="Word"/>
          <p:cNvSpPr txBox="1"/>
          <p:nvPr/>
        </p:nvSpPr>
        <p:spPr>
          <a:xfrm>
            <a:off x="2286000" y="1071448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ٱلۡقَمَرُ</a:t>
            </a:r>
            <a:endParaRPr lang="ar-SA" sz="8200" dirty="0"/>
          </a:p>
        </p:txBody>
      </p:sp>
      <p:sp>
        <p:nvSpPr>
          <p:cNvPr id="12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6"/>
          </a:solidFill>
          <a:ln w="12700">
            <a:solidFill>
              <a:srgbClr val="ED5E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9" name="Word"/>
          <p:cNvSpPr txBox="1"/>
          <p:nvPr/>
        </p:nvSpPr>
        <p:spPr>
          <a:xfrm>
            <a:off x="2286000" y="987489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ٱلرَّحۡمَٰنُ</a:t>
            </a:r>
            <a:endParaRPr lang="ar-SA" sz="8500" dirty="0"/>
          </a:p>
        </p:txBody>
      </p:sp>
      <p:sp>
        <p:nvSpPr>
          <p:cNvPr id="20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B"/>
          </a:solidFill>
          <a:ln w="12700">
            <a:solidFill>
              <a:srgbClr val="52E0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70DB"/>
          </a:solidFill>
          <a:ln w="12700">
            <a:solidFill>
              <a:srgbClr val="B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847"/>
          </a:solidFill>
          <a:ln w="12700">
            <a:solidFill>
              <a:srgbClr val="854847"/>
            </a:solidFill>
            <a:prstDash val="solid"/>
          </a:ln>
        </p:spPr>
      </p:sp>
      <p:sp>
        <p:nvSpPr>
          <p:cNvPr id="15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6" name="Word"/>
          <p:cNvSpPr txBox="1"/>
          <p:nvPr/>
        </p:nvSpPr>
        <p:spPr>
          <a:xfrm>
            <a:off x="2286000" y="1092655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ٱلۡكِتَٰبُ</a:t>
            </a:r>
            <a:endParaRPr lang="ar-SA" sz="8400" dirty="0"/>
          </a:p>
        </p:txBody>
      </p:sp>
      <p:sp>
        <p:nvSpPr>
          <p:cNvPr id="17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64D8"/>
          </a:solidFill>
          <a:ln w="12700">
            <a:solidFill>
              <a:srgbClr val="9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47D1"/>
          </a:solidFill>
          <a:ln w="12700">
            <a:solidFill>
              <a:srgbClr val="6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1" name="Word"/>
          <p:cNvSpPr txBox="1"/>
          <p:nvPr/>
        </p:nvSpPr>
        <p:spPr>
          <a:xfrm>
            <a:off x="2286000" y="1009796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ٱلنَّاسُ</a:t>
            </a:r>
            <a:endParaRPr lang="ar-SA" sz="8900" dirty="0"/>
          </a:p>
        </p:txBody>
      </p:sp>
      <p:sp>
        <p:nvSpPr>
          <p:cNvPr id="12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2" name="Word"/>
          <p:cNvSpPr txBox="1"/>
          <p:nvPr/>
        </p:nvSpPr>
        <p:spPr>
          <a:xfrm>
            <a:off x="2286000" y="1103535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ٱلۡبَيۡتُ</a:t>
            </a:r>
            <a:endParaRPr lang="ar-SA" sz="8500" dirty="0"/>
          </a:p>
        </p:txBody>
      </p:sp>
      <p:sp>
        <p:nvSpPr>
          <p:cNvPr id="13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164"/>
          </a:solidFill>
          <a:ln w="12700">
            <a:solidFill>
              <a:srgbClr val="2B6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379"/>
          </a:solidFill>
          <a:ln w="12700">
            <a:solidFill>
              <a:srgbClr val="345379"/>
            </a:solidFill>
            <a:prstDash val="solid"/>
          </a:ln>
        </p:spPr>
      </p:sp>
      <p:sp>
        <p:nvSpPr>
          <p:cNvPr id="12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3" name="Word"/>
          <p:cNvSpPr txBox="1"/>
          <p:nvPr/>
        </p:nvSpPr>
        <p:spPr>
          <a:xfrm>
            <a:off x="2286000" y="1049045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ٱلصَّلَوٰةُ</a:t>
            </a:r>
            <a:endParaRPr lang="ar-SA" sz="8400" dirty="0"/>
          </a:p>
        </p:txBody>
      </p:sp>
      <p:sp>
        <p:nvSpPr>
          <p:cNvPr id="14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1" name="Word"/>
          <p:cNvSpPr txBox="1"/>
          <p:nvPr/>
        </p:nvSpPr>
        <p:spPr>
          <a:xfrm>
            <a:off x="2286000" y="994562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ٱلۡعِلۡمُ</a:t>
            </a:r>
            <a:endParaRPr lang="ar-SA" sz="7400" dirty="0"/>
          </a:p>
        </p:txBody>
      </p:sp>
      <p:sp>
        <p:nvSpPr>
          <p:cNvPr id="12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15E"/>
          </a:solidFill>
          <a:ln w="12700">
            <a:solidFill>
              <a:srgbClr val="EDD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9" name="Word"/>
          <p:cNvSpPr txBox="1"/>
          <p:nvPr/>
        </p:nvSpPr>
        <p:spPr>
          <a:xfrm>
            <a:off x="2286000" y="1021861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ٱلدِّينُ</a:t>
            </a:r>
            <a:endParaRPr lang="ar-SA" sz="8700" dirty="0"/>
          </a:p>
        </p:txBody>
      </p:sp>
      <p:sp>
        <p:nvSpPr>
          <p:cNvPr id="20" name="C1 icon"/>
          <p:cNvSpPr/>
          <p:nvPr/>
        </p:nvSpPr>
        <p:spPr>
          <a:xfrm>
            <a:off x="4023360" y="3063240"/>
            <a:ext cx="1005840" cy="1005840"/>
          </a:xfrm>
          <a:prstGeom prst="sun">
            <a:avLst/>
          </a:prstGeom>
          <a:solidFill>
            <a:srgbClr val="FFD43B"/>
          </a:solidFill>
          <a:ln w="25400">
            <a:solidFill>
              <a:srgbClr val="F08C00"/>
            </a:solidFill>
            <a:prstDash val="solid"/>
          </a:ln>
        </p:spPr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CE0"/>
          </a:solidFill>
          <a:ln w="12700">
            <a:solidFill>
              <a:srgbClr val="525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E70"/>
          </a:solidFill>
          <a:ln w="12700">
            <a:solidFill>
              <a:srgbClr val="DB9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8547"/>
          </a:solidFill>
          <a:ln w="12700">
            <a:solidFill>
              <a:srgbClr val="568547"/>
            </a:solidFill>
            <a:prstDash val="solid"/>
          </a:ln>
        </p:spPr>
      </p:sp>
      <p:sp>
        <p:nvSpPr>
          <p:cNvPr id="15" name="Panel word"/>
          <p:cNvSpPr/>
          <p:nvPr/>
        </p:nvSpPr>
        <p:spPr>
          <a:xfrm>
            <a:off x="2286000" y="1005840"/>
            <a:ext cx="4572000" cy="1920240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88900">
            <a:solidFill>
              <a:srgbClr val="868E96"/>
            </a:solidFill>
            <a:prstDash val="solid"/>
          </a:ln>
        </p:spPr>
      </p:sp>
      <p:sp>
        <p:nvSpPr>
          <p:cNvPr id="16" name="Word"/>
          <p:cNvSpPr txBox="1"/>
          <p:nvPr/>
        </p:nvSpPr>
        <p:spPr>
          <a:xfrm>
            <a:off x="2286000" y="1106866"/>
            <a:ext cx="4572000" cy="19202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ٱلۡمَلِكُ</a:t>
            </a:r>
            <a:endParaRPr lang="ar-SA" sz="8500" dirty="0"/>
          </a:p>
        </p:txBody>
      </p:sp>
      <p:sp>
        <p:nvSpPr>
          <p:cNvPr id="17" name="C1 icon"/>
          <p:cNvSpPr/>
          <p:nvPr/>
        </p:nvSpPr>
        <p:spPr>
          <a:xfrm>
            <a:off x="4224528" y="3063240"/>
            <a:ext cx="603504" cy="1005840"/>
          </a:xfrm>
          <a:prstGeom prst="moon">
            <a:avLst/>
          </a:prstGeom>
          <a:solidFill>
            <a:srgbClr val="BAC8FF"/>
          </a:solidFill>
          <a:ln w="25400">
            <a:solidFill>
              <a:srgbClr val="4263EB"/>
            </a:solidFill>
            <a:prstDash val="solid"/>
          </a:ln>
        </p:spPr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464"/>
          </a:solidFill>
          <a:ln w="12700">
            <a:solidFill>
              <a:srgbClr val="D87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C"/>
          </a:solidFill>
          <a:ln w="12700">
            <a:solidFill>
              <a:srgbClr val="D1474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288053" y="896112"/>
            <a:ext cx="333857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288053" y="896112"/>
            <a:ext cx="333857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وَٱلشَّمۡسِ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517371" y="896112"/>
            <a:ext cx="2450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517371" y="896112"/>
            <a:ext cx="2450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وَضُحَىٰهَا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1848004" y="2834640"/>
            <a:ext cx="544799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1848004" y="2834640"/>
            <a:ext cx="544799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وَٱلشَّمۡسِ وَضُحَىٰهَا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279664" y="896112"/>
            <a:ext cx="2205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279664" y="896112"/>
            <a:ext cx="2205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وَٱلۡقَمَرِ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3672689" y="896112"/>
            <a:ext cx="1286935" cy="1371600"/>
          </a:xfrm>
          <a:prstGeom prst="roundRect">
            <a:avLst>
              <a:gd name="adj" fmla="val 28421"/>
            </a:avLst>
          </a:prstGeom>
          <a:solidFill>
            <a:srgbClr val="FFFFFF"/>
          </a:solidFill>
          <a:ln w="76200">
            <a:solidFill>
              <a:srgbClr val="AB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3672689" y="896112"/>
            <a:ext cx="128693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إِذَا</a:t>
            </a:r>
            <a:endParaRPr lang="ar-SA" sz="4400" dirty="0"/>
          </a:p>
        </p:txBody>
      </p:sp>
      <p:sp>
        <p:nvSpPr>
          <p:cNvPr id="15" name="C3 W3 pill"/>
          <p:cNvSpPr/>
          <p:nvPr/>
        </p:nvSpPr>
        <p:spPr>
          <a:xfrm>
            <a:off x="1659150" y="896112"/>
            <a:ext cx="16934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B36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659150" y="896112"/>
            <a:ext cx="16934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تَلَىٰهَا</a:t>
            </a:r>
            <a:endParaRPr lang="ar-SA" sz="44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509586" y="2834640"/>
            <a:ext cx="412482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509586" y="2834640"/>
            <a:ext cx="412482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وَٱلۡقَمَرِ إِذَا تَلَىٰهَا</a:t>
            </a:r>
            <a:endParaRPr lang="ar-SA" sz="4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13684" y="896112"/>
            <a:ext cx="29440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D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13684" y="896112"/>
            <a:ext cx="29440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786218" y="896112"/>
            <a:ext cx="23074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D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786218" y="896112"/>
            <a:ext cx="23074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18653" y="2834640"/>
            <a:ext cx="49066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18653" y="2834640"/>
            <a:ext cx="49066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ٱلرَّحۡمَٰنِ ٱلرَّحِيمِ</a:t>
            </a:r>
            <a:endParaRPr lang="ar-SA" sz="4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74789" y="896112"/>
            <a:ext cx="16968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6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74789" y="896112"/>
            <a:ext cx="16968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مَٰلِكِ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3732927" y="896112"/>
            <a:ext cx="19218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32927" y="896112"/>
            <a:ext cx="19218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يَوۡمِ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1472390" y="896112"/>
            <a:ext cx="194049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472390" y="896112"/>
            <a:ext cx="194049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ٱلدِّينِ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11183" y="2834640"/>
            <a:ext cx="45216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11183" y="2834640"/>
            <a:ext cx="45216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مَٰلِكِ يَوۡمِ ٱلدِّينِ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D"/>
          </a:solidFill>
          <a:ln w="12700">
            <a:solidFill>
              <a:srgbClr val="5EED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899271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899271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20" name="C2 W2 pill"/>
          <p:cNvSpPr/>
          <p:nvPr/>
        </p:nvSpPr>
        <p:spPr>
          <a:xfrm>
            <a:off x="4826822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3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4826822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22" name="C3 W3 pill"/>
          <p:cNvSpPr/>
          <p:nvPr/>
        </p:nvSpPr>
        <p:spPr>
          <a:xfrm>
            <a:off x="2794391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3E236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2794391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4" name="C4 W4 pill"/>
          <p:cNvSpPr/>
          <p:nvPr/>
        </p:nvSpPr>
        <p:spPr>
          <a:xfrm>
            <a:off x="533288" y="896112"/>
            <a:ext cx="194106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3E2"/>
            </a:solidFill>
            <a:prstDash val="solid"/>
          </a:ln>
        </p:spPr>
      </p:sp>
      <p:sp>
        <p:nvSpPr>
          <p:cNvPr id="25" name="C4 W4 word"/>
          <p:cNvSpPr txBox="1"/>
          <p:nvPr/>
        </p:nvSpPr>
        <p:spPr>
          <a:xfrm>
            <a:off x="533288" y="896112"/>
            <a:ext cx="194106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ٱلۡفَلَقِ</a:t>
            </a:r>
            <a:endParaRPr lang="ar-SA" sz="4300" dirty="0"/>
          </a:p>
        </p:txBody>
      </p:sp>
      <p:sp>
        <p:nvSpPr>
          <p:cNvPr id="26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S panel"/>
          <p:cNvSpPr/>
          <p:nvPr/>
        </p:nvSpPr>
        <p:spPr>
          <a:xfrm>
            <a:off x="1760619" y="2834640"/>
            <a:ext cx="56227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C5 S sentence"/>
          <p:cNvSpPr txBox="1"/>
          <p:nvPr/>
        </p:nvSpPr>
        <p:spPr>
          <a:xfrm>
            <a:off x="1760619" y="2834640"/>
            <a:ext cx="56227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ٱلۡفَلَقِ</a:t>
            </a:r>
            <a:endParaRPr lang="ar-SA" sz="4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0"/>
          </a:solidFill>
          <a:ln w="12700">
            <a:solidFill>
              <a:srgbClr val="E052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3"/>
          </a:solidFill>
          <a:ln w="12700">
            <a:solidFill>
              <a:srgbClr val="70DB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960030" y="896112"/>
            <a:ext cx="171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960030" y="896112"/>
            <a:ext cx="171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</a:t>
            </a:r>
            <a:endParaRPr lang="ar-SA" sz="4300" dirty="0"/>
          </a:p>
        </p:txBody>
      </p:sp>
      <p:sp>
        <p:nvSpPr>
          <p:cNvPr id="17" name="C2 W2 pill"/>
          <p:cNvSpPr/>
          <p:nvPr/>
        </p:nvSpPr>
        <p:spPr>
          <a:xfrm>
            <a:off x="4887580" y="896112"/>
            <a:ext cx="175240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1E2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887580" y="896112"/>
            <a:ext cx="175240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أَعُوذُ</a:t>
            </a:r>
            <a:endParaRPr lang="ar-SA" sz="4300" dirty="0"/>
          </a:p>
        </p:txBody>
      </p:sp>
      <p:sp>
        <p:nvSpPr>
          <p:cNvPr id="19" name="C3 W3 pill"/>
          <p:cNvSpPr/>
          <p:nvPr/>
        </p:nvSpPr>
        <p:spPr>
          <a:xfrm>
            <a:off x="2855150" y="896112"/>
            <a:ext cx="17123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1E2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2855150" y="896112"/>
            <a:ext cx="17123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بِرَبِّ</a:t>
            </a:r>
            <a:endParaRPr lang="ar-SA" sz="4300" dirty="0"/>
          </a:p>
        </p:txBody>
      </p:sp>
      <p:sp>
        <p:nvSpPr>
          <p:cNvPr id="21" name="C4 W4 pill"/>
          <p:cNvSpPr/>
          <p:nvPr/>
        </p:nvSpPr>
        <p:spPr>
          <a:xfrm>
            <a:off x="472529" y="896112"/>
            <a:ext cx="20625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1"/>
            </a:solidFill>
            <a:prstDash val="solid"/>
          </a:ln>
        </p:spPr>
      </p:sp>
      <p:sp>
        <p:nvSpPr>
          <p:cNvPr id="22" name="C4 W4 word"/>
          <p:cNvSpPr txBox="1"/>
          <p:nvPr/>
        </p:nvSpPr>
        <p:spPr>
          <a:xfrm>
            <a:off x="472529" y="896112"/>
            <a:ext cx="20625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ٱلنَّاسِ</a:t>
            </a:r>
            <a:endParaRPr lang="ar-SA" sz="4300" dirty="0"/>
          </a:p>
        </p:txBody>
      </p:sp>
      <p:sp>
        <p:nvSpPr>
          <p:cNvPr id="23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S panel"/>
          <p:cNvSpPr/>
          <p:nvPr/>
        </p:nvSpPr>
        <p:spPr>
          <a:xfrm>
            <a:off x="1703639" y="2834640"/>
            <a:ext cx="573672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C5 S sentence"/>
          <p:cNvSpPr txBox="1"/>
          <p:nvPr/>
        </p:nvSpPr>
        <p:spPr>
          <a:xfrm>
            <a:off x="1703639" y="2834640"/>
            <a:ext cx="573672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قُلۡ أَعُوذُ بِرَبِّ ٱلنَّاسِ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D864"/>
          </a:solidFill>
          <a:ln w="12700">
            <a:solidFill>
              <a:srgbClr val="7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ED147"/>
          </a:solidFill>
          <a:ln w="12700">
            <a:solidFill>
              <a:srgbClr val="6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259163" y="896112"/>
            <a:ext cx="20762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D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259163" y="896112"/>
            <a:ext cx="20762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وَٱلتِّينِ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08591" y="896112"/>
            <a:ext cx="31305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08591" y="896112"/>
            <a:ext cx="31305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وَٱلزَّيۡتُونِ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35436" y="2834640"/>
            <a:ext cx="48731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35436" y="2834640"/>
            <a:ext cx="48731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وَٱلتِّينِ وَٱلزَّيۡتُونِ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6201717" y="896112"/>
            <a:ext cx="24385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0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6201717" y="896112"/>
            <a:ext cx="24385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</a:t>
            </a:r>
            <a:endParaRPr lang="ar-SA" sz="3500" dirty="0"/>
          </a:p>
        </p:txBody>
      </p:sp>
      <p:sp>
        <p:nvSpPr>
          <p:cNvPr id="13" name="C2 W2 pill"/>
          <p:cNvSpPr/>
          <p:nvPr/>
        </p:nvSpPr>
        <p:spPr>
          <a:xfrm>
            <a:off x="4618979" y="896112"/>
            <a:ext cx="1262698" cy="1371600"/>
          </a:xfrm>
          <a:prstGeom prst="roundRect">
            <a:avLst>
              <a:gd name="adj" fmla="val 28967"/>
            </a:avLst>
          </a:prstGeom>
          <a:solidFill>
            <a:srgbClr val="FFFFFF"/>
          </a:solidFill>
          <a:ln w="76200">
            <a:solidFill>
              <a:srgbClr val="E280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618979" y="896112"/>
            <a:ext cx="12626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لِلَّهِ</a:t>
            </a:r>
            <a:endParaRPr lang="ar-SA" sz="3500" dirty="0"/>
          </a:p>
        </p:txBody>
      </p:sp>
      <p:sp>
        <p:nvSpPr>
          <p:cNvPr id="15" name="C3 W3 pill"/>
          <p:cNvSpPr/>
          <p:nvPr/>
        </p:nvSpPr>
        <p:spPr>
          <a:xfrm>
            <a:off x="2920454" y="896112"/>
            <a:ext cx="13784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0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2920454" y="896112"/>
            <a:ext cx="13784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رَبِّ</a:t>
            </a:r>
            <a:endParaRPr lang="ar-SA" sz="3500" dirty="0"/>
          </a:p>
        </p:txBody>
      </p:sp>
      <p:sp>
        <p:nvSpPr>
          <p:cNvPr id="17" name="C4 W4 pill"/>
          <p:cNvSpPr/>
          <p:nvPr/>
        </p:nvSpPr>
        <p:spPr>
          <a:xfrm>
            <a:off x="503709" y="896112"/>
            <a:ext cx="209670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036E2"/>
            </a:solidFill>
            <a:prstDash val="solid"/>
          </a:ln>
        </p:spPr>
      </p:sp>
      <p:sp>
        <p:nvSpPr>
          <p:cNvPr id="18" name="C4 W4 word"/>
          <p:cNvSpPr txBox="1"/>
          <p:nvPr/>
        </p:nvSpPr>
        <p:spPr>
          <a:xfrm>
            <a:off x="503709" y="896112"/>
            <a:ext cx="209670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ٱلۡعَٰلَمِينَ</a:t>
            </a:r>
            <a:endParaRPr lang="ar-SA" sz="3500" dirty="0"/>
          </a:p>
        </p:txBody>
      </p:sp>
      <p:sp>
        <p:nvSpPr>
          <p:cNvPr id="19" name="C5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S panel"/>
          <p:cNvSpPr/>
          <p:nvPr/>
        </p:nvSpPr>
        <p:spPr>
          <a:xfrm>
            <a:off x="1520492" y="2834640"/>
            <a:ext cx="610301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5 S sentence"/>
          <p:cNvSpPr txBox="1"/>
          <p:nvPr/>
        </p:nvSpPr>
        <p:spPr>
          <a:xfrm>
            <a:off x="1520492" y="2834640"/>
            <a:ext cx="610301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ٱلۡحَمۡدُ لِلَّهِ رَبِّ ٱلۡعَٰلَمِينَ</a:t>
            </a:r>
            <a:endParaRPr lang="ar-SA" sz="4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 and moon letters</dc:title>
  <dc:subject>PptxGenJS Presentation</dc:subject>
  <dc:creator>PptxGenJS</dc:creator>
  <cp:lastModifiedBy>PptxGenJS</cp:lastModifiedBy>
  <cp:revision>1</cp:revision>
  <dcterms:created xsi:type="dcterms:W3CDTF">2026-10-21T19:42:23Z</dcterms:created>
  <dcterms:modified xsi:type="dcterms:W3CDTF">2026-10-21T19:42:23Z</dcterms:modified>
</cp:coreProperties>
</file>