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Stopping is part of reciting correctly. A wrong stop can change the meaning; a wrong ending on the stopped word is a mistake in pronunciation. This lesson covers both, with the Madinah Mushaf (Hafs).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small signs are printed above the line, after the word they belong to. They tell you whether stopping there is required, forbidden, allowed, better or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Yunus 65. The meem sign means stopping is required, because connecting would give a wrong meaning: the sentence 'all honour belongs to Allah' is from Allah, not the saying of the disbelievers.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an-Nahl 32. The laa sign means: do not stop here. If you run out of breath and stop, begin again from an earlier word so the meaning stays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al-Kahf 13. Jeem = jaa'iz (permissible), equal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al-An'am 17. Salaa (from al-waslu awlaa): connecting is preferred.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al-Kahf 22. Qalaa (from al-waqfu awlaa): stopping is preferred.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al-Baqarah 2. The two sets of three dots (mu'aanaqah, embracing): if you stop at the first, read through the second; if you pass the first, you may stop at the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Stopping at every verse end is the practice of the Prophet ﷺ, even when the meaning continues into the next 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saktah is a very short silence without breathing. In the reading of Hafs it is required in four places: عِوَجَا ۜ قَيِّمًا (al-Kahf 1-2), مِن مَّرۡقَدِنَا ۜ هَٰذَا (Ya-Sin 52), مَنۡ ۜ رَاقٍ (al-Qiyamah 27), بَلۡ ۜ رَانَ (al-Mutaffifin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Stopping means cutting the sound on the last letter. Because Arabic does not stop on a short vowel, the last letter becomes sakin. Some endings (tanween with fathah, taa marbutah, the pronoun haa) have their own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an-Nas 1. an-naasi becomes an-naas when stopping. The alif before it is now a madd 'arid (2, 4 or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al-'Alaq 1. Stopping on a qalqalah letter gives the strongest bounce.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al-Ikhlas 1. ahadun → ahad, with a strong qalqalah on the daal.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Quraysh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an-Nasr 2. Fathatan becomes a long alif of 2 counts (madd al-'iwad).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al-Baqarah 171. On a hamza with fathatan we also stop with a long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al-Qari'ah 1. The round taa (taa marbutah) is read as t when connecting, but becomes a silent h when stopping.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al-Kahf 10. This is the exception to case 3: taa marbutah with fathatan does not become aa, it becomes a silent haa.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Al-Baqarah 2: if you stop on hudan, say hudaa. Also duhan → duhaa.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az-Zalzalah 7. The silah (the small waw or yaa) is only for connecting. When stopping, the haa is silent and the silah is not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al-Bayyinah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an-Nasr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madd before the stopped letter becomes madd 'arid lis-sukun. Choose 2, 4 or 6 and stay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Quraysh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al-Falaq 2. The qalqalah at a stop is called qalqalah kubra: the clearest bounce.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al-Masad 1. A doubled letter at the end stays doubled: press on it, then stop with qalqalah.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al-Baqarah 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ad-Duha 1. Also qaaloo, fee, anaa (the upright zero: read the alif when stopping).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lesson on letters written but not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Rawm (a very faint part of the vowel) is used with dammah and kasrah; ishmam (rounding the lips silently) only with dammah. They are optional refinements; beginners should stop with a full sukun.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a stop for breath, begin again from a sensible place. Starting on a word with hamzat al-wasl, pronounce it with the right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al-Qari'ah 11. Ask before revealing.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very common verse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az-Zalzalah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al-Ikhlas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with any page of Juz 'Amma: stop at each verse end and apply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52E0"/>
          </a:solidFill>
          <a:ln w="12700">
            <a:solidFill>
              <a:srgbClr val="C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DB70"/>
          </a:solidFill>
          <a:ln w="12700">
            <a:solidFill>
              <a:srgbClr val="B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0"/>
          </a:solidFill>
          <a:ln w="12700">
            <a:solidFill>
              <a:srgbClr val="478570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in the Quran (al-Waqf)</a:t>
            </a:r>
            <a:endParaRPr lang="en-US" sz="1800" dirty="0"/>
          </a:p>
        </p:txBody>
      </p:sp>
      <p:sp>
        <p:nvSpPr>
          <p:cNvPr id="17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8" name="C1 line 1"/>
          <p:cNvSpPr txBox="1"/>
          <p:nvPr/>
        </p:nvSpPr>
        <p:spPr>
          <a:xfrm>
            <a:off x="502920" y="165138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stop to breathe, or at the end of a meaning.</a:t>
            </a:r>
            <a:endParaRPr lang="en-US" sz="1600" dirty="0"/>
          </a:p>
        </p:txBody>
      </p:sp>
      <p:sp>
        <p:nvSpPr>
          <p:cNvPr id="19" name="C2 line 2"/>
          <p:cNvSpPr txBox="1"/>
          <p:nvPr/>
        </p:nvSpPr>
        <p:spPr>
          <a:xfrm>
            <a:off x="502920" y="228003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to learn:</a:t>
            </a:r>
            <a:endParaRPr lang="en-US" sz="1600" dirty="0"/>
          </a:p>
        </p:txBody>
      </p:sp>
      <p:sp>
        <p:nvSpPr>
          <p:cNvPr id="20" name="C3 line 3"/>
          <p:cNvSpPr txBox="1"/>
          <p:nvPr/>
        </p:nvSpPr>
        <p:spPr>
          <a:xfrm>
            <a:off x="502920" y="290868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WHERE to stop: the signs in the Mushaf</a:t>
            </a:r>
            <a:endParaRPr lang="en-US" sz="1600" dirty="0"/>
          </a:p>
        </p:txBody>
      </p:sp>
      <p:sp>
        <p:nvSpPr>
          <p:cNvPr id="21" name="C4 line 4"/>
          <p:cNvSpPr txBox="1"/>
          <p:nvPr/>
        </p:nvSpPr>
        <p:spPr>
          <a:xfrm>
            <a:off x="502920" y="353733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HOW to stop: what happens to the last word</a:t>
            </a:r>
            <a:endParaRPr lang="en-US" sz="1600" dirty="0"/>
          </a:p>
        </p:txBody>
      </p:sp>
      <p:sp>
        <p:nvSpPr>
          <p:cNvPr id="22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23" name="Arabic sample"/>
          <p:cNvSpPr txBox="1"/>
          <p:nvPr/>
        </p:nvSpPr>
        <p:spPr>
          <a:xfrm>
            <a:off x="6035040" y="1460627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قلى ج صلى</a:t>
            </a:r>
            <a:endParaRPr lang="ar-SA" sz="3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D864"/>
          </a:solidFill>
          <a:ln w="12700">
            <a:solidFill>
              <a:srgbClr val="D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047"/>
          </a:solidFill>
          <a:ln w="12700">
            <a:solidFill>
              <a:srgbClr val="D1C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the stop signs</a:t>
            </a:r>
            <a:endParaRPr lang="en-US" sz="1800" dirty="0"/>
          </a:p>
        </p:txBody>
      </p:sp>
      <p:sp>
        <p:nvSpPr>
          <p:cNvPr id="12" name="C1 circle"/>
          <p:cNvSpPr/>
          <p:nvPr/>
        </p:nvSpPr>
        <p:spPr>
          <a:xfrm>
            <a:off x="7623810" y="1691640"/>
            <a:ext cx="822960" cy="8229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03131"/>
            </a:solidFill>
            <a:prstDash val="solid"/>
          </a:ln>
        </p:spPr>
      </p:sp>
      <p:sp>
        <p:nvSpPr>
          <p:cNvPr id="13" name="C1 sign"/>
          <p:cNvSpPr/>
          <p:nvPr/>
        </p:nvSpPr>
        <p:spPr>
          <a:xfrm>
            <a:off x="7623810" y="1651699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مـ</a:t>
            </a:r>
            <a:endParaRPr lang="en-US" sz="1700" dirty="0"/>
          </a:p>
        </p:txBody>
      </p:sp>
      <p:sp>
        <p:nvSpPr>
          <p:cNvPr id="14" name="C1 label box"/>
          <p:cNvSpPr/>
          <p:nvPr/>
        </p:nvSpPr>
        <p:spPr>
          <a:xfrm>
            <a:off x="7474649" y="2624328"/>
            <a:ext cx="1121283" cy="100584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15" name="C1 label 0"/>
          <p:cNvSpPr txBox="1"/>
          <p:nvPr/>
        </p:nvSpPr>
        <p:spPr>
          <a:xfrm>
            <a:off x="7502081" y="2625598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2000" dirty="0"/>
          </a:p>
        </p:txBody>
      </p:sp>
      <p:sp>
        <p:nvSpPr>
          <p:cNvPr id="16" name="C1 label 1"/>
          <p:cNvSpPr txBox="1"/>
          <p:nvPr/>
        </p:nvSpPr>
        <p:spPr>
          <a:xfrm>
            <a:off x="7502081" y="3101912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900" dirty="0"/>
          </a:p>
        </p:txBody>
      </p:sp>
      <p:sp>
        <p:nvSpPr>
          <p:cNvPr id="17" name="C2 circle"/>
          <p:cNvSpPr/>
          <p:nvPr/>
        </p:nvSpPr>
        <p:spPr>
          <a:xfrm>
            <a:off x="6469380" y="1691640"/>
            <a:ext cx="822960" cy="8229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03131"/>
            </a:solidFill>
            <a:prstDash val="solid"/>
          </a:ln>
        </p:spPr>
      </p:sp>
      <p:sp>
        <p:nvSpPr>
          <p:cNvPr id="18" name="C2 sign"/>
          <p:cNvSpPr/>
          <p:nvPr/>
        </p:nvSpPr>
        <p:spPr>
          <a:xfrm>
            <a:off x="6469380" y="169703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لا</a:t>
            </a:r>
            <a:endParaRPr lang="en-US" sz="1700" dirty="0"/>
          </a:p>
        </p:txBody>
      </p:sp>
      <p:sp>
        <p:nvSpPr>
          <p:cNvPr id="19" name="C2 label box"/>
          <p:cNvSpPr/>
          <p:nvPr/>
        </p:nvSpPr>
        <p:spPr>
          <a:xfrm>
            <a:off x="6320218" y="2624328"/>
            <a:ext cx="1121283" cy="100584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0" name="C2 label 0"/>
          <p:cNvSpPr txBox="1"/>
          <p:nvPr/>
        </p:nvSpPr>
        <p:spPr>
          <a:xfrm>
            <a:off x="6347651" y="2625598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</a:t>
            </a:r>
            <a:endParaRPr lang="en-US" sz="2000" dirty="0"/>
          </a:p>
        </p:txBody>
      </p:sp>
      <p:sp>
        <p:nvSpPr>
          <p:cNvPr id="21" name="C2 label 1"/>
          <p:cNvSpPr txBox="1"/>
          <p:nvPr/>
        </p:nvSpPr>
        <p:spPr>
          <a:xfrm>
            <a:off x="6347651" y="3101912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900" dirty="0"/>
          </a:p>
        </p:txBody>
      </p:sp>
      <p:sp>
        <p:nvSpPr>
          <p:cNvPr id="22" name="C3 circle"/>
          <p:cNvSpPr/>
          <p:nvPr/>
        </p:nvSpPr>
        <p:spPr>
          <a:xfrm>
            <a:off x="5314950" y="1691640"/>
            <a:ext cx="822960" cy="8229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03131"/>
            </a:solidFill>
            <a:prstDash val="solid"/>
          </a:ln>
        </p:spPr>
      </p:sp>
      <p:sp>
        <p:nvSpPr>
          <p:cNvPr id="23" name="C3 sign"/>
          <p:cNvSpPr/>
          <p:nvPr/>
        </p:nvSpPr>
        <p:spPr>
          <a:xfrm>
            <a:off x="5314950" y="161931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en-US" sz="1700" dirty="0"/>
          </a:p>
        </p:txBody>
      </p:sp>
      <p:sp>
        <p:nvSpPr>
          <p:cNvPr id="24" name="C3 label box"/>
          <p:cNvSpPr/>
          <p:nvPr/>
        </p:nvSpPr>
        <p:spPr>
          <a:xfrm>
            <a:off x="5165789" y="2624328"/>
            <a:ext cx="1121283" cy="100584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5" name="C3 label 0"/>
          <p:cNvSpPr txBox="1"/>
          <p:nvPr/>
        </p:nvSpPr>
        <p:spPr>
          <a:xfrm>
            <a:off x="5193221" y="2603818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900" dirty="0"/>
          </a:p>
        </p:txBody>
      </p:sp>
      <p:sp>
        <p:nvSpPr>
          <p:cNvPr id="26" name="C3 label 1"/>
          <p:cNvSpPr txBox="1"/>
          <p:nvPr/>
        </p:nvSpPr>
        <p:spPr>
          <a:xfrm>
            <a:off x="5193221" y="3081528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go</a:t>
            </a:r>
            <a:endParaRPr lang="en-US" sz="2000" dirty="0"/>
          </a:p>
        </p:txBody>
      </p:sp>
      <p:sp>
        <p:nvSpPr>
          <p:cNvPr id="27" name="C4 circle"/>
          <p:cNvSpPr/>
          <p:nvPr/>
        </p:nvSpPr>
        <p:spPr>
          <a:xfrm>
            <a:off x="4160520" y="1691640"/>
            <a:ext cx="822960" cy="8229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03131"/>
            </a:solidFill>
            <a:prstDash val="solid"/>
          </a:ln>
        </p:spPr>
      </p:sp>
      <p:sp>
        <p:nvSpPr>
          <p:cNvPr id="28" name="C4 sign"/>
          <p:cNvSpPr/>
          <p:nvPr/>
        </p:nvSpPr>
        <p:spPr>
          <a:xfrm>
            <a:off x="4160520" y="1672209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صلى</a:t>
            </a:r>
            <a:endParaRPr lang="en-US" sz="1700" dirty="0"/>
          </a:p>
        </p:txBody>
      </p:sp>
      <p:sp>
        <p:nvSpPr>
          <p:cNvPr id="29" name="C4 label box"/>
          <p:cNvSpPr/>
          <p:nvPr/>
        </p:nvSpPr>
        <p:spPr>
          <a:xfrm>
            <a:off x="4011359" y="2624328"/>
            <a:ext cx="1121283" cy="100584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0" name="C4 label 0"/>
          <p:cNvSpPr txBox="1"/>
          <p:nvPr/>
        </p:nvSpPr>
        <p:spPr>
          <a:xfrm>
            <a:off x="4038791" y="2625598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2000" dirty="0"/>
          </a:p>
        </p:txBody>
      </p:sp>
      <p:sp>
        <p:nvSpPr>
          <p:cNvPr id="31" name="C4 label 1"/>
          <p:cNvSpPr txBox="1"/>
          <p:nvPr/>
        </p:nvSpPr>
        <p:spPr>
          <a:xfrm>
            <a:off x="4038791" y="3081528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on</a:t>
            </a:r>
            <a:endParaRPr lang="en-US" sz="2000" dirty="0"/>
          </a:p>
        </p:txBody>
      </p:sp>
      <p:sp>
        <p:nvSpPr>
          <p:cNvPr id="32" name="C5 circle"/>
          <p:cNvSpPr/>
          <p:nvPr/>
        </p:nvSpPr>
        <p:spPr>
          <a:xfrm>
            <a:off x="3006090" y="1691640"/>
            <a:ext cx="822960" cy="8229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03131"/>
            </a:solidFill>
            <a:prstDash val="solid"/>
          </a:ln>
        </p:spPr>
      </p:sp>
      <p:sp>
        <p:nvSpPr>
          <p:cNvPr id="33" name="C5 sign"/>
          <p:cNvSpPr/>
          <p:nvPr/>
        </p:nvSpPr>
        <p:spPr>
          <a:xfrm>
            <a:off x="3006090" y="1672209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قلى</a:t>
            </a:r>
            <a:endParaRPr lang="en-US" sz="1700" dirty="0"/>
          </a:p>
        </p:txBody>
      </p:sp>
      <p:sp>
        <p:nvSpPr>
          <p:cNvPr id="34" name="C5 label box"/>
          <p:cNvSpPr/>
          <p:nvPr/>
        </p:nvSpPr>
        <p:spPr>
          <a:xfrm>
            <a:off x="2856928" y="2624328"/>
            <a:ext cx="1121283" cy="100584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5" name="C5 label 0"/>
          <p:cNvSpPr txBox="1"/>
          <p:nvPr/>
        </p:nvSpPr>
        <p:spPr>
          <a:xfrm>
            <a:off x="2884360" y="2625598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2000" dirty="0"/>
          </a:p>
        </p:txBody>
      </p:sp>
      <p:sp>
        <p:nvSpPr>
          <p:cNvPr id="36" name="C5 label 1"/>
          <p:cNvSpPr txBox="1"/>
          <p:nvPr/>
        </p:nvSpPr>
        <p:spPr>
          <a:xfrm>
            <a:off x="2884360" y="3101912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900" dirty="0"/>
          </a:p>
        </p:txBody>
      </p:sp>
      <p:sp>
        <p:nvSpPr>
          <p:cNvPr id="37" name="C6 circle"/>
          <p:cNvSpPr/>
          <p:nvPr/>
        </p:nvSpPr>
        <p:spPr>
          <a:xfrm>
            <a:off x="1851660" y="1691640"/>
            <a:ext cx="822960" cy="8229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03131"/>
            </a:solidFill>
            <a:prstDash val="solid"/>
          </a:ln>
        </p:spPr>
      </p:sp>
      <p:sp>
        <p:nvSpPr>
          <p:cNvPr id="38" name="C6 sign"/>
          <p:cNvSpPr/>
          <p:nvPr/>
        </p:nvSpPr>
        <p:spPr>
          <a:xfrm>
            <a:off x="1851660" y="1681925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∴</a:t>
            </a:r>
            <a:endParaRPr lang="en-US" sz="1700" dirty="0"/>
          </a:p>
        </p:txBody>
      </p:sp>
      <p:sp>
        <p:nvSpPr>
          <p:cNvPr id="39" name="C6 label box"/>
          <p:cNvSpPr/>
          <p:nvPr/>
        </p:nvSpPr>
        <p:spPr>
          <a:xfrm>
            <a:off x="1702499" y="2624328"/>
            <a:ext cx="1121283" cy="100584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0" name="C6 label 0"/>
          <p:cNvSpPr txBox="1"/>
          <p:nvPr/>
        </p:nvSpPr>
        <p:spPr>
          <a:xfrm>
            <a:off x="1729931" y="2604897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</a:t>
            </a:r>
            <a:endParaRPr lang="en-US" sz="1800" dirty="0"/>
          </a:p>
        </p:txBody>
      </p:sp>
      <p:sp>
        <p:nvSpPr>
          <p:cNvPr id="41" name="C6 label 1"/>
          <p:cNvSpPr txBox="1"/>
          <p:nvPr/>
        </p:nvSpPr>
        <p:spPr>
          <a:xfrm>
            <a:off x="1729931" y="3106928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2000" dirty="0"/>
          </a:p>
        </p:txBody>
      </p:sp>
      <p:sp>
        <p:nvSpPr>
          <p:cNvPr id="42" name="C7 circle"/>
          <p:cNvSpPr/>
          <p:nvPr/>
        </p:nvSpPr>
        <p:spPr>
          <a:xfrm>
            <a:off x="697230" y="1691640"/>
            <a:ext cx="822960" cy="82296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E03131"/>
            </a:solidFill>
            <a:prstDash val="solid"/>
          </a:ln>
        </p:spPr>
      </p:sp>
      <p:sp>
        <p:nvSpPr>
          <p:cNvPr id="43" name="C7 sign"/>
          <p:cNvSpPr/>
          <p:nvPr/>
        </p:nvSpPr>
        <p:spPr>
          <a:xfrm>
            <a:off x="697230" y="1633347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en-US" sz="1700" dirty="0"/>
          </a:p>
        </p:txBody>
      </p:sp>
      <p:sp>
        <p:nvSpPr>
          <p:cNvPr id="44" name="C7 label box"/>
          <p:cNvSpPr/>
          <p:nvPr/>
        </p:nvSpPr>
        <p:spPr>
          <a:xfrm>
            <a:off x="548068" y="2624328"/>
            <a:ext cx="1121283" cy="100584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5" name="C7 label 0"/>
          <p:cNvSpPr txBox="1"/>
          <p:nvPr/>
        </p:nvSpPr>
        <p:spPr>
          <a:xfrm>
            <a:off x="575500" y="2610295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Pause,</a:t>
            </a:r>
            <a:endParaRPr lang="en-US" sz="1700" dirty="0"/>
          </a:p>
        </p:txBody>
      </p:sp>
      <p:sp>
        <p:nvSpPr>
          <p:cNvPr id="46" name="C7 label 1"/>
          <p:cNvSpPr txBox="1"/>
          <p:nvPr/>
        </p:nvSpPr>
        <p:spPr>
          <a:xfrm>
            <a:off x="575500" y="3130804"/>
            <a:ext cx="1066419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breath</a:t>
            </a:r>
            <a:endParaRPr lang="en-US" sz="1400" dirty="0"/>
          </a:p>
        </p:txBody>
      </p:sp>
      <p:sp>
        <p:nvSpPr>
          <p:cNvPr id="47" name="C8 tip box"/>
          <p:cNvSpPr/>
          <p:nvPr/>
        </p:nvSpPr>
        <p:spPr>
          <a:xfrm>
            <a:off x="365760" y="3703320"/>
            <a:ext cx="8412480" cy="548640"/>
          </a:xfrm>
          <a:prstGeom prst="roundRect">
            <a:avLst>
              <a:gd name="adj" fmla="val 41667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48" name="C8 tip"/>
          <p:cNvSpPr txBox="1"/>
          <p:nvPr/>
        </p:nvSpPr>
        <p:spPr>
          <a:xfrm>
            <a:off x="502920" y="3706368"/>
            <a:ext cx="8138160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Mushaf these signs are printed small, ABOVE the last letter of the word.</a:t>
            </a:r>
            <a:endParaRPr lang="en-US" sz="1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Meem sign: you MUST stop (al-waqf al-lazim)</a:t>
            </a:r>
            <a:endParaRPr lang="en-US" sz="1800" dirty="0"/>
          </a:p>
        </p:txBody>
      </p:sp>
      <p:sp>
        <p:nvSpPr>
          <p:cNvPr id="13" name="Verse panel"/>
          <p:cNvSpPr/>
          <p:nvPr/>
        </p:nvSpPr>
        <p:spPr>
          <a:xfrm>
            <a:off x="365760" y="1536192"/>
            <a:ext cx="841248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C1 verse"/>
          <p:cNvSpPr txBox="1"/>
          <p:nvPr/>
        </p:nvSpPr>
        <p:spPr>
          <a:xfrm>
            <a:off x="365760" y="1559922"/>
            <a:ext cx="8412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يَحۡزُنكَ قَوۡلُهُمۡ</a:t>
            </a:r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ۘ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إِنَّ ٱلۡعِزَّةَ لِلَّهِ جَمِيعًا</a:t>
            </a:r>
            <a:endParaRPr lang="ar-SA" sz="3700" dirty="0"/>
          </a:p>
        </p:txBody>
      </p:sp>
      <p:sp>
        <p:nvSpPr>
          <p:cNvPr id="15" name="C2 line box 1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6" name="C2 line 1"/>
          <p:cNvSpPr txBox="1"/>
          <p:nvPr/>
        </p:nvSpPr>
        <p:spPr>
          <a:xfrm>
            <a:off x="502920" y="3063240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after qawluhum.</a:t>
            </a:r>
            <a:endParaRPr lang="en-US" sz="1800" dirty="0"/>
          </a:p>
        </p:txBody>
      </p:sp>
      <p:sp>
        <p:nvSpPr>
          <p:cNvPr id="17" name="C3 line box 2"/>
          <p:cNvSpPr/>
          <p:nvPr/>
        </p:nvSpPr>
        <p:spPr>
          <a:xfrm>
            <a:off x="365760" y="3666744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8" name="C3 line 2"/>
          <p:cNvSpPr txBox="1"/>
          <p:nvPr/>
        </p:nvSpPr>
        <p:spPr>
          <a:xfrm>
            <a:off x="502920" y="3666744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connect, it sounds like THEY said 'all honour belongs to Allah'.</a:t>
            </a:r>
            <a:endParaRPr lang="en-US" sz="1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 sign: do NOT stop here</a:t>
            </a:r>
            <a:endParaRPr lang="en-US" sz="1800" dirty="0"/>
          </a:p>
        </p:txBody>
      </p:sp>
      <p:sp>
        <p:nvSpPr>
          <p:cNvPr id="14" name="Verse panel"/>
          <p:cNvSpPr/>
          <p:nvPr/>
        </p:nvSpPr>
        <p:spPr>
          <a:xfrm>
            <a:off x="365760" y="1536192"/>
            <a:ext cx="841248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C1 verse"/>
          <p:cNvSpPr txBox="1"/>
          <p:nvPr/>
        </p:nvSpPr>
        <p:spPr>
          <a:xfrm>
            <a:off x="365760" y="1593533"/>
            <a:ext cx="8412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ٱلَّذِينَ تَتَوَفَّىٰهُمُ ٱلۡمَلَٰٓئِكَةُ طَيِّبِينَ</a:t>
            </a:r>
            <a:pPr algn="ctr" indent="0" marL="0">
              <a:buNone/>
            </a:pPr>
            <a:r>
              <a:rPr lang="ar-SA" altLang="en-US" sz="30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ۙ</a:t>
            </a:r>
            <a:pPr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يَقُولُونَ سَلَٰمٌ عَلَيۡكُمُ</a:t>
            </a:r>
            <a:endParaRPr lang="ar-SA" sz="3000" dirty="0"/>
          </a:p>
        </p:txBody>
      </p:sp>
      <p:sp>
        <p:nvSpPr>
          <p:cNvPr id="16" name="C2 line box 1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7" name="C2 line 1"/>
          <p:cNvSpPr txBox="1"/>
          <p:nvPr/>
        </p:nvSpPr>
        <p:spPr>
          <a:xfrm>
            <a:off x="502920" y="3063240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stop on tayyibeen: the sentence is not finished.</a:t>
            </a:r>
            <a:endParaRPr lang="en-US" sz="1800" dirty="0"/>
          </a:p>
        </p:txBody>
      </p:sp>
      <p:sp>
        <p:nvSpPr>
          <p:cNvPr id="18" name="C3 line box 2"/>
          <p:cNvSpPr/>
          <p:nvPr/>
        </p:nvSpPr>
        <p:spPr>
          <a:xfrm>
            <a:off x="365760" y="3666744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C3 line 2"/>
          <p:cNvSpPr txBox="1"/>
          <p:nvPr/>
        </p:nvSpPr>
        <p:spPr>
          <a:xfrm>
            <a:off x="502920" y="3666744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must stop for breath, go back and read it again joined.</a:t>
            </a:r>
            <a:endParaRPr lang="en-US" sz="1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Jeem sign: stop or go on, both are fine</a:t>
            </a:r>
            <a:endParaRPr lang="en-US" sz="1800" dirty="0"/>
          </a:p>
        </p:txBody>
      </p:sp>
      <p:sp>
        <p:nvSpPr>
          <p:cNvPr id="12" name="Verse panel"/>
          <p:cNvSpPr/>
          <p:nvPr/>
        </p:nvSpPr>
        <p:spPr>
          <a:xfrm>
            <a:off x="365760" y="1536192"/>
            <a:ext cx="841248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C1 verse"/>
          <p:cNvSpPr txBox="1"/>
          <p:nvPr/>
        </p:nvSpPr>
        <p:spPr>
          <a:xfrm>
            <a:off x="365760" y="1569872"/>
            <a:ext cx="8412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نَّحۡنُ نَقُصُّ عَلَيۡكَ نَبَأَهُم بِٱلۡحَقِّ</a:t>
            </a:r>
            <a:pPr algn="ctr" indent="0" marL="0">
              <a:buNone/>
            </a:pPr>
            <a:r>
              <a:rPr lang="ar-SA" altLang="en-US" sz="2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ۚ</a:t>
            </a:r>
            <a:pPr algn="ctr" indent="0" marL="0">
              <a:buNone/>
            </a:pPr>
            <a:r>
              <a:rPr lang="ar-SA" altLang="en-US" sz="2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إِنَّهُمۡ فِتۡيَةٌ ءَامَنُوا۟ بِرَبِّهِمۡ</a:t>
            </a:r>
            <a:endParaRPr lang="ar-SA" sz="2400" dirty="0"/>
          </a:p>
        </p:txBody>
      </p:sp>
      <p:sp>
        <p:nvSpPr>
          <p:cNvPr id="14" name="C2 line box 1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5" name="C2 line 1"/>
          <p:cNvSpPr txBox="1"/>
          <p:nvPr/>
        </p:nvSpPr>
        <p:spPr>
          <a:xfrm>
            <a:off x="502920" y="3063240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may stop after bil-haqq, or continue.</a:t>
            </a:r>
            <a:endParaRPr lang="en-US" sz="1800" dirty="0"/>
          </a:p>
        </p:txBody>
      </p:sp>
      <p:sp>
        <p:nvSpPr>
          <p:cNvPr id="16" name="C3 line box 2"/>
          <p:cNvSpPr/>
          <p:nvPr/>
        </p:nvSpPr>
        <p:spPr>
          <a:xfrm>
            <a:off x="365760" y="3666744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7" name="C3 line 2"/>
          <p:cNvSpPr txBox="1"/>
          <p:nvPr/>
        </p:nvSpPr>
        <p:spPr>
          <a:xfrm>
            <a:off x="502920" y="3666744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equally good.</a:t>
            </a:r>
            <a:endParaRPr lang="en-US" sz="1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CED"/>
          </a:solidFill>
          <a:ln w="12700">
            <a:solidFill>
              <a:srgbClr val="5EA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Salaa sign: better to go on</a:t>
            </a:r>
            <a:endParaRPr lang="en-US" sz="1800" dirty="0"/>
          </a:p>
        </p:txBody>
      </p:sp>
      <p:sp>
        <p:nvSpPr>
          <p:cNvPr id="20" name="Verse panel"/>
          <p:cNvSpPr/>
          <p:nvPr/>
        </p:nvSpPr>
        <p:spPr>
          <a:xfrm>
            <a:off x="365760" y="1536192"/>
            <a:ext cx="841248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C1 verse"/>
          <p:cNvSpPr txBox="1"/>
          <p:nvPr/>
        </p:nvSpPr>
        <p:spPr>
          <a:xfrm>
            <a:off x="365760" y="1569225"/>
            <a:ext cx="8412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فَلَا كَاشِفَ لَهُۥٓ إِلَّا هُوَ</a:t>
            </a:r>
            <a:pPr algn="ctr" indent="0" marL="0">
              <a:buNone/>
            </a:pPr>
            <a:r>
              <a:rPr lang="ar-SA" altLang="en-US" sz="34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ۖ</a:t>
            </a:r>
            <a:pPr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وَإِن يَمۡسَسۡكَ بِخَيۡرٍ</a:t>
            </a:r>
            <a:endParaRPr lang="ar-SA" sz="3400" dirty="0"/>
          </a:p>
        </p:txBody>
      </p:sp>
      <p:sp>
        <p:nvSpPr>
          <p:cNvPr id="22" name="C2 line box 1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3" name="C2 line 1"/>
          <p:cNvSpPr txBox="1"/>
          <p:nvPr/>
        </p:nvSpPr>
        <p:spPr>
          <a:xfrm>
            <a:off x="502920" y="3063240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Stopping is allowed,</a:t>
            </a:r>
            <a:endParaRPr lang="en-US" sz="1800" dirty="0"/>
          </a:p>
        </p:txBody>
      </p:sp>
      <p:sp>
        <p:nvSpPr>
          <p:cNvPr id="24" name="C3 line box 2"/>
          <p:cNvSpPr/>
          <p:nvPr/>
        </p:nvSpPr>
        <p:spPr>
          <a:xfrm>
            <a:off x="365760" y="3666744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5" name="C3 line 2"/>
          <p:cNvSpPr txBox="1"/>
          <p:nvPr/>
        </p:nvSpPr>
        <p:spPr>
          <a:xfrm>
            <a:off x="502920" y="3666744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continuing is better.</a:t>
            </a:r>
            <a:endParaRPr lang="en-US" sz="1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552"/>
          </a:solidFill>
          <a:ln w="12700">
            <a:solidFill>
              <a:srgbClr val="E0A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2DB"/>
          </a:solidFill>
          <a:ln w="12700">
            <a:solidFill>
              <a:srgbClr val="70D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Qalaa sign: better to stop</a:t>
            </a:r>
            <a:endParaRPr lang="en-US" sz="1800" dirty="0"/>
          </a:p>
        </p:txBody>
      </p:sp>
      <p:sp>
        <p:nvSpPr>
          <p:cNvPr id="17" name="Verse panel"/>
          <p:cNvSpPr/>
          <p:nvPr/>
        </p:nvSpPr>
        <p:spPr>
          <a:xfrm>
            <a:off x="365760" y="1536192"/>
            <a:ext cx="841248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C1 verse"/>
          <p:cNvSpPr txBox="1"/>
          <p:nvPr/>
        </p:nvSpPr>
        <p:spPr>
          <a:xfrm>
            <a:off x="365760" y="1590465"/>
            <a:ext cx="8412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مَّا يَعۡلَمُهُمۡ إِلَّا قَلِيلٌ</a:t>
            </a:r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ۗ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فَلَا تُمَارِ فِيهِمۡ</a:t>
            </a:r>
            <a:endParaRPr lang="ar-SA" sz="3700" dirty="0"/>
          </a:p>
        </p:txBody>
      </p:sp>
      <p:sp>
        <p:nvSpPr>
          <p:cNvPr id="19" name="C2 line box 1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0" name="C2 line 1"/>
          <p:cNvSpPr txBox="1"/>
          <p:nvPr/>
        </p:nvSpPr>
        <p:spPr>
          <a:xfrm>
            <a:off x="502920" y="3063240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Continuing is allowed,</a:t>
            </a:r>
            <a:endParaRPr lang="en-US" sz="1800" dirty="0"/>
          </a:p>
        </p:txBody>
      </p:sp>
      <p:sp>
        <p:nvSpPr>
          <p:cNvPr id="21" name="C3 line box 2"/>
          <p:cNvSpPr/>
          <p:nvPr/>
        </p:nvSpPr>
        <p:spPr>
          <a:xfrm>
            <a:off x="365760" y="3666744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22" name="C3 line 2"/>
          <p:cNvSpPr txBox="1"/>
          <p:nvPr/>
        </p:nvSpPr>
        <p:spPr>
          <a:xfrm>
            <a:off x="502920" y="3666744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stopping is better.</a:t>
            </a:r>
            <a:endParaRPr lang="en-US" sz="1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0"/>
          </a:solidFill>
          <a:ln w="12700">
            <a:solidFill>
              <a:srgbClr val="64D8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E"/>
          </a:solidFill>
          <a:ln w="12700">
            <a:solidFill>
              <a:srgbClr val="47D1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dots twice: stop at ONE of the two, not both</a:t>
            </a:r>
            <a:endParaRPr lang="en-US" sz="1800" dirty="0"/>
          </a:p>
        </p:txBody>
      </p:sp>
      <p:sp>
        <p:nvSpPr>
          <p:cNvPr id="12" name="Verse panel"/>
          <p:cNvSpPr/>
          <p:nvPr/>
        </p:nvSpPr>
        <p:spPr>
          <a:xfrm>
            <a:off x="365760" y="1536192"/>
            <a:ext cx="841248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C1 verse"/>
          <p:cNvSpPr txBox="1"/>
          <p:nvPr/>
        </p:nvSpPr>
        <p:spPr>
          <a:xfrm>
            <a:off x="365760" y="1611376"/>
            <a:ext cx="8412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ذَٰلِكَ ٱلۡكِتَٰبُ لَا رَيۡبَ</a:t>
            </a:r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ۛ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فِيهِ</a:t>
            </a:r>
            <a:pPr algn="ctr" indent="0" marL="0">
              <a:buNone/>
            </a:pPr>
            <a:r>
              <a:rPr lang="ar-SA" altLang="en-US" sz="37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ۛ</a:t>
            </a:r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هُدًى لِّلۡمُتَّقِينَ</a:t>
            </a:r>
            <a:endParaRPr lang="ar-SA" sz="3700" dirty="0"/>
          </a:p>
        </p:txBody>
      </p:sp>
      <p:sp>
        <p:nvSpPr>
          <p:cNvPr id="14" name="C2 line box 1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5" name="C2 line 1"/>
          <p:cNvSpPr txBox="1"/>
          <p:nvPr/>
        </p:nvSpPr>
        <p:spPr>
          <a:xfrm>
            <a:off x="502920" y="3063240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after laa rayba  OR  after feeh, never at both.</a:t>
            </a:r>
            <a:endParaRPr lang="en-US" sz="1800" dirty="0"/>
          </a:p>
        </p:txBody>
      </p:sp>
      <p:sp>
        <p:nvSpPr>
          <p:cNvPr id="16" name="C3 line box 2"/>
          <p:cNvSpPr/>
          <p:nvPr/>
        </p:nvSpPr>
        <p:spPr>
          <a:xfrm>
            <a:off x="365760" y="3666744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7" name="C3 line 2"/>
          <p:cNvSpPr txBox="1"/>
          <p:nvPr/>
        </p:nvSpPr>
        <p:spPr>
          <a:xfrm>
            <a:off x="502920" y="3666744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stop gives a correct meaning; both together break it.</a:t>
            </a:r>
            <a:endParaRPr lang="en-US" sz="1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of a verse</a:t>
            </a:r>
            <a:endParaRPr lang="en-US" sz="2200" dirty="0"/>
          </a:p>
        </p:txBody>
      </p:sp>
      <p:sp>
        <p:nvSpPr>
          <p:cNvPr id="13" name="Verse panel"/>
          <p:cNvSpPr/>
          <p:nvPr/>
        </p:nvSpPr>
        <p:spPr>
          <a:xfrm>
            <a:off x="365760" y="1536192"/>
            <a:ext cx="841248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C1 verse"/>
          <p:cNvSpPr txBox="1"/>
          <p:nvPr/>
        </p:nvSpPr>
        <p:spPr>
          <a:xfrm>
            <a:off x="365760" y="1554010"/>
            <a:ext cx="8412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ٱلۡحَمۡدُ لِلَّهِ رَبِّ ٱلۡعَٰلَمِينَ </a:t>
            </a:r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﴿٢﴾</a:t>
            </a:r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ٱلرَّحۡمَٰنِ ٱلرَّحِيمِ </a:t>
            </a:r>
            <a:pPr algn="ctr" indent="0" marL="0">
              <a:buNone/>
            </a:pPr>
            <a:r>
              <a:rPr lang="ar-SA" altLang="en-US" sz="2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﴿٣﴾</a:t>
            </a:r>
            <a:endParaRPr lang="ar-SA" sz="2900" dirty="0"/>
          </a:p>
        </p:txBody>
      </p:sp>
      <p:sp>
        <p:nvSpPr>
          <p:cNvPr id="15" name="C2 line box 1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6" name="C2 line 1"/>
          <p:cNvSpPr txBox="1"/>
          <p:nvPr/>
        </p:nvSpPr>
        <p:spPr>
          <a:xfrm>
            <a:off x="502920" y="3086608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circle with a number ends a verse.</a:t>
            </a:r>
            <a:endParaRPr lang="en-US" sz="2000" dirty="0"/>
          </a:p>
        </p:txBody>
      </p:sp>
      <p:sp>
        <p:nvSpPr>
          <p:cNvPr id="17" name="C3 line box 2"/>
          <p:cNvSpPr/>
          <p:nvPr/>
        </p:nvSpPr>
        <p:spPr>
          <a:xfrm>
            <a:off x="365760" y="3666744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8" name="C3 line 2"/>
          <p:cNvSpPr txBox="1"/>
          <p:nvPr/>
        </p:nvSpPr>
        <p:spPr>
          <a:xfrm>
            <a:off x="502920" y="3666744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sunnah to stop at the end of each verse.</a:t>
            </a:r>
            <a:endParaRPr lang="en-US" sz="1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642B"/>
          </a:solidFill>
          <a:ln w="12700">
            <a:solidFill>
              <a:srgbClr val="4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7934"/>
          </a:solidFill>
          <a:ln w="12700">
            <a:solidFill>
              <a:srgbClr val="377934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C2255C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seen: saktah, a short pause without breath</a:t>
            </a:r>
            <a:endParaRPr lang="en-US" sz="1800" dirty="0"/>
          </a:p>
        </p:txBody>
      </p:sp>
      <p:sp>
        <p:nvSpPr>
          <p:cNvPr id="14" name="Verse panel"/>
          <p:cNvSpPr/>
          <p:nvPr/>
        </p:nvSpPr>
        <p:spPr>
          <a:xfrm>
            <a:off x="365760" y="1536192"/>
            <a:ext cx="8412480" cy="141732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C1 verse"/>
          <p:cNvSpPr txBox="1"/>
          <p:nvPr/>
        </p:nvSpPr>
        <p:spPr>
          <a:xfrm>
            <a:off x="365760" y="1590675"/>
            <a:ext cx="8412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وَلَمۡ يَجۡعَل لَّهُۥ عِوَجَا</a:t>
            </a:r>
            <a:pPr algn="ctr" indent="0" marL="0">
              <a:buNone/>
            </a:pPr>
            <a:r>
              <a:rPr lang="ar-SA" altLang="en-US" sz="3900" dirty="0">
                <a:solidFill>
                  <a:srgbClr val="E03131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ۜ</a:t>
            </a:r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 قَيِّمًا</a:t>
            </a:r>
            <a:endParaRPr lang="ar-SA" sz="3900" dirty="0"/>
          </a:p>
        </p:txBody>
      </p:sp>
      <p:sp>
        <p:nvSpPr>
          <p:cNvPr id="16" name="C2 line box 1"/>
          <p:cNvSpPr/>
          <p:nvPr/>
        </p:nvSpPr>
        <p:spPr>
          <a:xfrm>
            <a:off x="365760" y="3063240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7" name="C2 line 1"/>
          <p:cNvSpPr txBox="1"/>
          <p:nvPr/>
        </p:nvSpPr>
        <p:spPr>
          <a:xfrm>
            <a:off x="502920" y="3063240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sound for a moment, do NOT take a breath, then continue.</a:t>
            </a:r>
            <a:endParaRPr lang="en-US" sz="1800" dirty="0"/>
          </a:p>
        </p:txBody>
      </p:sp>
      <p:sp>
        <p:nvSpPr>
          <p:cNvPr id="18" name="C3 line box 2"/>
          <p:cNvSpPr/>
          <p:nvPr/>
        </p:nvSpPr>
        <p:spPr>
          <a:xfrm>
            <a:off x="365760" y="3666744"/>
            <a:ext cx="8412480" cy="530352"/>
          </a:xfrm>
          <a:prstGeom prst="roundRect">
            <a:avLst>
              <a:gd name="adj" fmla="val 43103"/>
            </a:avLst>
          </a:prstGeom>
          <a:solidFill>
            <a:srgbClr val="FFFFFF"/>
          </a:solidFill>
          <a:ln w="76200">
            <a:solidFill>
              <a:srgbClr val="C2255C"/>
            </a:solidFill>
            <a:prstDash val="solid"/>
          </a:ln>
        </p:spPr>
      </p:sp>
      <p:sp>
        <p:nvSpPr>
          <p:cNvPr id="19" name="C3 line 2"/>
          <p:cNvSpPr txBox="1"/>
          <p:nvPr/>
        </p:nvSpPr>
        <p:spPr>
          <a:xfrm>
            <a:off x="502920" y="3666744"/>
            <a:ext cx="813816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Hafs: 4 places (al-Kahf 1, Ya-Sin 52, al-Qiyamah 27, al-Mutaffifin 14).</a:t>
            </a:r>
            <a:endParaRPr lang="en-US" sz="1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HOW to stop on the last word</a:t>
            </a:r>
            <a:endParaRPr lang="en-US" sz="1800" dirty="0"/>
          </a:p>
        </p:txBody>
      </p:sp>
      <p:sp>
        <p:nvSpPr>
          <p:cNvPr id="12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3" name="C1 line 1"/>
          <p:cNvSpPr txBox="1"/>
          <p:nvPr/>
        </p:nvSpPr>
        <p:spPr>
          <a:xfrm>
            <a:off x="502920" y="1649349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rule: we never stop on a vowel.</a:t>
            </a:r>
            <a:endParaRPr lang="en-US" sz="1800" dirty="0"/>
          </a:p>
        </p:txBody>
      </p:sp>
      <p:sp>
        <p:nvSpPr>
          <p:cNvPr id="14" name="C2 line 2"/>
          <p:cNvSpPr txBox="1"/>
          <p:nvPr/>
        </p:nvSpPr>
        <p:spPr>
          <a:xfrm>
            <a:off x="502920" y="2277999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letter becomes SILENT (sukun),</a:t>
            </a:r>
            <a:endParaRPr lang="en-US" sz="1800" dirty="0"/>
          </a:p>
        </p:txBody>
      </p:sp>
      <p:sp>
        <p:nvSpPr>
          <p:cNvPr id="15" name="C3 line 3"/>
          <p:cNvSpPr txBox="1"/>
          <p:nvPr/>
        </p:nvSpPr>
        <p:spPr>
          <a:xfrm>
            <a:off x="502920" y="2906649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few special cases.</a:t>
            </a:r>
            <a:endParaRPr lang="en-US" sz="1800" dirty="0"/>
          </a:p>
        </p:txBody>
      </p:sp>
      <p:sp>
        <p:nvSpPr>
          <p:cNvPr id="16" name="C4 line 4"/>
          <p:cNvSpPr txBox="1"/>
          <p:nvPr/>
        </p:nvSpPr>
        <p:spPr>
          <a:xfrm>
            <a:off x="502920" y="3535299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 go through every case.</a:t>
            </a:r>
            <a:endParaRPr lang="en-US" sz="1800" dirty="0"/>
          </a:p>
        </p:txBody>
      </p:sp>
      <p:sp>
        <p:nvSpPr>
          <p:cNvPr id="17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8" name="Arabic sample"/>
          <p:cNvSpPr txBox="1"/>
          <p:nvPr/>
        </p:nvSpPr>
        <p:spPr>
          <a:xfrm>
            <a:off x="6035040" y="1384084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1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F"/>
          </a:solidFill>
          <a:ln w="12700">
            <a:solidFill>
              <a:srgbClr val="ED5EC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1: a vowel at the end → sukun</a:t>
            </a:r>
            <a:endParaRPr lang="en-US" sz="22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681274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32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10360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...ٱلنَّا</a:t>
            </a:r>
            <a:pPr algn="ctr" indent="0" marL="0">
              <a:buNone/>
            </a:pPr>
            <a:r>
              <a:rPr lang="ar-SA" altLang="en-US" sz="36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6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594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...an-naas</a:t>
            </a:r>
            <a:endParaRPr lang="en-US" sz="30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82264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Fathah, kasrah or dammah on the last letter: drop it, stop silent</a:t>
            </a:r>
            <a:endParaRPr lang="en-US" sz="1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1"/>
          </a:solidFill>
          <a:ln w="12700">
            <a:solidFill>
              <a:srgbClr val="52E0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70DB"/>
          </a:solidFill>
          <a:ln w="12700">
            <a:solidFill>
              <a:srgbClr val="C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1: a vowel at the end → sukun</a:t>
            </a:r>
            <a:endParaRPr lang="en-US" sz="22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705971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ٱلَّذِي خَلَقَ</a:t>
            </a:r>
            <a:endParaRPr lang="ar-SA" sz="41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527230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ٱلَّذِي خَلَ</a:t>
            </a:r>
            <a:pPr algn="ctr" indent="0" marL="0">
              <a:buNone/>
            </a:pPr>
            <a:r>
              <a:rPr lang="ar-SA" altLang="en-US" sz="2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27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Al-ladhee kha-laq</a:t>
            </a:r>
            <a:endParaRPr lang="en-US" sz="27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khalaqa → khalaq  (qaaf is a qalqalah letter: it bounces)</a:t>
            </a:r>
            <a:endParaRPr lang="en-US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364D8"/>
          </a:solidFill>
          <a:ln w="12700">
            <a:solidFill>
              <a:srgbClr val="A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B47D1"/>
          </a:solidFill>
          <a:ln w="12700">
            <a:solidFill>
              <a:srgbClr val="7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2: tanween with dammah or kasrah → sukun</a:t>
            </a:r>
            <a:endParaRPr lang="en-US" sz="22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75252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هُوَ ٱللَّهُ أَحَدٌ</a:t>
            </a:r>
            <a:endParaRPr lang="ar-SA" sz="42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6522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...أَحَ</a:t>
            </a:r>
            <a:pPr algn="ctr" indent="0" marL="0">
              <a:buNone/>
            </a:pP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3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...a-had</a:t>
            </a:r>
            <a:endParaRPr lang="en-US" sz="30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-un / -in: drop the tanween and the vowel, stop silent</a:t>
            </a:r>
            <a:endParaRPr lang="en-US" sz="2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2: tanween with dammah or kasrah → sukun</a:t>
            </a:r>
            <a:endParaRPr lang="en-US" sz="22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631823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وَءَامَنَهُم مِّنۡ خَوۡفٍ</a:t>
            </a:r>
            <a:endParaRPr lang="ar-SA" sz="33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53285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...خَوۡ</a:t>
            </a:r>
            <a:pPr algn="ctr" indent="0" marL="0">
              <a:buNone/>
            </a:pP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...khawf</a:t>
            </a:r>
            <a:endParaRPr lang="en-US" sz="30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8429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khawfin → khawf  (the leen ay/aw before it may be stretched 2, 4 or 6)</a:t>
            </a:r>
            <a:endParaRPr lang="en-US" sz="1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3: tanween with fathah → long aa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698814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فِي دِينِ ٱللَّهِ أَفۡوَاجًا</a:t>
            </a:r>
            <a:endParaRPr lang="ar-SA" sz="34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549289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...أَفۡوَاجَ</a:t>
            </a:r>
            <a:pPr algn="ctr" indent="0" marL="0">
              <a:buNone/>
            </a:pPr>
            <a:r>
              <a:rPr lang="ar-SA" altLang="en-US" sz="32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2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...af-waa-jaa</a:t>
            </a:r>
            <a:endParaRPr lang="en-US" sz="27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-an → -aa  (the written alif is now read, 2 counts)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3: tanween with fathah → long aa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74432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دُعَآءً وَنِدَآءً</a:t>
            </a:r>
            <a:endParaRPr lang="ar-SA" sz="55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2110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...نِدَآءَ</a:t>
            </a:r>
            <a:pPr algn="ctr" indent="0" marL="0">
              <a:buNone/>
            </a:pPr>
            <a:r>
              <a:rPr lang="ar-SA" altLang="en-US" sz="3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8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...ni-daa-'aa</a:t>
            </a:r>
            <a:endParaRPr lang="en-US" sz="30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after a hamza:  -'an → -'aa</a:t>
            </a:r>
            <a:endParaRPr lang="en-US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85E"/>
          </a:solidFill>
          <a:ln w="12700">
            <a:solidFill>
              <a:srgbClr val="EDE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4: round taa (taa marbutah) → a silent h</a:t>
            </a:r>
            <a:endParaRPr lang="en-US" sz="18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680210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ٱلۡقَارِعَةُ</a:t>
            </a:r>
            <a:endParaRPr lang="ar-SA" sz="45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05331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ٱلۡقَارِعَ</a:t>
            </a:r>
            <a:pPr algn="ctr" indent="0" marL="0">
              <a:buNone/>
            </a:pPr>
            <a:r>
              <a:rPr lang="ar-SA" altLang="en-US" sz="30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0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Al-qaa-ri-'ah</a:t>
            </a:r>
            <a:endParaRPr lang="en-US" sz="27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95980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round taa becomes a silent h:  -tu / -ti / -tun → -h</a:t>
            </a:r>
            <a:endParaRPr lang="en-US" sz="2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E52E0"/>
          </a:solidFill>
          <a:ln w="12700">
            <a:solidFill>
              <a:srgbClr val="5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F70"/>
          </a:solidFill>
          <a:ln w="12700">
            <a:solidFill>
              <a:srgbClr val="DBA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4: round taa (taa marbutah) → a silent h</a:t>
            </a:r>
            <a:endParaRPr lang="en-US" sz="18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75252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لَّدُنكَ رَحۡمَةً</a:t>
            </a:r>
            <a:endParaRPr lang="ar-SA" sz="42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494282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...رَحۡمَ</a:t>
            </a:r>
            <a:pPr algn="ctr" indent="0" marL="0">
              <a:buNone/>
            </a:pPr>
            <a:r>
              <a:rPr lang="ar-SA" altLang="en-US" sz="3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8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...rah-mah</a:t>
            </a:r>
            <a:endParaRPr lang="en-US" sz="30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8429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with fathatan: NO long aa on the round taa.  rahmatan → rahmah</a:t>
            </a:r>
            <a:endParaRPr lang="en-US" sz="1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664"/>
          </a:solidFill>
          <a:ln w="12700">
            <a:solidFill>
              <a:srgbClr val="D88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947"/>
          </a:solidFill>
          <a:ln w="12700">
            <a:solidFill>
              <a:srgbClr val="D15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5: tanween on alif maqsurah → aa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762553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هُدًى لِّلۡمُتَّقِينَ</a:t>
            </a:r>
            <a:endParaRPr lang="ar-SA" sz="46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48111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هُدَ</a:t>
            </a:r>
            <a:pPr algn="ctr" indent="0" marL="0">
              <a:buNone/>
            </a:pPr>
            <a:r>
              <a:rPr lang="ar-SA" altLang="en-US" sz="40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ى</a:t>
            </a:r>
            <a:endParaRPr lang="ar-SA" sz="40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Hu-daa  (stop)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hudan → hudaa: stop with a long aa (2 counts)</a:t>
            </a:r>
            <a:endParaRPr lang="en-US" sz="2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6: the pronoun haa (hu / hi) → silent h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631823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خَيۡرًا يَرَهُۥ</a:t>
            </a:r>
            <a:endParaRPr lang="ar-SA" sz="60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47726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خَيۡرًا يَرَ</a:t>
            </a:r>
            <a:pPr algn="ctr" indent="0" marL="0">
              <a:buNone/>
            </a:pPr>
            <a:r>
              <a:rPr lang="ar-SA" altLang="en-US" sz="40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...ya-rah</a:t>
            </a:r>
            <a:endParaRPr lang="en-US" sz="27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 waw / yaa is dropped:  yarahoo → yarah</a:t>
            </a:r>
            <a:endParaRPr lang="en-US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6: the pronoun haa (hu / hi) → silent h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624671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لِمَنۡ خَشِيَ رَبَّهُۥ</a:t>
            </a:r>
            <a:endParaRPr lang="ar-SA" sz="40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49991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...رَبَّ</a:t>
            </a:r>
            <a:pPr algn="ctr" indent="0" marL="0">
              <a:buNone/>
            </a:pPr>
            <a:r>
              <a:rPr lang="ar-SA" altLang="en-US" sz="3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7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...rab-bah</a:t>
            </a:r>
            <a:endParaRPr lang="en-US" sz="30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rabbahoo → rabbah</a:t>
            </a:r>
            <a:endParaRPr lang="en-US" sz="2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6: the pronoun haa (hu / hi) → silent h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8522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وَٱسۡتَغۡفِرۡهُ</a:t>
            </a:r>
            <a:endParaRPr lang="ar-SA" sz="46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14475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وَٱسۡتَغۡفِرۡ</a:t>
            </a:r>
            <a:pPr algn="ctr" indent="0" marL="0">
              <a:buNone/>
            </a:pPr>
            <a:r>
              <a:rPr lang="ar-SA" altLang="en-US" sz="36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6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Was-tagh-fir-h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8124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silah here (a silent letter before the haa); stopping: silent h</a:t>
            </a:r>
            <a:endParaRPr lang="en-US" sz="2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4"/>
          </a:solidFill>
          <a:ln w="12700">
            <a:solidFill>
              <a:srgbClr val="5EEDC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7: a madd letter before the last letter</a:t>
            </a:r>
            <a:endParaRPr lang="en-US" sz="22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624192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ٱلرَّحۡمَٰنِ ٱلرَّحِيمِ</a:t>
            </a:r>
            <a:endParaRPr lang="ar-SA" sz="39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47020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...ٱلرَّحِ</a:t>
            </a:r>
            <a:pPr algn="ctr" indent="0" marL="0">
              <a:buNone/>
            </a:pP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3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...ar-ra-heeem</a:t>
            </a:r>
            <a:endParaRPr lang="en-US" sz="30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82264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Madd 'arid: stretch 2, 4 or 6  (keep the same length every time)</a:t>
            </a:r>
            <a:endParaRPr lang="en-US" sz="1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9"/>
          </a:solidFill>
          <a:ln w="12700">
            <a:solidFill>
              <a:srgbClr val="E0526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7: leen (aw / ay) before the last letter</a:t>
            </a:r>
            <a:endParaRPr lang="en-US" sz="18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67322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لِإِيلَٰفِ قُرَيۡشٍ</a:t>
            </a:r>
            <a:endParaRPr lang="ar-SA" sz="39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53495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...قُرَ</a:t>
            </a:r>
            <a:pPr algn="ctr" indent="0" marL="0">
              <a:buNone/>
            </a:pP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3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...qu-raysh</a:t>
            </a:r>
            <a:endParaRPr lang="en-US" sz="27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 / aw before the stop: 2, 4 or 6</a:t>
            </a:r>
            <a:endParaRPr lang="en-US" sz="2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8D147"/>
          </a:solidFill>
          <a:ln w="12700">
            <a:solidFill>
              <a:srgbClr val="5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8: qalqalah is strongest at a stop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79600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44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1009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...خَلَ</a:t>
            </a:r>
            <a:pPr algn="ctr" indent="0" marL="0">
              <a:buNone/>
            </a:pPr>
            <a:r>
              <a:rPr lang="ar-SA" altLang="en-US" sz="35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5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...kha-laq!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Qaaf, Taa, Baa, Jeem, Daal at a stop: a clear bounce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9: a shaddah at the end → keep it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670273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تَبَّتۡ يَدَآ أَبِي لَهَبٍ وَتَبَّ</a:t>
            </a:r>
            <a:endParaRPr lang="ar-SA" sz="29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491386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...وَتَ</a:t>
            </a:r>
            <a:pPr algn="ctr" indent="0" marL="0">
              <a:buNone/>
            </a:pPr>
            <a:r>
              <a:rPr lang="ar-SA" altLang="en-US" sz="38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بّۡ</a:t>
            </a:r>
            <a:endParaRPr lang="ar-SA" sz="38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...wa-tabb</a:t>
            </a:r>
            <a:endParaRPr lang="en-US" sz="30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the doubled letter, then stop  (and bounce the baa)</a:t>
            </a:r>
            <a:endParaRPr lang="en-US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9: a shaddah at the end → keep it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68022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وَلَكُمۡ فِي ٱلۡأَرۡضِ مُسۡتَقَرٌّ</a:t>
            </a:r>
            <a:endParaRPr lang="ar-SA" sz="22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5000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...مُسۡتَقَ</a:t>
            </a:r>
            <a:pPr algn="ctr" indent="0" marL="0">
              <a:buNone/>
            </a:pPr>
            <a:r>
              <a:rPr lang="ar-SA" altLang="en-US" sz="3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رّۡ</a:t>
            </a:r>
            <a:endParaRPr lang="ar-SA" sz="37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51240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...mus-ta-qarr</a:t>
            </a:r>
            <a:endParaRPr lang="en-US" sz="29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-qarrun → -qarr: hold the doubled r</a:t>
            </a:r>
            <a:endParaRPr lang="en-US" sz="2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10: a madd letter at the end → keep it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736750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وَٱلضُّحَىٰ</a:t>
            </a:r>
            <a:endParaRPr lang="ar-SA" sz="48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4797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وَٱلضُّحَ</a:t>
            </a:r>
            <a:pPr algn="ctr" indent="0" marL="0">
              <a:buNone/>
            </a:pPr>
            <a:r>
              <a:rPr lang="ar-SA" altLang="en-US" sz="32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ى</a:t>
            </a:r>
            <a:endParaRPr lang="ar-SA" sz="32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Wad-du-haa</a:t>
            </a:r>
            <a:endParaRPr lang="en-US" sz="30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8124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 already ends with a long vowel: stop on it, 2 counts</a:t>
            </a:r>
            <a:endParaRPr lang="en-US" sz="2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05EED"/>
          </a:solidFill>
          <a:ln w="12700">
            <a:solidFill>
              <a:srgbClr val="A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11: the upright oval zero → read the alif</a:t>
            </a:r>
            <a:endParaRPr lang="en-US" sz="18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763475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أَنَا۠</a:t>
            </a:r>
            <a:endParaRPr lang="ar-SA" sz="50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612010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أَنَ</a:t>
            </a:r>
            <a:pPr algn="ctr" indent="0" marL="0">
              <a:buNone/>
            </a:pPr>
            <a:r>
              <a:rPr lang="ar-SA" altLang="en-US" sz="37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7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A-naa  (stop)</a:t>
            </a:r>
            <a:endParaRPr lang="en-US" sz="27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Connecting: ana.   Stopping: anaa.</a:t>
            </a:r>
            <a:endParaRPr lang="en-US" sz="2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E052"/>
          </a:solidFill>
          <a:ln w="12700">
            <a:solidFill>
              <a:srgbClr val="8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70DB"/>
          </a:solidFill>
          <a:ln w="12700">
            <a:solidFill>
              <a:srgbClr val="7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B"/>
          </a:solidFill>
          <a:ln w="12700">
            <a:solidFill>
              <a:srgbClr val="85476B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90170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teachers: rawm and ishmam</a:t>
            </a:r>
            <a:endParaRPr lang="en-US" sz="2200" dirty="0"/>
          </a:p>
        </p:txBody>
      </p:sp>
      <p:sp>
        <p:nvSpPr>
          <p:cNvPr id="17" name="Lines panel"/>
          <p:cNvSpPr/>
          <p:nvPr/>
        </p:nvSpPr>
        <p:spPr>
          <a:xfrm>
            <a:off x="365760" y="1536192"/>
            <a:ext cx="841248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8" name="C1 line 1"/>
          <p:cNvSpPr txBox="1"/>
          <p:nvPr/>
        </p:nvSpPr>
        <p:spPr>
          <a:xfrm>
            <a:off x="502920" y="1649349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Rawm: say a third of the last vowel very softly (dammah, kasrah).</a:t>
            </a:r>
            <a:endParaRPr lang="en-US" sz="1800" dirty="0"/>
          </a:p>
        </p:txBody>
      </p:sp>
      <p:sp>
        <p:nvSpPr>
          <p:cNvPr id="19" name="C2 line 2"/>
          <p:cNvSpPr txBox="1"/>
          <p:nvPr/>
        </p:nvSpPr>
        <p:spPr>
          <a:xfrm>
            <a:off x="502920" y="2277999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Ishmam: close the lips like a dammah, without sound.</a:t>
            </a:r>
            <a:endParaRPr lang="en-US" sz="1800" dirty="0"/>
          </a:p>
        </p:txBody>
      </p:sp>
      <p:sp>
        <p:nvSpPr>
          <p:cNvPr id="20" name="C3 line 3"/>
          <p:cNvSpPr txBox="1"/>
          <p:nvPr/>
        </p:nvSpPr>
        <p:spPr>
          <a:xfrm>
            <a:off x="502920" y="2906649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allowed for Hafs when stopping; full sukun is the default.</a:t>
            </a:r>
            <a:endParaRPr lang="en-US" sz="1800" dirty="0"/>
          </a:p>
        </p:txBody>
      </p:sp>
      <p:sp>
        <p:nvSpPr>
          <p:cNvPr id="21" name="C4 line 4"/>
          <p:cNvSpPr txBox="1"/>
          <p:nvPr/>
        </p:nvSpPr>
        <p:spPr>
          <a:xfrm>
            <a:off x="502920" y="3535299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them after the learners stop well with sukun.</a:t>
            </a:r>
            <a:endParaRPr lang="en-US" sz="1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CD8"/>
          </a:solidFill>
          <a:ln w="12700">
            <a:solidFill>
              <a:srgbClr val="647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AD1"/>
          </a:solidFill>
          <a:ln w="12700">
            <a:solidFill>
              <a:srgbClr val="477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again after a stop (al-Ibtida')</a:t>
            </a:r>
            <a:endParaRPr lang="en-US" sz="1800" dirty="0"/>
          </a:p>
        </p:txBody>
      </p:sp>
      <p:sp>
        <p:nvSpPr>
          <p:cNvPr id="12" name="Lines panel"/>
          <p:cNvSpPr/>
          <p:nvPr/>
        </p:nvSpPr>
        <p:spPr>
          <a:xfrm>
            <a:off x="365760" y="1536192"/>
            <a:ext cx="841248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3" name="C1 line 1"/>
          <p:cNvSpPr txBox="1"/>
          <p:nvPr/>
        </p:nvSpPr>
        <p:spPr>
          <a:xfrm>
            <a:off x="502920" y="1648333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word where the meaning is complete.</a:t>
            </a:r>
            <a:endParaRPr lang="en-US" sz="1900" dirty="0"/>
          </a:p>
        </p:txBody>
      </p:sp>
      <p:sp>
        <p:nvSpPr>
          <p:cNvPr id="14" name="C2 line 2"/>
          <p:cNvSpPr txBox="1"/>
          <p:nvPr/>
        </p:nvSpPr>
        <p:spPr>
          <a:xfrm>
            <a:off x="502920" y="2276983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start in the middle of a phrase that changes the meaning.</a:t>
            </a:r>
            <a:endParaRPr lang="en-US" sz="1900" dirty="0"/>
          </a:p>
        </p:txBody>
      </p:sp>
      <p:sp>
        <p:nvSpPr>
          <p:cNvPr id="15" name="C3 line 3"/>
          <p:cNvSpPr txBox="1"/>
          <p:nvPr/>
        </p:nvSpPr>
        <p:spPr>
          <a:xfrm>
            <a:off x="502920" y="2905633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on a connecting hamza: say it (see that lesson).</a:t>
            </a:r>
            <a:endParaRPr lang="en-US" sz="1900" dirty="0"/>
          </a:p>
        </p:txBody>
      </p:sp>
      <p:sp>
        <p:nvSpPr>
          <p:cNvPr id="16" name="C4 line 4"/>
          <p:cNvSpPr txBox="1"/>
          <p:nvPr/>
        </p:nvSpPr>
        <p:spPr>
          <a:xfrm>
            <a:off x="502920" y="3534283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stopped at a bad place, go back a few words.</a:t>
            </a:r>
            <a:endParaRPr lang="en-US" sz="1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E8590C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how do we stop here?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728330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نَارٌ حَامِيَةٌ</a:t>
            </a:r>
            <a:endParaRPr lang="ar-SA" sz="49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50300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...حَامِيَ</a:t>
            </a:r>
            <a:pPr algn="ctr" indent="0" marL="0">
              <a:buNone/>
            </a:pPr>
            <a:r>
              <a:rPr lang="ar-SA" altLang="en-US" sz="39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39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...haa-mi-yah</a:t>
            </a:r>
            <a:endParaRPr lang="en-US" sz="27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 marbutah → silent haa</a:t>
            </a:r>
            <a:endParaRPr lang="en-US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E8590C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how do we stop here?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619539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عَلِيمًا حَكِيمًا</a:t>
            </a:r>
            <a:endParaRPr lang="ar-SA" sz="60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46691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...حَكِيمَ</a:t>
            </a:r>
            <a:pPr algn="ctr" indent="0" marL="0">
              <a:buNone/>
            </a:pPr>
            <a:r>
              <a:rPr lang="ar-SA" altLang="en-US" sz="4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3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...ha-kee-maa</a:t>
            </a:r>
            <a:endParaRPr lang="en-US" sz="30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Fathatan → long aa</a:t>
            </a:r>
            <a:endParaRPr lang="en-US" sz="2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E8590C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how do we stop here?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85013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فَمَن يَعۡمَلۡ مِثۡقَالَ ذَرَّةٍ شَرًّا يَرَهُۥ</a:t>
            </a:r>
            <a:endParaRPr lang="ar-SA" sz="19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475486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...يَرَ</a:t>
            </a:r>
            <a:pPr algn="ctr" indent="0" marL="0">
              <a:buNone/>
            </a:pPr>
            <a:r>
              <a:rPr lang="ar-SA" altLang="en-US" sz="40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...ya-rah</a:t>
            </a:r>
            <a:endParaRPr lang="en-US" sz="27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Pronoun haa → silent h, no silah</a:t>
            </a:r>
            <a:endParaRPr lang="en-US" sz="2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D5E"/>
          </a:solidFill>
          <a:ln w="12700">
            <a:solidFill>
              <a:srgbClr val="ED7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E8590C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how do we stop here?</a:t>
            </a:r>
            <a:endParaRPr lang="en-US" sz="18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70263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وَلَمۡ يَكُن لَّهُۥ كُفُوًا أَحَدٌ</a:t>
            </a:r>
            <a:endParaRPr lang="ar-SA" sz="30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6522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...أَحَ</a:t>
            </a:r>
            <a:pPr algn="ctr" indent="0" marL="0">
              <a:buNone/>
            </a:pPr>
            <a:r>
              <a:rPr lang="ar-SA" altLang="en-US" sz="3300" dirty="0">
                <a:solidFill>
                  <a:srgbClr val="2F9E44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33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...a-had</a:t>
            </a:r>
            <a:endParaRPr lang="en-US" sz="30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E8590C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Dammatan → sukun, with a strong qalqalah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0E0"/>
          </a:solidFill>
          <a:ln w="12700">
            <a:solidFill>
              <a:srgbClr val="52B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2"/>
          </a:solidFill>
          <a:ln w="12700">
            <a:solidFill>
              <a:srgbClr val="DB708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how to stop</a:t>
            </a:r>
            <a:endParaRPr lang="en-US" sz="1800" dirty="0"/>
          </a:p>
        </p:txBody>
      </p:sp>
      <p:sp>
        <p:nvSpPr>
          <p:cNvPr id="17" name="Lines panel"/>
          <p:cNvSpPr/>
          <p:nvPr/>
        </p:nvSpPr>
        <p:spPr>
          <a:xfrm>
            <a:off x="365760" y="1536192"/>
            <a:ext cx="841248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8" name="C1 line 1"/>
          <p:cNvSpPr txBox="1"/>
          <p:nvPr/>
        </p:nvSpPr>
        <p:spPr>
          <a:xfrm>
            <a:off x="502920" y="160883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Vowel or -un / -in  →  sukun</a:t>
            </a:r>
            <a:endParaRPr lang="en-US" sz="2000" dirty="0"/>
          </a:p>
        </p:txBody>
      </p:sp>
      <p:sp>
        <p:nvSpPr>
          <p:cNvPr id="19" name="C2 line 2"/>
          <p:cNvSpPr txBox="1"/>
          <p:nvPr/>
        </p:nvSpPr>
        <p:spPr>
          <a:xfrm>
            <a:off x="502920" y="209651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-an  →  long aa   (round taa → silent h)</a:t>
            </a:r>
            <a:endParaRPr lang="en-US" sz="2000" dirty="0"/>
          </a:p>
        </p:txBody>
      </p:sp>
      <p:sp>
        <p:nvSpPr>
          <p:cNvPr id="20" name="C3 line 3"/>
          <p:cNvSpPr txBox="1"/>
          <p:nvPr/>
        </p:nvSpPr>
        <p:spPr>
          <a:xfrm>
            <a:off x="502920" y="259943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Pronoun haa  →  silent h, no small waw / yaa</a:t>
            </a:r>
            <a:endParaRPr lang="en-US" sz="2000" dirty="0"/>
          </a:p>
        </p:txBody>
      </p:sp>
      <p:sp>
        <p:nvSpPr>
          <p:cNvPr id="21" name="C4 line 4"/>
          <p:cNvSpPr txBox="1"/>
          <p:nvPr/>
        </p:nvSpPr>
        <p:spPr>
          <a:xfrm>
            <a:off x="502920" y="311759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Madd or leen before the end  →  2 / 4 / 6</a:t>
            </a:r>
            <a:endParaRPr lang="en-US" sz="2000" dirty="0"/>
          </a:p>
        </p:txBody>
      </p:sp>
      <p:sp>
        <p:nvSpPr>
          <p:cNvPr id="22" name="C5 line 5"/>
          <p:cNvSpPr txBox="1"/>
          <p:nvPr/>
        </p:nvSpPr>
        <p:spPr>
          <a:xfrm>
            <a:off x="502920" y="3605276"/>
            <a:ext cx="813816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Shaddah  →  keep it;  qalqalah  →  bounce clearly</a:t>
            </a:r>
            <a:endParaRPr lang="en-US" sz="2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Stopping in the Quran</dc:title>
  <dc:subject>PptxGenJS Presentation</dc:subject>
  <dc:creator>PptxGenJS</dc:creator>
  <cp:lastModifiedBy>PptxGenJS</cp:lastModifiedBy>
  <cp:revision>1</cp:revision>
  <dcterms:created xsi:type="dcterms:W3CDTF">2026-10-21T19:53:00Z</dcterms:created>
  <dcterms:modified xsi:type="dcterms:W3CDTF">2026-10-21T19:53:00Z</dcterms:modified>
</cp:coreProperties>
</file>