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Read the title together: "ghunnah" is a nasal sound; "doubled noon" is a noon with a shaddah. The Arabic reads: ghunnat an-noon al-mushaddadah.
Choose a route:
- Guided Lesson: full teaching path (goals, idea, steps, examples, mistakes, practice, activities).
- Challenge Mode: jumps straight to Activity 1, then the activities, final check and recap. Good for revision or for older learners who already know shaddah.
- Lesson menu: jump to any section.
Ask: "Have you ever noticed a sound that hums in your nose when you read?"
Navigation: every slide has Home, Menu, Back and Next buttons. Answer buttons open feedback slides; these are hidden slides, so the arrow keys skip them.
Reading context: Hafs through Shatibiyyah, as stated in the source (Tajweed1.pdf, PDF p. 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MENU. Click any tile to jump to that part. Teal tiles are the guided teaching path; gold tiles are the challenge and review path.
Tip: with a returning group, start at "Activities" and send learners back to a teaching tile only if they struggle.
Question to ask: "Which part do you feel least sure about?"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GOALS. Read the three goals aloud. Point out the key words: a Mushaf is a printed Quran; sukoon marks a saakin letter (no short vowel); shaddah doubles a consonant; ghunnah is nasal resonance.
Ask: "Where have you seen the little shaddah mark before?"
Younger learners: call the shaddah "the double sign" and act out two people standing in one spot.
Older learners: ask them to define saakin and shaddah in their own words before you show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WARM-UP (predict, then reveal). Give learners a few seconds to decide, or let them point or say the letter (A, B, C, D). Then click Reveal.
Answer: B (noon with shaddah) and D (meem with shaddah). A and C carry only a short vowel.
Ask: "What do B and D have in common?" (the shaddah, and they are noon or meem).
Easier: cover two tiles and compare just A and B.
Harder: ask which of the four would get a held nasal sound, and why, before revealing.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B and D are noon and meem with shaddah: these are the letters this rule is about. A and C have a short vowel only.
Click Continue to move to the idea, or Back to question to try with another learner.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IDEA. Read the equation from right to left, as Arabic is read: a saakin noon, then a noon with a vowel, written together as one noon with shaddah.
Then the key point: when the doubled letter is noon or meem, it carries a clear ghunnah, a sound that resonates through the nose.
Pronunciation: the ghunnah is the nasal sound itself; it is not an extra letter.
Ask: "How many noons are hiding in one noon with shaddah?" (two parts: saakin then vowelled).
Easier: use two cut-out noon cards and slide them together.
Harder: ask learners to explain why the first part must be saakin.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RECOGNITION CUES. When to look for it: a noon or meem carrying shaddah.
Show lesson card 1 (right) and let the learner name the trigger, as the source activity suggests.
Ask: "What two things must you see together?" (the letter noon or meem, and a shaddah on it).
Common confusion: a shaddah on other letters is still a doubled letter, but this ghunnah rule is about noon and meem.
Note: the lesson title says "doubled noon", but the source rule covers noon and meem with shaddah; both worked examples use noon.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STEPS. Model each step slowly using lesson card 2 (shown on the next slide). Then ask the learner to echo you.
1 Find the shaddah. 2 Form the letter at its normal articulation point, keeping the nasal passage open. 3 Hold the ghunnah for two counts, then release into the written vowel.
Use a teacher model for articulation; naming the rule alone does not show accurate pronunciation.
Ask: "Which step is about the eyes, which about the mouth and nose, and which about time?"
Easier: practise step 3 on a single letter (noon with shaddah and fathah) before whole words.
Harder: learner models the steps for a partner and corrects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Two counts, measured against two short vowels at the reader's current speed. Counts are relative to pace, not fixed seconds: a slower recitation gives slightly longer counts, a faster one shorter.
Demonstrate: tap two short vowel beats ("ba, ba"), then hold the ghunnah for the same two beats.
Keep it accurate: do not remove the nasal sound, and do not add a separate vowel between the two parts of the doubled letter.
Ask: "If I recite more slowly, do the two counts get longer or shorter?" (a little longer: they follow the pace).
Easier: clap the two counts while the learner hums the ghunnah.
Harder: recite the same example at two speeds and keep the counts proportional.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1 (Surah 114, verse 6): مِنَ ٱلْجِنَّةِ وَٱلنَّاسِ
Focus: ٱلْجِنَّةِ. The noon has a shaddah, so it carries a two-count ghunnah, then releases into its kasrah.
Model it slowly, then have the learner echo. Keep the surrounding letters and vowels clear. Other Tajweed rules can occur in the same excerpt; this slide focuses on the doubled noon only.
Ask: "Can you find another doubled noon in this same excerpt?" (Yes: ٱلنَّاسِ. It is the subject of Activity 1.)
Source note: lesson card 3 prints the focus label without its shaddah; the full excerpt above shows it correctly.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2 (Surah 2, verse 6, opening words): إِنَّ ٱلَّذِينَ
Focus: إِنَّ. The noon of inna is doubled: hold two counts of ghunnah, then release into the fathah.
Ask: "There is another shaddah in this excerpt. Where is it, and is it on noon or meem?" (On the lam of ٱلَّذِينَ; it is not a noon or meem, so it is not this lesson's ghunnah. This is Activity 2.)
Easier: read only إِنَّ several times before adding the next word.
Harder: read both examples back to back at two different speeds, keeping the counts relative to 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COMMON MISTAKE AND CORRECTION (from the source): do not remove the nasal sound or add a separate vowel between the doubled parts.
Model each mistake once (clearly labelled as wrong), then the correct reading, using إِنَّ. Let learners say which one was correct and why.
Ask: "What would change if a vowel slipped in between the two parts?" (the doubled letter would split apart).
Easier: thumbs up or down for each version the teacher reads.
Harder: learners listen to a recording of themselves and name which slip, if any, they made.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GUIDED PRACTICE (source teaching activity). Use lesson card 3 or the example slides. Model Example 1, ask the learner to echo, then to read it without help. If possible, record and replay a short clip and check the target feature together.
Ask the learner to explain their choice before repeating it: naming the rule alone does not show accurate pronunciation.
Before moving on: can the learner find the target, apply the method without an added vowel, and explain the timing? Return to the model for anything still uncertain.
Easier: practise only the focus word, then the full excerpt.
Harder: learner reads Example 2 alone first, then explains the timing to the group.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FIND THE RULE. Learners count the noons that carry a shaddah, then click an answer.
Correct answer: B, two. ٱلْجِنَّةِ and ٱلنَّاسِ both have a noon with shaddah, so each carries a two-count ghunnah.
Why not three: the noon of مِنَ has a fathah, not a shaddah.
Note: the source highlights ٱلْجِنَّةِ as the focus; ٱلنَّاسِ meets the same stated condition (noon carrying shaddah).
Easier: point at each noon in turn and ask "shaddah or not?"
Harder: also ask learners to read both doubled noons with the correct timing.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 Two doubled noons: ٱلْجِنَّةِ and ٱلنَّاسِ. Each is held with two counts of ghunnah, then released into its written vowel.
Extra challenge: read the full excerpt with both ghunnahs, keeping the counts equal and relative to 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TRY AGAIN (answered "one"). The learner has likely found ٱلْجِنَّةِ but missed ٱلنَّاسِ. Point to the last word and ask them to look above the noon.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TRY AGAIN (answered "three"). The learner counted every noon. The noon of مِنَ carries a fathah only, so it is not a doubled noon. Ask them to count again, looking for the shaddah each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IDENTIFY THE TRIGGER. Learners must check two things: is it noon or meem, and does it carry a shaddah?
Correct answer: A, the noon of إِنَّ (noon + shaddah).
B is wrong: the lam of ٱلَّذِينَ has a shaddah, but it is not noon or meem.
C is wrong: the final noon of ٱلَّذِينَ has a fathah and no shaddah.
Easier: give the two-question checklist first ("Noon or meem? Shaddah?").
Harder: ask learners to explain why B and C do not qualify before clicking.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 The noon of إِنَّ is doubled: two counts of ghunnah, then release into the written vowel.
Extra challenge answer: the shaddah on the lam of ٱلَّذِينَ. This rule needs noon or meem with shaddah, and lam is neither.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TRY AGAIN (chose the doubled lam). Praise noticing the shaddah. Then remind: the condition has two parts, noon or meem AND shaddah. Lam fails the first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TRY AGAIN (chose the final noon). The learner found a noon but did not check for shaddah. The last noon of ٱلَّذِينَ has only a fathah.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FIX THE IDEA (source practice question 3). Read the claim aloud, then let learners vote.
Correct answer: B, False. A shaddah means a doubled letter: a saakin first part joined to a vowelled second part. The doubled noon or meem has the clear ghunnah of this lesson. A noon with only a vowel, such as the noon of مِنَ, is not doubled and is not held for two counts.
Also restate: do not remove the nasal sound or add a separate vowel between the doubled parts.
Easier: compare مِنَ and إِنَّ aloud and ask which one hums longer.
Harder: ask learners to rewrite the claim so that it is correct.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 False: the two-count ghunnah of this lesson is for noon or meem carrying shaddah, not every noon and meem.
Model rewrite: "Every noon or meem carrying shaddah is held with a two-count nasal sound."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TRY AGAIN (answered "true"). Read مِنَ and إِنَّ aloud. Only إِنَّ has a doubled noon with the two-count ghunnah. Let the learner hear the difference, then try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 UNDERSTANDING CHECK.
Correct answer: A. Two counts, measured against two short vowels at your current recitation speed. Counts are relative to pace, not fixed seconds.
B is wrong: counts are not fixed seconds. C is wrong: the ghunnah is held for two counts.
Easier: clap two counts first, then ask.
Harder: ask the learner to justify the answer using the words "short vowel" and "pace".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 Two counts relative to pace. Continue to the optional Extra Challenge (teach it back), or go straight to the recap using the Menu.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TRY AGAIN (chose fixed seconds). Remind: counts follow the reader's pace; two counts = two short vowels at the current speed.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TRY AGAIN (chose one quick count). Model a clipped reading and the correct two-count reading of إِنَّ so the learner hears the difference.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EXTRA CHALLENGE: TEACH IT BACK (source practice question 4). Optional; suits confident learners.
The learner explains the three steps, gives the timing, then demonstrates one example. Then click "Show model answer" to compare.
Younger learners: they may point to each step on the steps slide while explaining.
Older learners: ask them to also correct the common mistake in their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Compare the learner's explanation with these points. Accept their own wording if the meaning matches. Check the demonstration: nasal sound present, two counts, no added vowel between the doubled parts.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A shaddah means a doubled letter: a saakin first part joined to a vowelled second part. A doubled noon or meem has a clear ghunnah, the sound resonating through the nose. Look for noon or meem carrying shaddah.
Ask each learner for one thing they will remember. Celebrate the effort.
Before moving on (source checklist): can the learner find the target, apply the method without an added vowel, and explain the timing? Return to the model for anything still uncertain.
"Lesson cards and sources" opens the four original lesson cards and the source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The four original lesson cards from the teaching package, and the source references.
Card 4 refers to "page 4 of the Word lesson" for answers; in this deck those answers are built into the activity feedback slides and these notes.
Source issues noted while building: (1) Card 3 prints the focus labels (الجنة, إن) without shaddah or vowels; the full excerpts are correct. (2) The title says "doubled noon" while the rule text covers noon and meem; both examples use noon. (3) The Word document mentions Source_Issues.md at the collection root; that file was not included with this package.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_LIGHT">
    <p:bg>
      <p:bgPr>
        <a:solidFill>
          <a:srgbClr val="F3F8F6"/>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658368"/>
            <a:ext cx="9052560" cy="731520"/>
          </a:xfrm>
          <a:prstGeom prst="rect">
            <a:avLst/>
          </a:prstGeom>
          <a:noFill/>
          <a:ln/>
        </p:spPr>
        <p:txBody>
          <a:bodyPr wrap="square" rtlCol="0"/>
          <a:lstStyle>
            <a:lvl1pPr algn="l" indent="0" marL="0">
              <a:buNone/>
              <a:defRPr lang="en-US" sz="3600" b="1" dirty="0">
                <a:solidFill>
                  <a:srgbClr val="16302E"/>
                </a:solidFill>
                <a:latin typeface="Calibri" pitchFamily="34" charset="0"/>
                <a:ea typeface="Calibri" pitchFamily="34" charset="-122"/>
                <a:cs typeface="Calibri" pitchFamily="34" charset="-120"/>
              </a:defRPr>
            </a:lvl1pPr>
          </a:lstStyle>
          <a:p>
            <a:pPr algn="l" indent="0" marL="0">
              <a:buNone/>
            </a:pPr>
            <a:endParaRPr lang="en-US" sz="3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ESSON_DARK">
    <p:bg>
      <p:bgPr>
        <a:solidFill>
          <a:srgbClr val="0F3D3A"/>
        </a:solidFill>
      </p:bgPr>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FEEDBACK_GOOD">
    <p:bg>
      <p:bgPr>
        <a:solidFill>
          <a:srgbClr val="EAF7EF"/>
        </a:solidFill>
      </p:bgPr>
    </p:bg>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FEEDBACK_TRY">
    <p:bg>
      <p:bgPr>
        <a:solidFill>
          <a:srgbClr val="FDF0EA"/>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3.xml"/><Relationship Id="rId7" Type="http://schemas.openxmlformats.org/officeDocument/2006/relationships/notesSlide" Target="../notesSlides/notesSlide1.xml"/><Relationship Id="rIdJump1" Type="http://schemas.openxmlformats.org/officeDocument/2006/relationships/slide" Target="slide3.xml"/><Relationship Id="rIdJump2" Type="http://schemas.openxmlformats.org/officeDocument/2006/relationships/slide" Target="slide14.xml"/><Relationship Id="rIdJump3" Type="http://schemas.openxmlformats.org/officeDocument/2006/relationships/slide" Target="slide2.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 Id="rIdJump1" Type="http://schemas.openxmlformats.org/officeDocument/2006/relationships/slide" Target="slide3.xml"/><Relationship Id="rIdJump2" Type="http://schemas.openxmlformats.org/officeDocument/2006/relationships/slide" Target="slide3.xml"/><Relationship Id="rIdJump3" Type="http://schemas.openxmlformats.org/officeDocument/2006/relationships/slide" Target="slide4.xml"/><Relationship Id="rIdJump4" Type="http://schemas.openxmlformats.org/officeDocument/2006/relationships/slide" Target="slide4.xml"/><Relationship Id="rIdJump5" Type="http://schemas.openxmlformats.org/officeDocument/2006/relationships/slide" Target="slide6.xml"/><Relationship Id="rIdJump6" Type="http://schemas.openxmlformats.org/officeDocument/2006/relationships/slide" Target="slide6.xml"/><Relationship Id="rIdJump7" Type="http://schemas.openxmlformats.org/officeDocument/2006/relationships/slide" Target="slide7.xml"/><Relationship Id="rIdJump8" Type="http://schemas.openxmlformats.org/officeDocument/2006/relationships/slide" Target="slide7.xml"/><Relationship Id="rIdJump9" Type="http://schemas.openxmlformats.org/officeDocument/2006/relationships/slide" Target="slide8.xml"/><Relationship Id="rIdJump10" Type="http://schemas.openxmlformats.org/officeDocument/2006/relationships/slide" Target="slide8.xml"/><Relationship Id="rIdJump11" Type="http://schemas.openxmlformats.org/officeDocument/2006/relationships/slide" Target="slide9.xml"/><Relationship Id="rIdJump12" Type="http://schemas.openxmlformats.org/officeDocument/2006/relationships/slide" Target="slide9.xml"/><Relationship Id="rIdJump13" Type="http://schemas.openxmlformats.org/officeDocument/2006/relationships/slide" Target="slide10.xml"/><Relationship Id="rIdJump14" Type="http://schemas.openxmlformats.org/officeDocument/2006/relationships/slide" Target="slide10.xml"/><Relationship Id="rIdJump15" Type="http://schemas.openxmlformats.org/officeDocument/2006/relationships/slide" Target="slide12.xml"/><Relationship Id="rIdJump16" Type="http://schemas.openxmlformats.org/officeDocument/2006/relationships/slide" Target="slide12.xml"/><Relationship Id="rIdJump17" Type="http://schemas.openxmlformats.org/officeDocument/2006/relationships/slide" Target="slide13.xml"/><Relationship Id="rIdJump18" Type="http://schemas.openxmlformats.org/officeDocument/2006/relationships/slide" Target="slide13.xml"/><Relationship Id="rIdJump19" Type="http://schemas.openxmlformats.org/officeDocument/2006/relationships/slide" Target="slide14.xml"/><Relationship Id="rIdJump20" Type="http://schemas.openxmlformats.org/officeDocument/2006/relationships/slide" Target="slide14.xml"/><Relationship Id="rIdJump21" Type="http://schemas.openxmlformats.org/officeDocument/2006/relationships/slide" Target="slide25.xml"/><Relationship Id="rIdJump22" Type="http://schemas.openxmlformats.org/officeDocument/2006/relationships/slide" Target="slide25.xml"/><Relationship Id="rIdJump23" Type="http://schemas.openxmlformats.org/officeDocument/2006/relationships/slide" Target="slide31.xml"/><Relationship Id="rIdJump24" Type="http://schemas.openxmlformats.org/officeDocument/2006/relationships/slide" Target="slide31.xml"/><Relationship Id="rIdJump25" Type="http://schemas.openxmlformats.org/officeDocument/2006/relationships/slide" Target="slide1.xml"/><Relationship Id="rIdJump26" Type="http://schemas.openxmlformats.org/officeDocument/2006/relationships/slide" Target="slide1.xml"/><Relationship Id="rIdJump27" Type="http://schemas.openxmlformats.org/officeDocument/2006/relationships/slide" Target="slide2.xml"/><Relationship Id="rIdJump28" Type="http://schemas.openxmlformats.org/officeDocument/2006/relationships/slide" Target="slide1.xml"/><Relationship Id="rIdJump29" Type="http://schemas.openxmlformats.org/officeDocument/2006/relationships/slide" Target="slide3.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2.xml"/><Relationship Id="rId7" Type="http://schemas.openxmlformats.org/officeDocument/2006/relationships/notesSlide" Target="../notesSlides/notesSlide3.xml"/><Relationship Id="rIdJump1" Type="http://schemas.openxmlformats.org/officeDocument/2006/relationships/slide" Target="slide1.xml"/><Relationship Id="rIdJump2" Type="http://schemas.openxmlformats.org/officeDocument/2006/relationships/slide" Target="slide1.xml"/><Relationship Id="rIdJump3" Type="http://schemas.openxmlformats.org/officeDocument/2006/relationships/slide" Target="slide2.xml"/><Relationship Id="rIdJump4" Type="http://schemas.openxmlformats.org/officeDocument/2006/relationships/slide" Target="slide2.xml"/><Relationship Id="rIdJump5" Type="http://schemas.openxmlformats.org/officeDocument/2006/relationships/slide" Target="slide4.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2.xml"/><Relationship Id="rId4" Type="http://schemas.openxmlformats.org/officeDocument/2006/relationships/notesSlide" Target="../notesSlides/notesSlide4.xml"/><Relationship Id="rIdJump1" Type="http://schemas.openxmlformats.org/officeDocument/2006/relationships/slide" Target="slide5.xml"/><Relationship Id="rIdJump2" Type="http://schemas.openxmlformats.org/officeDocument/2006/relationships/slide" Target="slide5.xml"/><Relationship Id="rIdJump3" Type="http://schemas.openxmlformats.org/officeDocument/2006/relationships/slide" Target="slide1.xml"/><Relationship Id="rIdJump4" Type="http://schemas.openxmlformats.org/officeDocument/2006/relationships/slide" Target="slide1.xml"/><Relationship Id="rIdJump5" Type="http://schemas.openxmlformats.org/officeDocument/2006/relationships/slide" Target="slide2.xml"/><Relationship Id="rIdJump6" Type="http://schemas.openxmlformats.org/officeDocument/2006/relationships/slide" Target="slide3.xml"/><Relationship Id="rIdJump7" Type="http://schemas.openxmlformats.org/officeDocument/2006/relationships/slide" Target="slide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Jump1" Type="http://schemas.openxmlformats.org/officeDocument/2006/relationships/slide" Target="slide4.xml"/><Relationship Id="rIdJump2" Type="http://schemas.openxmlformats.org/officeDocument/2006/relationships/slide" Target="slide6.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2.xml"/><Relationship Id="rId5" Type="http://schemas.openxmlformats.org/officeDocument/2006/relationships/notesSlide" Target="../notesSlides/notesSlide6.xml"/><Relationship Id="rIdJump1" Type="http://schemas.openxmlformats.org/officeDocument/2006/relationships/slide" Target="slide1.xml"/><Relationship Id="rIdJump2" Type="http://schemas.openxmlformats.org/officeDocument/2006/relationships/slide" Target="slide1.xml"/><Relationship Id="rIdJump3" Type="http://schemas.openxmlformats.org/officeDocument/2006/relationships/slide" Target="slide2.xml"/><Relationship Id="rIdJump4" Type="http://schemas.openxmlformats.org/officeDocument/2006/relationships/slide" Target="slide4.xml"/><Relationship Id="rIdJump5" Type="http://schemas.openxmlformats.org/officeDocument/2006/relationships/slide" Target="slide7.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2.xml"/><Relationship Id="rId6" Type="http://schemas.openxmlformats.org/officeDocument/2006/relationships/notesSlide" Target="../notesSlides/notesSlide7.xml"/><Relationship Id="rIdJump1" Type="http://schemas.openxmlformats.org/officeDocument/2006/relationships/slide" Target="slide1.xml"/><Relationship Id="rIdJump2" Type="http://schemas.openxmlformats.org/officeDocument/2006/relationships/slide" Target="slide1.xml"/><Relationship Id="rIdJump3" Type="http://schemas.openxmlformats.org/officeDocument/2006/relationships/slide" Target="slide2.xml"/><Relationship Id="rIdJump4" Type="http://schemas.openxmlformats.org/officeDocument/2006/relationships/slide" Target="slide6.xml"/><Relationship Id="rIdJump5" Type="http://schemas.openxmlformats.org/officeDocument/2006/relationships/slide" Target="slide8.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2.xml"/><Relationship Id="rId7" Type="http://schemas.openxmlformats.org/officeDocument/2006/relationships/notesSlide" Target="../notesSlides/notesSlide8.xml"/><Relationship Id="rIdJump1" Type="http://schemas.openxmlformats.org/officeDocument/2006/relationships/slide" Target="slide1.xml"/><Relationship Id="rIdJump2" Type="http://schemas.openxmlformats.org/officeDocument/2006/relationships/slide" Target="slide1.xml"/><Relationship Id="rIdJump3" Type="http://schemas.openxmlformats.org/officeDocument/2006/relationships/slide" Target="slide2.xml"/><Relationship Id="rIdJump4" Type="http://schemas.openxmlformats.org/officeDocument/2006/relationships/slide" Target="slide7.xml"/><Relationship Id="rIdJump5" Type="http://schemas.openxmlformats.org/officeDocument/2006/relationships/slide" Target="slide9.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2.xml"/><Relationship Id="rId4" Type="http://schemas.openxmlformats.org/officeDocument/2006/relationships/notesSlide" Target="../notesSlides/notesSlide9.xml"/><Relationship Id="rIdJump1" Type="http://schemas.openxmlformats.org/officeDocument/2006/relationships/slide" Target="slide1.xml"/><Relationship Id="rIdJump2" Type="http://schemas.openxmlformats.org/officeDocument/2006/relationships/slide" Target="slide1.xml"/><Relationship Id="rIdJump3" Type="http://schemas.openxmlformats.org/officeDocument/2006/relationships/slide" Target="slide2.xml"/><Relationship Id="rIdJump4" Type="http://schemas.openxmlformats.org/officeDocument/2006/relationships/slide" Target="slide8.xml"/><Relationship Id="rIdJump5" Type="http://schemas.openxmlformats.org/officeDocument/2006/relationships/slide" Target="slide10.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2.xml"/><Relationship Id="rId6" Type="http://schemas.openxmlformats.org/officeDocument/2006/relationships/notesSlide" Target="../notesSlides/notesSlide10.xml"/><Relationship Id="rIdJump1" Type="http://schemas.openxmlformats.org/officeDocument/2006/relationships/slide" Target="slide1.xml"/><Relationship Id="rIdJump2" Type="http://schemas.openxmlformats.org/officeDocument/2006/relationships/slide" Target="slide1.xml"/><Relationship Id="rIdJump3" Type="http://schemas.openxmlformats.org/officeDocument/2006/relationships/slide" Target="slide2.xml"/><Relationship Id="rIdJump4" Type="http://schemas.openxmlformats.org/officeDocument/2006/relationships/slide" Target="slide9.xml"/><Relationship Id="rIdJump5" Type="http://schemas.openxmlformats.org/officeDocument/2006/relationships/slide" Target="slide11.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2.xml"/><Relationship Id="rId6" Type="http://schemas.openxmlformats.org/officeDocument/2006/relationships/notesSlide" Target="../notesSlides/notesSlide11.xml"/><Relationship Id="rIdJump1" Type="http://schemas.openxmlformats.org/officeDocument/2006/relationships/slide" Target="slide1.xml"/><Relationship Id="rIdJump2" Type="http://schemas.openxmlformats.org/officeDocument/2006/relationships/slide" Target="slide1.xml"/><Relationship Id="rIdJump3" Type="http://schemas.openxmlformats.org/officeDocument/2006/relationships/slide" Target="slide2.xml"/><Relationship Id="rIdJump4" Type="http://schemas.openxmlformats.org/officeDocument/2006/relationships/slide" Target="slide10.xml"/><Relationship Id="rIdJump5" Type="http://schemas.openxmlformats.org/officeDocument/2006/relationships/slide" Target="slide12.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2.xml"/><Relationship Id="rId7" Type="http://schemas.openxmlformats.org/officeDocument/2006/relationships/notesSlide" Target="../notesSlides/notesSlide12.xml"/><Relationship Id="rIdJump1" Type="http://schemas.openxmlformats.org/officeDocument/2006/relationships/slide" Target="slide1.xml"/><Relationship Id="rIdJump2" Type="http://schemas.openxmlformats.org/officeDocument/2006/relationships/slide" Target="slide1.xml"/><Relationship Id="rIdJump3" Type="http://schemas.openxmlformats.org/officeDocument/2006/relationships/slide" Target="slide2.xml"/><Relationship Id="rIdJump4" Type="http://schemas.openxmlformats.org/officeDocument/2006/relationships/slide" Target="slide11.xml"/><Relationship Id="rIdJump5" Type="http://schemas.openxmlformats.org/officeDocument/2006/relationships/slide" Target="slide13.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2.xml"/><Relationship Id="rId4" Type="http://schemas.openxmlformats.org/officeDocument/2006/relationships/notesSlide" Target="../notesSlides/notesSlide13.xml"/><Relationship Id="rIdJump1" Type="http://schemas.openxmlformats.org/officeDocument/2006/relationships/slide" Target="slide1.xml"/><Relationship Id="rIdJump2" Type="http://schemas.openxmlformats.org/officeDocument/2006/relationships/slide" Target="slide1.xml"/><Relationship Id="rIdJump3" Type="http://schemas.openxmlformats.org/officeDocument/2006/relationships/slide" Target="slide2.xml"/><Relationship Id="rIdJump4" Type="http://schemas.openxmlformats.org/officeDocument/2006/relationships/slide" Target="slide12.xml"/><Relationship Id="rIdJump5" Type="http://schemas.openxmlformats.org/officeDocument/2006/relationships/slide" Target="slide14.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 Id="rIdJump1" Type="http://schemas.openxmlformats.org/officeDocument/2006/relationships/slide" Target="slide16.xml"/><Relationship Id="rIdJump2" Type="http://schemas.openxmlformats.org/officeDocument/2006/relationships/slide" Target="slide16.xml"/><Relationship Id="rIdJump3" Type="http://schemas.openxmlformats.org/officeDocument/2006/relationships/slide" Target="slide15.xml"/><Relationship Id="rIdJump4" Type="http://schemas.openxmlformats.org/officeDocument/2006/relationships/slide" Target="slide15.xml"/><Relationship Id="rIdJump5" Type="http://schemas.openxmlformats.org/officeDocument/2006/relationships/slide" Target="slide17.xml"/><Relationship Id="rIdJump6" Type="http://schemas.openxmlformats.org/officeDocument/2006/relationships/slide" Target="slide17.xml"/><Relationship Id="rIdJump7" Type="http://schemas.openxmlformats.org/officeDocument/2006/relationships/slide" Target="slide1.xml"/><Relationship Id="rIdJump8" Type="http://schemas.openxmlformats.org/officeDocument/2006/relationships/slide" Target="slide1.xml"/><Relationship Id="rIdJump9" Type="http://schemas.openxmlformats.org/officeDocument/2006/relationships/slide" Target="slide2.xml"/><Relationship Id="rIdJump10" Type="http://schemas.openxmlformats.org/officeDocument/2006/relationships/slide" Target="slide13.xml"/><Relationship Id="rIdJump11" Type="http://schemas.openxmlformats.org/officeDocument/2006/relationships/slide" Target="slide18.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slideLayout" Target="../slideLayouts/slideLayout4.xml"/><Relationship Id="rId8" Type="http://schemas.openxmlformats.org/officeDocument/2006/relationships/notesSlide" Target="../notesSlides/notesSlide15.xml"/><Relationship Id="rIdJump1" Type="http://schemas.openxmlformats.org/officeDocument/2006/relationships/slide" Target="slide14.xml"/><Relationship Id="rIdJump2" Type="http://schemas.openxmlformats.org/officeDocument/2006/relationships/slide" Target="slide18.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5.xml"/><Relationship Id="rId5" Type="http://schemas.openxmlformats.org/officeDocument/2006/relationships/notesSlide" Target="../notesSlides/notesSlide16.xml"/><Relationship Id="rIdJump1" Type="http://schemas.openxmlformats.org/officeDocument/2006/relationships/slide" Target="slide14.xml"/><Relationship Id="rIdJump2" Type="http://schemas.openxmlformats.org/officeDocument/2006/relationships/slide" Target="slide14.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5.xml"/><Relationship Id="rId5" Type="http://schemas.openxmlformats.org/officeDocument/2006/relationships/notesSlide" Target="../notesSlides/notesSlide17.xml"/><Relationship Id="rIdJump1" Type="http://schemas.openxmlformats.org/officeDocument/2006/relationships/slide" Target="slide14.xml"/><Relationship Id="rIdJump2" Type="http://schemas.openxmlformats.org/officeDocument/2006/relationships/slide" Target="slide14.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 Id="rIdJump1" Type="http://schemas.openxmlformats.org/officeDocument/2006/relationships/slide" Target="slide19.xml"/><Relationship Id="rIdJump2" Type="http://schemas.openxmlformats.org/officeDocument/2006/relationships/slide" Target="slide19.xml"/><Relationship Id="rIdJump3" Type="http://schemas.openxmlformats.org/officeDocument/2006/relationships/slide" Target="slide19.xml"/><Relationship Id="rIdJump4" Type="http://schemas.openxmlformats.org/officeDocument/2006/relationships/slide" Target="slide20.xml"/><Relationship Id="rIdJump5" Type="http://schemas.openxmlformats.org/officeDocument/2006/relationships/slide" Target="slide20.xml"/><Relationship Id="rIdJump6" Type="http://schemas.openxmlformats.org/officeDocument/2006/relationships/slide" Target="slide20.xml"/><Relationship Id="rIdJump7" Type="http://schemas.openxmlformats.org/officeDocument/2006/relationships/slide" Target="slide21.xml"/><Relationship Id="rIdJump8" Type="http://schemas.openxmlformats.org/officeDocument/2006/relationships/slide" Target="slide21.xml"/><Relationship Id="rIdJump9" Type="http://schemas.openxmlformats.org/officeDocument/2006/relationships/slide" Target="slide21.xml"/><Relationship Id="rIdJump10" Type="http://schemas.openxmlformats.org/officeDocument/2006/relationships/slide" Target="slide1.xml"/><Relationship Id="rIdJump11" Type="http://schemas.openxmlformats.org/officeDocument/2006/relationships/slide" Target="slide1.xml"/><Relationship Id="rIdJump12" Type="http://schemas.openxmlformats.org/officeDocument/2006/relationships/slide" Target="slide2.xml"/><Relationship Id="rIdJump13" Type="http://schemas.openxmlformats.org/officeDocument/2006/relationships/slide" Target="slide14.xml"/><Relationship Id="rIdJump14" Type="http://schemas.openxmlformats.org/officeDocument/2006/relationships/slide" Target="slide22.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slideLayout" Target="../slideLayouts/slideLayout4.xml"/><Relationship Id="rId8" Type="http://schemas.openxmlformats.org/officeDocument/2006/relationships/notesSlide" Target="../notesSlides/notesSlide19.xml"/><Relationship Id="rIdJump1" Type="http://schemas.openxmlformats.org/officeDocument/2006/relationships/slide" Target="slide18.xml"/><Relationship Id="rIdJump2" Type="http://schemas.openxmlformats.org/officeDocument/2006/relationships/slide" Target="slide22.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5.xml"/><Relationship Id="rId5" Type="http://schemas.openxmlformats.org/officeDocument/2006/relationships/notesSlide" Target="../notesSlides/notesSlide20.xml"/><Relationship Id="rIdJump1" Type="http://schemas.openxmlformats.org/officeDocument/2006/relationships/slide" Target="slide18.xml"/><Relationship Id="rIdJump2" Type="http://schemas.openxmlformats.org/officeDocument/2006/relationships/slide" Target="slide18.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slideLayout" Target="../slideLayouts/slideLayout5.xml"/><Relationship Id="rId5" Type="http://schemas.openxmlformats.org/officeDocument/2006/relationships/notesSlide" Target="../notesSlides/notesSlide21.xml"/><Relationship Id="rIdJump1" Type="http://schemas.openxmlformats.org/officeDocument/2006/relationships/slide" Target="slide18.xml"/><Relationship Id="rIdJump2" Type="http://schemas.openxmlformats.org/officeDocument/2006/relationships/slide" Target="slide18.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 Id="rIdJump1" Type="http://schemas.openxmlformats.org/officeDocument/2006/relationships/slide" Target="slide24.xml"/><Relationship Id="rIdJump2" Type="http://schemas.openxmlformats.org/officeDocument/2006/relationships/slide" Target="slide24.xml"/><Relationship Id="rIdJump3" Type="http://schemas.openxmlformats.org/officeDocument/2006/relationships/slide" Target="slide23.xml"/><Relationship Id="rIdJump4" Type="http://schemas.openxmlformats.org/officeDocument/2006/relationships/slide" Target="slide23.xml"/><Relationship Id="rIdJump5" Type="http://schemas.openxmlformats.org/officeDocument/2006/relationships/slide" Target="slide1.xml"/><Relationship Id="rIdJump6" Type="http://schemas.openxmlformats.org/officeDocument/2006/relationships/slide" Target="slide1.xml"/><Relationship Id="rIdJump7" Type="http://schemas.openxmlformats.org/officeDocument/2006/relationships/slide" Target="slide2.xml"/><Relationship Id="rIdJump8" Type="http://schemas.openxmlformats.org/officeDocument/2006/relationships/slide" Target="slide18.xml"/><Relationship Id="rIdJump9" Type="http://schemas.openxmlformats.org/officeDocument/2006/relationships/slide" Target="slide25.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image" Target="../media/image-23-7.png"/><Relationship Id="rId8" Type="http://schemas.openxmlformats.org/officeDocument/2006/relationships/slideLayout" Target="../slideLayouts/slideLayout4.xml"/><Relationship Id="rId9" Type="http://schemas.openxmlformats.org/officeDocument/2006/relationships/notesSlide" Target="../notesSlides/notesSlide23.xml"/><Relationship Id="rIdJump1" Type="http://schemas.openxmlformats.org/officeDocument/2006/relationships/slide" Target="slide22.xml"/><Relationship Id="rIdJump2" Type="http://schemas.openxmlformats.org/officeDocument/2006/relationships/slide" Target="slide25.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slideLayout" Target="../slideLayouts/slideLayout5.xml"/><Relationship Id="rId5" Type="http://schemas.openxmlformats.org/officeDocument/2006/relationships/notesSlide" Target="../notesSlides/notesSlide24.xml"/><Relationship Id="rIdJump1" Type="http://schemas.openxmlformats.org/officeDocument/2006/relationships/slide" Target="slide22.xml"/><Relationship Id="rIdJump2" Type="http://schemas.openxmlformats.org/officeDocument/2006/relationships/slide" Target="slide22.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 Id="rIdJump1" Type="http://schemas.openxmlformats.org/officeDocument/2006/relationships/slide" Target="slide26.xml"/><Relationship Id="rIdJump2" Type="http://schemas.openxmlformats.org/officeDocument/2006/relationships/slide" Target="slide26.xml"/><Relationship Id="rIdJump3" Type="http://schemas.openxmlformats.org/officeDocument/2006/relationships/slide" Target="slide27.xml"/><Relationship Id="rIdJump4" Type="http://schemas.openxmlformats.org/officeDocument/2006/relationships/slide" Target="slide27.xml"/><Relationship Id="rIdJump5" Type="http://schemas.openxmlformats.org/officeDocument/2006/relationships/slide" Target="slide28.xml"/><Relationship Id="rIdJump6" Type="http://schemas.openxmlformats.org/officeDocument/2006/relationships/slide" Target="slide28.xml"/><Relationship Id="rIdJump7" Type="http://schemas.openxmlformats.org/officeDocument/2006/relationships/slide" Target="slide1.xml"/><Relationship Id="rIdJump8" Type="http://schemas.openxmlformats.org/officeDocument/2006/relationships/slide" Target="slide1.xml"/><Relationship Id="rIdJump9" Type="http://schemas.openxmlformats.org/officeDocument/2006/relationships/slide" Target="slide2.xml"/><Relationship Id="rIdJump10" Type="http://schemas.openxmlformats.org/officeDocument/2006/relationships/slide" Target="slide22.xml"/><Relationship Id="rIdJump11" Type="http://schemas.openxmlformats.org/officeDocument/2006/relationships/slide" Target="slide29.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image" Target="../media/image-26-6.png"/><Relationship Id="rId7" Type="http://schemas.openxmlformats.org/officeDocument/2006/relationships/image" Target="../media/image-26-7.png"/><Relationship Id="rId8" Type="http://schemas.openxmlformats.org/officeDocument/2006/relationships/slideLayout" Target="../slideLayouts/slideLayout4.xml"/><Relationship Id="rId9" Type="http://schemas.openxmlformats.org/officeDocument/2006/relationships/notesSlide" Target="../notesSlides/notesSlide26.xml"/><Relationship Id="rIdJump1" Type="http://schemas.openxmlformats.org/officeDocument/2006/relationships/slide" Target="slide25.xml"/><Relationship Id="rIdJump2" Type="http://schemas.openxmlformats.org/officeDocument/2006/relationships/slide" Target="slide29.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slideLayout" Target="../slideLayouts/slideLayout5.xml"/><Relationship Id="rId6" Type="http://schemas.openxmlformats.org/officeDocument/2006/relationships/notesSlide" Target="../notesSlides/notesSlide27.xml"/><Relationship Id="rIdJump1" Type="http://schemas.openxmlformats.org/officeDocument/2006/relationships/slide" Target="slide25.xml"/><Relationship Id="rIdJump2" Type="http://schemas.openxmlformats.org/officeDocument/2006/relationships/slide" Target="slide25.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slideLayout" Target="../slideLayouts/slideLayout5.xml"/><Relationship Id="rId6" Type="http://schemas.openxmlformats.org/officeDocument/2006/relationships/notesSlide" Target="../notesSlides/notesSlide28.xml"/><Relationship Id="rIdJump1" Type="http://schemas.openxmlformats.org/officeDocument/2006/relationships/slide" Target="slide25.xml"/><Relationship Id="rIdJump2" Type="http://schemas.openxmlformats.org/officeDocument/2006/relationships/slide" Target="slide25.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image" Target="../media/image-29-5.png"/><Relationship Id="rId6" Type="http://schemas.openxmlformats.org/officeDocument/2006/relationships/slideLayout" Target="../slideLayouts/slideLayout2.xml"/><Relationship Id="rId7" Type="http://schemas.openxmlformats.org/officeDocument/2006/relationships/notesSlide" Target="../notesSlides/notesSlide29.xml"/><Relationship Id="rIdJump1" Type="http://schemas.openxmlformats.org/officeDocument/2006/relationships/slide" Target="slide30.xml"/><Relationship Id="rIdJump2" Type="http://schemas.openxmlformats.org/officeDocument/2006/relationships/slide" Target="slide30.xml"/><Relationship Id="rIdJump3" Type="http://schemas.openxmlformats.org/officeDocument/2006/relationships/slide" Target="slide1.xml"/><Relationship Id="rIdJump4" Type="http://schemas.openxmlformats.org/officeDocument/2006/relationships/slide" Target="slide1.xml"/><Relationship Id="rIdJump5" Type="http://schemas.openxmlformats.org/officeDocument/2006/relationships/slide" Target="slide2.xml"/><Relationship Id="rIdJump6" Type="http://schemas.openxmlformats.org/officeDocument/2006/relationships/slide" Target="slide25.xml"/><Relationship Id="rIdJump7" Type="http://schemas.openxmlformats.org/officeDocument/2006/relationships/slide" Target="slide3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Jump1" Type="http://schemas.openxmlformats.org/officeDocument/2006/relationships/slide" Target="slide29.xml"/><Relationship Id="rIdJump2" Type="http://schemas.openxmlformats.org/officeDocument/2006/relationships/slide" Target="slide31.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image" Target="../media/image-31-4.png"/><Relationship Id="rId5" Type="http://schemas.openxmlformats.org/officeDocument/2006/relationships/image" Target="../media/image-31-5.png"/><Relationship Id="rId6" Type="http://schemas.openxmlformats.org/officeDocument/2006/relationships/image" Target="../media/image-31-6.png"/><Relationship Id="rId7" Type="http://schemas.openxmlformats.org/officeDocument/2006/relationships/image" Target="../media/image-31-7.png"/><Relationship Id="rId8" Type="http://schemas.openxmlformats.org/officeDocument/2006/relationships/image" Target="../media/image-31-8.png"/><Relationship Id="rId9" Type="http://schemas.openxmlformats.org/officeDocument/2006/relationships/slideLayout" Target="../slideLayouts/slideLayout3.xml"/><Relationship Id="rId10" Type="http://schemas.openxmlformats.org/officeDocument/2006/relationships/notesSlide" Target="../notesSlides/notesSlide31.xml"/><Relationship Id="rIdJump1" Type="http://schemas.openxmlformats.org/officeDocument/2006/relationships/slide" Target="slide32.xml"/><Relationship Id="rIdJump2" Type="http://schemas.openxmlformats.org/officeDocument/2006/relationships/slide" Target="slide1.xml"/><Relationship Id="rIdJump3" Type="http://schemas.openxmlformats.org/officeDocument/2006/relationships/slide" Target="slide1.xml"/><Relationship Id="rIdJump4" Type="http://schemas.openxmlformats.org/officeDocument/2006/relationships/slide" Target="slide2.xml"/><Relationship Id="rIdJump5" Type="http://schemas.openxmlformats.org/officeDocument/2006/relationships/slide" Target="slide29.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image" Target="../media/image-32-4.png"/><Relationship Id="rId5" Type="http://schemas.openxmlformats.org/officeDocument/2006/relationships/slideLayout" Target="../slideLayouts/slideLayout2.xml"/><Relationship Id="rId6" Type="http://schemas.openxmlformats.org/officeDocument/2006/relationships/notesSlide" Target="../notesSlides/notesSlide32.xml"/><Relationship Id="rIdJump1" Type="http://schemas.openxmlformats.org/officeDocument/2006/relationships/slide" Target="slide31.xml"/><Relationship Id="rIdJump2" Type="http://schemas.openxmlformats.org/officeDocument/2006/relationships/slide" Target="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Deco wave 1" descr="preencoded.png">    </p:cNvPr>
          <p:cNvPicPr>
            <a:picLocks noChangeAspect="1"/>
          </p:cNvPicPr>
          <p:nvPr/>
        </p:nvPicPr>
        <p:blipFill>
          <a:blip r:embed="rId1">
            <a:alphaModFix amt="60000"/>
          </a:blip>
          <a:stretch>
            <a:fillRect/>
          </a:stretch>
        </p:blipFill>
        <p:spPr>
          <a:xfrm>
            <a:off x="7863840" y="5440680"/>
            <a:ext cx="3749040" cy="914400"/>
          </a:xfrm>
          <a:prstGeom prst="rect">
            <a:avLst/>
          </a:prstGeom>
        </p:spPr>
      </p:pic>
      <p:pic>
        <p:nvPicPr>
          <p:cNvPr id="3" name="Deco wave small 2" descr="preencoded.png">    </p:cNvPr>
          <p:cNvPicPr>
            <a:picLocks noChangeAspect="1"/>
          </p:cNvPicPr>
          <p:nvPr/>
        </p:nvPicPr>
        <p:blipFill>
          <a:blip r:embed="rId2">
            <a:alphaModFix amt="45000"/>
          </a:blip>
          <a:stretch>
            <a:fillRect/>
          </a:stretch>
        </p:blipFill>
        <p:spPr>
          <a:xfrm>
            <a:off x="548640" y="502920"/>
            <a:ext cx="2377440" cy="585216"/>
          </a:xfrm>
          <a:prstGeom prst="rect">
            <a:avLst/>
          </a:prstGeom>
        </p:spPr>
      </p:pic>
      <p:pic>
        <p:nvPicPr>
          <p:cNvPr id="4" name="Deco star 0 3" descr="preencoded.png">    </p:cNvPr>
          <p:cNvPicPr>
            <a:picLocks noChangeAspect="1"/>
          </p:cNvPicPr>
          <p:nvPr/>
        </p:nvPicPr>
        <p:blipFill>
          <a:blip r:embed="rId3"/>
          <a:stretch>
            <a:fillRect/>
          </a:stretch>
        </p:blipFill>
        <p:spPr>
          <a:xfrm>
            <a:off x="10607040" y="548640"/>
            <a:ext cx="310896" cy="310896"/>
          </a:xfrm>
          <a:prstGeom prst="rect">
            <a:avLst/>
          </a:prstGeom>
        </p:spPr>
      </p:pic>
      <p:pic>
        <p:nvPicPr>
          <p:cNvPr id="5" name="Deco star 1 4" descr="preencoded.png">    </p:cNvPr>
          <p:cNvPicPr>
            <a:picLocks noChangeAspect="1"/>
          </p:cNvPicPr>
          <p:nvPr/>
        </p:nvPicPr>
        <p:blipFill>
          <a:blip r:embed="rId4"/>
          <a:stretch>
            <a:fillRect/>
          </a:stretch>
        </p:blipFill>
        <p:spPr>
          <a:xfrm>
            <a:off x="11155680" y="1051560"/>
            <a:ext cx="201168" cy="201168"/>
          </a:xfrm>
          <a:prstGeom prst="rect">
            <a:avLst/>
          </a:prstGeom>
        </p:spPr>
      </p:pic>
      <p:pic>
        <p:nvPicPr>
          <p:cNvPr id="6" name="Deco star 2 5" descr="preencoded.png">    </p:cNvPr>
          <p:cNvPicPr>
            <a:picLocks noChangeAspect="1"/>
          </p:cNvPicPr>
          <p:nvPr/>
        </p:nvPicPr>
        <p:blipFill>
          <a:blip r:embed="rId5"/>
          <a:stretch>
            <a:fillRect/>
          </a:stretch>
        </p:blipFill>
        <p:spPr>
          <a:xfrm>
            <a:off x="914400" y="5669280"/>
            <a:ext cx="237744" cy="237744"/>
          </a:xfrm>
          <a:prstGeom prst="rect">
            <a:avLst/>
          </a:prstGeom>
        </p:spPr>
      </p:pic>
      <p:sp>
        <p:nvSpPr>
          <p:cNvPr id="7" name="Kicker 6"/>
          <p:cNvSpPr txBox="1"/>
          <p:nvPr/>
        </p:nvSpPr>
        <p:spPr>
          <a:xfrm>
            <a:off x="914400" y="914400"/>
            <a:ext cx="10360152" cy="365760"/>
          </a:xfrm>
          <a:prstGeom prst="rect">
            <a:avLst/>
          </a:prstGeom>
          <a:noFill/>
          <a:ln/>
        </p:spPr>
        <p:txBody>
          <a:bodyPr wrap="square" lIns="0" tIns="0" rIns="0" bIns="0" rtlCol="0" anchor="t"/>
          <a:lstStyle/>
          <a:p>
            <a:pPr algn="ctr" indent="0" marL="0">
              <a:buNone/>
            </a:pPr>
            <a:r>
              <a:rPr lang="en-US" sz="1800" b="1" spc="400" kern="0" dirty="0">
                <a:solidFill>
                  <a:srgbClr val="F6C552"/>
                </a:solidFill>
                <a:latin typeface="Calibri" pitchFamily="34" charset="0"/>
                <a:ea typeface="Calibri" pitchFamily="34" charset="-122"/>
                <a:cs typeface="Calibri" pitchFamily="34" charset="-120"/>
              </a:rPr>
              <a:t>NASAL SOUND  ·  LESSON 003</a:t>
            </a:r>
            <a:endParaRPr lang="en-US" sz="1800" dirty="0"/>
          </a:p>
        </p:txBody>
      </p:sp>
      <p:sp>
        <p:nvSpPr>
          <p:cNvPr id="8" name="Deck title 7"/>
          <p:cNvSpPr txBox="1"/>
          <p:nvPr/>
        </p:nvSpPr>
        <p:spPr>
          <a:xfrm>
            <a:off x="914400" y="1325880"/>
            <a:ext cx="10360152" cy="914400"/>
          </a:xfrm>
          <a:prstGeom prst="rect">
            <a:avLst/>
          </a:prstGeom>
          <a:noFill/>
          <a:ln/>
        </p:spPr>
        <p:txBody>
          <a:bodyPr wrap="square" lIns="0" tIns="0" rIns="0" bIns="0" rtlCol="0" anchor="ctr"/>
          <a:lstStyle/>
          <a:p>
            <a:pPr algn="ctr" indent="0" marL="0">
              <a:buNone/>
            </a:pPr>
            <a:r>
              <a:rPr lang="en-US" sz="5400" b="1" dirty="0">
                <a:solidFill>
                  <a:srgbClr val="FFFFFF"/>
                </a:solidFill>
                <a:latin typeface="Calibri" pitchFamily="34" charset="0"/>
                <a:ea typeface="Calibri" pitchFamily="34" charset="-122"/>
                <a:cs typeface="Calibri" pitchFamily="34" charset="-120"/>
              </a:rPr>
              <a:t>Ghunnah on Doubled Noon</a:t>
            </a:r>
            <a:endParaRPr lang="en-US" sz="5400" dirty="0"/>
          </a:p>
        </p:txBody>
      </p:sp>
      <p:sp>
        <p:nvSpPr>
          <p:cNvPr id="9" name="Arabic rule name 8"/>
          <p:cNvSpPr txBox="1"/>
          <p:nvPr/>
        </p:nvSpPr>
        <p:spPr>
          <a:xfrm>
            <a:off x="2926080" y="2286000"/>
            <a:ext cx="6336792" cy="960120"/>
          </a:xfrm>
          <a:prstGeom prst="rect">
            <a:avLst/>
          </a:prstGeom>
          <a:noFill/>
          <a:ln/>
        </p:spPr>
        <p:txBody>
          <a:bodyPr wrap="square" lIns="0" tIns="0" rIns="0" bIns="0" rtlCol="0" anchor="ctr"/>
          <a:lstStyle/>
          <a:p>
            <a:pPr rtl="1" algn="ctr" indent="0" marL="0">
              <a:buNone/>
            </a:pPr>
            <a:r>
              <a:rPr lang="ar-SA" altLang="en-US" sz="5400" dirty="0">
                <a:solidFill>
                  <a:srgbClr val="F6C552"/>
                </a:solidFill>
                <a:latin typeface="Traditional Arabic" pitchFamily="34" charset="0"/>
                <a:ea typeface="Traditional Arabic" pitchFamily="34" charset="-122"/>
                <a:cs typeface="Traditional Arabic" pitchFamily="34" charset="-120"/>
              </a:rPr>
              <a:t>غنة النون المشددة</a:t>
            </a:r>
            <a:endParaRPr lang="ar-SA" sz="5400" dirty="0"/>
          </a:p>
        </p:txBody>
      </p:sp>
      <p:sp>
        <p:nvSpPr>
          <p:cNvPr id="10" name="Tagline 9"/>
          <p:cNvSpPr txBox="1"/>
          <p:nvPr/>
        </p:nvSpPr>
        <p:spPr>
          <a:xfrm>
            <a:off x="914400" y="3291840"/>
            <a:ext cx="10360152" cy="457200"/>
          </a:xfrm>
          <a:prstGeom prst="rect">
            <a:avLst/>
          </a:prstGeom>
          <a:noFill/>
          <a:ln/>
        </p:spPr>
        <p:txBody>
          <a:bodyPr wrap="square" lIns="0" tIns="0" rIns="0" bIns="0" rtlCol="0" anchor="t"/>
          <a:lstStyle/>
          <a:p>
            <a:pPr algn="ctr" indent="0" marL="0">
              <a:buNone/>
            </a:pPr>
            <a:r>
              <a:rPr lang="en-US" sz="2400" dirty="0">
                <a:solidFill>
                  <a:srgbClr val="CFE6E1"/>
                </a:solidFill>
                <a:latin typeface="Calibri" pitchFamily="34" charset="0"/>
                <a:ea typeface="Calibri" pitchFamily="34" charset="-122"/>
                <a:cs typeface="Calibri" pitchFamily="34" charset="-120"/>
              </a:rPr>
              <a:t>Spot it  ·  Say it  ·  Explain it</a:t>
            </a:r>
            <a:endParaRPr lang="en-US" sz="2400" dirty="0"/>
          </a:p>
        </p:txBody>
      </p:sp>
      <p:sp>
        <p:nvSpPr>
          <p:cNvPr id="11" name="Route Guided 10 LINK:goals">
            <a:hlinkClick r:id="rIdJump1" action="ppaction://hlinksldjump"/>
          </p:cNvPr>
          <p:cNvSpPr/>
          <p:nvPr/>
        </p:nvSpPr>
        <p:spPr>
          <a:xfrm>
            <a:off x="2423160" y="4069080"/>
            <a:ext cx="3474720" cy="822960"/>
          </a:xfrm>
          <a:prstGeom prst="roundRect">
            <a:avLst>
              <a:gd name="adj" fmla="val 24444"/>
            </a:avLst>
          </a:prstGeom>
          <a:solidFill>
            <a:srgbClr val="F6C552"/>
          </a:solidFill>
          <a:ln>
            <a:solidFill>
              <a:srgbClr val="F6C552"/>
            </a:solidFill>
          </a:ln>
          <a:effectLst>
            <a:outerShdw sx="100000" sy="100000" kx="0" ky="0" algn="bl" rotWithShape="0" blurRad="50800" dist="25400" dir="5400000">
              <a:srgbClr val="0F3D3A">
                <a:alpha val="18000"/>
              </a:srgbClr>
            </a:outerShdw>
          </a:effectLst>
        </p:spPr>
        <p:txBody>
          <a:bodyPr wrap="square" lIns="109728" tIns="0" rIns="109728" bIns="0" rtlCol="0" anchor="ctr"/>
          <a:lstStyle/>
          <a:p>
            <a:pPr algn="ctr" indent="0" marL="0">
              <a:buNone/>
            </a:pPr>
            <a:r>
              <a:rPr lang="en-US" sz="2600" b="1" dirty="0">
                <a:solidFill>
                  <a:srgbClr val="16302E"/>
                </a:solidFill>
                <a:latin typeface="Calibri" pitchFamily="34" charset="0"/>
                <a:ea typeface="Calibri" pitchFamily="34" charset="-122"/>
                <a:cs typeface="Calibri" pitchFamily="34" charset="-120"/>
              </a:rPr>
              <a:t>Guided Lesson</a:t>
            </a:r>
            <a:endParaRPr lang="en-US" sz="2600" dirty="0"/>
          </a:p>
        </p:txBody>
      </p:sp>
      <p:sp>
        <p:nvSpPr>
          <p:cNvPr id="12" name="Route Challenge 11 LINK:act1">
            <a:hlinkClick r:id="rIdJump2" action="ppaction://hlinksldjump"/>
          </p:cNvPr>
          <p:cNvSpPr/>
          <p:nvPr/>
        </p:nvSpPr>
        <p:spPr>
          <a:xfrm>
            <a:off x="6291072" y="4069080"/>
            <a:ext cx="3474720" cy="822960"/>
          </a:xfrm>
          <a:prstGeom prst="roundRect">
            <a:avLst>
              <a:gd name="adj" fmla="val 24444"/>
            </a:avLst>
          </a:prstGeom>
          <a:solidFill>
            <a:srgbClr val="0F3D3A"/>
          </a:solidFill>
          <a:ln w="19050">
            <a:solidFill>
              <a:srgbClr val="FFFFFF"/>
            </a:solidFill>
          </a:ln>
          <a:effectLst>
            <a:outerShdw sx="100000" sy="100000" kx="0" ky="0" algn="bl" rotWithShape="0" blurRad="50800" dist="25400" dir="5400000">
              <a:srgbClr val="0F3D3A">
                <a:alpha val="18000"/>
              </a:srgbClr>
            </a:outerShdw>
          </a:effectLst>
        </p:spPr>
        <p:txBody>
          <a:bodyPr wrap="square" lIns="109728" tIns="0" rIns="109728"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Challenge Mode</a:t>
            </a:r>
            <a:endParaRPr lang="en-US" sz="2600" dirty="0"/>
          </a:p>
        </p:txBody>
      </p:sp>
      <p:sp>
        <p:nvSpPr>
          <p:cNvPr id="13" name="Route note 12"/>
          <p:cNvSpPr txBox="1"/>
          <p:nvPr/>
        </p:nvSpPr>
        <p:spPr>
          <a:xfrm>
            <a:off x="2240280" y="4956048"/>
            <a:ext cx="3840480" cy="365760"/>
          </a:xfrm>
          <a:prstGeom prst="rect">
            <a:avLst/>
          </a:prstGeom>
          <a:noFill/>
          <a:ln/>
        </p:spPr>
        <p:txBody>
          <a:bodyPr wrap="square" lIns="0" tIns="0" rIns="0" bIns="0" rtlCol="0" anchor="t"/>
          <a:lstStyle/>
          <a:p>
            <a:pPr algn="ctr" indent="0" marL="0">
              <a:buNone/>
            </a:pPr>
            <a:r>
              <a:rPr lang="en-US" sz="1600" dirty="0">
                <a:solidFill>
                  <a:srgbClr val="CFE6E1"/>
                </a:solidFill>
                <a:latin typeface="Calibri" pitchFamily="34" charset="0"/>
                <a:ea typeface="Calibri" pitchFamily="34" charset="-122"/>
                <a:cs typeface="Calibri" pitchFamily="34" charset="-120"/>
              </a:rPr>
              <a:t>Explanations, examples and practice</a:t>
            </a:r>
            <a:endParaRPr lang="en-US" sz="1600" dirty="0"/>
          </a:p>
        </p:txBody>
      </p:sp>
      <p:sp>
        <p:nvSpPr>
          <p:cNvPr id="14" name="Route note 13"/>
          <p:cNvSpPr txBox="1"/>
          <p:nvPr/>
        </p:nvSpPr>
        <p:spPr>
          <a:xfrm>
            <a:off x="6108192" y="4956048"/>
            <a:ext cx="3840480" cy="365760"/>
          </a:xfrm>
          <a:prstGeom prst="rect">
            <a:avLst/>
          </a:prstGeom>
          <a:noFill/>
          <a:ln/>
        </p:spPr>
        <p:txBody>
          <a:bodyPr wrap="square" lIns="0" tIns="0" rIns="0" bIns="0" rtlCol="0" anchor="t"/>
          <a:lstStyle/>
          <a:p>
            <a:pPr algn="ctr" indent="0" marL="0">
              <a:buNone/>
            </a:pPr>
            <a:r>
              <a:rPr lang="en-US" sz="1600" dirty="0">
                <a:solidFill>
                  <a:srgbClr val="CFE6E1"/>
                </a:solidFill>
                <a:latin typeface="Calibri" pitchFamily="34" charset="0"/>
                <a:ea typeface="Calibri" pitchFamily="34" charset="-122"/>
                <a:cs typeface="Calibri" pitchFamily="34" charset="-120"/>
              </a:rPr>
              <a:t>Straight to practice and review</a:t>
            </a:r>
            <a:endParaRPr lang="en-US" sz="1600" dirty="0"/>
          </a:p>
        </p:txBody>
      </p:sp>
      <p:sp>
        <p:nvSpPr>
          <p:cNvPr id="15" name="Title Menu 14 LINK:menu">
            <a:hlinkClick r:id="rIdJump3" action="ppaction://hlinksldjump"/>
          </p:cNvPr>
          <p:cNvSpPr/>
          <p:nvPr/>
        </p:nvSpPr>
        <p:spPr>
          <a:xfrm>
            <a:off x="5184648" y="5532120"/>
            <a:ext cx="1828800" cy="457200"/>
          </a:xfrm>
          <a:prstGeom prst="roundRect">
            <a:avLst>
              <a:gd name="adj" fmla="val 44000"/>
            </a:avLst>
          </a:prstGeom>
          <a:solidFill>
            <a:srgbClr val="0F3D3A"/>
          </a:solidFill>
          <a:ln w="19050">
            <a:solidFill>
              <a:srgbClr val="F6C552"/>
            </a:solidFill>
          </a:ln>
        </p:spPr>
        <p:txBody>
          <a:bodyPr wrap="square" lIns="109728" tIns="0" rIns="109728" bIns="0" rtlCol="0" anchor="ctr"/>
          <a:lstStyle/>
          <a:p>
            <a:pPr algn="ctr" indent="0" marL="0">
              <a:buNone/>
            </a:pPr>
            <a:r>
              <a:rPr lang="en-US" sz="1600" b="1" dirty="0">
                <a:solidFill>
                  <a:srgbClr val="F6C552"/>
                </a:solidFill>
                <a:latin typeface="Calibri" pitchFamily="34" charset="0"/>
                <a:ea typeface="Calibri" pitchFamily="34" charset="-122"/>
                <a:cs typeface="Calibri" pitchFamily="34" charset="-120"/>
              </a:rPr>
              <a:t>Lesson menu</a:t>
            </a:r>
            <a:endParaRPr lang="en-US" sz="1600" dirty="0"/>
          </a:p>
        </p:txBody>
      </p:sp>
      <p:sp>
        <p:nvSpPr>
          <p:cNvPr id="16" name="Footer 15"/>
          <p:cNvSpPr txBox="1"/>
          <p:nvPr/>
        </p:nvSpPr>
        <p:spPr>
          <a:xfrm>
            <a:off x="548640" y="6355080"/>
            <a:ext cx="7315200" cy="274320"/>
          </a:xfrm>
          <a:prstGeom prst="rect">
            <a:avLst/>
          </a:prstGeom>
          <a:noFill/>
          <a:ln/>
        </p:spPr>
        <p:txBody>
          <a:bodyPr wrap="square" lIns="0" tIns="0" rIns="0" bIns="0" rtlCol="0" anchor="t"/>
          <a:lstStyle/>
          <a:p>
            <a:pPr indent="0" marL="0">
              <a:buNone/>
            </a:pPr>
            <a:r>
              <a:rPr lang="en-US" sz="1300" dirty="0">
                <a:solidFill>
                  <a:srgbClr val="8FBDB4"/>
                </a:solidFill>
                <a:latin typeface="Calibri" pitchFamily="34" charset="0"/>
                <a:ea typeface="Calibri" pitchFamily="34" charset="-122"/>
                <a:cs typeface="Calibri" pitchFamily="34" charset="-120"/>
              </a:rPr>
              <a:t>Hafs through Shatibiyyah  ·  Source series · Firdaws Academy</a:t>
            </a:r>
            <a:endParaRPr lang="en-US" sz="1300" dirty="0"/>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Kicker 16"/>
          <p:cNvSpPr txBox="1"/>
          <p:nvPr/>
        </p:nvSpPr>
        <p:spPr>
          <a:xfrm>
            <a:off x="548640" y="329184"/>
            <a:ext cx="7315200" cy="292608"/>
          </a:xfrm>
          <a:prstGeom prst="rect">
            <a:avLst/>
          </a:prstGeom>
          <a:noFill/>
          <a:ln/>
        </p:spPr>
        <p:txBody>
          <a:bodyPr wrap="square" lIns="0" tIns="0" rIns="0" bIns="0" rtlCol="0" anchor="t"/>
          <a:lstStyle/>
          <a:p>
            <a:pPr indent="0" marL="0">
              <a:buNone/>
            </a:pPr>
            <a:r>
              <a:rPr lang="en-US" sz="1400" b="1" spc="300" kern="0" dirty="0">
                <a:solidFill>
                  <a:srgbClr val="1D7A6E"/>
                </a:solidFill>
                <a:latin typeface="Calibri" pitchFamily="34" charset="0"/>
                <a:ea typeface="Calibri" pitchFamily="34" charset="-122"/>
                <a:cs typeface="Calibri" pitchFamily="34" charset="-120"/>
              </a:rPr>
              <a:t>LESSON MENU</a:t>
            </a:r>
            <a:endParaRPr lang="en-US" sz="1400" dirty="0"/>
          </a:p>
        </p:txBody>
      </p:sp>
      <p:sp>
        <p:nvSpPr>
          <p:cNvPr id="3" name="Text 0"/>
          <p:cNvSpPr/>
          <p:nvPr>
            <p:ph idx="100" type="title" hasCustomPrompt="1"/>
          </p:nvPr>
        </p:nvSpPr>
        <p:spPr>
          <a:xfrm>
            <a:off x="548640" y="658368"/>
            <a:ext cx="9052560" cy="731520"/>
          </a:xfrm>
          <a:prstGeom prst="rect">
            <a:avLst/>
          </a:prstGeom>
          <a:noFill/>
          <a:ln/>
        </p:spPr>
        <p:txBody>
          <a:bodyPr wrap="square" lIns="0" tIns="0" rIns="0" bIns="0" rtlCol="0" anchor="t"/>
          <a:lstStyle/>
          <a:p>
            <a:pPr algn="l" indent="0" marL="0">
              <a:buNone/>
            </a:pPr>
            <a:r>
              <a:rPr lang="en-US" sz="3600" b="1" dirty="0">
                <a:solidFill>
                  <a:srgbClr val="16302E"/>
                </a:solidFill>
                <a:latin typeface="Calibri" pitchFamily="34" charset="0"/>
                <a:ea typeface="Calibri" pitchFamily="34" charset="-122"/>
                <a:cs typeface="Calibri" pitchFamily="34" charset="-120"/>
              </a:rPr>
              <a:t>Where would you like to go?</a:t>
            </a:r>
            <a:endParaRPr lang="en-US" sz="3600" dirty="0"/>
          </a:p>
        </p:txBody>
      </p:sp>
      <p:sp>
        <p:nvSpPr>
          <p:cNvPr id="4" name="Legend 17"/>
          <p:cNvSpPr txBox="1"/>
          <p:nvPr/>
        </p:nvSpPr>
        <p:spPr>
          <a:xfrm>
            <a:off x="8412480" y="429768"/>
            <a:ext cx="914400" cy="274320"/>
          </a:xfrm>
          <a:prstGeom prst="rect">
            <a:avLst/>
          </a:prstGeom>
          <a:noFill/>
          <a:ln/>
        </p:spPr>
        <p:txBody>
          <a:bodyPr wrap="square" lIns="0" tIns="0" rIns="0" bIns="0" rtlCol="0" anchor="t"/>
          <a:lstStyle/>
          <a:p>
            <a:pPr algn="r" indent="0" marL="0">
              <a:buNone/>
            </a:pPr>
            <a:r>
              <a:rPr lang="en-US" sz="1400" b="1" dirty="0">
                <a:solidFill>
                  <a:srgbClr val="1D7A6E"/>
                </a:solidFill>
                <a:latin typeface="Calibri" pitchFamily="34" charset="0"/>
                <a:ea typeface="Calibri" pitchFamily="34" charset="-122"/>
                <a:cs typeface="Calibri" pitchFamily="34" charset="-120"/>
              </a:rPr>
              <a:t>Guided</a:t>
            </a:r>
            <a:endParaRPr lang="en-US" sz="1400" dirty="0"/>
          </a:p>
        </p:txBody>
      </p:sp>
      <p:sp>
        <p:nvSpPr>
          <p:cNvPr id="5" name="Legend guided circle 18"/>
          <p:cNvSpPr/>
          <p:nvPr/>
        </p:nvSpPr>
        <p:spPr>
          <a:xfrm>
            <a:off x="9418320" y="457200"/>
            <a:ext cx="219456" cy="219456"/>
          </a:xfrm>
          <a:prstGeom prst="ellipse">
            <a:avLst/>
          </a:prstGeom>
          <a:solidFill>
            <a:srgbClr val="1D7A6E"/>
          </a:solidFill>
          <a:ln w="12700">
            <a:solidFill>
              <a:srgbClr val="1D7A6E"/>
            </a:solidFill>
            <a:prstDash val="solid"/>
          </a:ln>
        </p:spPr>
      </p:sp>
      <p:sp>
        <p:nvSpPr>
          <p:cNvPr id="6" name="Legend 19"/>
          <p:cNvSpPr txBox="1"/>
          <p:nvPr/>
        </p:nvSpPr>
        <p:spPr>
          <a:xfrm>
            <a:off x="9784080" y="429768"/>
            <a:ext cx="1188720" cy="274320"/>
          </a:xfrm>
          <a:prstGeom prst="rect">
            <a:avLst/>
          </a:prstGeom>
          <a:noFill/>
          <a:ln/>
        </p:spPr>
        <p:txBody>
          <a:bodyPr wrap="square" lIns="0" tIns="0" rIns="0" bIns="0" rtlCol="0" anchor="t"/>
          <a:lstStyle/>
          <a:p>
            <a:pPr algn="r" indent="0" marL="0">
              <a:buNone/>
            </a:pPr>
            <a:r>
              <a:rPr lang="en-US" sz="1400" b="1" dirty="0">
                <a:solidFill>
                  <a:srgbClr val="B9770E"/>
                </a:solidFill>
                <a:latin typeface="Calibri" pitchFamily="34" charset="0"/>
                <a:ea typeface="Calibri" pitchFamily="34" charset="-122"/>
                <a:cs typeface="Calibri" pitchFamily="34" charset="-120"/>
              </a:rPr>
              <a:t>Challenge</a:t>
            </a:r>
            <a:endParaRPr lang="en-US" sz="1400" dirty="0"/>
          </a:p>
        </p:txBody>
      </p:sp>
      <p:sp>
        <p:nvSpPr>
          <p:cNvPr id="7" name="Legend challenge circle 20"/>
          <p:cNvSpPr/>
          <p:nvPr/>
        </p:nvSpPr>
        <p:spPr>
          <a:xfrm>
            <a:off x="11064240" y="457200"/>
            <a:ext cx="219456" cy="219456"/>
          </a:xfrm>
          <a:prstGeom prst="ellipse">
            <a:avLst/>
          </a:prstGeom>
          <a:solidFill>
            <a:srgbClr val="F2B134"/>
          </a:solidFill>
          <a:ln w="12700">
            <a:solidFill>
              <a:srgbClr val="F2B134"/>
            </a:solidFill>
            <a:prstDash val="solid"/>
          </a:ln>
        </p:spPr>
      </p:sp>
      <p:sp>
        <p:nvSpPr>
          <p:cNvPr id="8" name="Menu tile 21 LINK:goals">
            <a:hlinkClick r:id="rIdJump1" action="ppaction://hlinksldjump"/>
          </p:cNvPr>
          <p:cNvSpPr/>
          <p:nvPr/>
        </p:nvSpPr>
        <p:spPr>
          <a:xfrm>
            <a:off x="548640" y="1627632"/>
            <a:ext cx="2633472" cy="1207008"/>
          </a:xfrm>
          <a:prstGeom prst="roundRect">
            <a:avLst>
              <a:gd name="adj" fmla="val 16667"/>
            </a:avLst>
          </a:prstGeom>
          <a:solidFill>
            <a:srgbClr val="FFFFFF"/>
          </a:solidFill>
          <a:ln w="19050">
            <a:solidFill>
              <a:srgbClr val="D5E5E0"/>
            </a:solidFill>
          </a:ln>
          <a:effectLst>
            <a:outerShdw sx="100000" sy="100000" kx="0" ky="0" algn="bl" rotWithShape="0" blurRad="50800" dist="25400" dir="5400000">
              <a:srgbClr val="0F3D3A">
                <a:alpha val="18000"/>
              </a:srgbClr>
            </a:outerShdw>
          </a:effectLst>
        </p:spPr>
        <p:txBody>
          <a:bodyPr wrap="square" lIns="868680" tIns="0" rIns="137160" bIns="0" rtlCol="0" anchor="ctr"/>
          <a:lstStyle/>
          <a:p>
            <a:pPr algn="l" indent="0" marL="0">
              <a:buNone/>
            </a:pPr>
            <a:r>
              <a:rPr lang="en-US" sz="2100" b="1" dirty="0">
                <a:solidFill>
                  <a:srgbClr val="16302E"/>
                </a:solidFill>
                <a:latin typeface="Calibri" pitchFamily="34" charset="0"/>
                <a:ea typeface="Calibri" pitchFamily="34" charset="-122"/>
                <a:cs typeface="Calibri" pitchFamily="34" charset="-120"/>
              </a:rPr>
              <a:t>Goals</a:t>
            </a:r>
            <a:endParaRPr lang="en-US" sz="2100" dirty="0"/>
          </a:p>
        </p:txBody>
      </p:sp>
      <p:sp>
        <p:nvSpPr>
          <p:cNvPr id="9" name="Menu number 22 LINK:goals">
            <a:hlinkClick r:id="rIdJump2" action="ppaction://hlinksldjump"/>
          </p:cNvPr>
          <p:cNvSpPr/>
          <p:nvPr/>
        </p:nvSpPr>
        <p:spPr>
          <a:xfrm>
            <a:off x="731520" y="1965960"/>
            <a:ext cx="530352" cy="530352"/>
          </a:xfrm>
          <a:prstGeom prst="ellipse">
            <a:avLst/>
          </a:prstGeom>
          <a:solidFill>
            <a:srgbClr val="1D7A6E"/>
          </a:solidFill>
          <a:ln>
            <a:solidFill>
              <a:srgbClr val="FFFFFF"/>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Menu tile 23 LINK:warm">
            <a:hlinkClick r:id="rIdJump3" action="ppaction://hlinksldjump"/>
          </p:cNvPr>
          <p:cNvSpPr/>
          <p:nvPr/>
        </p:nvSpPr>
        <p:spPr>
          <a:xfrm>
            <a:off x="3364992" y="1627632"/>
            <a:ext cx="2633472" cy="1207008"/>
          </a:xfrm>
          <a:prstGeom prst="roundRect">
            <a:avLst>
              <a:gd name="adj" fmla="val 16667"/>
            </a:avLst>
          </a:prstGeom>
          <a:solidFill>
            <a:srgbClr val="FFFFFF"/>
          </a:solidFill>
          <a:ln w="19050">
            <a:solidFill>
              <a:srgbClr val="D5E5E0"/>
            </a:solidFill>
          </a:ln>
          <a:effectLst>
            <a:outerShdw sx="100000" sy="100000" kx="0" ky="0" algn="bl" rotWithShape="0" blurRad="50800" dist="25400" dir="5400000">
              <a:srgbClr val="0F3D3A">
                <a:alpha val="18000"/>
              </a:srgbClr>
            </a:outerShdw>
          </a:effectLst>
        </p:spPr>
        <p:txBody>
          <a:bodyPr wrap="square" lIns="868680" tIns="0" rIns="137160" bIns="0" rtlCol="0" anchor="ctr"/>
          <a:lstStyle/>
          <a:p>
            <a:pPr algn="l" indent="0" marL="0">
              <a:buNone/>
            </a:pPr>
            <a:r>
              <a:rPr lang="en-US" sz="2100" b="1" dirty="0">
                <a:solidFill>
                  <a:srgbClr val="16302E"/>
                </a:solidFill>
                <a:latin typeface="Calibri" pitchFamily="34" charset="0"/>
                <a:ea typeface="Calibri" pitchFamily="34" charset="-122"/>
                <a:cs typeface="Calibri" pitchFamily="34" charset="-120"/>
              </a:rPr>
              <a:t>Warm-up</a:t>
            </a:r>
            <a:endParaRPr lang="en-US" sz="2100" dirty="0"/>
          </a:p>
        </p:txBody>
      </p:sp>
      <p:sp>
        <p:nvSpPr>
          <p:cNvPr id="11" name="Menu number 24 LINK:warm">
            <a:hlinkClick r:id="rIdJump4" action="ppaction://hlinksldjump"/>
          </p:cNvPr>
          <p:cNvSpPr/>
          <p:nvPr/>
        </p:nvSpPr>
        <p:spPr>
          <a:xfrm>
            <a:off x="3547872" y="1965960"/>
            <a:ext cx="530352" cy="530352"/>
          </a:xfrm>
          <a:prstGeom prst="ellipse">
            <a:avLst/>
          </a:prstGeom>
          <a:solidFill>
            <a:srgbClr val="1D7A6E"/>
          </a:solidFill>
          <a:ln>
            <a:solidFill>
              <a:srgbClr val="FFFFFF"/>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2" name="Menu tile 25 LINK:idea">
            <a:hlinkClick r:id="rIdJump5" action="ppaction://hlinksldjump"/>
          </p:cNvPr>
          <p:cNvSpPr/>
          <p:nvPr/>
        </p:nvSpPr>
        <p:spPr>
          <a:xfrm>
            <a:off x="6181344" y="1627632"/>
            <a:ext cx="2633472" cy="1207008"/>
          </a:xfrm>
          <a:prstGeom prst="roundRect">
            <a:avLst>
              <a:gd name="adj" fmla="val 16667"/>
            </a:avLst>
          </a:prstGeom>
          <a:solidFill>
            <a:srgbClr val="FFFFFF"/>
          </a:solidFill>
          <a:ln w="19050">
            <a:solidFill>
              <a:srgbClr val="D5E5E0"/>
            </a:solidFill>
          </a:ln>
          <a:effectLst>
            <a:outerShdw sx="100000" sy="100000" kx="0" ky="0" algn="bl" rotWithShape="0" blurRad="50800" dist="25400" dir="5400000">
              <a:srgbClr val="0F3D3A">
                <a:alpha val="18000"/>
              </a:srgbClr>
            </a:outerShdw>
          </a:effectLst>
        </p:spPr>
        <p:txBody>
          <a:bodyPr wrap="square" lIns="868680" tIns="0" rIns="137160" bIns="0" rtlCol="0" anchor="ctr"/>
          <a:lstStyle/>
          <a:p>
            <a:pPr algn="l" indent="0" marL="0">
              <a:buNone/>
            </a:pPr>
            <a:r>
              <a:rPr lang="en-US" sz="2100" b="1" dirty="0">
                <a:solidFill>
                  <a:srgbClr val="16302E"/>
                </a:solidFill>
                <a:latin typeface="Calibri" pitchFamily="34" charset="0"/>
                <a:ea typeface="Calibri" pitchFamily="34" charset="-122"/>
                <a:cs typeface="Calibri" pitchFamily="34" charset="-120"/>
              </a:rPr>
              <a:t>The idea</a:t>
            </a:r>
            <a:endParaRPr lang="en-US" sz="2100" dirty="0"/>
          </a:p>
        </p:txBody>
      </p:sp>
      <p:sp>
        <p:nvSpPr>
          <p:cNvPr id="13" name="Menu number 26 LINK:idea">
            <a:hlinkClick r:id="rIdJump6" action="ppaction://hlinksldjump"/>
          </p:cNvPr>
          <p:cNvSpPr/>
          <p:nvPr/>
        </p:nvSpPr>
        <p:spPr>
          <a:xfrm>
            <a:off x="6364224" y="1965960"/>
            <a:ext cx="530352" cy="530352"/>
          </a:xfrm>
          <a:prstGeom prst="ellipse">
            <a:avLst/>
          </a:prstGeom>
          <a:solidFill>
            <a:srgbClr val="1D7A6E"/>
          </a:solidFill>
          <a:ln>
            <a:solidFill>
              <a:srgbClr val="FFFFFF"/>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4" name="Menu tile 27 LINK:cues">
            <a:hlinkClick r:id="rIdJump7" action="ppaction://hlinksldjump"/>
          </p:cNvPr>
          <p:cNvSpPr/>
          <p:nvPr/>
        </p:nvSpPr>
        <p:spPr>
          <a:xfrm>
            <a:off x="8997696" y="1627632"/>
            <a:ext cx="2633472" cy="1207008"/>
          </a:xfrm>
          <a:prstGeom prst="roundRect">
            <a:avLst>
              <a:gd name="adj" fmla="val 16667"/>
            </a:avLst>
          </a:prstGeom>
          <a:solidFill>
            <a:srgbClr val="FFFFFF"/>
          </a:solidFill>
          <a:ln w="19050">
            <a:solidFill>
              <a:srgbClr val="D5E5E0"/>
            </a:solidFill>
          </a:ln>
          <a:effectLst>
            <a:outerShdw sx="100000" sy="100000" kx="0" ky="0" algn="bl" rotWithShape="0" blurRad="50800" dist="25400" dir="5400000">
              <a:srgbClr val="0F3D3A">
                <a:alpha val="18000"/>
              </a:srgbClr>
            </a:outerShdw>
          </a:effectLst>
        </p:spPr>
        <p:txBody>
          <a:bodyPr wrap="square" lIns="868680" tIns="0" rIns="137160" bIns="0" rtlCol="0" anchor="ctr"/>
          <a:lstStyle/>
          <a:p>
            <a:pPr algn="l" indent="0" marL="0">
              <a:buNone/>
            </a:pPr>
            <a:r>
              <a:rPr lang="en-US" sz="2100" b="1" dirty="0">
                <a:solidFill>
                  <a:srgbClr val="16302E"/>
                </a:solidFill>
                <a:latin typeface="Calibri" pitchFamily="34" charset="0"/>
                <a:ea typeface="Calibri" pitchFamily="34" charset="-122"/>
                <a:cs typeface="Calibri" pitchFamily="34" charset="-120"/>
              </a:rPr>
              <a:t>Spot it in the Mushaf</a:t>
            </a:r>
            <a:endParaRPr lang="en-US" sz="2100" dirty="0"/>
          </a:p>
        </p:txBody>
      </p:sp>
      <p:sp>
        <p:nvSpPr>
          <p:cNvPr id="15" name="Menu number 28 LINK:cues">
            <a:hlinkClick r:id="rIdJump8" action="ppaction://hlinksldjump"/>
          </p:cNvPr>
          <p:cNvSpPr/>
          <p:nvPr/>
        </p:nvSpPr>
        <p:spPr>
          <a:xfrm>
            <a:off x="9180576" y="1965960"/>
            <a:ext cx="530352" cy="530352"/>
          </a:xfrm>
          <a:prstGeom prst="ellipse">
            <a:avLst/>
          </a:prstGeom>
          <a:solidFill>
            <a:srgbClr val="1D7A6E"/>
          </a:solidFill>
          <a:ln>
            <a:solidFill>
              <a:srgbClr val="FFFFFF"/>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6" name="Menu tile 29 LINK:steps">
            <a:hlinkClick r:id="rIdJump9" action="ppaction://hlinksldjump"/>
          </p:cNvPr>
          <p:cNvSpPr/>
          <p:nvPr/>
        </p:nvSpPr>
        <p:spPr>
          <a:xfrm>
            <a:off x="548640" y="3017520"/>
            <a:ext cx="2633472" cy="1207008"/>
          </a:xfrm>
          <a:prstGeom prst="roundRect">
            <a:avLst>
              <a:gd name="adj" fmla="val 16667"/>
            </a:avLst>
          </a:prstGeom>
          <a:solidFill>
            <a:srgbClr val="FFFFFF"/>
          </a:solidFill>
          <a:ln w="19050">
            <a:solidFill>
              <a:srgbClr val="D5E5E0"/>
            </a:solidFill>
          </a:ln>
          <a:effectLst>
            <a:outerShdw sx="100000" sy="100000" kx="0" ky="0" algn="bl" rotWithShape="0" blurRad="50800" dist="25400" dir="5400000">
              <a:srgbClr val="0F3D3A">
                <a:alpha val="18000"/>
              </a:srgbClr>
            </a:outerShdw>
          </a:effectLst>
        </p:spPr>
        <p:txBody>
          <a:bodyPr wrap="square" lIns="868680" tIns="0" rIns="137160" bIns="0" rtlCol="0" anchor="ctr"/>
          <a:lstStyle/>
          <a:p>
            <a:pPr algn="l" indent="0" marL="0">
              <a:buNone/>
            </a:pPr>
            <a:r>
              <a:rPr lang="en-US" sz="2100" b="1" dirty="0">
                <a:solidFill>
                  <a:srgbClr val="16302E"/>
                </a:solidFill>
                <a:latin typeface="Calibri" pitchFamily="34" charset="0"/>
                <a:ea typeface="Calibri" pitchFamily="34" charset="-122"/>
                <a:cs typeface="Calibri" pitchFamily="34" charset="-120"/>
              </a:rPr>
              <a:t>Three steps</a:t>
            </a:r>
            <a:endParaRPr lang="en-US" sz="2100" dirty="0"/>
          </a:p>
        </p:txBody>
      </p:sp>
      <p:sp>
        <p:nvSpPr>
          <p:cNvPr id="17" name="Menu number 30 LINK:steps">
            <a:hlinkClick r:id="rIdJump10" action="ppaction://hlinksldjump"/>
          </p:cNvPr>
          <p:cNvSpPr/>
          <p:nvPr/>
        </p:nvSpPr>
        <p:spPr>
          <a:xfrm>
            <a:off x="731520" y="3355848"/>
            <a:ext cx="530352" cy="530352"/>
          </a:xfrm>
          <a:prstGeom prst="ellipse">
            <a:avLst/>
          </a:prstGeom>
          <a:solidFill>
            <a:srgbClr val="1D7A6E"/>
          </a:solidFill>
          <a:ln>
            <a:solidFill>
              <a:srgbClr val="FFFFFF"/>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8" name="Menu tile 31 LINK:timing">
            <a:hlinkClick r:id="rIdJump11" action="ppaction://hlinksldjump"/>
          </p:cNvPr>
          <p:cNvSpPr/>
          <p:nvPr/>
        </p:nvSpPr>
        <p:spPr>
          <a:xfrm>
            <a:off x="3364992" y="3017520"/>
            <a:ext cx="2633472" cy="1207008"/>
          </a:xfrm>
          <a:prstGeom prst="roundRect">
            <a:avLst>
              <a:gd name="adj" fmla="val 16667"/>
            </a:avLst>
          </a:prstGeom>
          <a:solidFill>
            <a:srgbClr val="FFFFFF"/>
          </a:solidFill>
          <a:ln w="19050">
            <a:solidFill>
              <a:srgbClr val="D5E5E0"/>
            </a:solidFill>
          </a:ln>
          <a:effectLst>
            <a:outerShdw sx="100000" sy="100000" kx="0" ky="0" algn="bl" rotWithShape="0" blurRad="50800" dist="25400" dir="5400000">
              <a:srgbClr val="0F3D3A">
                <a:alpha val="18000"/>
              </a:srgbClr>
            </a:outerShdw>
          </a:effectLst>
        </p:spPr>
        <p:txBody>
          <a:bodyPr wrap="square" lIns="868680" tIns="0" rIns="137160" bIns="0" rtlCol="0" anchor="ctr"/>
          <a:lstStyle/>
          <a:p>
            <a:pPr algn="l" indent="0" marL="0">
              <a:buNone/>
            </a:pPr>
            <a:r>
              <a:rPr lang="en-US" sz="2100" b="1" dirty="0">
                <a:solidFill>
                  <a:srgbClr val="16302E"/>
                </a:solidFill>
                <a:latin typeface="Calibri" pitchFamily="34" charset="0"/>
                <a:ea typeface="Calibri" pitchFamily="34" charset="-122"/>
                <a:cs typeface="Calibri" pitchFamily="34" charset="-120"/>
              </a:rPr>
              <a:t>Timing</a:t>
            </a:r>
            <a:endParaRPr lang="en-US" sz="2100" dirty="0"/>
          </a:p>
        </p:txBody>
      </p:sp>
      <p:sp>
        <p:nvSpPr>
          <p:cNvPr id="19" name="Menu number 32 LINK:timing">
            <a:hlinkClick r:id="rIdJump12" action="ppaction://hlinksldjump"/>
          </p:cNvPr>
          <p:cNvSpPr/>
          <p:nvPr/>
        </p:nvSpPr>
        <p:spPr>
          <a:xfrm>
            <a:off x="3547872" y="3355848"/>
            <a:ext cx="530352" cy="530352"/>
          </a:xfrm>
          <a:prstGeom prst="ellipse">
            <a:avLst/>
          </a:prstGeom>
          <a:solidFill>
            <a:srgbClr val="1D7A6E"/>
          </a:solidFill>
          <a:ln>
            <a:solidFill>
              <a:srgbClr val="FFFFFF"/>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0" name="Menu tile 33 LINK:ex1">
            <a:hlinkClick r:id="rIdJump13" action="ppaction://hlinksldjump"/>
          </p:cNvPr>
          <p:cNvSpPr/>
          <p:nvPr/>
        </p:nvSpPr>
        <p:spPr>
          <a:xfrm>
            <a:off x="6181344" y="3017520"/>
            <a:ext cx="2633472" cy="1207008"/>
          </a:xfrm>
          <a:prstGeom prst="roundRect">
            <a:avLst>
              <a:gd name="adj" fmla="val 16667"/>
            </a:avLst>
          </a:prstGeom>
          <a:solidFill>
            <a:srgbClr val="FFFFFF"/>
          </a:solidFill>
          <a:ln w="19050">
            <a:solidFill>
              <a:srgbClr val="D5E5E0"/>
            </a:solidFill>
          </a:ln>
          <a:effectLst>
            <a:outerShdw sx="100000" sy="100000" kx="0" ky="0" algn="bl" rotWithShape="0" blurRad="50800" dist="25400" dir="5400000">
              <a:srgbClr val="0F3D3A">
                <a:alpha val="18000"/>
              </a:srgbClr>
            </a:outerShdw>
          </a:effectLst>
        </p:spPr>
        <p:txBody>
          <a:bodyPr wrap="square" lIns="868680" tIns="0" rIns="137160" bIns="0" rtlCol="0" anchor="ctr"/>
          <a:lstStyle/>
          <a:p>
            <a:pPr algn="l" indent="0" marL="0">
              <a:buNone/>
            </a:pPr>
            <a:r>
              <a:rPr lang="en-US" sz="2100" b="1" dirty="0">
                <a:solidFill>
                  <a:srgbClr val="16302E"/>
                </a:solidFill>
                <a:latin typeface="Calibri" pitchFamily="34" charset="0"/>
                <a:ea typeface="Calibri" pitchFamily="34" charset="-122"/>
                <a:cs typeface="Calibri" pitchFamily="34" charset="-120"/>
              </a:rPr>
              <a:t>Examples</a:t>
            </a:r>
            <a:endParaRPr lang="en-US" sz="2100" dirty="0"/>
          </a:p>
        </p:txBody>
      </p:sp>
      <p:sp>
        <p:nvSpPr>
          <p:cNvPr id="21" name="Menu number 34 LINK:ex1">
            <a:hlinkClick r:id="rIdJump14" action="ppaction://hlinksldjump"/>
          </p:cNvPr>
          <p:cNvSpPr/>
          <p:nvPr/>
        </p:nvSpPr>
        <p:spPr>
          <a:xfrm>
            <a:off x="6364224" y="3355848"/>
            <a:ext cx="530352" cy="530352"/>
          </a:xfrm>
          <a:prstGeom prst="ellipse">
            <a:avLst/>
          </a:prstGeom>
          <a:solidFill>
            <a:srgbClr val="1D7A6E"/>
          </a:solidFill>
          <a:ln>
            <a:solidFill>
              <a:srgbClr val="FFFFFF"/>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7</a:t>
            </a:r>
            <a:endParaRPr lang="en-US" sz="1800" dirty="0"/>
          </a:p>
        </p:txBody>
      </p:sp>
      <p:sp>
        <p:nvSpPr>
          <p:cNvPr id="22" name="Menu tile 35 LINK:mistakes">
            <a:hlinkClick r:id="rIdJump15" action="ppaction://hlinksldjump"/>
          </p:cNvPr>
          <p:cNvSpPr/>
          <p:nvPr/>
        </p:nvSpPr>
        <p:spPr>
          <a:xfrm>
            <a:off x="8997696" y="3017520"/>
            <a:ext cx="2633472" cy="1207008"/>
          </a:xfrm>
          <a:prstGeom prst="roundRect">
            <a:avLst>
              <a:gd name="adj" fmla="val 16667"/>
            </a:avLst>
          </a:prstGeom>
          <a:solidFill>
            <a:srgbClr val="FFFFFF"/>
          </a:solidFill>
          <a:ln w="19050">
            <a:solidFill>
              <a:srgbClr val="D5E5E0"/>
            </a:solidFill>
          </a:ln>
          <a:effectLst>
            <a:outerShdw sx="100000" sy="100000" kx="0" ky="0" algn="bl" rotWithShape="0" blurRad="50800" dist="25400" dir="5400000">
              <a:srgbClr val="0F3D3A">
                <a:alpha val="18000"/>
              </a:srgbClr>
            </a:outerShdw>
          </a:effectLst>
        </p:spPr>
        <p:txBody>
          <a:bodyPr wrap="square" lIns="868680" tIns="0" rIns="137160" bIns="0" rtlCol="0" anchor="ctr"/>
          <a:lstStyle/>
          <a:p>
            <a:pPr algn="l" indent="0" marL="0">
              <a:buNone/>
            </a:pPr>
            <a:r>
              <a:rPr lang="en-US" sz="2100" b="1" dirty="0">
                <a:solidFill>
                  <a:srgbClr val="16302E"/>
                </a:solidFill>
                <a:latin typeface="Calibri" pitchFamily="34" charset="0"/>
                <a:ea typeface="Calibri" pitchFamily="34" charset="-122"/>
                <a:cs typeface="Calibri" pitchFamily="34" charset="-120"/>
              </a:rPr>
              <a:t>Common mistakes</a:t>
            </a:r>
            <a:endParaRPr lang="en-US" sz="2100" dirty="0"/>
          </a:p>
        </p:txBody>
      </p:sp>
      <p:sp>
        <p:nvSpPr>
          <p:cNvPr id="23" name="Menu number 36 LINK:mistakes">
            <a:hlinkClick r:id="rIdJump16" action="ppaction://hlinksldjump"/>
          </p:cNvPr>
          <p:cNvSpPr/>
          <p:nvPr/>
        </p:nvSpPr>
        <p:spPr>
          <a:xfrm>
            <a:off x="9180576" y="3355848"/>
            <a:ext cx="530352" cy="530352"/>
          </a:xfrm>
          <a:prstGeom prst="ellipse">
            <a:avLst/>
          </a:prstGeom>
          <a:solidFill>
            <a:srgbClr val="1D7A6E"/>
          </a:solidFill>
          <a:ln>
            <a:solidFill>
              <a:srgbClr val="FFFFFF"/>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8</a:t>
            </a:r>
            <a:endParaRPr lang="en-US" sz="1800" dirty="0"/>
          </a:p>
        </p:txBody>
      </p:sp>
      <p:sp>
        <p:nvSpPr>
          <p:cNvPr id="24" name="Menu tile 37 LINK:guided">
            <a:hlinkClick r:id="rIdJump17" action="ppaction://hlinksldjump"/>
          </p:cNvPr>
          <p:cNvSpPr/>
          <p:nvPr/>
        </p:nvSpPr>
        <p:spPr>
          <a:xfrm>
            <a:off x="548640" y="4407408"/>
            <a:ext cx="2633472" cy="1207008"/>
          </a:xfrm>
          <a:prstGeom prst="roundRect">
            <a:avLst>
              <a:gd name="adj" fmla="val 16667"/>
            </a:avLst>
          </a:prstGeom>
          <a:solidFill>
            <a:srgbClr val="FFFFFF"/>
          </a:solidFill>
          <a:ln w="19050">
            <a:solidFill>
              <a:srgbClr val="D5E5E0"/>
            </a:solidFill>
          </a:ln>
          <a:effectLst>
            <a:outerShdw sx="100000" sy="100000" kx="0" ky="0" algn="bl" rotWithShape="0" blurRad="50800" dist="25400" dir="5400000">
              <a:srgbClr val="0F3D3A">
                <a:alpha val="18000"/>
              </a:srgbClr>
            </a:outerShdw>
          </a:effectLst>
        </p:spPr>
        <p:txBody>
          <a:bodyPr wrap="square" lIns="868680" tIns="0" rIns="137160" bIns="0" rtlCol="0" anchor="ctr"/>
          <a:lstStyle/>
          <a:p>
            <a:pPr algn="l" indent="0" marL="0">
              <a:buNone/>
            </a:pPr>
            <a:r>
              <a:rPr lang="en-US" sz="2100" b="1" dirty="0">
                <a:solidFill>
                  <a:srgbClr val="16302E"/>
                </a:solidFill>
                <a:latin typeface="Calibri" pitchFamily="34" charset="0"/>
                <a:ea typeface="Calibri" pitchFamily="34" charset="-122"/>
                <a:cs typeface="Calibri" pitchFamily="34" charset="-120"/>
              </a:rPr>
              <a:t>Read aloud</a:t>
            </a:r>
            <a:endParaRPr lang="en-US" sz="2100" dirty="0"/>
          </a:p>
        </p:txBody>
      </p:sp>
      <p:sp>
        <p:nvSpPr>
          <p:cNvPr id="25" name="Menu number 38 LINK:guided">
            <a:hlinkClick r:id="rIdJump18" action="ppaction://hlinksldjump"/>
          </p:cNvPr>
          <p:cNvSpPr/>
          <p:nvPr/>
        </p:nvSpPr>
        <p:spPr>
          <a:xfrm>
            <a:off x="731520" y="4745736"/>
            <a:ext cx="530352" cy="530352"/>
          </a:xfrm>
          <a:prstGeom prst="ellipse">
            <a:avLst/>
          </a:prstGeom>
          <a:solidFill>
            <a:srgbClr val="1D7A6E"/>
          </a:solidFill>
          <a:ln>
            <a:solidFill>
              <a:srgbClr val="FFFFFF"/>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9</a:t>
            </a:r>
            <a:endParaRPr lang="en-US" sz="1800" dirty="0"/>
          </a:p>
        </p:txBody>
      </p:sp>
      <p:sp>
        <p:nvSpPr>
          <p:cNvPr id="26" name="Menu tile 39 LINK:act1">
            <a:hlinkClick r:id="rIdJump19" action="ppaction://hlinksldjump"/>
          </p:cNvPr>
          <p:cNvSpPr/>
          <p:nvPr/>
        </p:nvSpPr>
        <p:spPr>
          <a:xfrm>
            <a:off x="3364992" y="4407408"/>
            <a:ext cx="2633472" cy="1207008"/>
          </a:xfrm>
          <a:prstGeom prst="roundRect">
            <a:avLst>
              <a:gd name="adj" fmla="val 16667"/>
            </a:avLst>
          </a:prstGeom>
          <a:solidFill>
            <a:srgbClr val="FDF3DC"/>
          </a:solidFill>
          <a:ln w="19050">
            <a:solidFill>
              <a:srgbClr val="F2B134"/>
            </a:solidFill>
          </a:ln>
          <a:effectLst>
            <a:outerShdw sx="100000" sy="100000" kx="0" ky="0" algn="bl" rotWithShape="0" blurRad="50800" dist="25400" dir="5400000">
              <a:srgbClr val="0F3D3A">
                <a:alpha val="18000"/>
              </a:srgbClr>
            </a:outerShdw>
          </a:effectLst>
        </p:spPr>
        <p:txBody>
          <a:bodyPr wrap="square" lIns="868680" tIns="0" rIns="137160" bIns="0" rtlCol="0" anchor="ctr"/>
          <a:lstStyle/>
          <a:p>
            <a:pPr algn="l" indent="0" marL="0">
              <a:buNone/>
            </a:pPr>
            <a:r>
              <a:rPr lang="en-US" sz="2100" b="1" dirty="0">
                <a:solidFill>
                  <a:srgbClr val="16302E"/>
                </a:solidFill>
                <a:latin typeface="Calibri" pitchFamily="34" charset="0"/>
                <a:ea typeface="Calibri" pitchFamily="34" charset="-122"/>
                <a:cs typeface="Calibri" pitchFamily="34" charset="-120"/>
              </a:rPr>
              <a:t>Activities</a:t>
            </a:r>
            <a:endParaRPr lang="en-US" sz="2100" dirty="0"/>
          </a:p>
        </p:txBody>
      </p:sp>
      <p:sp>
        <p:nvSpPr>
          <p:cNvPr id="27" name="Menu number 40 LINK:act1">
            <a:hlinkClick r:id="rIdJump20" action="ppaction://hlinksldjump"/>
          </p:cNvPr>
          <p:cNvSpPr/>
          <p:nvPr/>
        </p:nvSpPr>
        <p:spPr>
          <a:xfrm>
            <a:off x="3547872" y="4745736"/>
            <a:ext cx="530352" cy="530352"/>
          </a:xfrm>
          <a:prstGeom prst="ellipse">
            <a:avLst/>
          </a:prstGeom>
          <a:solidFill>
            <a:srgbClr val="F2B134"/>
          </a:solidFill>
          <a:ln>
            <a:solidFill>
              <a:srgbClr val="FFFFFF"/>
            </a:solidFill>
          </a:ln>
        </p:spPr>
        <p:txBody>
          <a:bodyPr wrap="square" lIns="0" tIns="0" rIns="0" bIns="0" rtlCol="0" anchor="ctr"/>
          <a:lstStyle/>
          <a:p>
            <a:pPr algn="ctr" indent="0" marL="0">
              <a:buNone/>
            </a:pPr>
            <a:r>
              <a:rPr lang="en-US" sz="1800" b="1" dirty="0">
                <a:solidFill>
                  <a:srgbClr val="16302E"/>
                </a:solidFill>
                <a:latin typeface="Calibri" pitchFamily="34" charset="0"/>
                <a:ea typeface="Calibri" pitchFamily="34" charset="-122"/>
                <a:cs typeface="Calibri" pitchFamily="34" charset="-120"/>
              </a:rPr>
              <a:t>10</a:t>
            </a:r>
            <a:endParaRPr lang="en-US" sz="1800" dirty="0"/>
          </a:p>
        </p:txBody>
      </p:sp>
      <p:sp>
        <p:nvSpPr>
          <p:cNvPr id="28" name="Menu tile 41 LINK:final">
            <a:hlinkClick r:id="rIdJump21" action="ppaction://hlinksldjump"/>
          </p:cNvPr>
          <p:cNvSpPr/>
          <p:nvPr/>
        </p:nvSpPr>
        <p:spPr>
          <a:xfrm>
            <a:off x="6181344" y="4407408"/>
            <a:ext cx="2633472" cy="1207008"/>
          </a:xfrm>
          <a:prstGeom prst="roundRect">
            <a:avLst>
              <a:gd name="adj" fmla="val 16667"/>
            </a:avLst>
          </a:prstGeom>
          <a:solidFill>
            <a:srgbClr val="FDF3DC"/>
          </a:solidFill>
          <a:ln w="19050">
            <a:solidFill>
              <a:srgbClr val="F2B134"/>
            </a:solidFill>
          </a:ln>
          <a:effectLst>
            <a:outerShdw sx="100000" sy="100000" kx="0" ky="0" algn="bl" rotWithShape="0" blurRad="50800" dist="25400" dir="5400000">
              <a:srgbClr val="0F3D3A">
                <a:alpha val="18000"/>
              </a:srgbClr>
            </a:outerShdw>
          </a:effectLst>
        </p:spPr>
        <p:txBody>
          <a:bodyPr wrap="square" lIns="868680" tIns="0" rIns="137160" bIns="0" rtlCol="0" anchor="ctr"/>
          <a:lstStyle/>
          <a:p>
            <a:pPr algn="l" indent="0" marL="0">
              <a:buNone/>
            </a:pPr>
            <a:r>
              <a:rPr lang="en-US" sz="2100" b="1" dirty="0">
                <a:solidFill>
                  <a:srgbClr val="16302E"/>
                </a:solidFill>
                <a:latin typeface="Calibri" pitchFamily="34" charset="0"/>
                <a:ea typeface="Calibri" pitchFamily="34" charset="-122"/>
                <a:cs typeface="Calibri" pitchFamily="34" charset="-120"/>
              </a:rPr>
              <a:t>Final check</a:t>
            </a:r>
            <a:endParaRPr lang="en-US" sz="2100" dirty="0"/>
          </a:p>
        </p:txBody>
      </p:sp>
      <p:sp>
        <p:nvSpPr>
          <p:cNvPr id="29" name="Menu number 42 LINK:final">
            <a:hlinkClick r:id="rIdJump22" action="ppaction://hlinksldjump"/>
          </p:cNvPr>
          <p:cNvSpPr/>
          <p:nvPr/>
        </p:nvSpPr>
        <p:spPr>
          <a:xfrm>
            <a:off x="6364224" y="4745736"/>
            <a:ext cx="530352" cy="530352"/>
          </a:xfrm>
          <a:prstGeom prst="ellipse">
            <a:avLst/>
          </a:prstGeom>
          <a:solidFill>
            <a:srgbClr val="F2B134"/>
          </a:solidFill>
          <a:ln>
            <a:solidFill>
              <a:srgbClr val="FFFFFF"/>
            </a:solidFill>
          </a:ln>
        </p:spPr>
        <p:txBody>
          <a:bodyPr wrap="square" lIns="0" tIns="0" rIns="0" bIns="0" rtlCol="0" anchor="ctr"/>
          <a:lstStyle/>
          <a:p>
            <a:pPr algn="ctr" indent="0" marL="0">
              <a:buNone/>
            </a:pPr>
            <a:r>
              <a:rPr lang="en-US" sz="1800" b="1" dirty="0">
                <a:solidFill>
                  <a:srgbClr val="16302E"/>
                </a:solidFill>
                <a:latin typeface="Calibri" pitchFamily="34" charset="0"/>
                <a:ea typeface="Calibri" pitchFamily="34" charset="-122"/>
                <a:cs typeface="Calibri" pitchFamily="34" charset="-120"/>
              </a:rPr>
              <a:t>11</a:t>
            </a:r>
            <a:endParaRPr lang="en-US" sz="1800" dirty="0"/>
          </a:p>
        </p:txBody>
      </p:sp>
      <p:sp>
        <p:nvSpPr>
          <p:cNvPr id="30" name="Menu tile 43 LINK:recap">
            <a:hlinkClick r:id="rIdJump23" action="ppaction://hlinksldjump"/>
          </p:cNvPr>
          <p:cNvSpPr/>
          <p:nvPr/>
        </p:nvSpPr>
        <p:spPr>
          <a:xfrm>
            <a:off x="8997696" y="4407408"/>
            <a:ext cx="2633472" cy="1207008"/>
          </a:xfrm>
          <a:prstGeom prst="roundRect">
            <a:avLst>
              <a:gd name="adj" fmla="val 16667"/>
            </a:avLst>
          </a:prstGeom>
          <a:solidFill>
            <a:srgbClr val="FDF3DC"/>
          </a:solidFill>
          <a:ln w="19050">
            <a:solidFill>
              <a:srgbClr val="F2B134"/>
            </a:solidFill>
          </a:ln>
          <a:effectLst>
            <a:outerShdw sx="100000" sy="100000" kx="0" ky="0" algn="bl" rotWithShape="0" blurRad="50800" dist="25400" dir="5400000">
              <a:srgbClr val="0F3D3A">
                <a:alpha val="18000"/>
              </a:srgbClr>
            </a:outerShdw>
          </a:effectLst>
        </p:spPr>
        <p:txBody>
          <a:bodyPr wrap="square" lIns="868680" tIns="0" rIns="137160" bIns="0" rtlCol="0" anchor="ctr"/>
          <a:lstStyle/>
          <a:p>
            <a:pPr algn="l" indent="0" marL="0">
              <a:buNone/>
            </a:pPr>
            <a:r>
              <a:rPr lang="en-US" sz="2100" b="1" dirty="0">
                <a:solidFill>
                  <a:srgbClr val="16302E"/>
                </a:solidFill>
                <a:latin typeface="Calibri" pitchFamily="34" charset="0"/>
                <a:ea typeface="Calibri" pitchFamily="34" charset="-122"/>
                <a:cs typeface="Calibri" pitchFamily="34" charset="-120"/>
              </a:rPr>
              <a:t>Recap</a:t>
            </a:r>
            <a:endParaRPr lang="en-US" sz="2100" dirty="0"/>
          </a:p>
        </p:txBody>
      </p:sp>
      <p:sp>
        <p:nvSpPr>
          <p:cNvPr id="31" name="Menu number 44 LINK:recap">
            <a:hlinkClick r:id="rIdJump24" action="ppaction://hlinksldjump"/>
          </p:cNvPr>
          <p:cNvSpPr/>
          <p:nvPr/>
        </p:nvSpPr>
        <p:spPr>
          <a:xfrm>
            <a:off x="9180576" y="4745736"/>
            <a:ext cx="530352" cy="530352"/>
          </a:xfrm>
          <a:prstGeom prst="ellipse">
            <a:avLst/>
          </a:prstGeom>
          <a:solidFill>
            <a:srgbClr val="F2B134"/>
          </a:solidFill>
          <a:ln>
            <a:solidFill>
              <a:srgbClr val="FFFFFF"/>
            </a:solidFill>
          </a:ln>
        </p:spPr>
        <p:txBody>
          <a:bodyPr wrap="square" lIns="0" tIns="0" rIns="0" bIns="0" rtlCol="0" anchor="ctr"/>
          <a:lstStyle/>
          <a:p>
            <a:pPr algn="ctr" indent="0" marL="0">
              <a:buNone/>
            </a:pPr>
            <a:r>
              <a:rPr lang="en-US" sz="1800" b="1" dirty="0">
                <a:solidFill>
                  <a:srgbClr val="16302E"/>
                </a:solidFill>
                <a:latin typeface="Calibri" pitchFamily="34" charset="0"/>
                <a:ea typeface="Calibri" pitchFamily="34" charset="-122"/>
                <a:cs typeface="Calibri" pitchFamily="34" charset="-120"/>
              </a:rPr>
              <a:t>12</a:t>
            </a:r>
            <a:endParaRPr lang="en-US" sz="1800" dirty="0"/>
          </a:p>
        </p:txBody>
      </p:sp>
      <p:sp>
        <p:nvSpPr>
          <p:cNvPr id="32" name="Nav Home 45 LINK:title">
            <a:hlinkClick r:id="rIdJump25" action="ppaction://hlinksldjump"/>
          </p:cNvPr>
          <p:cNvSpPr/>
          <p:nvPr/>
        </p:nvSpPr>
        <p:spPr>
          <a:xfrm>
            <a:off x="548640" y="6236208"/>
            <a:ext cx="1234440" cy="420624"/>
          </a:xfrm>
          <a:prstGeom prst="roundRect">
            <a:avLst>
              <a:gd name="adj" fmla="val 47826"/>
            </a:avLst>
          </a:prstGeom>
          <a:solidFill>
            <a:srgbClr val="16302E"/>
          </a:solidFill>
          <a:ln>
            <a:solidFill>
              <a:srgbClr val="16302E"/>
            </a:solidFill>
          </a:ln>
        </p:spPr>
        <p:txBody>
          <a:bodyPr wrap="square" lIns="365760" tIns="0" rIns="9144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Home</a:t>
            </a:r>
            <a:endParaRPr lang="en-US" sz="1500" dirty="0"/>
          </a:p>
        </p:txBody>
      </p:sp>
      <p:pic>
        <p:nvPicPr>
          <p:cNvPr id="33" name="Button icon 46 LINK:title" descr="preencoded.png">
            <a:hlinkClick r:id="rIdJump26" action="ppaction://hlinksldjump"/>
          </p:cNvPr>
          <p:cNvPicPr>
            <a:picLocks noChangeAspect="1"/>
          </p:cNvPicPr>
          <p:nvPr/>
        </p:nvPicPr>
        <p:blipFill>
          <a:blip r:embed="rId1"/>
          <a:stretch>
            <a:fillRect/>
          </a:stretch>
        </p:blipFill>
        <p:spPr>
          <a:xfrm>
            <a:off x="749808" y="6336792"/>
            <a:ext cx="219456" cy="219456"/>
          </a:xfrm>
          <a:prstGeom prst="rect">
            <a:avLst/>
          </a:prstGeom>
        </p:spPr>
      </p:pic>
      <p:sp>
        <p:nvSpPr>
          <p:cNvPr id="34" name="Nav Menu 47 LINK:menu">
            <a:hlinkClick r:id="rIdJump27" action="ppaction://hlinksldjump"/>
          </p:cNvPr>
          <p:cNvSpPr/>
          <p:nvPr/>
        </p:nvSpPr>
        <p:spPr>
          <a:xfrm>
            <a:off x="1901952" y="6236208"/>
            <a:ext cx="1005840" cy="420624"/>
          </a:xfrm>
          <a:prstGeom prst="roundRect">
            <a:avLst>
              <a:gd name="adj" fmla="val 47826"/>
            </a:avLst>
          </a:prstGeom>
          <a:solidFill>
            <a:srgbClr val="FFFFFF"/>
          </a:solidFill>
          <a:ln w="19050">
            <a:solidFill>
              <a:srgbClr val="16302E"/>
            </a:solidFill>
          </a:ln>
        </p:spPr>
        <p:txBody>
          <a:bodyPr wrap="square" lIns="109728" tIns="0" rIns="109728" bIns="0" rtlCol="0" anchor="ctr"/>
          <a:lstStyle/>
          <a:p>
            <a:pPr algn="ctr" indent="0" marL="0">
              <a:buNone/>
            </a:pPr>
            <a:r>
              <a:rPr lang="en-US" sz="1500" b="1" dirty="0">
                <a:solidFill>
                  <a:srgbClr val="16302E"/>
                </a:solidFill>
                <a:latin typeface="Calibri" pitchFamily="34" charset="0"/>
                <a:ea typeface="Calibri" pitchFamily="34" charset="-122"/>
                <a:cs typeface="Calibri" pitchFamily="34" charset="-120"/>
              </a:rPr>
              <a:t>Menu</a:t>
            </a:r>
            <a:endParaRPr lang="en-US" sz="1500" dirty="0"/>
          </a:p>
        </p:txBody>
      </p:sp>
      <p:sp>
        <p:nvSpPr>
          <p:cNvPr id="35" name="Slide counter 48"/>
          <p:cNvSpPr txBox="1"/>
          <p:nvPr/>
        </p:nvSpPr>
        <p:spPr>
          <a:xfrm>
            <a:off x="5184648" y="6236208"/>
            <a:ext cx="1828800" cy="420624"/>
          </a:xfrm>
          <a:prstGeom prst="rect">
            <a:avLst/>
          </a:prstGeom>
          <a:noFill/>
          <a:ln/>
        </p:spPr>
        <p:txBody>
          <a:bodyPr wrap="square" lIns="0" tIns="0" rIns="0" bIns="0" rtlCol="0" anchor="ctr"/>
          <a:lstStyle/>
          <a:p>
            <a:pPr algn="ctr" indent="0" marL="0">
              <a:buNone/>
            </a:pPr>
            <a:r>
              <a:rPr lang="en-US" sz="1400" dirty="0">
                <a:solidFill>
                  <a:srgbClr val="5D7774"/>
                </a:solidFill>
                <a:latin typeface="Calibri" pitchFamily="34" charset="0"/>
                <a:ea typeface="Calibri" pitchFamily="34" charset="-122"/>
                <a:cs typeface="Calibri" pitchFamily="34" charset="-120"/>
              </a:rPr>
              <a:t>2 / 18</a:t>
            </a:r>
            <a:endParaRPr lang="en-US" sz="1400" dirty="0"/>
          </a:p>
        </p:txBody>
      </p:sp>
      <p:sp>
        <p:nvSpPr>
          <p:cNvPr id="36" name="Nav Back 49 LINK:title">
            <a:hlinkClick r:id="rIdJump28" action="ppaction://hlinksldjump"/>
          </p:cNvPr>
          <p:cNvSpPr/>
          <p:nvPr/>
        </p:nvSpPr>
        <p:spPr>
          <a:xfrm>
            <a:off x="9052560" y="6236208"/>
            <a:ext cx="1234440" cy="420624"/>
          </a:xfrm>
          <a:prstGeom prst="roundRect">
            <a:avLst>
              <a:gd name="adj" fmla="val 47826"/>
            </a:avLst>
          </a:prstGeom>
          <a:solidFill>
            <a:srgbClr val="FFFFFF"/>
          </a:solidFill>
          <a:ln w="19050">
            <a:solidFill>
              <a:srgbClr val="1D7A6E"/>
            </a:solidFill>
          </a:ln>
        </p:spPr>
        <p:txBody>
          <a:bodyPr wrap="square" lIns="109728" tIns="0" rIns="109728" bIns="0" rtlCol="0" anchor="ctr"/>
          <a:lstStyle/>
          <a:p>
            <a:pPr algn="ctr" indent="0" marL="0">
              <a:buNone/>
            </a:pPr>
            <a:r>
              <a:rPr lang="en-US" sz="1500" b="1" dirty="0">
                <a:solidFill>
                  <a:srgbClr val="1D7A6E"/>
                </a:solidFill>
                <a:latin typeface="Calibri" pitchFamily="34" charset="0"/>
                <a:ea typeface="Calibri" pitchFamily="34" charset="-122"/>
                <a:cs typeface="Calibri" pitchFamily="34" charset="-120"/>
              </a:rPr>
              <a:t>‹  Back</a:t>
            </a:r>
            <a:endParaRPr lang="en-US" sz="1500" dirty="0"/>
          </a:p>
        </p:txBody>
      </p:sp>
      <p:sp>
        <p:nvSpPr>
          <p:cNvPr id="37" name="Nav Next 50 LINK:goals">
            <a:hlinkClick r:id="rIdJump29" action="ppaction://hlinksldjump"/>
          </p:cNvPr>
          <p:cNvSpPr/>
          <p:nvPr/>
        </p:nvSpPr>
        <p:spPr>
          <a:xfrm>
            <a:off x="10405872" y="6236208"/>
            <a:ext cx="1234440" cy="420624"/>
          </a:xfrm>
          <a:prstGeom prst="roundRect">
            <a:avLst>
              <a:gd name="adj" fmla="val 47826"/>
            </a:avLst>
          </a:prstGeom>
          <a:solidFill>
            <a:srgbClr val="1D7A6E"/>
          </a:solidFill>
          <a:ln>
            <a:solidFill>
              <a:srgbClr val="1D7A6E"/>
            </a:solidFill>
          </a:ln>
        </p:spPr>
        <p:txBody>
          <a:bodyPr wrap="square" lIns="109728" tIns="0" rIns="109728"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Next  ›</a:t>
            </a:r>
            <a:endParaRPr lang="en-US" sz="1500" dirty="0"/>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Kicker 51"/>
          <p:cNvSpPr txBox="1"/>
          <p:nvPr/>
        </p:nvSpPr>
        <p:spPr>
          <a:xfrm>
            <a:off x="548640" y="329184"/>
            <a:ext cx="7315200" cy="292608"/>
          </a:xfrm>
          <a:prstGeom prst="rect">
            <a:avLst/>
          </a:prstGeom>
          <a:noFill/>
          <a:ln/>
        </p:spPr>
        <p:txBody>
          <a:bodyPr wrap="square" lIns="0" tIns="0" rIns="0" bIns="0" rtlCol="0" anchor="t"/>
          <a:lstStyle/>
          <a:p>
            <a:pPr indent="0" marL="0">
              <a:buNone/>
            </a:pPr>
            <a:r>
              <a:rPr lang="en-US" sz="1400" b="1" spc="300" kern="0" dirty="0">
                <a:solidFill>
                  <a:srgbClr val="1D7A6E"/>
                </a:solidFill>
                <a:latin typeface="Calibri" pitchFamily="34" charset="0"/>
                <a:ea typeface="Calibri" pitchFamily="34" charset="-122"/>
                <a:cs typeface="Calibri" pitchFamily="34" charset="-120"/>
              </a:rPr>
              <a:t>LEARNING GOALS</a:t>
            </a:r>
            <a:endParaRPr lang="en-US" sz="1400" dirty="0"/>
          </a:p>
        </p:txBody>
      </p:sp>
      <p:sp>
        <p:nvSpPr>
          <p:cNvPr id="3" name="Text 0"/>
          <p:cNvSpPr/>
          <p:nvPr>
            <p:ph idx="100" type="title" hasCustomPrompt="1"/>
          </p:nvPr>
        </p:nvSpPr>
        <p:spPr>
          <a:xfrm>
            <a:off x="548640" y="658368"/>
            <a:ext cx="9052560" cy="731520"/>
          </a:xfrm>
          <a:prstGeom prst="rect">
            <a:avLst/>
          </a:prstGeom>
          <a:noFill/>
          <a:ln/>
        </p:spPr>
        <p:txBody>
          <a:bodyPr wrap="square" lIns="0" tIns="0" rIns="0" bIns="0" rtlCol="0" anchor="t"/>
          <a:lstStyle/>
          <a:p>
            <a:pPr algn="l" indent="0" marL="0">
              <a:buNone/>
            </a:pPr>
            <a:r>
              <a:rPr lang="en-US" sz="3600" b="1" dirty="0">
                <a:solidFill>
                  <a:srgbClr val="16302E"/>
                </a:solidFill>
                <a:latin typeface="Calibri" pitchFamily="34" charset="0"/>
                <a:ea typeface="Calibri" pitchFamily="34" charset="-122"/>
                <a:cs typeface="Calibri" pitchFamily="34" charset="-120"/>
              </a:rPr>
              <a:t>By the end you can…</a:t>
            </a:r>
            <a:endParaRPr lang="en-US" sz="3600" dirty="0"/>
          </a:p>
        </p:txBody>
      </p:sp>
      <p:sp>
        <p:nvSpPr>
          <p:cNvPr id="4" name="Route chip 52"/>
          <p:cNvSpPr/>
          <p:nvPr/>
        </p:nvSpPr>
        <p:spPr>
          <a:xfrm>
            <a:off x="10012680" y="365760"/>
            <a:ext cx="1627632" cy="384048"/>
          </a:xfrm>
          <a:prstGeom prst="roundRect">
            <a:avLst>
              <a:gd name="adj" fmla="val 47619"/>
            </a:avLst>
          </a:prstGeom>
          <a:solidFill>
            <a:srgbClr val="1D7A6E"/>
          </a:solidFill>
          <a:ln>
            <a:solidFill>
              <a:srgbClr val="1D7A6E"/>
            </a:solidFill>
          </a:ln>
        </p:spPr>
        <p:txBody>
          <a:bodyPr wrap="square" lIns="0" tIns="0" rIns="0" bIns="0" rtlCol="0" anchor="ctr"/>
          <a:lstStyle/>
          <a:p>
            <a:pPr algn="ctr" indent="0" marL="0">
              <a:buNone/>
            </a:pPr>
            <a:r>
              <a:rPr lang="en-US" sz="1300" b="1" spc="200" kern="0" dirty="0">
                <a:solidFill>
                  <a:srgbClr val="FFFFFF"/>
                </a:solidFill>
                <a:latin typeface="Calibri" pitchFamily="34" charset="0"/>
                <a:ea typeface="Calibri" pitchFamily="34" charset="-122"/>
                <a:cs typeface="Calibri" pitchFamily="34" charset="-120"/>
              </a:rPr>
              <a:t>GUIDED</a:t>
            </a:r>
            <a:endParaRPr lang="en-US" sz="1300" dirty="0"/>
          </a:p>
        </p:txBody>
      </p:sp>
      <p:sp>
        <p:nvSpPr>
          <p:cNvPr id="5" name="Card 53"/>
          <p:cNvSpPr/>
          <p:nvPr/>
        </p:nvSpPr>
        <p:spPr>
          <a:xfrm>
            <a:off x="548640" y="1600200"/>
            <a:ext cx="3511296" cy="2788920"/>
          </a:xfrm>
          <a:prstGeom prst="roundRect">
            <a:avLst>
              <a:gd name="adj" fmla="val 5902"/>
            </a:avLst>
          </a:prstGeom>
          <a:solidFill>
            <a:srgbClr val="FFFFFF"/>
          </a:solidFill>
          <a:ln w="12700">
            <a:solidFill>
              <a:srgbClr val="D5E5E0"/>
            </a:solidFill>
            <a:prstDash val="solid"/>
          </a:ln>
          <a:effectLst>
            <a:outerShdw sx="100000" sy="100000" kx="0" ky="0" algn="bl" rotWithShape="0" blurRad="101600" dist="25400" dir="5400000">
              <a:srgbClr val="0F3D3A">
                <a:alpha val="10000"/>
              </a:srgbClr>
            </a:outerShdw>
          </a:effectLst>
        </p:spPr>
      </p:sp>
      <p:sp>
        <p:nvSpPr>
          <p:cNvPr id="6" name="Goal circle 54"/>
          <p:cNvSpPr/>
          <p:nvPr/>
        </p:nvSpPr>
        <p:spPr>
          <a:xfrm>
            <a:off x="822960" y="1828800"/>
            <a:ext cx="731520" cy="731520"/>
          </a:xfrm>
          <a:prstGeom prst="ellipse">
            <a:avLst/>
          </a:prstGeom>
          <a:solidFill>
            <a:srgbClr val="1D7A6E"/>
          </a:solidFill>
          <a:ln w="12700">
            <a:solidFill>
              <a:srgbClr val="1D7A6E"/>
            </a:solidFill>
            <a:prstDash val="solid"/>
          </a:ln>
        </p:spPr>
      </p:sp>
      <p:pic>
        <p:nvPicPr>
          <p:cNvPr id="7" name="Goal glyph 55" descr="preencoded.png">    </p:cNvPr>
          <p:cNvPicPr>
            <a:picLocks noChangeAspect="1"/>
          </p:cNvPicPr>
          <p:nvPr/>
        </p:nvPicPr>
        <p:blipFill>
          <a:blip r:embed="rId1"/>
          <a:stretch>
            <a:fillRect/>
          </a:stretch>
        </p:blipFill>
        <p:spPr>
          <a:xfrm>
            <a:off x="1005840" y="2011680"/>
            <a:ext cx="365760" cy="365760"/>
          </a:xfrm>
          <a:prstGeom prst="rect">
            <a:avLst/>
          </a:prstGeom>
        </p:spPr>
      </p:pic>
      <p:sp>
        <p:nvSpPr>
          <p:cNvPr id="8" name="Goal head 56"/>
          <p:cNvSpPr txBox="1"/>
          <p:nvPr/>
        </p:nvSpPr>
        <p:spPr>
          <a:xfrm>
            <a:off x="1691640" y="1947672"/>
            <a:ext cx="2185416" cy="502920"/>
          </a:xfrm>
          <a:prstGeom prst="rect">
            <a:avLst/>
          </a:prstGeom>
          <a:noFill/>
          <a:ln/>
        </p:spPr>
        <p:txBody>
          <a:bodyPr wrap="square" lIns="0" tIns="0" rIns="0" bIns="0" rtlCol="0" anchor="t"/>
          <a:lstStyle/>
          <a:p>
            <a:pPr indent="0" marL="0">
              <a:buNone/>
            </a:pPr>
            <a:r>
              <a:rPr lang="en-US" sz="2600" b="1" dirty="0">
                <a:solidFill>
                  <a:srgbClr val="16302E"/>
                </a:solidFill>
                <a:latin typeface="Calibri" pitchFamily="34" charset="0"/>
                <a:ea typeface="Calibri" pitchFamily="34" charset="-122"/>
                <a:cs typeface="Calibri" pitchFamily="34" charset="-120"/>
              </a:rPr>
              <a:t>Recognise</a:t>
            </a:r>
            <a:endParaRPr lang="en-US" sz="2600" dirty="0"/>
          </a:p>
        </p:txBody>
      </p:sp>
      <p:sp>
        <p:nvSpPr>
          <p:cNvPr id="9" name="Goal text 57"/>
          <p:cNvSpPr txBox="1"/>
          <p:nvPr/>
        </p:nvSpPr>
        <p:spPr>
          <a:xfrm>
            <a:off x="822960" y="2743200"/>
            <a:ext cx="2962656" cy="1508760"/>
          </a:xfrm>
          <a:prstGeom prst="rect">
            <a:avLst/>
          </a:prstGeom>
          <a:noFill/>
          <a:ln/>
        </p:spPr>
        <p:txBody>
          <a:bodyPr wrap="square" lIns="0" tIns="0" rIns="0" bIns="0" rtlCol="0" anchor="t"/>
          <a:lstStyle/>
          <a:p>
            <a:pPr indent="0" marL="0">
              <a:buNone/>
            </a:pPr>
            <a:r>
              <a:rPr lang="en-US" sz="2200" dirty="0">
                <a:solidFill>
                  <a:srgbClr val="2C4744"/>
                </a:solidFill>
                <a:latin typeface="Calibri" pitchFamily="34" charset="0"/>
                <a:ea typeface="Calibri" pitchFamily="34" charset="-122"/>
                <a:cs typeface="Calibri" pitchFamily="34" charset="-120"/>
              </a:rPr>
              <a:t>Spot a noon or meem carrying shaddah in the Mushaf.</a:t>
            </a:r>
            <a:endParaRPr lang="en-US" sz="2200" dirty="0"/>
          </a:p>
        </p:txBody>
      </p:sp>
      <p:sp>
        <p:nvSpPr>
          <p:cNvPr id="10" name="Card 58"/>
          <p:cNvSpPr/>
          <p:nvPr/>
        </p:nvSpPr>
        <p:spPr>
          <a:xfrm>
            <a:off x="4338828" y="1600200"/>
            <a:ext cx="3511296" cy="2788920"/>
          </a:xfrm>
          <a:prstGeom prst="roundRect">
            <a:avLst>
              <a:gd name="adj" fmla="val 5902"/>
            </a:avLst>
          </a:prstGeom>
          <a:solidFill>
            <a:srgbClr val="FFFFFF"/>
          </a:solidFill>
          <a:ln w="12700">
            <a:solidFill>
              <a:srgbClr val="D5E5E0"/>
            </a:solidFill>
            <a:prstDash val="solid"/>
          </a:ln>
          <a:effectLst>
            <a:outerShdw sx="100000" sy="100000" kx="0" ky="0" algn="bl" rotWithShape="0" blurRad="101600" dist="25400" dir="5400000">
              <a:srgbClr val="0F3D3A">
                <a:alpha val="10000"/>
              </a:srgbClr>
            </a:outerShdw>
          </a:effectLst>
        </p:spPr>
      </p:sp>
      <p:sp>
        <p:nvSpPr>
          <p:cNvPr id="11" name="Goal circle 59"/>
          <p:cNvSpPr/>
          <p:nvPr/>
        </p:nvSpPr>
        <p:spPr>
          <a:xfrm>
            <a:off x="4613148" y="1828800"/>
            <a:ext cx="731520" cy="731520"/>
          </a:xfrm>
          <a:prstGeom prst="ellipse">
            <a:avLst/>
          </a:prstGeom>
          <a:solidFill>
            <a:srgbClr val="B9770E"/>
          </a:solidFill>
          <a:ln w="12700">
            <a:solidFill>
              <a:srgbClr val="B9770E"/>
            </a:solidFill>
            <a:prstDash val="solid"/>
          </a:ln>
        </p:spPr>
      </p:sp>
      <p:pic>
        <p:nvPicPr>
          <p:cNvPr id="12" name="Goal glyph 60" descr="preencoded.png">    </p:cNvPr>
          <p:cNvPicPr>
            <a:picLocks noChangeAspect="1"/>
          </p:cNvPicPr>
          <p:nvPr/>
        </p:nvPicPr>
        <p:blipFill>
          <a:blip r:embed="rId2"/>
          <a:stretch>
            <a:fillRect/>
          </a:stretch>
        </p:blipFill>
        <p:spPr>
          <a:xfrm>
            <a:off x="4796028" y="2011680"/>
            <a:ext cx="365760" cy="365760"/>
          </a:xfrm>
          <a:prstGeom prst="rect">
            <a:avLst/>
          </a:prstGeom>
        </p:spPr>
      </p:pic>
      <p:sp>
        <p:nvSpPr>
          <p:cNvPr id="13" name="Goal head 61"/>
          <p:cNvSpPr txBox="1"/>
          <p:nvPr/>
        </p:nvSpPr>
        <p:spPr>
          <a:xfrm>
            <a:off x="5481828" y="1947672"/>
            <a:ext cx="2185416" cy="502920"/>
          </a:xfrm>
          <a:prstGeom prst="rect">
            <a:avLst/>
          </a:prstGeom>
          <a:noFill/>
          <a:ln/>
        </p:spPr>
        <p:txBody>
          <a:bodyPr wrap="square" lIns="0" tIns="0" rIns="0" bIns="0" rtlCol="0" anchor="t"/>
          <a:lstStyle/>
          <a:p>
            <a:pPr indent="0" marL="0">
              <a:buNone/>
            </a:pPr>
            <a:r>
              <a:rPr lang="en-US" sz="2600" b="1" dirty="0">
                <a:solidFill>
                  <a:srgbClr val="16302E"/>
                </a:solidFill>
                <a:latin typeface="Calibri" pitchFamily="34" charset="0"/>
                <a:ea typeface="Calibri" pitchFamily="34" charset="-122"/>
                <a:cs typeface="Calibri" pitchFamily="34" charset="-120"/>
              </a:rPr>
              <a:t>Apply</a:t>
            </a:r>
            <a:endParaRPr lang="en-US" sz="2600" dirty="0"/>
          </a:p>
        </p:txBody>
      </p:sp>
      <p:sp>
        <p:nvSpPr>
          <p:cNvPr id="14" name="Goal text 62"/>
          <p:cNvSpPr txBox="1"/>
          <p:nvPr/>
        </p:nvSpPr>
        <p:spPr>
          <a:xfrm>
            <a:off x="4613148" y="2743200"/>
            <a:ext cx="2962656" cy="1508760"/>
          </a:xfrm>
          <a:prstGeom prst="rect">
            <a:avLst/>
          </a:prstGeom>
          <a:noFill/>
          <a:ln/>
        </p:spPr>
        <p:txBody>
          <a:bodyPr wrap="square" lIns="0" tIns="0" rIns="0" bIns="0" rtlCol="0" anchor="t"/>
          <a:lstStyle/>
          <a:p>
            <a:pPr indent="0" marL="0">
              <a:buNone/>
            </a:pPr>
            <a:r>
              <a:rPr lang="en-US" sz="2200" dirty="0">
                <a:solidFill>
                  <a:srgbClr val="2C4744"/>
                </a:solidFill>
                <a:latin typeface="Calibri" pitchFamily="34" charset="0"/>
                <a:ea typeface="Calibri" pitchFamily="34" charset="-122"/>
                <a:cs typeface="Calibri" pitchFamily="34" charset="-120"/>
              </a:rPr>
              <a:t>Read it with a two-count ghunnah, and tell it apart from a plain noon.</a:t>
            </a:r>
            <a:endParaRPr lang="en-US" sz="2200" dirty="0"/>
          </a:p>
        </p:txBody>
      </p:sp>
      <p:sp>
        <p:nvSpPr>
          <p:cNvPr id="15" name="Card 63"/>
          <p:cNvSpPr/>
          <p:nvPr/>
        </p:nvSpPr>
        <p:spPr>
          <a:xfrm>
            <a:off x="8129016" y="1600200"/>
            <a:ext cx="3511296" cy="2788920"/>
          </a:xfrm>
          <a:prstGeom prst="roundRect">
            <a:avLst>
              <a:gd name="adj" fmla="val 5902"/>
            </a:avLst>
          </a:prstGeom>
          <a:solidFill>
            <a:srgbClr val="FFFFFF"/>
          </a:solidFill>
          <a:ln w="12700">
            <a:solidFill>
              <a:srgbClr val="D5E5E0"/>
            </a:solidFill>
            <a:prstDash val="solid"/>
          </a:ln>
          <a:effectLst>
            <a:outerShdw sx="100000" sy="100000" kx="0" ky="0" algn="bl" rotWithShape="0" blurRad="101600" dist="25400" dir="5400000">
              <a:srgbClr val="0F3D3A">
                <a:alpha val="10000"/>
              </a:srgbClr>
            </a:outerShdw>
          </a:effectLst>
        </p:spPr>
      </p:sp>
      <p:sp>
        <p:nvSpPr>
          <p:cNvPr id="16" name="Goal circle 64"/>
          <p:cNvSpPr/>
          <p:nvPr/>
        </p:nvSpPr>
        <p:spPr>
          <a:xfrm>
            <a:off x="8403336" y="1828800"/>
            <a:ext cx="731520" cy="731520"/>
          </a:xfrm>
          <a:prstGeom prst="ellipse">
            <a:avLst/>
          </a:prstGeom>
          <a:solidFill>
            <a:srgbClr val="16302E"/>
          </a:solidFill>
          <a:ln w="12700">
            <a:solidFill>
              <a:srgbClr val="16302E"/>
            </a:solidFill>
            <a:prstDash val="solid"/>
          </a:ln>
        </p:spPr>
      </p:sp>
      <p:pic>
        <p:nvPicPr>
          <p:cNvPr id="17" name="Goal glyph 65" descr="preencoded.png">    </p:cNvPr>
          <p:cNvPicPr>
            <a:picLocks noChangeAspect="1"/>
          </p:cNvPicPr>
          <p:nvPr/>
        </p:nvPicPr>
        <p:blipFill>
          <a:blip r:embed="rId3"/>
          <a:stretch>
            <a:fillRect/>
          </a:stretch>
        </p:blipFill>
        <p:spPr>
          <a:xfrm>
            <a:off x="8586216" y="2011680"/>
            <a:ext cx="365760" cy="365760"/>
          </a:xfrm>
          <a:prstGeom prst="rect">
            <a:avLst/>
          </a:prstGeom>
        </p:spPr>
      </p:pic>
      <p:sp>
        <p:nvSpPr>
          <p:cNvPr id="18" name="Goal head 66"/>
          <p:cNvSpPr txBox="1"/>
          <p:nvPr/>
        </p:nvSpPr>
        <p:spPr>
          <a:xfrm>
            <a:off x="9272016" y="1947672"/>
            <a:ext cx="2185416" cy="502920"/>
          </a:xfrm>
          <a:prstGeom prst="rect">
            <a:avLst/>
          </a:prstGeom>
          <a:noFill/>
          <a:ln/>
        </p:spPr>
        <p:txBody>
          <a:bodyPr wrap="square" lIns="0" tIns="0" rIns="0" bIns="0" rtlCol="0" anchor="t"/>
          <a:lstStyle/>
          <a:p>
            <a:pPr indent="0" marL="0">
              <a:buNone/>
            </a:pPr>
            <a:r>
              <a:rPr lang="en-US" sz="2600" b="1" dirty="0">
                <a:solidFill>
                  <a:srgbClr val="16302E"/>
                </a:solidFill>
                <a:latin typeface="Calibri" pitchFamily="34" charset="0"/>
                <a:ea typeface="Calibri" pitchFamily="34" charset="-122"/>
                <a:cs typeface="Calibri" pitchFamily="34" charset="-120"/>
              </a:rPr>
              <a:t>Explain</a:t>
            </a:r>
            <a:endParaRPr lang="en-US" sz="2600" dirty="0"/>
          </a:p>
        </p:txBody>
      </p:sp>
      <p:sp>
        <p:nvSpPr>
          <p:cNvPr id="19" name="Goal text 67"/>
          <p:cNvSpPr txBox="1"/>
          <p:nvPr/>
        </p:nvSpPr>
        <p:spPr>
          <a:xfrm>
            <a:off x="8403336" y="2743200"/>
            <a:ext cx="2962656" cy="1508760"/>
          </a:xfrm>
          <a:prstGeom prst="rect">
            <a:avLst/>
          </a:prstGeom>
          <a:noFill/>
          <a:ln/>
        </p:spPr>
        <p:txBody>
          <a:bodyPr wrap="square" lIns="0" tIns="0" rIns="0" bIns="0" rtlCol="0" anchor="t"/>
          <a:lstStyle/>
          <a:p>
            <a:pPr indent="0" marL="0">
              <a:buNone/>
            </a:pPr>
            <a:r>
              <a:rPr lang="en-US" sz="2200" dirty="0">
                <a:solidFill>
                  <a:srgbClr val="2C4744"/>
                </a:solidFill>
                <a:latin typeface="Calibri" pitchFamily="34" charset="0"/>
                <a:ea typeface="Calibri" pitchFamily="34" charset="-122"/>
                <a:cs typeface="Calibri" pitchFamily="34" charset="-120"/>
              </a:rPr>
              <a:t>Explain the timing and correct the common mistake.</a:t>
            </a:r>
            <a:endParaRPr lang="en-US" sz="2200" dirty="0"/>
          </a:p>
        </p:txBody>
      </p:sp>
      <p:sp>
        <p:nvSpPr>
          <p:cNvPr id="20" name="Key words label 68"/>
          <p:cNvSpPr txBox="1"/>
          <p:nvPr/>
        </p:nvSpPr>
        <p:spPr>
          <a:xfrm>
            <a:off x="548640" y="4599432"/>
            <a:ext cx="2743200" cy="329184"/>
          </a:xfrm>
          <a:prstGeom prst="rect">
            <a:avLst/>
          </a:prstGeom>
          <a:noFill/>
          <a:ln/>
        </p:spPr>
        <p:txBody>
          <a:bodyPr wrap="square" lIns="0" tIns="0" rIns="0" bIns="0" rtlCol="0" anchor="t"/>
          <a:lstStyle/>
          <a:p>
            <a:pPr indent="0" marL="0">
              <a:buNone/>
            </a:pPr>
            <a:r>
              <a:rPr lang="en-US" sz="1800" b="1" dirty="0">
                <a:solidFill>
                  <a:srgbClr val="1D7A6E"/>
                </a:solidFill>
                <a:latin typeface="Calibri" pitchFamily="34" charset="0"/>
                <a:ea typeface="Calibri" pitchFamily="34" charset="-122"/>
                <a:cs typeface="Calibri" pitchFamily="34" charset="-120"/>
              </a:rPr>
              <a:t>Key words</a:t>
            </a:r>
            <a:endParaRPr lang="en-US" sz="1800" dirty="0"/>
          </a:p>
        </p:txBody>
      </p:sp>
      <p:sp>
        <p:nvSpPr>
          <p:cNvPr id="21" name="Term chip 69"/>
          <p:cNvSpPr/>
          <p:nvPr/>
        </p:nvSpPr>
        <p:spPr>
          <a:xfrm>
            <a:off x="548640" y="4983480"/>
            <a:ext cx="3511296" cy="987552"/>
          </a:xfrm>
          <a:prstGeom prst="roundRect">
            <a:avLst>
              <a:gd name="adj" fmla="val 16667"/>
            </a:avLst>
          </a:prstGeom>
          <a:solidFill>
            <a:srgbClr val="E2F0EC"/>
          </a:solidFill>
          <a:ln w="12700">
            <a:solidFill>
              <a:srgbClr val="E2F0EC"/>
            </a:solidFill>
            <a:prstDash val="solid"/>
          </a:ln>
        </p:spPr>
      </p:sp>
      <p:sp>
        <p:nvSpPr>
          <p:cNvPr id="22" name="Term mark 70"/>
          <p:cNvSpPr txBox="1"/>
          <p:nvPr/>
        </p:nvSpPr>
        <p:spPr>
          <a:xfrm>
            <a:off x="658368" y="4956048"/>
            <a:ext cx="868680" cy="896112"/>
          </a:xfrm>
          <a:prstGeom prst="rect">
            <a:avLst/>
          </a:prstGeom>
          <a:noFill/>
          <a:ln/>
        </p:spPr>
        <p:txBody>
          <a:bodyPr wrap="square" lIns="0" tIns="0" rIns="0" bIns="0" rtlCol="0" anchor="ctr"/>
          <a:lstStyle/>
          <a:p>
            <a:pPr rtl="1" algn="ctr" indent="0" marL="0">
              <a:buNone/>
            </a:pPr>
            <a:r>
              <a:rPr lang="ar-SA" altLang="en-US" sz="4400" dirty="0">
                <a:solidFill>
                  <a:srgbClr val="0F5148"/>
                </a:solidFill>
                <a:latin typeface="Traditional Arabic" pitchFamily="34" charset="0"/>
                <a:ea typeface="Traditional Arabic" pitchFamily="34" charset="-122"/>
                <a:cs typeface="Traditional Arabic" pitchFamily="34" charset="-120"/>
              </a:rPr>
              <a:t>نّ</a:t>
            </a:r>
            <a:endParaRPr lang="ar-SA" sz="4400" dirty="0"/>
          </a:p>
        </p:txBody>
      </p:sp>
      <p:sp>
        <p:nvSpPr>
          <p:cNvPr id="23" name="Term text 71"/>
          <p:cNvSpPr txBox="1"/>
          <p:nvPr/>
        </p:nvSpPr>
        <p:spPr>
          <a:xfrm>
            <a:off x="1572768" y="5074920"/>
            <a:ext cx="2368296" cy="822960"/>
          </a:xfrm>
          <a:prstGeom prst="rect">
            <a:avLst/>
          </a:prstGeom>
          <a:noFill/>
          <a:ln/>
        </p:spPr>
        <p:txBody>
          <a:bodyPr wrap="square" lIns="0" tIns="0" rIns="0" bIns="0" rtlCol="0" anchor="ctr"/>
          <a:lstStyle/>
          <a:p>
            <a:pPr indent="0" marL="0">
              <a:buNone/>
            </a:pPr>
            <a:r>
              <a:rPr lang="en-US" sz="1900" b="1" dirty="0">
                <a:solidFill>
                  <a:srgbClr val="16302E"/>
                </a:solidFill>
                <a:latin typeface="Calibri" pitchFamily="34" charset="0"/>
                <a:ea typeface="Calibri" pitchFamily="34" charset="-122"/>
                <a:cs typeface="Calibri" pitchFamily="34" charset="-120"/>
              </a:rPr>
              <a:t>Shaddah</a:t>
            </a:r>
            <a:endParaRPr lang="en-US" sz="1900" dirty="0"/>
          </a:p>
          <a:p>
            <a:pPr indent="0" marL="0">
              <a:buNone/>
            </a:pPr>
            <a:r>
              <a:rPr lang="en-US" sz="1900" dirty="0">
                <a:solidFill>
                  <a:srgbClr val="16302E"/>
                </a:solidFill>
                <a:latin typeface="Calibri" pitchFamily="34" charset="0"/>
                <a:ea typeface="Calibri" pitchFamily="34" charset="-122"/>
                <a:cs typeface="Calibri" pitchFamily="34" charset="-120"/>
              </a:rPr>
              <a:t>doubles a letter</a:t>
            </a:r>
            <a:endParaRPr lang="en-US" sz="1900" dirty="0"/>
          </a:p>
        </p:txBody>
      </p:sp>
      <p:sp>
        <p:nvSpPr>
          <p:cNvPr id="24" name="Term chip 72"/>
          <p:cNvSpPr/>
          <p:nvPr/>
        </p:nvSpPr>
        <p:spPr>
          <a:xfrm>
            <a:off x="4338828" y="4983480"/>
            <a:ext cx="3511296" cy="987552"/>
          </a:xfrm>
          <a:prstGeom prst="roundRect">
            <a:avLst>
              <a:gd name="adj" fmla="val 16667"/>
            </a:avLst>
          </a:prstGeom>
          <a:solidFill>
            <a:srgbClr val="E2F0EC"/>
          </a:solidFill>
          <a:ln w="12700">
            <a:solidFill>
              <a:srgbClr val="E2F0EC"/>
            </a:solidFill>
            <a:prstDash val="solid"/>
          </a:ln>
        </p:spPr>
      </p:sp>
      <p:sp>
        <p:nvSpPr>
          <p:cNvPr id="25" name="Term mark 73"/>
          <p:cNvSpPr txBox="1"/>
          <p:nvPr/>
        </p:nvSpPr>
        <p:spPr>
          <a:xfrm>
            <a:off x="4448556" y="4956048"/>
            <a:ext cx="868680" cy="896112"/>
          </a:xfrm>
          <a:prstGeom prst="rect">
            <a:avLst/>
          </a:prstGeom>
          <a:noFill/>
          <a:ln/>
        </p:spPr>
        <p:txBody>
          <a:bodyPr wrap="square" lIns="0" tIns="0" rIns="0" bIns="0" rtlCol="0" anchor="ctr"/>
          <a:lstStyle/>
          <a:p>
            <a:pPr rtl="1" algn="ctr" indent="0" marL="0">
              <a:buNone/>
            </a:pPr>
            <a:r>
              <a:rPr lang="ar-SA" altLang="en-US" sz="4400" dirty="0">
                <a:solidFill>
                  <a:srgbClr val="0F5148"/>
                </a:solidFill>
                <a:latin typeface="Traditional Arabic" pitchFamily="34" charset="0"/>
                <a:ea typeface="Traditional Arabic" pitchFamily="34" charset="-122"/>
                <a:cs typeface="Traditional Arabic" pitchFamily="34" charset="-120"/>
              </a:rPr>
              <a:t>نْ</a:t>
            </a:r>
            <a:endParaRPr lang="ar-SA" sz="4400" dirty="0"/>
          </a:p>
        </p:txBody>
      </p:sp>
      <p:sp>
        <p:nvSpPr>
          <p:cNvPr id="26" name="Term text 74"/>
          <p:cNvSpPr txBox="1"/>
          <p:nvPr/>
        </p:nvSpPr>
        <p:spPr>
          <a:xfrm>
            <a:off x="5362956" y="5074920"/>
            <a:ext cx="2368296" cy="822960"/>
          </a:xfrm>
          <a:prstGeom prst="rect">
            <a:avLst/>
          </a:prstGeom>
          <a:noFill/>
          <a:ln/>
        </p:spPr>
        <p:txBody>
          <a:bodyPr wrap="square" lIns="0" tIns="0" rIns="0" bIns="0" rtlCol="0" anchor="ctr"/>
          <a:lstStyle/>
          <a:p>
            <a:pPr indent="0" marL="0">
              <a:buNone/>
            </a:pPr>
            <a:r>
              <a:rPr lang="en-US" sz="1900" b="1" dirty="0">
                <a:solidFill>
                  <a:srgbClr val="16302E"/>
                </a:solidFill>
                <a:latin typeface="Calibri" pitchFamily="34" charset="0"/>
                <a:ea typeface="Calibri" pitchFamily="34" charset="-122"/>
                <a:cs typeface="Calibri" pitchFamily="34" charset="-120"/>
              </a:rPr>
              <a:t>Sukoon</a:t>
            </a:r>
            <a:endParaRPr lang="en-US" sz="1900" dirty="0"/>
          </a:p>
          <a:p>
            <a:pPr indent="0" marL="0">
              <a:buNone/>
            </a:pPr>
            <a:r>
              <a:rPr lang="en-US" sz="1900" dirty="0">
                <a:solidFill>
                  <a:srgbClr val="16302E"/>
                </a:solidFill>
                <a:latin typeface="Calibri" pitchFamily="34" charset="0"/>
                <a:ea typeface="Calibri" pitchFamily="34" charset="-122"/>
                <a:cs typeface="Calibri" pitchFamily="34" charset="-120"/>
              </a:rPr>
              <a:t>no vowel: the letter is saakin</a:t>
            </a:r>
            <a:endParaRPr lang="en-US" sz="1900" dirty="0"/>
          </a:p>
        </p:txBody>
      </p:sp>
      <p:sp>
        <p:nvSpPr>
          <p:cNvPr id="27" name="Term chip 75"/>
          <p:cNvSpPr/>
          <p:nvPr/>
        </p:nvSpPr>
        <p:spPr>
          <a:xfrm>
            <a:off x="8129016" y="4983480"/>
            <a:ext cx="3511296" cy="987552"/>
          </a:xfrm>
          <a:prstGeom prst="roundRect">
            <a:avLst>
              <a:gd name="adj" fmla="val 16667"/>
            </a:avLst>
          </a:prstGeom>
          <a:solidFill>
            <a:srgbClr val="E2F0EC"/>
          </a:solidFill>
          <a:ln w="12700">
            <a:solidFill>
              <a:srgbClr val="E2F0EC"/>
            </a:solidFill>
            <a:prstDash val="solid"/>
          </a:ln>
        </p:spPr>
      </p:sp>
      <p:sp>
        <p:nvSpPr>
          <p:cNvPr id="28" name="Term circle 76"/>
          <p:cNvSpPr/>
          <p:nvPr/>
        </p:nvSpPr>
        <p:spPr>
          <a:xfrm>
            <a:off x="8311896" y="5138928"/>
            <a:ext cx="685800" cy="685800"/>
          </a:xfrm>
          <a:prstGeom prst="ellipse">
            <a:avLst/>
          </a:prstGeom>
          <a:solidFill>
            <a:srgbClr val="1D7A6E"/>
          </a:solidFill>
          <a:ln w="12700">
            <a:solidFill>
              <a:srgbClr val="1D7A6E"/>
            </a:solidFill>
            <a:prstDash val="solid"/>
          </a:ln>
        </p:spPr>
      </p:sp>
      <p:pic>
        <p:nvPicPr>
          <p:cNvPr id="29" name="Term glyph 77" descr="preencoded.png">    </p:cNvPr>
          <p:cNvPicPr>
            <a:picLocks noChangeAspect="1"/>
          </p:cNvPicPr>
          <p:nvPr/>
        </p:nvPicPr>
        <p:blipFill>
          <a:blip r:embed="rId4"/>
          <a:stretch>
            <a:fillRect/>
          </a:stretch>
        </p:blipFill>
        <p:spPr>
          <a:xfrm>
            <a:off x="8483346" y="5310378"/>
            <a:ext cx="342900" cy="342900"/>
          </a:xfrm>
          <a:prstGeom prst="rect">
            <a:avLst/>
          </a:prstGeom>
        </p:spPr>
      </p:pic>
      <p:sp>
        <p:nvSpPr>
          <p:cNvPr id="30" name="Term text 78"/>
          <p:cNvSpPr txBox="1"/>
          <p:nvPr/>
        </p:nvSpPr>
        <p:spPr>
          <a:xfrm>
            <a:off x="9153144" y="5074920"/>
            <a:ext cx="2368296" cy="822960"/>
          </a:xfrm>
          <a:prstGeom prst="rect">
            <a:avLst/>
          </a:prstGeom>
          <a:noFill/>
          <a:ln/>
        </p:spPr>
        <p:txBody>
          <a:bodyPr wrap="square" lIns="0" tIns="0" rIns="0" bIns="0" rtlCol="0" anchor="ctr"/>
          <a:lstStyle/>
          <a:p>
            <a:pPr indent="0" marL="0">
              <a:buNone/>
            </a:pPr>
            <a:r>
              <a:rPr lang="en-US" sz="1900" b="1" dirty="0">
                <a:solidFill>
                  <a:srgbClr val="16302E"/>
                </a:solidFill>
                <a:latin typeface="Calibri" pitchFamily="34" charset="0"/>
                <a:ea typeface="Calibri" pitchFamily="34" charset="-122"/>
                <a:cs typeface="Calibri" pitchFamily="34" charset="-120"/>
              </a:rPr>
              <a:t>Ghunnah</a:t>
            </a:r>
            <a:endParaRPr lang="en-US" sz="1900" dirty="0"/>
          </a:p>
          <a:p>
            <a:pPr indent="0" marL="0">
              <a:buNone/>
            </a:pPr>
            <a:r>
              <a:rPr lang="en-US" sz="1900" dirty="0">
                <a:solidFill>
                  <a:srgbClr val="16302E"/>
                </a:solidFill>
                <a:latin typeface="Calibri" pitchFamily="34" charset="0"/>
                <a:ea typeface="Calibri" pitchFamily="34" charset="-122"/>
                <a:cs typeface="Calibri" pitchFamily="34" charset="-120"/>
              </a:rPr>
              <a:t>nasal resonance</a:t>
            </a:r>
            <a:endParaRPr lang="en-US" sz="1900" dirty="0"/>
          </a:p>
        </p:txBody>
      </p:sp>
      <p:sp>
        <p:nvSpPr>
          <p:cNvPr id="31" name="Nav Home 79 LINK:title">
            <a:hlinkClick r:id="rIdJump1" action="ppaction://hlinksldjump"/>
          </p:cNvPr>
          <p:cNvSpPr/>
          <p:nvPr/>
        </p:nvSpPr>
        <p:spPr>
          <a:xfrm>
            <a:off x="548640" y="6236208"/>
            <a:ext cx="1234440" cy="420624"/>
          </a:xfrm>
          <a:prstGeom prst="roundRect">
            <a:avLst>
              <a:gd name="adj" fmla="val 47826"/>
            </a:avLst>
          </a:prstGeom>
          <a:solidFill>
            <a:srgbClr val="16302E"/>
          </a:solidFill>
          <a:ln>
            <a:solidFill>
              <a:srgbClr val="16302E"/>
            </a:solidFill>
          </a:ln>
        </p:spPr>
        <p:txBody>
          <a:bodyPr wrap="square" lIns="365760" tIns="0" rIns="9144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Home</a:t>
            </a:r>
            <a:endParaRPr lang="en-US" sz="1500" dirty="0"/>
          </a:p>
        </p:txBody>
      </p:sp>
      <p:pic>
        <p:nvPicPr>
          <p:cNvPr id="32" name="Button icon 80 LINK:title" descr="preencoded.png">
            <a:hlinkClick r:id="rIdJump2" action="ppaction://hlinksldjump"/>
          </p:cNvPr>
          <p:cNvPicPr>
            <a:picLocks noChangeAspect="1"/>
          </p:cNvPicPr>
          <p:nvPr/>
        </p:nvPicPr>
        <p:blipFill>
          <a:blip r:embed="rId5"/>
          <a:stretch>
            <a:fillRect/>
          </a:stretch>
        </p:blipFill>
        <p:spPr>
          <a:xfrm>
            <a:off x="749808" y="6336792"/>
            <a:ext cx="219456" cy="219456"/>
          </a:xfrm>
          <a:prstGeom prst="rect">
            <a:avLst/>
          </a:prstGeom>
        </p:spPr>
      </p:pic>
      <p:sp>
        <p:nvSpPr>
          <p:cNvPr id="33" name="Nav Menu 81 LINK:menu">
            <a:hlinkClick r:id="rIdJump3" action="ppaction://hlinksldjump"/>
          </p:cNvPr>
          <p:cNvSpPr/>
          <p:nvPr/>
        </p:nvSpPr>
        <p:spPr>
          <a:xfrm>
            <a:off x="1901952" y="6236208"/>
            <a:ext cx="1005840" cy="420624"/>
          </a:xfrm>
          <a:prstGeom prst="roundRect">
            <a:avLst>
              <a:gd name="adj" fmla="val 47826"/>
            </a:avLst>
          </a:prstGeom>
          <a:solidFill>
            <a:srgbClr val="FFFFFF"/>
          </a:solidFill>
          <a:ln w="19050">
            <a:solidFill>
              <a:srgbClr val="16302E"/>
            </a:solidFill>
          </a:ln>
        </p:spPr>
        <p:txBody>
          <a:bodyPr wrap="square" lIns="109728" tIns="0" rIns="109728" bIns="0" rtlCol="0" anchor="ctr"/>
          <a:lstStyle/>
          <a:p>
            <a:pPr algn="ctr" indent="0" marL="0">
              <a:buNone/>
            </a:pPr>
            <a:r>
              <a:rPr lang="en-US" sz="1500" b="1" dirty="0">
                <a:solidFill>
                  <a:srgbClr val="16302E"/>
                </a:solidFill>
                <a:latin typeface="Calibri" pitchFamily="34" charset="0"/>
                <a:ea typeface="Calibri" pitchFamily="34" charset="-122"/>
                <a:cs typeface="Calibri" pitchFamily="34" charset="-120"/>
              </a:rPr>
              <a:t>Menu</a:t>
            </a:r>
            <a:endParaRPr lang="en-US" sz="1500" dirty="0"/>
          </a:p>
        </p:txBody>
      </p:sp>
      <p:sp>
        <p:nvSpPr>
          <p:cNvPr id="34" name="Slide counter 82"/>
          <p:cNvSpPr txBox="1"/>
          <p:nvPr/>
        </p:nvSpPr>
        <p:spPr>
          <a:xfrm>
            <a:off x="5184648" y="6236208"/>
            <a:ext cx="1828800" cy="420624"/>
          </a:xfrm>
          <a:prstGeom prst="rect">
            <a:avLst/>
          </a:prstGeom>
          <a:noFill/>
          <a:ln/>
        </p:spPr>
        <p:txBody>
          <a:bodyPr wrap="square" lIns="0" tIns="0" rIns="0" bIns="0" rtlCol="0" anchor="ctr"/>
          <a:lstStyle/>
          <a:p>
            <a:pPr algn="ctr" indent="0" marL="0">
              <a:buNone/>
            </a:pPr>
            <a:r>
              <a:rPr lang="en-US" sz="1400" dirty="0">
                <a:solidFill>
                  <a:srgbClr val="5D7774"/>
                </a:solidFill>
                <a:latin typeface="Calibri" pitchFamily="34" charset="0"/>
                <a:ea typeface="Calibri" pitchFamily="34" charset="-122"/>
                <a:cs typeface="Calibri" pitchFamily="34" charset="-120"/>
              </a:rPr>
              <a:t>3 / 18</a:t>
            </a:r>
            <a:endParaRPr lang="en-US" sz="1400" dirty="0"/>
          </a:p>
        </p:txBody>
      </p:sp>
      <p:sp>
        <p:nvSpPr>
          <p:cNvPr id="35" name="Nav Back 83 LINK:menu">
            <a:hlinkClick r:id="rIdJump4" action="ppaction://hlinksldjump"/>
          </p:cNvPr>
          <p:cNvSpPr/>
          <p:nvPr/>
        </p:nvSpPr>
        <p:spPr>
          <a:xfrm>
            <a:off x="9052560" y="6236208"/>
            <a:ext cx="1234440" cy="420624"/>
          </a:xfrm>
          <a:prstGeom prst="roundRect">
            <a:avLst>
              <a:gd name="adj" fmla="val 47826"/>
            </a:avLst>
          </a:prstGeom>
          <a:solidFill>
            <a:srgbClr val="FFFFFF"/>
          </a:solidFill>
          <a:ln w="19050">
            <a:solidFill>
              <a:srgbClr val="1D7A6E"/>
            </a:solidFill>
          </a:ln>
        </p:spPr>
        <p:txBody>
          <a:bodyPr wrap="square" lIns="109728" tIns="0" rIns="109728" bIns="0" rtlCol="0" anchor="ctr"/>
          <a:lstStyle/>
          <a:p>
            <a:pPr algn="ctr" indent="0" marL="0">
              <a:buNone/>
            </a:pPr>
            <a:r>
              <a:rPr lang="en-US" sz="1500" b="1" dirty="0">
                <a:solidFill>
                  <a:srgbClr val="1D7A6E"/>
                </a:solidFill>
                <a:latin typeface="Calibri" pitchFamily="34" charset="0"/>
                <a:ea typeface="Calibri" pitchFamily="34" charset="-122"/>
                <a:cs typeface="Calibri" pitchFamily="34" charset="-120"/>
              </a:rPr>
              <a:t>‹  Back</a:t>
            </a:r>
            <a:endParaRPr lang="en-US" sz="1500" dirty="0"/>
          </a:p>
        </p:txBody>
      </p:sp>
      <p:sp>
        <p:nvSpPr>
          <p:cNvPr id="36" name="Nav Next 84 LINK:warm">
            <a:hlinkClick r:id="rIdJump5" action="ppaction://hlinksldjump"/>
          </p:cNvPr>
          <p:cNvSpPr/>
          <p:nvPr/>
        </p:nvSpPr>
        <p:spPr>
          <a:xfrm>
            <a:off x="10405872" y="6236208"/>
            <a:ext cx="1234440" cy="420624"/>
          </a:xfrm>
          <a:prstGeom prst="roundRect">
            <a:avLst>
              <a:gd name="adj" fmla="val 47826"/>
            </a:avLst>
          </a:prstGeom>
          <a:solidFill>
            <a:srgbClr val="1D7A6E"/>
          </a:solidFill>
          <a:ln>
            <a:solidFill>
              <a:srgbClr val="1D7A6E"/>
            </a:solidFill>
          </a:ln>
        </p:spPr>
        <p:txBody>
          <a:bodyPr wrap="square" lIns="109728" tIns="0" rIns="109728"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Next  ›</a:t>
            </a:r>
            <a:endParaRPr lang="en-US" sz="1500" dirty="0"/>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Kicker 85"/>
          <p:cNvSpPr txBox="1"/>
          <p:nvPr/>
        </p:nvSpPr>
        <p:spPr>
          <a:xfrm>
            <a:off x="548640" y="329184"/>
            <a:ext cx="7315200" cy="292608"/>
          </a:xfrm>
          <a:prstGeom prst="rect">
            <a:avLst/>
          </a:prstGeom>
          <a:noFill/>
          <a:ln/>
        </p:spPr>
        <p:txBody>
          <a:bodyPr wrap="square" lIns="0" tIns="0" rIns="0" bIns="0" rtlCol="0" anchor="t"/>
          <a:lstStyle/>
          <a:p>
            <a:pPr indent="0" marL="0">
              <a:buNone/>
            </a:pPr>
            <a:r>
              <a:rPr lang="en-US" sz="1400" b="1" spc="300" kern="0" dirty="0">
                <a:solidFill>
                  <a:srgbClr val="1D7A6E"/>
                </a:solidFill>
                <a:latin typeface="Calibri" pitchFamily="34" charset="0"/>
                <a:ea typeface="Calibri" pitchFamily="34" charset="-122"/>
                <a:cs typeface="Calibri" pitchFamily="34" charset="-120"/>
              </a:rPr>
              <a:t>WARM-UP</a:t>
            </a:r>
            <a:endParaRPr lang="en-US" sz="1400" dirty="0"/>
          </a:p>
        </p:txBody>
      </p:sp>
      <p:sp>
        <p:nvSpPr>
          <p:cNvPr id="3" name="Text 0"/>
          <p:cNvSpPr/>
          <p:nvPr>
            <p:ph idx="100" type="title" hasCustomPrompt="1"/>
          </p:nvPr>
        </p:nvSpPr>
        <p:spPr>
          <a:xfrm>
            <a:off x="548640" y="658368"/>
            <a:ext cx="9052560" cy="731520"/>
          </a:xfrm>
          <a:prstGeom prst="rect">
            <a:avLst/>
          </a:prstGeom>
          <a:noFill/>
          <a:ln/>
        </p:spPr>
        <p:txBody>
          <a:bodyPr wrap="square" lIns="0" tIns="0" rIns="0" bIns="0" rtlCol="0" anchor="t"/>
          <a:lstStyle/>
          <a:p>
            <a:pPr algn="l" indent="0" marL="0">
              <a:buNone/>
            </a:pPr>
            <a:r>
              <a:rPr lang="en-US" sz="3600" b="1" dirty="0">
                <a:solidFill>
                  <a:srgbClr val="16302E"/>
                </a:solidFill>
                <a:latin typeface="Calibri" pitchFamily="34" charset="0"/>
                <a:ea typeface="Calibri" pitchFamily="34" charset="-122"/>
                <a:cs typeface="Calibri" pitchFamily="34" charset="-120"/>
              </a:rPr>
              <a:t>Spot the mark</a:t>
            </a:r>
            <a:endParaRPr lang="en-US" sz="3600" dirty="0"/>
          </a:p>
        </p:txBody>
      </p:sp>
      <p:sp>
        <p:nvSpPr>
          <p:cNvPr id="4" name="Route chip 86"/>
          <p:cNvSpPr/>
          <p:nvPr/>
        </p:nvSpPr>
        <p:spPr>
          <a:xfrm>
            <a:off x="10012680" y="365760"/>
            <a:ext cx="1627632" cy="384048"/>
          </a:xfrm>
          <a:prstGeom prst="roundRect">
            <a:avLst>
              <a:gd name="adj" fmla="val 47619"/>
            </a:avLst>
          </a:prstGeom>
          <a:solidFill>
            <a:srgbClr val="1D7A6E"/>
          </a:solidFill>
          <a:ln>
            <a:solidFill>
              <a:srgbClr val="1D7A6E"/>
            </a:solidFill>
          </a:ln>
        </p:spPr>
        <p:txBody>
          <a:bodyPr wrap="square" lIns="0" tIns="0" rIns="0" bIns="0" rtlCol="0" anchor="ctr"/>
          <a:lstStyle/>
          <a:p>
            <a:pPr algn="ctr" indent="0" marL="0">
              <a:buNone/>
            </a:pPr>
            <a:r>
              <a:rPr lang="en-US" sz="1300" b="1" spc="200" kern="0" dirty="0">
                <a:solidFill>
                  <a:srgbClr val="FFFFFF"/>
                </a:solidFill>
                <a:latin typeface="Calibri" pitchFamily="34" charset="0"/>
                <a:ea typeface="Calibri" pitchFamily="34" charset="-122"/>
                <a:cs typeface="Calibri" pitchFamily="34" charset="-120"/>
              </a:rPr>
              <a:t>GUIDED</a:t>
            </a:r>
            <a:endParaRPr lang="en-US" sz="1300" dirty="0"/>
          </a:p>
        </p:txBody>
      </p:sp>
      <p:sp>
        <p:nvSpPr>
          <p:cNvPr id="5" name="Prompt 87"/>
          <p:cNvSpPr txBox="1"/>
          <p:nvPr/>
        </p:nvSpPr>
        <p:spPr>
          <a:xfrm>
            <a:off x="548640" y="1554480"/>
            <a:ext cx="11094415" cy="502920"/>
          </a:xfrm>
          <a:prstGeom prst="rect">
            <a:avLst/>
          </a:prstGeom>
          <a:noFill/>
          <a:ln/>
        </p:spPr>
        <p:txBody>
          <a:bodyPr wrap="square" lIns="0" tIns="0" rIns="0" bIns="0" rtlCol="0" anchor="t"/>
          <a:lstStyle/>
          <a:p>
            <a:pPr indent="0" marL="0">
              <a:buNone/>
            </a:pPr>
            <a:r>
              <a:rPr lang="en-US" sz="2600" dirty="0">
                <a:solidFill>
                  <a:srgbClr val="16302E"/>
                </a:solidFill>
                <a:latin typeface="Calibri" pitchFamily="34" charset="0"/>
                <a:ea typeface="Calibri" pitchFamily="34" charset="-122"/>
                <a:cs typeface="Calibri" pitchFamily="34" charset="-120"/>
              </a:rPr>
              <a:t>Which of these letters carry a shaddah?</a:t>
            </a:r>
            <a:endParaRPr lang="en-US" sz="2600" dirty="0"/>
          </a:p>
        </p:txBody>
      </p:sp>
      <p:sp>
        <p:nvSpPr>
          <p:cNvPr id="6" name="Card 88"/>
          <p:cNvSpPr/>
          <p:nvPr/>
        </p:nvSpPr>
        <p:spPr>
          <a:xfrm>
            <a:off x="888340" y="2194560"/>
            <a:ext cx="2377440" cy="2377440"/>
          </a:xfrm>
          <a:prstGeom prst="roundRect">
            <a:avLst>
              <a:gd name="adj" fmla="val 6923"/>
            </a:avLst>
          </a:prstGeom>
          <a:solidFill>
            <a:srgbClr val="FFFFFF"/>
          </a:solidFill>
          <a:ln w="12700">
            <a:solidFill>
              <a:srgbClr val="D5E5E0"/>
            </a:solidFill>
            <a:prstDash val="solid"/>
          </a:ln>
          <a:effectLst>
            <a:outerShdw sx="100000" sy="100000" kx="0" ky="0" algn="bl" rotWithShape="0" blurRad="101600" dist="25400" dir="5400000">
              <a:srgbClr val="0F3D3A">
                <a:alpha val="10000"/>
              </a:srgbClr>
            </a:outerShdw>
          </a:effectLst>
        </p:spPr>
      </p:sp>
      <p:sp>
        <p:nvSpPr>
          <p:cNvPr id="7" name="Tile letter 89"/>
          <p:cNvSpPr txBox="1"/>
          <p:nvPr/>
        </p:nvSpPr>
        <p:spPr>
          <a:xfrm>
            <a:off x="888340" y="2331720"/>
            <a:ext cx="2377440" cy="1645920"/>
          </a:xfrm>
          <a:prstGeom prst="rect">
            <a:avLst/>
          </a:prstGeom>
          <a:noFill/>
          <a:ln/>
        </p:spPr>
        <p:txBody>
          <a:bodyPr wrap="square" lIns="0" tIns="0" rIns="0" bIns="0" rtlCol="0" anchor="ctr"/>
          <a:lstStyle/>
          <a:p>
            <a:pPr rtl="1" algn="ctr" indent="0" marL="0">
              <a:buNone/>
            </a:pPr>
            <a:r>
              <a:rPr lang="ar-SA" altLang="en-US" sz="7400" dirty="0">
                <a:solidFill>
                  <a:srgbClr val="16302E"/>
                </a:solidFill>
                <a:latin typeface="Traditional Arabic" pitchFamily="34" charset="0"/>
                <a:ea typeface="Traditional Arabic" pitchFamily="34" charset="-122"/>
                <a:cs typeface="Traditional Arabic" pitchFamily="34" charset="-120"/>
              </a:rPr>
              <a:t>نَ</a:t>
            </a:r>
            <a:endParaRPr lang="ar-SA" sz="7400" dirty="0"/>
          </a:p>
        </p:txBody>
      </p:sp>
      <p:sp>
        <p:nvSpPr>
          <p:cNvPr id="8" name="Tile label 90"/>
          <p:cNvSpPr txBox="1"/>
          <p:nvPr/>
        </p:nvSpPr>
        <p:spPr>
          <a:xfrm>
            <a:off x="888340" y="4160520"/>
            <a:ext cx="2377440" cy="329184"/>
          </a:xfrm>
          <a:prstGeom prst="rect">
            <a:avLst/>
          </a:prstGeom>
          <a:noFill/>
          <a:ln/>
        </p:spPr>
        <p:txBody>
          <a:bodyPr wrap="square" lIns="0" tIns="0" rIns="0" bIns="0" rtlCol="0" anchor="t"/>
          <a:lstStyle/>
          <a:p>
            <a:pPr algn="ctr" indent="0" marL="0">
              <a:buNone/>
            </a:pPr>
            <a:r>
              <a:rPr lang="en-US" sz="1800" b="1" dirty="0">
                <a:solidFill>
                  <a:srgbClr val="5D7774"/>
                </a:solidFill>
                <a:latin typeface="Calibri" pitchFamily="34" charset="0"/>
                <a:ea typeface="Calibri" pitchFamily="34" charset="-122"/>
                <a:cs typeface="Calibri" pitchFamily="34" charset="-120"/>
              </a:rPr>
              <a:t>A</a:t>
            </a:r>
            <a:endParaRPr lang="en-US" sz="1800" dirty="0"/>
          </a:p>
        </p:txBody>
      </p:sp>
      <p:sp>
        <p:nvSpPr>
          <p:cNvPr id="9" name="Card 91"/>
          <p:cNvSpPr/>
          <p:nvPr/>
        </p:nvSpPr>
        <p:spPr>
          <a:xfrm>
            <a:off x="3567532" y="2194560"/>
            <a:ext cx="2377440" cy="2377440"/>
          </a:xfrm>
          <a:prstGeom prst="roundRect">
            <a:avLst>
              <a:gd name="adj" fmla="val 6923"/>
            </a:avLst>
          </a:prstGeom>
          <a:solidFill>
            <a:srgbClr val="FFFFFF"/>
          </a:solidFill>
          <a:ln w="12700">
            <a:solidFill>
              <a:srgbClr val="D5E5E0"/>
            </a:solidFill>
            <a:prstDash val="solid"/>
          </a:ln>
          <a:effectLst>
            <a:outerShdw sx="100000" sy="100000" kx="0" ky="0" algn="bl" rotWithShape="0" blurRad="101600" dist="25400" dir="5400000">
              <a:srgbClr val="0F3D3A">
                <a:alpha val="10000"/>
              </a:srgbClr>
            </a:outerShdw>
          </a:effectLst>
        </p:spPr>
      </p:sp>
      <p:sp>
        <p:nvSpPr>
          <p:cNvPr id="10" name="Tile letter 92"/>
          <p:cNvSpPr txBox="1"/>
          <p:nvPr/>
        </p:nvSpPr>
        <p:spPr>
          <a:xfrm>
            <a:off x="3567532" y="2331720"/>
            <a:ext cx="2377440" cy="1645920"/>
          </a:xfrm>
          <a:prstGeom prst="rect">
            <a:avLst/>
          </a:prstGeom>
          <a:noFill/>
          <a:ln/>
        </p:spPr>
        <p:txBody>
          <a:bodyPr wrap="square" lIns="0" tIns="0" rIns="0" bIns="0" rtlCol="0" anchor="ctr"/>
          <a:lstStyle/>
          <a:p>
            <a:pPr rtl="1" algn="ctr" indent="0" marL="0">
              <a:buNone/>
            </a:pPr>
            <a:r>
              <a:rPr lang="ar-SA" altLang="en-US" sz="7400" dirty="0">
                <a:solidFill>
                  <a:srgbClr val="16302E"/>
                </a:solidFill>
                <a:latin typeface="Traditional Arabic" pitchFamily="34" charset="0"/>
                <a:ea typeface="Traditional Arabic" pitchFamily="34" charset="-122"/>
                <a:cs typeface="Traditional Arabic" pitchFamily="34" charset="-120"/>
              </a:rPr>
              <a:t>نَّ</a:t>
            </a:r>
            <a:endParaRPr lang="ar-SA" sz="7400" dirty="0"/>
          </a:p>
        </p:txBody>
      </p:sp>
      <p:sp>
        <p:nvSpPr>
          <p:cNvPr id="11" name="Tile label 93"/>
          <p:cNvSpPr txBox="1"/>
          <p:nvPr/>
        </p:nvSpPr>
        <p:spPr>
          <a:xfrm>
            <a:off x="3567532" y="4160520"/>
            <a:ext cx="2377440" cy="329184"/>
          </a:xfrm>
          <a:prstGeom prst="rect">
            <a:avLst/>
          </a:prstGeom>
          <a:noFill/>
          <a:ln/>
        </p:spPr>
        <p:txBody>
          <a:bodyPr wrap="square" lIns="0" tIns="0" rIns="0" bIns="0" rtlCol="0" anchor="t"/>
          <a:lstStyle/>
          <a:p>
            <a:pPr algn="ctr" indent="0" marL="0">
              <a:buNone/>
            </a:pPr>
            <a:r>
              <a:rPr lang="en-US" sz="1800" b="1" dirty="0">
                <a:solidFill>
                  <a:srgbClr val="5D7774"/>
                </a:solidFill>
                <a:latin typeface="Calibri" pitchFamily="34" charset="0"/>
                <a:ea typeface="Calibri" pitchFamily="34" charset="-122"/>
                <a:cs typeface="Calibri" pitchFamily="34" charset="-120"/>
              </a:rPr>
              <a:t>B</a:t>
            </a:r>
            <a:endParaRPr lang="en-US" sz="1800" dirty="0"/>
          </a:p>
        </p:txBody>
      </p:sp>
      <p:sp>
        <p:nvSpPr>
          <p:cNvPr id="12" name="Card 94"/>
          <p:cNvSpPr/>
          <p:nvPr/>
        </p:nvSpPr>
        <p:spPr>
          <a:xfrm>
            <a:off x="6246724" y="2194560"/>
            <a:ext cx="2377440" cy="2377440"/>
          </a:xfrm>
          <a:prstGeom prst="roundRect">
            <a:avLst>
              <a:gd name="adj" fmla="val 6923"/>
            </a:avLst>
          </a:prstGeom>
          <a:solidFill>
            <a:srgbClr val="FFFFFF"/>
          </a:solidFill>
          <a:ln w="12700">
            <a:solidFill>
              <a:srgbClr val="D5E5E0"/>
            </a:solidFill>
            <a:prstDash val="solid"/>
          </a:ln>
          <a:effectLst>
            <a:outerShdw sx="100000" sy="100000" kx="0" ky="0" algn="bl" rotWithShape="0" blurRad="101600" dist="25400" dir="5400000">
              <a:srgbClr val="0F3D3A">
                <a:alpha val="10000"/>
              </a:srgbClr>
            </a:outerShdw>
          </a:effectLst>
        </p:spPr>
      </p:sp>
      <p:sp>
        <p:nvSpPr>
          <p:cNvPr id="13" name="Tile letter 95"/>
          <p:cNvSpPr txBox="1"/>
          <p:nvPr/>
        </p:nvSpPr>
        <p:spPr>
          <a:xfrm>
            <a:off x="6246724" y="2331720"/>
            <a:ext cx="2377440" cy="1645920"/>
          </a:xfrm>
          <a:prstGeom prst="rect">
            <a:avLst/>
          </a:prstGeom>
          <a:noFill/>
          <a:ln/>
        </p:spPr>
        <p:txBody>
          <a:bodyPr wrap="square" lIns="0" tIns="0" rIns="0" bIns="0" rtlCol="0" anchor="ctr"/>
          <a:lstStyle/>
          <a:p>
            <a:pPr rtl="1" algn="ctr" indent="0" marL="0">
              <a:buNone/>
            </a:pPr>
            <a:r>
              <a:rPr lang="ar-SA" altLang="en-US" sz="7400" dirty="0">
                <a:solidFill>
                  <a:srgbClr val="16302E"/>
                </a:solidFill>
                <a:latin typeface="Traditional Arabic" pitchFamily="34" charset="0"/>
                <a:ea typeface="Traditional Arabic" pitchFamily="34" charset="-122"/>
                <a:cs typeface="Traditional Arabic" pitchFamily="34" charset="-120"/>
              </a:rPr>
              <a:t>مِ</a:t>
            </a:r>
            <a:endParaRPr lang="ar-SA" sz="7400" dirty="0"/>
          </a:p>
        </p:txBody>
      </p:sp>
      <p:sp>
        <p:nvSpPr>
          <p:cNvPr id="14" name="Tile label 96"/>
          <p:cNvSpPr txBox="1"/>
          <p:nvPr/>
        </p:nvSpPr>
        <p:spPr>
          <a:xfrm>
            <a:off x="6246724" y="4160520"/>
            <a:ext cx="2377440" cy="329184"/>
          </a:xfrm>
          <a:prstGeom prst="rect">
            <a:avLst/>
          </a:prstGeom>
          <a:noFill/>
          <a:ln/>
        </p:spPr>
        <p:txBody>
          <a:bodyPr wrap="square" lIns="0" tIns="0" rIns="0" bIns="0" rtlCol="0" anchor="t"/>
          <a:lstStyle/>
          <a:p>
            <a:pPr algn="ctr" indent="0" marL="0">
              <a:buNone/>
            </a:pPr>
            <a:r>
              <a:rPr lang="en-US" sz="1800" b="1" dirty="0">
                <a:solidFill>
                  <a:srgbClr val="5D7774"/>
                </a:solidFill>
                <a:latin typeface="Calibri" pitchFamily="34" charset="0"/>
                <a:ea typeface="Calibri" pitchFamily="34" charset="-122"/>
                <a:cs typeface="Calibri" pitchFamily="34" charset="-120"/>
              </a:rPr>
              <a:t>C</a:t>
            </a:r>
            <a:endParaRPr lang="en-US" sz="1800" dirty="0"/>
          </a:p>
        </p:txBody>
      </p:sp>
      <p:sp>
        <p:nvSpPr>
          <p:cNvPr id="15" name="Card 97"/>
          <p:cNvSpPr/>
          <p:nvPr/>
        </p:nvSpPr>
        <p:spPr>
          <a:xfrm>
            <a:off x="8925916" y="2194560"/>
            <a:ext cx="2377440" cy="2377440"/>
          </a:xfrm>
          <a:prstGeom prst="roundRect">
            <a:avLst>
              <a:gd name="adj" fmla="val 6923"/>
            </a:avLst>
          </a:prstGeom>
          <a:solidFill>
            <a:srgbClr val="FFFFFF"/>
          </a:solidFill>
          <a:ln w="12700">
            <a:solidFill>
              <a:srgbClr val="D5E5E0"/>
            </a:solidFill>
            <a:prstDash val="solid"/>
          </a:ln>
          <a:effectLst>
            <a:outerShdw sx="100000" sy="100000" kx="0" ky="0" algn="bl" rotWithShape="0" blurRad="101600" dist="25400" dir="5400000">
              <a:srgbClr val="0F3D3A">
                <a:alpha val="10000"/>
              </a:srgbClr>
            </a:outerShdw>
          </a:effectLst>
        </p:spPr>
      </p:sp>
      <p:sp>
        <p:nvSpPr>
          <p:cNvPr id="16" name="Tile letter 98"/>
          <p:cNvSpPr txBox="1"/>
          <p:nvPr/>
        </p:nvSpPr>
        <p:spPr>
          <a:xfrm>
            <a:off x="8925916" y="2331720"/>
            <a:ext cx="2377440" cy="1645920"/>
          </a:xfrm>
          <a:prstGeom prst="rect">
            <a:avLst/>
          </a:prstGeom>
          <a:noFill/>
          <a:ln/>
        </p:spPr>
        <p:txBody>
          <a:bodyPr wrap="square" lIns="0" tIns="0" rIns="0" bIns="0" rtlCol="0" anchor="ctr"/>
          <a:lstStyle/>
          <a:p>
            <a:pPr rtl="1" algn="ctr" indent="0" marL="0">
              <a:buNone/>
            </a:pPr>
            <a:r>
              <a:rPr lang="ar-SA" altLang="en-US" sz="7400" dirty="0">
                <a:solidFill>
                  <a:srgbClr val="16302E"/>
                </a:solidFill>
                <a:latin typeface="Traditional Arabic" pitchFamily="34" charset="0"/>
                <a:ea typeface="Traditional Arabic" pitchFamily="34" charset="-122"/>
                <a:cs typeface="Traditional Arabic" pitchFamily="34" charset="-120"/>
              </a:rPr>
              <a:t>مَّ</a:t>
            </a:r>
            <a:endParaRPr lang="ar-SA" sz="7400" dirty="0"/>
          </a:p>
        </p:txBody>
      </p:sp>
      <p:sp>
        <p:nvSpPr>
          <p:cNvPr id="17" name="Tile label 99"/>
          <p:cNvSpPr txBox="1"/>
          <p:nvPr/>
        </p:nvSpPr>
        <p:spPr>
          <a:xfrm>
            <a:off x="8925916" y="4160520"/>
            <a:ext cx="2377440" cy="329184"/>
          </a:xfrm>
          <a:prstGeom prst="rect">
            <a:avLst/>
          </a:prstGeom>
          <a:noFill/>
          <a:ln/>
        </p:spPr>
        <p:txBody>
          <a:bodyPr wrap="square" lIns="0" tIns="0" rIns="0" bIns="0" rtlCol="0" anchor="t"/>
          <a:lstStyle/>
          <a:p>
            <a:pPr algn="ctr" indent="0" marL="0">
              <a:buNone/>
            </a:pPr>
            <a:r>
              <a:rPr lang="en-US" sz="1800" b="1" dirty="0">
                <a:solidFill>
                  <a:srgbClr val="5D7774"/>
                </a:solidFill>
                <a:latin typeface="Calibri" pitchFamily="34" charset="0"/>
                <a:ea typeface="Calibri" pitchFamily="34" charset="-122"/>
                <a:cs typeface="Calibri" pitchFamily="34" charset="-120"/>
              </a:rPr>
              <a:t>D</a:t>
            </a:r>
            <a:endParaRPr lang="en-US" sz="1800" dirty="0"/>
          </a:p>
        </p:txBody>
      </p:sp>
      <p:sp>
        <p:nvSpPr>
          <p:cNvPr id="18" name="Hint 100"/>
          <p:cNvSpPr txBox="1"/>
          <p:nvPr/>
        </p:nvSpPr>
        <p:spPr>
          <a:xfrm>
            <a:off x="548640" y="4736592"/>
            <a:ext cx="11094415" cy="365760"/>
          </a:xfrm>
          <a:prstGeom prst="rect">
            <a:avLst/>
          </a:prstGeom>
          <a:noFill/>
          <a:ln/>
        </p:spPr>
        <p:txBody>
          <a:bodyPr wrap="square" lIns="0" tIns="0" rIns="0" bIns="0" rtlCol="0" anchor="t"/>
          <a:lstStyle/>
          <a:p>
            <a:pPr algn="ctr" indent="0" marL="0">
              <a:buNone/>
            </a:pPr>
            <a:r>
              <a:rPr lang="en-US" sz="2000" i="1" dirty="0">
                <a:solidFill>
                  <a:srgbClr val="5D7774"/>
                </a:solidFill>
                <a:latin typeface="Calibri" pitchFamily="34" charset="0"/>
                <a:ea typeface="Calibri" pitchFamily="34" charset="-122"/>
                <a:cs typeface="Calibri" pitchFamily="34" charset="-120"/>
              </a:rPr>
              <a:t>Think first, then click Reveal.</a:t>
            </a:r>
            <a:endParaRPr lang="en-US" sz="2000" dirty="0"/>
          </a:p>
        </p:txBody>
      </p:sp>
      <p:sp>
        <p:nvSpPr>
          <p:cNvPr id="19" name="Reveal 101 LINK:warmA">
            <a:hlinkClick r:id="rIdJump1" action="ppaction://hlinksldjump"/>
          </p:cNvPr>
          <p:cNvSpPr/>
          <p:nvPr/>
        </p:nvSpPr>
        <p:spPr>
          <a:xfrm>
            <a:off x="4727448" y="5212080"/>
            <a:ext cx="2743200" cy="658368"/>
          </a:xfrm>
          <a:prstGeom prst="roundRect">
            <a:avLst>
              <a:gd name="adj" fmla="val 30556"/>
            </a:avLst>
          </a:prstGeom>
          <a:solidFill>
            <a:srgbClr val="F6C552"/>
          </a:solidFill>
          <a:ln>
            <a:solidFill>
              <a:srgbClr val="F6C552"/>
            </a:solidFill>
          </a:ln>
          <a:effectLst>
            <a:outerShdw sx="100000" sy="100000" kx="0" ky="0" algn="bl" rotWithShape="0" blurRad="50800" dist="25400" dir="5400000">
              <a:srgbClr val="0F3D3A">
                <a:alpha val="18000"/>
              </a:srgbClr>
            </a:outerShdw>
          </a:effectLst>
        </p:spPr>
        <p:txBody>
          <a:bodyPr wrap="square" lIns="457200" tIns="0" rIns="91440" bIns="0" rtlCol="0" anchor="ctr"/>
          <a:lstStyle/>
          <a:p>
            <a:pPr algn="ctr" indent="0" marL="0">
              <a:buNone/>
            </a:pPr>
            <a:r>
              <a:rPr lang="en-US" sz="2400" b="1" dirty="0">
                <a:solidFill>
                  <a:srgbClr val="16302E"/>
                </a:solidFill>
                <a:latin typeface="Calibri" pitchFamily="34" charset="0"/>
                <a:ea typeface="Calibri" pitchFamily="34" charset="-122"/>
                <a:cs typeface="Calibri" pitchFamily="34" charset="-120"/>
              </a:rPr>
              <a:t>Reveal</a:t>
            </a:r>
            <a:endParaRPr lang="en-US" sz="2400" dirty="0"/>
          </a:p>
        </p:txBody>
      </p:sp>
      <p:pic>
        <p:nvPicPr>
          <p:cNvPr id="20" name="Button icon 102 LINK:warmA" descr="preencoded.png">
            <a:hlinkClick r:id="rIdJump2" action="ppaction://hlinksldjump"/>
          </p:cNvPr>
          <p:cNvPicPr>
            <a:picLocks noChangeAspect="1"/>
          </p:cNvPicPr>
          <p:nvPr/>
        </p:nvPicPr>
        <p:blipFill>
          <a:blip r:embed="rId1"/>
          <a:stretch>
            <a:fillRect/>
          </a:stretch>
        </p:blipFill>
        <p:spPr>
          <a:xfrm>
            <a:off x="5001768" y="5376672"/>
            <a:ext cx="329184" cy="329184"/>
          </a:xfrm>
          <a:prstGeom prst="rect">
            <a:avLst/>
          </a:prstGeom>
        </p:spPr>
      </p:pic>
      <p:sp>
        <p:nvSpPr>
          <p:cNvPr id="21" name="Nav Home 103 LINK:title">
            <a:hlinkClick r:id="rIdJump3" action="ppaction://hlinksldjump"/>
          </p:cNvPr>
          <p:cNvSpPr/>
          <p:nvPr/>
        </p:nvSpPr>
        <p:spPr>
          <a:xfrm>
            <a:off x="548640" y="6236208"/>
            <a:ext cx="1234440" cy="420624"/>
          </a:xfrm>
          <a:prstGeom prst="roundRect">
            <a:avLst>
              <a:gd name="adj" fmla="val 47826"/>
            </a:avLst>
          </a:prstGeom>
          <a:solidFill>
            <a:srgbClr val="16302E"/>
          </a:solidFill>
          <a:ln>
            <a:solidFill>
              <a:srgbClr val="16302E"/>
            </a:solidFill>
          </a:ln>
        </p:spPr>
        <p:txBody>
          <a:bodyPr wrap="square" lIns="365760" tIns="0" rIns="9144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Home</a:t>
            </a:r>
            <a:endParaRPr lang="en-US" sz="1500" dirty="0"/>
          </a:p>
        </p:txBody>
      </p:sp>
      <p:pic>
        <p:nvPicPr>
          <p:cNvPr id="22" name="Button icon 104 LINK:title" descr="preencoded.png">
            <a:hlinkClick r:id="rIdJump4" action="ppaction://hlinksldjump"/>
          </p:cNvPr>
          <p:cNvPicPr>
            <a:picLocks noChangeAspect="1"/>
          </p:cNvPicPr>
          <p:nvPr/>
        </p:nvPicPr>
        <p:blipFill>
          <a:blip r:embed="rId2"/>
          <a:stretch>
            <a:fillRect/>
          </a:stretch>
        </p:blipFill>
        <p:spPr>
          <a:xfrm>
            <a:off x="749808" y="6336792"/>
            <a:ext cx="219456" cy="219456"/>
          </a:xfrm>
          <a:prstGeom prst="rect">
            <a:avLst/>
          </a:prstGeom>
        </p:spPr>
      </p:pic>
      <p:sp>
        <p:nvSpPr>
          <p:cNvPr id="23" name="Nav Menu 105 LINK:menu">
            <a:hlinkClick r:id="rIdJump5" action="ppaction://hlinksldjump"/>
          </p:cNvPr>
          <p:cNvSpPr/>
          <p:nvPr/>
        </p:nvSpPr>
        <p:spPr>
          <a:xfrm>
            <a:off x="1901952" y="6236208"/>
            <a:ext cx="1005840" cy="420624"/>
          </a:xfrm>
          <a:prstGeom prst="roundRect">
            <a:avLst>
              <a:gd name="adj" fmla="val 47826"/>
            </a:avLst>
          </a:prstGeom>
          <a:solidFill>
            <a:srgbClr val="FFFFFF"/>
          </a:solidFill>
          <a:ln w="19050">
            <a:solidFill>
              <a:srgbClr val="16302E"/>
            </a:solidFill>
          </a:ln>
        </p:spPr>
        <p:txBody>
          <a:bodyPr wrap="square" lIns="109728" tIns="0" rIns="109728" bIns="0" rtlCol="0" anchor="ctr"/>
          <a:lstStyle/>
          <a:p>
            <a:pPr algn="ctr" indent="0" marL="0">
              <a:buNone/>
            </a:pPr>
            <a:r>
              <a:rPr lang="en-US" sz="1500" b="1" dirty="0">
                <a:solidFill>
                  <a:srgbClr val="16302E"/>
                </a:solidFill>
                <a:latin typeface="Calibri" pitchFamily="34" charset="0"/>
                <a:ea typeface="Calibri" pitchFamily="34" charset="-122"/>
                <a:cs typeface="Calibri" pitchFamily="34" charset="-120"/>
              </a:rPr>
              <a:t>Menu</a:t>
            </a:r>
            <a:endParaRPr lang="en-US" sz="1500" dirty="0"/>
          </a:p>
        </p:txBody>
      </p:sp>
      <p:sp>
        <p:nvSpPr>
          <p:cNvPr id="24" name="Slide counter 106"/>
          <p:cNvSpPr txBox="1"/>
          <p:nvPr/>
        </p:nvSpPr>
        <p:spPr>
          <a:xfrm>
            <a:off x="5184648" y="6236208"/>
            <a:ext cx="1828800" cy="420624"/>
          </a:xfrm>
          <a:prstGeom prst="rect">
            <a:avLst/>
          </a:prstGeom>
          <a:noFill/>
          <a:ln/>
        </p:spPr>
        <p:txBody>
          <a:bodyPr wrap="square" lIns="0" tIns="0" rIns="0" bIns="0" rtlCol="0" anchor="ctr"/>
          <a:lstStyle/>
          <a:p>
            <a:pPr algn="ctr" indent="0" marL="0">
              <a:buNone/>
            </a:pPr>
            <a:r>
              <a:rPr lang="en-US" sz="1400" dirty="0">
                <a:solidFill>
                  <a:srgbClr val="5D7774"/>
                </a:solidFill>
                <a:latin typeface="Calibri" pitchFamily="34" charset="0"/>
                <a:ea typeface="Calibri" pitchFamily="34" charset="-122"/>
                <a:cs typeface="Calibri" pitchFamily="34" charset="-120"/>
              </a:rPr>
              <a:t>4 / 18</a:t>
            </a:r>
            <a:endParaRPr lang="en-US" sz="1400" dirty="0"/>
          </a:p>
        </p:txBody>
      </p:sp>
      <p:sp>
        <p:nvSpPr>
          <p:cNvPr id="25" name="Nav Back 107 LINK:goals">
            <a:hlinkClick r:id="rIdJump6" action="ppaction://hlinksldjump"/>
          </p:cNvPr>
          <p:cNvSpPr/>
          <p:nvPr/>
        </p:nvSpPr>
        <p:spPr>
          <a:xfrm>
            <a:off x="9052560" y="6236208"/>
            <a:ext cx="1234440" cy="420624"/>
          </a:xfrm>
          <a:prstGeom prst="roundRect">
            <a:avLst>
              <a:gd name="adj" fmla="val 47826"/>
            </a:avLst>
          </a:prstGeom>
          <a:solidFill>
            <a:srgbClr val="FFFFFF"/>
          </a:solidFill>
          <a:ln w="19050">
            <a:solidFill>
              <a:srgbClr val="1D7A6E"/>
            </a:solidFill>
          </a:ln>
        </p:spPr>
        <p:txBody>
          <a:bodyPr wrap="square" lIns="109728" tIns="0" rIns="109728" bIns="0" rtlCol="0" anchor="ctr"/>
          <a:lstStyle/>
          <a:p>
            <a:pPr algn="ctr" indent="0" marL="0">
              <a:buNone/>
            </a:pPr>
            <a:r>
              <a:rPr lang="en-US" sz="1500" b="1" dirty="0">
                <a:solidFill>
                  <a:srgbClr val="1D7A6E"/>
                </a:solidFill>
                <a:latin typeface="Calibri" pitchFamily="34" charset="0"/>
                <a:ea typeface="Calibri" pitchFamily="34" charset="-122"/>
                <a:cs typeface="Calibri" pitchFamily="34" charset="-120"/>
              </a:rPr>
              <a:t>‹  Back</a:t>
            </a:r>
            <a:endParaRPr lang="en-US" sz="1500" dirty="0"/>
          </a:p>
        </p:txBody>
      </p:sp>
      <p:sp>
        <p:nvSpPr>
          <p:cNvPr id="26" name="Nav Next 108 LINK:idea">
            <a:hlinkClick r:id="rIdJump7" action="ppaction://hlinksldjump"/>
          </p:cNvPr>
          <p:cNvSpPr/>
          <p:nvPr/>
        </p:nvSpPr>
        <p:spPr>
          <a:xfrm>
            <a:off x="10405872" y="6236208"/>
            <a:ext cx="1234440" cy="420624"/>
          </a:xfrm>
          <a:prstGeom prst="roundRect">
            <a:avLst>
              <a:gd name="adj" fmla="val 47826"/>
            </a:avLst>
          </a:prstGeom>
          <a:solidFill>
            <a:srgbClr val="1D7A6E"/>
          </a:solidFill>
          <a:ln>
            <a:solidFill>
              <a:srgbClr val="1D7A6E"/>
            </a:solidFill>
          </a:ln>
        </p:spPr>
        <p:txBody>
          <a:bodyPr wrap="square" lIns="109728" tIns="0" rIns="109728"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Next  ›</a:t>
            </a:r>
            <a:endParaRPr lang="en-US" sz="1500" dirty="0"/>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show="0">
  <p:cSld name="Slide 5">
    <p:spTree>
      <p:nvGrpSpPr>
        <p:cNvPr id="1" name=""/>
        <p:cNvGrpSpPr/>
        <p:nvPr/>
      </p:nvGrpSpPr>
      <p:grpSpPr>
        <a:xfrm>
          <a:off x="0" y="0"/>
          <a:ext cx="0" cy="0"/>
          <a:chOff x="0" y="0"/>
          <a:chExt cx="0" cy="0"/>
        </a:xfrm>
      </p:grpSpPr>
      <p:sp>
        <p:nvSpPr>
          <p:cNvPr id="2" name="Kicker 109"/>
          <p:cNvSpPr txBox="1"/>
          <p:nvPr/>
        </p:nvSpPr>
        <p:spPr>
          <a:xfrm>
            <a:off x="548640" y="329184"/>
            <a:ext cx="7315200" cy="292608"/>
          </a:xfrm>
          <a:prstGeom prst="rect">
            <a:avLst/>
          </a:prstGeom>
          <a:noFill/>
          <a:ln/>
        </p:spPr>
        <p:txBody>
          <a:bodyPr wrap="square" lIns="0" tIns="0" rIns="0" bIns="0" rtlCol="0" anchor="t"/>
          <a:lstStyle/>
          <a:p>
            <a:pPr indent="0" marL="0">
              <a:buNone/>
            </a:pPr>
            <a:r>
              <a:rPr lang="en-US" sz="1400" b="1" spc="300" kern="0" dirty="0">
                <a:solidFill>
                  <a:srgbClr val="1D7A6E"/>
                </a:solidFill>
                <a:latin typeface="Calibri" pitchFamily="34" charset="0"/>
                <a:ea typeface="Calibri" pitchFamily="34" charset="-122"/>
                <a:cs typeface="Calibri" pitchFamily="34" charset="-120"/>
              </a:rPr>
              <a:t>WARM-UP · ANSWER</a:t>
            </a:r>
            <a:endParaRPr lang="en-US" sz="1400" dirty="0"/>
          </a:p>
        </p:txBody>
      </p:sp>
      <p:sp>
        <p:nvSpPr>
          <p:cNvPr id="3" name="Text 0"/>
          <p:cNvSpPr/>
          <p:nvPr>
            <p:ph idx="100" type="title" hasCustomPrompt="1"/>
          </p:nvPr>
        </p:nvSpPr>
        <p:spPr>
          <a:xfrm>
            <a:off x="548640" y="658368"/>
            <a:ext cx="9052560" cy="731520"/>
          </a:xfrm>
          <a:prstGeom prst="rect">
            <a:avLst/>
          </a:prstGeom>
          <a:noFill/>
          <a:ln/>
        </p:spPr>
        <p:txBody>
          <a:bodyPr wrap="square" lIns="0" tIns="0" rIns="0" bIns="0" rtlCol="0" anchor="t"/>
          <a:lstStyle/>
          <a:p>
            <a:pPr algn="l" indent="0" marL="0">
              <a:buNone/>
            </a:pPr>
            <a:r>
              <a:rPr lang="en-US" sz="3600" b="1" dirty="0">
                <a:solidFill>
                  <a:srgbClr val="16302E"/>
                </a:solidFill>
                <a:latin typeface="Calibri" pitchFamily="34" charset="0"/>
                <a:ea typeface="Calibri" pitchFamily="34" charset="-122"/>
                <a:cs typeface="Calibri" pitchFamily="34" charset="-120"/>
              </a:rPr>
              <a:t>Spot the mark</a:t>
            </a:r>
            <a:endParaRPr lang="en-US" sz="3600" dirty="0"/>
          </a:p>
        </p:txBody>
      </p:sp>
      <p:sp>
        <p:nvSpPr>
          <p:cNvPr id="4" name="Route chip 110"/>
          <p:cNvSpPr/>
          <p:nvPr/>
        </p:nvSpPr>
        <p:spPr>
          <a:xfrm>
            <a:off x="10012680" y="365760"/>
            <a:ext cx="1627632" cy="384048"/>
          </a:xfrm>
          <a:prstGeom prst="roundRect">
            <a:avLst>
              <a:gd name="adj" fmla="val 47619"/>
            </a:avLst>
          </a:prstGeom>
          <a:solidFill>
            <a:srgbClr val="1D7A6E"/>
          </a:solidFill>
          <a:ln>
            <a:solidFill>
              <a:srgbClr val="1D7A6E"/>
            </a:solidFill>
          </a:ln>
        </p:spPr>
        <p:txBody>
          <a:bodyPr wrap="square" lIns="0" tIns="0" rIns="0" bIns="0" rtlCol="0" anchor="ctr"/>
          <a:lstStyle/>
          <a:p>
            <a:pPr algn="ctr" indent="0" marL="0">
              <a:buNone/>
            </a:pPr>
            <a:r>
              <a:rPr lang="en-US" sz="1300" b="1" spc="200" kern="0" dirty="0">
                <a:solidFill>
                  <a:srgbClr val="FFFFFF"/>
                </a:solidFill>
                <a:latin typeface="Calibri" pitchFamily="34" charset="0"/>
                <a:ea typeface="Calibri" pitchFamily="34" charset="-122"/>
                <a:cs typeface="Calibri" pitchFamily="34" charset="-120"/>
              </a:rPr>
              <a:t>GUIDED</a:t>
            </a:r>
            <a:endParaRPr lang="en-US" sz="1300" dirty="0"/>
          </a:p>
        </p:txBody>
      </p:sp>
      <p:sp>
        <p:nvSpPr>
          <p:cNvPr id="5" name="Prompt 111"/>
          <p:cNvSpPr txBox="1"/>
          <p:nvPr/>
        </p:nvSpPr>
        <p:spPr>
          <a:xfrm>
            <a:off x="548640" y="1554480"/>
            <a:ext cx="11094415" cy="502920"/>
          </a:xfrm>
          <a:prstGeom prst="rect">
            <a:avLst/>
          </a:prstGeom>
          <a:noFill/>
          <a:ln/>
        </p:spPr>
        <p:txBody>
          <a:bodyPr wrap="square" lIns="0" tIns="0" rIns="0" bIns="0" rtlCol="0" anchor="t"/>
          <a:lstStyle/>
          <a:p>
            <a:pPr indent="0" marL="0">
              <a:buNone/>
            </a:pPr>
            <a:r>
              <a:rPr lang="en-US" sz="2600" dirty="0">
                <a:solidFill>
                  <a:srgbClr val="16302E"/>
                </a:solidFill>
                <a:latin typeface="Calibri" pitchFamily="34" charset="0"/>
                <a:ea typeface="Calibri" pitchFamily="34" charset="-122"/>
                <a:cs typeface="Calibri" pitchFamily="34" charset="-120"/>
              </a:rPr>
              <a:t>Which of these letters carry a shaddah?</a:t>
            </a:r>
            <a:endParaRPr lang="en-US" sz="2600" dirty="0"/>
          </a:p>
        </p:txBody>
      </p:sp>
      <p:sp>
        <p:nvSpPr>
          <p:cNvPr id="6" name="Card 112"/>
          <p:cNvSpPr/>
          <p:nvPr/>
        </p:nvSpPr>
        <p:spPr>
          <a:xfrm>
            <a:off x="888340" y="2194560"/>
            <a:ext cx="2377440" cy="2377440"/>
          </a:xfrm>
          <a:prstGeom prst="roundRect">
            <a:avLst>
              <a:gd name="adj" fmla="val 6923"/>
            </a:avLst>
          </a:prstGeom>
          <a:solidFill>
            <a:srgbClr val="FFFFFF"/>
          </a:solidFill>
          <a:ln w="12700">
            <a:solidFill>
              <a:srgbClr val="D5E5E0"/>
            </a:solidFill>
            <a:prstDash val="solid"/>
          </a:ln>
          <a:effectLst>
            <a:outerShdw sx="100000" sy="100000" kx="0" ky="0" algn="bl" rotWithShape="0" blurRad="101600" dist="25400" dir="5400000">
              <a:srgbClr val="0F3D3A">
                <a:alpha val="10000"/>
              </a:srgbClr>
            </a:outerShdw>
          </a:effectLst>
        </p:spPr>
      </p:sp>
      <p:sp>
        <p:nvSpPr>
          <p:cNvPr id="7" name="Tile letter 113"/>
          <p:cNvSpPr txBox="1"/>
          <p:nvPr/>
        </p:nvSpPr>
        <p:spPr>
          <a:xfrm>
            <a:off x="888340" y="2331720"/>
            <a:ext cx="2377440" cy="1645920"/>
          </a:xfrm>
          <a:prstGeom prst="rect">
            <a:avLst/>
          </a:prstGeom>
          <a:noFill/>
          <a:ln/>
        </p:spPr>
        <p:txBody>
          <a:bodyPr wrap="square" lIns="0" tIns="0" rIns="0" bIns="0" rtlCol="0" anchor="ctr"/>
          <a:lstStyle/>
          <a:p>
            <a:pPr rtl="1" algn="ctr" indent="0" marL="0">
              <a:buNone/>
            </a:pPr>
            <a:r>
              <a:rPr lang="ar-SA" altLang="en-US" sz="7400" dirty="0">
                <a:solidFill>
                  <a:srgbClr val="B8C9C5"/>
                </a:solidFill>
                <a:latin typeface="Traditional Arabic" pitchFamily="34" charset="0"/>
                <a:ea typeface="Traditional Arabic" pitchFamily="34" charset="-122"/>
                <a:cs typeface="Traditional Arabic" pitchFamily="34" charset="-120"/>
              </a:rPr>
              <a:t>نَ</a:t>
            </a:r>
            <a:endParaRPr lang="ar-SA" sz="7400" dirty="0"/>
          </a:p>
        </p:txBody>
      </p:sp>
      <p:sp>
        <p:nvSpPr>
          <p:cNvPr id="8" name="Tile label 114"/>
          <p:cNvSpPr txBox="1"/>
          <p:nvPr/>
        </p:nvSpPr>
        <p:spPr>
          <a:xfrm>
            <a:off x="888340" y="4160520"/>
            <a:ext cx="2377440" cy="329184"/>
          </a:xfrm>
          <a:prstGeom prst="rect">
            <a:avLst/>
          </a:prstGeom>
          <a:noFill/>
          <a:ln/>
        </p:spPr>
        <p:txBody>
          <a:bodyPr wrap="square" lIns="0" tIns="0" rIns="0" bIns="0" rtlCol="0" anchor="t"/>
          <a:lstStyle/>
          <a:p>
            <a:pPr algn="ctr" indent="0" marL="0">
              <a:buNone/>
            </a:pPr>
            <a:r>
              <a:rPr lang="en-US" sz="1800" b="1" dirty="0">
                <a:solidFill>
                  <a:srgbClr val="5D7774"/>
                </a:solidFill>
                <a:latin typeface="Calibri" pitchFamily="34" charset="0"/>
                <a:ea typeface="Calibri" pitchFamily="34" charset="-122"/>
                <a:cs typeface="Calibri" pitchFamily="34" charset="-120"/>
              </a:rPr>
              <a:t>fathah only</a:t>
            </a:r>
            <a:endParaRPr lang="en-US" sz="1800" dirty="0"/>
          </a:p>
        </p:txBody>
      </p:sp>
      <p:sp>
        <p:nvSpPr>
          <p:cNvPr id="9" name="Card 115"/>
          <p:cNvSpPr/>
          <p:nvPr/>
        </p:nvSpPr>
        <p:spPr>
          <a:xfrm>
            <a:off x="3567532" y="2194560"/>
            <a:ext cx="2377440" cy="2377440"/>
          </a:xfrm>
          <a:prstGeom prst="roundRect">
            <a:avLst>
              <a:gd name="adj" fmla="val 6923"/>
            </a:avLst>
          </a:prstGeom>
          <a:solidFill>
            <a:srgbClr val="1D7A6E"/>
          </a:solidFill>
          <a:ln w="12700">
            <a:solidFill>
              <a:srgbClr val="1D7A6E"/>
            </a:solidFill>
            <a:prstDash val="solid"/>
          </a:ln>
          <a:effectLst>
            <a:outerShdw sx="100000" sy="100000" kx="0" ky="0" algn="bl" rotWithShape="0" blurRad="101600" dist="25400" dir="5400000">
              <a:srgbClr val="0F3D3A">
                <a:alpha val="10000"/>
              </a:srgbClr>
            </a:outerShdw>
          </a:effectLst>
        </p:spPr>
      </p:sp>
      <p:sp>
        <p:nvSpPr>
          <p:cNvPr id="10" name="Tile letter 116"/>
          <p:cNvSpPr txBox="1"/>
          <p:nvPr/>
        </p:nvSpPr>
        <p:spPr>
          <a:xfrm>
            <a:off x="3567532" y="2331720"/>
            <a:ext cx="2377440" cy="1645920"/>
          </a:xfrm>
          <a:prstGeom prst="rect">
            <a:avLst/>
          </a:prstGeom>
          <a:noFill/>
          <a:ln/>
        </p:spPr>
        <p:txBody>
          <a:bodyPr wrap="square" lIns="0" tIns="0" rIns="0" bIns="0" rtlCol="0" anchor="ctr"/>
          <a:lstStyle/>
          <a:p>
            <a:pPr rtl="1" algn="ctr" indent="0" marL="0">
              <a:buNone/>
            </a:pPr>
            <a:r>
              <a:rPr lang="ar-SA" altLang="en-US" sz="7400" dirty="0">
                <a:solidFill>
                  <a:srgbClr val="FFFFFF"/>
                </a:solidFill>
                <a:latin typeface="Traditional Arabic" pitchFamily="34" charset="0"/>
                <a:ea typeface="Traditional Arabic" pitchFamily="34" charset="-122"/>
                <a:cs typeface="Traditional Arabic" pitchFamily="34" charset="-120"/>
              </a:rPr>
              <a:t>نَّ</a:t>
            </a:r>
            <a:endParaRPr lang="ar-SA" sz="7400" dirty="0"/>
          </a:p>
        </p:txBody>
      </p:sp>
      <p:sp>
        <p:nvSpPr>
          <p:cNvPr id="11" name="Tile label 117"/>
          <p:cNvSpPr txBox="1"/>
          <p:nvPr/>
        </p:nvSpPr>
        <p:spPr>
          <a:xfrm>
            <a:off x="3567532" y="4160520"/>
            <a:ext cx="2377440" cy="329184"/>
          </a:xfrm>
          <a:prstGeom prst="rect">
            <a:avLst/>
          </a:prstGeom>
          <a:noFill/>
          <a:ln/>
        </p:spPr>
        <p:txBody>
          <a:bodyPr wrap="square" lIns="0" tIns="0" rIns="0" bIns="0" rtlCol="0" anchor="t"/>
          <a:lstStyle/>
          <a:p>
            <a:pPr algn="ctr" indent="0" marL="0">
              <a:buNone/>
            </a:pPr>
            <a:r>
              <a:rPr lang="en-US" sz="1800" b="1" dirty="0">
                <a:solidFill>
                  <a:srgbClr val="FFFFFF"/>
                </a:solidFill>
                <a:latin typeface="Calibri" pitchFamily="34" charset="0"/>
                <a:ea typeface="Calibri" pitchFamily="34" charset="-122"/>
                <a:cs typeface="Calibri" pitchFamily="34" charset="-120"/>
              </a:rPr>
              <a:t>✓ shaddah</a:t>
            </a:r>
            <a:endParaRPr lang="en-US" sz="1800" dirty="0"/>
          </a:p>
        </p:txBody>
      </p:sp>
      <p:sp>
        <p:nvSpPr>
          <p:cNvPr id="12" name="Card 118"/>
          <p:cNvSpPr/>
          <p:nvPr/>
        </p:nvSpPr>
        <p:spPr>
          <a:xfrm>
            <a:off x="6246724" y="2194560"/>
            <a:ext cx="2377440" cy="2377440"/>
          </a:xfrm>
          <a:prstGeom prst="roundRect">
            <a:avLst>
              <a:gd name="adj" fmla="val 6923"/>
            </a:avLst>
          </a:prstGeom>
          <a:solidFill>
            <a:srgbClr val="FFFFFF"/>
          </a:solidFill>
          <a:ln w="12700">
            <a:solidFill>
              <a:srgbClr val="D5E5E0"/>
            </a:solidFill>
            <a:prstDash val="solid"/>
          </a:ln>
          <a:effectLst>
            <a:outerShdw sx="100000" sy="100000" kx="0" ky="0" algn="bl" rotWithShape="0" blurRad="101600" dist="25400" dir="5400000">
              <a:srgbClr val="0F3D3A">
                <a:alpha val="10000"/>
              </a:srgbClr>
            </a:outerShdw>
          </a:effectLst>
        </p:spPr>
      </p:sp>
      <p:sp>
        <p:nvSpPr>
          <p:cNvPr id="13" name="Tile letter 119"/>
          <p:cNvSpPr txBox="1"/>
          <p:nvPr/>
        </p:nvSpPr>
        <p:spPr>
          <a:xfrm>
            <a:off x="6246724" y="2331720"/>
            <a:ext cx="2377440" cy="1645920"/>
          </a:xfrm>
          <a:prstGeom prst="rect">
            <a:avLst/>
          </a:prstGeom>
          <a:noFill/>
          <a:ln/>
        </p:spPr>
        <p:txBody>
          <a:bodyPr wrap="square" lIns="0" tIns="0" rIns="0" bIns="0" rtlCol="0" anchor="ctr"/>
          <a:lstStyle/>
          <a:p>
            <a:pPr rtl="1" algn="ctr" indent="0" marL="0">
              <a:buNone/>
            </a:pPr>
            <a:r>
              <a:rPr lang="ar-SA" altLang="en-US" sz="7400" dirty="0">
                <a:solidFill>
                  <a:srgbClr val="B8C9C5"/>
                </a:solidFill>
                <a:latin typeface="Traditional Arabic" pitchFamily="34" charset="0"/>
                <a:ea typeface="Traditional Arabic" pitchFamily="34" charset="-122"/>
                <a:cs typeface="Traditional Arabic" pitchFamily="34" charset="-120"/>
              </a:rPr>
              <a:t>مِ</a:t>
            </a:r>
            <a:endParaRPr lang="ar-SA" sz="7400" dirty="0"/>
          </a:p>
        </p:txBody>
      </p:sp>
      <p:sp>
        <p:nvSpPr>
          <p:cNvPr id="14" name="Tile label 120"/>
          <p:cNvSpPr txBox="1"/>
          <p:nvPr/>
        </p:nvSpPr>
        <p:spPr>
          <a:xfrm>
            <a:off x="6246724" y="4160520"/>
            <a:ext cx="2377440" cy="329184"/>
          </a:xfrm>
          <a:prstGeom prst="rect">
            <a:avLst/>
          </a:prstGeom>
          <a:noFill/>
          <a:ln/>
        </p:spPr>
        <p:txBody>
          <a:bodyPr wrap="square" lIns="0" tIns="0" rIns="0" bIns="0" rtlCol="0" anchor="t"/>
          <a:lstStyle/>
          <a:p>
            <a:pPr algn="ctr" indent="0" marL="0">
              <a:buNone/>
            </a:pPr>
            <a:r>
              <a:rPr lang="en-US" sz="1800" b="1" dirty="0">
                <a:solidFill>
                  <a:srgbClr val="5D7774"/>
                </a:solidFill>
                <a:latin typeface="Calibri" pitchFamily="34" charset="0"/>
                <a:ea typeface="Calibri" pitchFamily="34" charset="-122"/>
                <a:cs typeface="Calibri" pitchFamily="34" charset="-120"/>
              </a:rPr>
              <a:t>kasrah only</a:t>
            </a:r>
            <a:endParaRPr lang="en-US" sz="1800" dirty="0"/>
          </a:p>
        </p:txBody>
      </p:sp>
      <p:sp>
        <p:nvSpPr>
          <p:cNvPr id="15" name="Card 121"/>
          <p:cNvSpPr/>
          <p:nvPr/>
        </p:nvSpPr>
        <p:spPr>
          <a:xfrm>
            <a:off x="8925916" y="2194560"/>
            <a:ext cx="2377440" cy="2377440"/>
          </a:xfrm>
          <a:prstGeom prst="roundRect">
            <a:avLst>
              <a:gd name="adj" fmla="val 6923"/>
            </a:avLst>
          </a:prstGeom>
          <a:solidFill>
            <a:srgbClr val="1D7A6E"/>
          </a:solidFill>
          <a:ln w="12700">
            <a:solidFill>
              <a:srgbClr val="1D7A6E"/>
            </a:solidFill>
            <a:prstDash val="solid"/>
          </a:ln>
          <a:effectLst>
            <a:outerShdw sx="100000" sy="100000" kx="0" ky="0" algn="bl" rotWithShape="0" blurRad="101600" dist="25400" dir="5400000">
              <a:srgbClr val="0F3D3A">
                <a:alpha val="10000"/>
              </a:srgbClr>
            </a:outerShdw>
          </a:effectLst>
        </p:spPr>
      </p:sp>
      <p:sp>
        <p:nvSpPr>
          <p:cNvPr id="16" name="Tile letter 122"/>
          <p:cNvSpPr txBox="1"/>
          <p:nvPr/>
        </p:nvSpPr>
        <p:spPr>
          <a:xfrm>
            <a:off x="8925916" y="2331720"/>
            <a:ext cx="2377440" cy="1645920"/>
          </a:xfrm>
          <a:prstGeom prst="rect">
            <a:avLst/>
          </a:prstGeom>
          <a:noFill/>
          <a:ln/>
        </p:spPr>
        <p:txBody>
          <a:bodyPr wrap="square" lIns="0" tIns="0" rIns="0" bIns="0" rtlCol="0" anchor="ctr"/>
          <a:lstStyle/>
          <a:p>
            <a:pPr rtl="1" algn="ctr" indent="0" marL="0">
              <a:buNone/>
            </a:pPr>
            <a:r>
              <a:rPr lang="ar-SA" altLang="en-US" sz="7400" dirty="0">
                <a:solidFill>
                  <a:srgbClr val="FFFFFF"/>
                </a:solidFill>
                <a:latin typeface="Traditional Arabic" pitchFamily="34" charset="0"/>
                <a:ea typeface="Traditional Arabic" pitchFamily="34" charset="-122"/>
                <a:cs typeface="Traditional Arabic" pitchFamily="34" charset="-120"/>
              </a:rPr>
              <a:t>مَّ</a:t>
            </a:r>
            <a:endParaRPr lang="ar-SA" sz="7400" dirty="0"/>
          </a:p>
        </p:txBody>
      </p:sp>
      <p:sp>
        <p:nvSpPr>
          <p:cNvPr id="17" name="Tile label 123"/>
          <p:cNvSpPr txBox="1"/>
          <p:nvPr/>
        </p:nvSpPr>
        <p:spPr>
          <a:xfrm>
            <a:off x="8925916" y="4160520"/>
            <a:ext cx="2377440" cy="329184"/>
          </a:xfrm>
          <a:prstGeom prst="rect">
            <a:avLst/>
          </a:prstGeom>
          <a:noFill/>
          <a:ln/>
        </p:spPr>
        <p:txBody>
          <a:bodyPr wrap="square" lIns="0" tIns="0" rIns="0" bIns="0" rtlCol="0" anchor="t"/>
          <a:lstStyle/>
          <a:p>
            <a:pPr algn="ctr" indent="0" marL="0">
              <a:buNone/>
            </a:pPr>
            <a:r>
              <a:rPr lang="en-US" sz="1800" b="1" dirty="0">
                <a:solidFill>
                  <a:srgbClr val="FFFFFF"/>
                </a:solidFill>
                <a:latin typeface="Calibri" pitchFamily="34" charset="0"/>
                <a:ea typeface="Calibri" pitchFamily="34" charset="-122"/>
                <a:cs typeface="Calibri" pitchFamily="34" charset="-120"/>
              </a:rPr>
              <a:t>✓ shaddah</a:t>
            </a:r>
            <a:endParaRPr lang="en-US" sz="1800" dirty="0"/>
          </a:p>
        </p:txBody>
      </p:sp>
      <p:sp>
        <p:nvSpPr>
          <p:cNvPr id="18" name="Answer panel 124"/>
          <p:cNvSpPr/>
          <p:nvPr/>
        </p:nvSpPr>
        <p:spPr>
          <a:xfrm>
            <a:off x="548640" y="4754880"/>
            <a:ext cx="11094415" cy="1234440"/>
          </a:xfrm>
          <a:prstGeom prst="roundRect">
            <a:avLst>
              <a:gd name="adj" fmla="val 13333"/>
            </a:avLst>
          </a:prstGeom>
          <a:solidFill>
            <a:srgbClr val="E2F0EC"/>
          </a:solidFill>
          <a:ln w="12700">
            <a:solidFill>
              <a:srgbClr val="E2F0EC"/>
            </a:solidFill>
            <a:prstDash val="solid"/>
          </a:ln>
        </p:spPr>
      </p:sp>
      <p:sp>
        <p:nvSpPr>
          <p:cNvPr id="19" name="Answer text 125"/>
          <p:cNvSpPr txBox="1"/>
          <p:nvPr/>
        </p:nvSpPr>
        <p:spPr>
          <a:xfrm>
            <a:off x="822960" y="4800600"/>
            <a:ext cx="10545775" cy="1143000"/>
          </a:xfrm>
          <a:prstGeom prst="rect">
            <a:avLst/>
          </a:prstGeom>
          <a:noFill/>
          <a:ln/>
        </p:spPr>
        <p:txBody>
          <a:bodyPr wrap="square" lIns="0" tIns="0" rIns="0" bIns="0" rtlCol="0" anchor="ctr"/>
          <a:lstStyle/>
          <a:p>
            <a:pPr indent="0" marL="0">
              <a:buNone/>
            </a:pPr>
            <a:r>
              <a:rPr lang="en-US" sz="2400" dirty="0">
                <a:solidFill>
                  <a:srgbClr val="16302E"/>
                </a:solidFill>
                <a:latin typeface="Calibri" pitchFamily="34" charset="0"/>
                <a:ea typeface="Calibri" pitchFamily="34" charset="-122"/>
                <a:cs typeface="Calibri" pitchFamily="34" charset="-120"/>
              </a:rPr>
              <a:t>B and D carry a shaddah, and they are noon and meem. That is exactly where this lesson's ghunnah lives.</a:t>
            </a:r>
            <a:endParaRPr lang="en-US" sz="2400" dirty="0"/>
          </a:p>
        </p:txBody>
      </p:sp>
      <p:sp>
        <p:nvSpPr>
          <p:cNvPr id="20" name="Back to question 126 LINK:warm">
            <a:hlinkClick r:id="rIdJump1" action="ppaction://hlinksldjump"/>
          </p:cNvPr>
          <p:cNvSpPr/>
          <p:nvPr/>
        </p:nvSpPr>
        <p:spPr>
          <a:xfrm>
            <a:off x="548640" y="6236208"/>
            <a:ext cx="2377440" cy="420624"/>
          </a:xfrm>
          <a:prstGeom prst="roundRect">
            <a:avLst>
              <a:gd name="adj" fmla="val 47826"/>
            </a:avLst>
          </a:prstGeom>
          <a:solidFill>
            <a:srgbClr val="FFFFFF"/>
          </a:solidFill>
          <a:ln w="19050">
            <a:solidFill>
              <a:srgbClr val="1D7A6E"/>
            </a:solidFill>
          </a:ln>
        </p:spPr>
        <p:txBody>
          <a:bodyPr wrap="square" lIns="109728" tIns="0" rIns="109728" bIns="0" rtlCol="0" anchor="ctr"/>
          <a:lstStyle/>
          <a:p>
            <a:pPr algn="ctr" indent="0" marL="0">
              <a:buNone/>
            </a:pPr>
            <a:r>
              <a:rPr lang="en-US" sz="1500" b="1" dirty="0">
                <a:solidFill>
                  <a:srgbClr val="1D7A6E"/>
                </a:solidFill>
                <a:latin typeface="Calibri" pitchFamily="34" charset="0"/>
                <a:ea typeface="Calibri" pitchFamily="34" charset="-122"/>
                <a:cs typeface="Calibri" pitchFamily="34" charset="-120"/>
              </a:rPr>
              <a:t>‹  Back to question</a:t>
            </a:r>
            <a:endParaRPr lang="en-US" sz="1500" dirty="0"/>
          </a:p>
        </p:txBody>
      </p:sp>
      <p:sp>
        <p:nvSpPr>
          <p:cNvPr id="21" name="Continue 127 LINK:idea">
            <a:hlinkClick r:id="rIdJump2" action="ppaction://hlinksldjump"/>
          </p:cNvPr>
          <p:cNvSpPr/>
          <p:nvPr/>
        </p:nvSpPr>
        <p:spPr>
          <a:xfrm>
            <a:off x="9994392" y="6236208"/>
            <a:ext cx="1645920" cy="420624"/>
          </a:xfrm>
          <a:prstGeom prst="roundRect">
            <a:avLst>
              <a:gd name="adj" fmla="val 47826"/>
            </a:avLst>
          </a:prstGeom>
          <a:solidFill>
            <a:srgbClr val="1D7A6E"/>
          </a:solidFill>
          <a:ln>
            <a:solidFill>
              <a:srgbClr val="1D7A6E"/>
            </a:solidFill>
          </a:ln>
        </p:spPr>
        <p:txBody>
          <a:bodyPr wrap="square" lIns="109728" tIns="0" rIns="109728"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Continue  ›</a:t>
            </a:r>
            <a:endParaRPr lang="en-US" sz="1500" dirty="0"/>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Kicker 128"/>
          <p:cNvSpPr txBox="1"/>
          <p:nvPr/>
        </p:nvSpPr>
        <p:spPr>
          <a:xfrm>
            <a:off x="548640" y="329184"/>
            <a:ext cx="7315200" cy="292608"/>
          </a:xfrm>
          <a:prstGeom prst="rect">
            <a:avLst/>
          </a:prstGeom>
          <a:noFill/>
          <a:ln/>
        </p:spPr>
        <p:txBody>
          <a:bodyPr wrap="square" lIns="0" tIns="0" rIns="0" bIns="0" rtlCol="0" anchor="t"/>
          <a:lstStyle/>
          <a:p>
            <a:pPr indent="0" marL="0">
              <a:buNone/>
            </a:pPr>
            <a:r>
              <a:rPr lang="en-US" sz="1400" b="1" spc="300" kern="0" dirty="0">
                <a:solidFill>
                  <a:srgbClr val="1D7A6E"/>
                </a:solidFill>
                <a:latin typeface="Calibri" pitchFamily="34" charset="0"/>
                <a:ea typeface="Calibri" pitchFamily="34" charset="-122"/>
                <a:cs typeface="Calibri" pitchFamily="34" charset="-120"/>
              </a:rPr>
              <a:t>THE IDEA</a:t>
            </a:r>
            <a:endParaRPr lang="en-US" sz="1400" dirty="0"/>
          </a:p>
        </p:txBody>
      </p:sp>
      <p:sp>
        <p:nvSpPr>
          <p:cNvPr id="3" name="Text 0"/>
          <p:cNvSpPr/>
          <p:nvPr>
            <p:ph idx="100" type="title" hasCustomPrompt="1"/>
          </p:nvPr>
        </p:nvSpPr>
        <p:spPr>
          <a:xfrm>
            <a:off x="548640" y="658368"/>
            <a:ext cx="9052560" cy="731520"/>
          </a:xfrm>
          <a:prstGeom prst="rect">
            <a:avLst/>
          </a:prstGeom>
          <a:noFill/>
          <a:ln/>
        </p:spPr>
        <p:txBody>
          <a:bodyPr wrap="square" lIns="0" tIns="0" rIns="0" bIns="0" rtlCol="0" anchor="t"/>
          <a:lstStyle/>
          <a:p>
            <a:pPr algn="l" indent="0" marL="0">
              <a:buNone/>
            </a:pPr>
            <a:r>
              <a:rPr lang="en-US" sz="3600" b="1" dirty="0">
                <a:solidFill>
                  <a:srgbClr val="16302E"/>
                </a:solidFill>
                <a:latin typeface="Calibri" pitchFamily="34" charset="0"/>
                <a:ea typeface="Calibri" pitchFamily="34" charset="-122"/>
                <a:cs typeface="Calibri" pitchFamily="34" charset="-120"/>
              </a:rPr>
              <a:t>One shaddah, two parts</a:t>
            </a:r>
            <a:endParaRPr lang="en-US" sz="3600" dirty="0"/>
          </a:p>
        </p:txBody>
      </p:sp>
      <p:sp>
        <p:nvSpPr>
          <p:cNvPr id="4" name="Route chip 129"/>
          <p:cNvSpPr/>
          <p:nvPr/>
        </p:nvSpPr>
        <p:spPr>
          <a:xfrm>
            <a:off x="10012680" y="365760"/>
            <a:ext cx="1627632" cy="384048"/>
          </a:xfrm>
          <a:prstGeom prst="roundRect">
            <a:avLst>
              <a:gd name="adj" fmla="val 47619"/>
            </a:avLst>
          </a:prstGeom>
          <a:solidFill>
            <a:srgbClr val="1D7A6E"/>
          </a:solidFill>
          <a:ln>
            <a:solidFill>
              <a:srgbClr val="1D7A6E"/>
            </a:solidFill>
          </a:ln>
        </p:spPr>
        <p:txBody>
          <a:bodyPr wrap="square" lIns="0" tIns="0" rIns="0" bIns="0" rtlCol="0" anchor="ctr"/>
          <a:lstStyle/>
          <a:p>
            <a:pPr algn="ctr" indent="0" marL="0">
              <a:buNone/>
            </a:pPr>
            <a:r>
              <a:rPr lang="en-US" sz="1300" b="1" spc="200" kern="0" dirty="0">
                <a:solidFill>
                  <a:srgbClr val="FFFFFF"/>
                </a:solidFill>
                <a:latin typeface="Calibri" pitchFamily="34" charset="0"/>
                <a:ea typeface="Calibri" pitchFamily="34" charset="-122"/>
                <a:cs typeface="Calibri" pitchFamily="34" charset="-120"/>
              </a:rPr>
              <a:t>GUIDED</a:t>
            </a:r>
            <a:endParaRPr lang="en-US" sz="1300" dirty="0"/>
          </a:p>
        </p:txBody>
      </p:sp>
      <p:sp>
        <p:nvSpPr>
          <p:cNvPr id="5" name="Lead 130"/>
          <p:cNvSpPr txBox="1"/>
          <p:nvPr/>
        </p:nvSpPr>
        <p:spPr>
          <a:xfrm>
            <a:off x="548640" y="1536192"/>
            <a:ext cx="11094415" cy="868680"/>
          </a:xfrm>
          <a:prstGeom prst="rect">
            <a:avLst/>
          </a:prstGeom>
          <a:noFill/>
          <a:ln/>
        </p:spPr>
        <p:txBody>
          <a:bodyPr wrap="square" lIns="0" tIns="0" rIns="0" bIns="0" rtlCol="0" anchor="t"/>
          <a:lstStyle/>
          <a:p>
            <a:pPr indent="0" marL="0">
              <a:buNone/>
            </a:pPr>
            <a:r>
              <a:rPr lang="en-US" sz="2600" dirty="0">
                <a:solidFill>
                  <a:srgbClr val="16302E"/>
                </a:solidFill>
                <a:latin typeface="Calibri" pitchFamily="34" charset="0"/>
                <a:ea typeface="Calibri" pitchFamily="34" charset="-122"/>
                <a:cs typeface="Calibri" pitchFamily="34" charset="-120"/>
              </a:rPr>
              <a:t>A shaddah means a doubled letter: a saakin first part joined to a vowelled second part.</a:t>
            </a:r>
            <a:endParaRPr lang="en-US" sz="2600" dirty="0"/>
          </a:p>
        </p:txBody>
      </p:sp>
      <p:sp>
        <p:nvSpPr>
          <p:cNvPr id="6" name="Card 131"/>
          <p:cNvSpPr/>
          <p:nvPr/>
        </p:nvSpPr>
        <p:spPr>
          <a:xfrm>
            <a:off x="2346808" y="2560320"/>
            <a:ext cx="2011680" cy="1463040"/>
          </a:xfrm>
          <a:prstGeom prst="roundRect">
            <a:avLst>
              <a:gd name="adj" fmla="val 11250"/>
            </a:avLst>
          </a:prstGeom>
          <a:solidFill>
            <a:srgbClr val="1D7A6E"/>
          </a:solidFill>
          <a:ln w="12700">
            <a:solidFill>
              <a:srgbClr val="1D7A6E"/>
            </a:solidFill>
            <a:prstDash val="solid"/>
          </a:ln>
          <a:effectLst>
            <a:outerShdw sx="100000" sy="100000" kx="0" ky="0" algn="bl" rotWithShape="0" blurRad="101600" dist="25400" dir="5400000">
              <a:srgbClr val="0F3D3A">
                <a:alpha val="10000"/>
              </a:srgbClr>
            </a:outerShdw>
          </a:effectLst>
        </p:spPr>
      </p:sp>
      <p:sp>
        <p:nvSpPr>
          <p:cNvPr id="7" name="Equation letter 132"/>
          <p:cNvSpPr txBox="1"/>
          <p:nvPr/>
        </p:nvSpPr>
        <p:spPr>
          <a:xfrm>
            <a:off x="2346808" y="2514600"/>
            <a:ext cx="2011680" cy="1463040"/>
          </a:xfrm>
          <a:prstGeom prst="rect">
            <a:avLst/>
          </a:prstGeom>
          <a:noFill/>
          <a:ln/>
        </p:spPr>
        <p:txBody>
          <a:bodyPr wrap="square" lIns="0" tIns="0" rIns="0" bIns="0" rtlCol="0" anchor="ctr"/>
          <a:lstStyle/>
          <a:p>
            <a:pPr rtl="1" algn="ctr" indent="0" marL="0">
              <a:buNone/>
            </a:pPr>
            <a:r>
              <a:rPr lang="ar-SA" altLang="en-US" sz="8000" dirty="0">
                <a:solidFill>
                  <a:srgbClr val="FFFFFF"/>
                </a:solidFill>
                <a:latin typeface="Traditional Arabic" pitchFamily="34" charset="0"/>
                <a:ea typeface="Traditional Arabic" pitchFamily="34" charset="-122"/>
                <a:cs typeface="Traditional Arabic" pitchFamily="34" charset="-120"/>
              </a:rPr>
              <a:t>نَّ</a:t>
            </a:r>
            <a:endParaRPr lang="ar-SA" sz="8000" dirty="0"/>
          </a:p>
        </p:txBody>
      </p:sp>
      <p:sp>
        <p:nvSpPr>
          <p:cNvPr id="8" name="Equation label 133"/>
          <p:cNvSpPr txBox="1"/>
          <p:nvPr/>
        </p:nvSpPr>
        <p:spPr>
          <a:xfrm>
            <a:off x="2163928" y="4114800"/>
            <a:ext cx="2377440" cy="365760"/>
          </a:xfrm>
          <a:prstGeom prst="rect">
            <a:avLst/>
          </a:prstGeom>
          <a:noFill/>
          <a:ln/>
        </p:spPr>
        <p:txBody>
          <a:bodyPr wrap="square" lIns="0" tIns="0" rIns="0" bIns="0" rtlCol="0" anchor="t"/>
          <a:lstStyle/>
          <a:p>
            <a:pPr algn="ctr" indent="0" marL="0">
              <a:buNone/>
            </a:pPr>
            <a:r>
              <a:rPr lang="en-US" sz="1800" b="1" dirty="0">
                <a:solidFill>
                  <a:srgbClr val="1D7A6E"/>
                </a:solidFill>
                <a:latin typeface="Calibri" pitchFamily="34" charset="0"/>
                <a:ea typeface="Calibri" pitchFamily="34" charset="-122"/>
                <a:cs typeface="Calibri" pitchFamily="34" charset="-120"/>
              </a:rPr>
              <a:t>One doubled noon</a:t>
            </a:r>
            <a:endParaRPr lang="en-US" sz="1800" dirty="0"/>
          </a:p>
        </p:txBody>
      </p:sp>
      <p:sp>
        <p:nvSpPr>
          <p:cNvPr id="9" name="Operator 134"/>
          <p:cNvSpPr txBox="1"/>
          <p:nvPr/>
        </p:nvSpPr>
        <p:spPr>
          <a:xfrm>
            <a:off x="4358488" y="2560320"/>
            <a:ext cx="731520" cy="1463040"/>
          </a:xfrm>
          <a:prstGeom prst="rect">
            <a:avLst/>
          </a:prstGeom>
          <a:noFill/>
          <a:ln/>
        </p:spPr>
        <p:txBody>
          <a:bodyPr wrap="square" lIns="0" tIns="0" rIns="0" bIns="0" rtlCol="0" anchor="ctr"/>
          <a:lstStyle/>
          <a:p>
            <a:pPr algn="ctr" indent="0" marL="0">
              <a:buNone/>
            </a:pPr>
            <a:r>
              <a:rPr lang="en-US" sz="4800" b="1" dirty="0">
                <a:solidFill>
                  <a:srgbClr val="B9770E"/>
                </a:solidFill>
                <a:latin typeface="Calibri" pitchFamily="34" charset="0"/>
                <a:ea typeface="Calibri" pitchFamily="34" charset="-122"/>
                <a:cs typeface="Calibri" pitchFamily="34" charset="-120"/>
              </a:rPr>
              <a:t>=</a:t>
            </a:r>
            <a:endParaRPr lang="en-US" sz="4800" dirty="0"/>
          </a:p>
        </p:txBody>
      </p:sp>
      <p:sp>
        <p:nvSpPr>
          <p:cNvPr id="10" name="Card 135"/>
          <p:cNvSpPr/>
          <p:nvPr/>
        </p:nvSpPr>
        <p:spPr>
          <a:xfrm>
            <a:off x="5090008" y="2560320"/>
            <a:ext cx="2011680" cy="1463040"/>
          </a:xfrm>
          <a:prstGeom prst="roundRect">
            <a:avLst>
              <a:gd name="adj" fmla="val 11250"/>
            </a:avLst>
          </a:prstGeom>
          <a:solidFill>
            <a:srgbClr val="FFFFFF"/>
          </a:solidFill>
          <a:ln w="12700">
            <a:solidFill>
              <a:srgbClr val="D5E5E0"/>
            </a:solidFill>
            <a:prstDash val="solid"/>
          </a:ln>
          <a:effectLst>
            <a:outerShdw sx="100000" sy="100000" kx="0" ky="0" algn="bl" rotWithShape="0" blurRad="101600" dist="25400" dir="5400000">
              <a:srgbClr val="0F3D3A">
                <a:alpha val="10000"/>
              </a:srgbClr>
            </a:outerShdw>
          </a:effectLst>
        </p:spPr>
      </p:sp>
      <p:sp>
        <p:nvSpPr>
          <p:cNvPr id="11" name="Equation letter 136"/>
          <p:cNvSpPr txBox="1"/>
          <p:nvPr/>
        </p:nvSpPr>
        <p:spPr>
          <a:xfrm>
            <a:off x="5090008" y="2514600"/>
            <a:ext cx="2011680" cy="1463040"/>
          </a:xfrm>
          <a:prstGeom prst="rect">
            <a:avLst/>
          </a:prstGeom>
          <a:noFill/>
          <a:ln/>
        </p:spPr>
        <p:txBody>
          <a:bodyPr wrap="square" lIns="0" tIns="0" rIns="0" bIns="0" rtlCol="0" anchor="ctr"/>
          <a:lstStyle/>
          <a:p>
            <a:pPr rtl="1" algn="ctr" indent="0" marL="0">
              <a:buNone/>
            </a:pPr>
            <a:r>
              <a:rPr lang="ar-SA" altLang="en-US" sz="8000" dirty="0">
                <a:solidFill>
                  <a:srgbClr val="16302E"/>
                </a:solidFill>
                <a:latin typeface="Traditional Arabic" pitchFamily="34" charset="0"/>
                <a:ea typeface="Traditional Arabic" pitchFamily="34" charset="-122"/>
                <a:cs typeface="Traditional Arabic" pitchFamily="34" charset="-120"/>
              </a:rPr>
              <a:t>نَ</a:t>
            </a:r>
            <a:endParaRPr lang="ar-SA" sz="8000" dirty="0"/>
          </a:p>
        </p:txBody>
      </p:sp>
      <p:sp>
        <p:nvSpPr>
          <p:cNvPr id="12" name="Equation label 137"/>
          <p:cNvSpPr txBox="1"/>
          <p:nvPr/>
        </p:nvSpPr>
        <p:spPr>
          <a:xfrm>
            <a:off x="4907128" y="4114800"/>
            <a:ext cx="2377440" cy="365760"/>
          </a:xfrm>
          <a:prstGeom prst="rect">
            <a:avLst/>
          </a:prstGeom>
          <a:noFill/>
          <a:ln/>
        </p:spPr>
        <p:txBody>
          <a:bodyPr wrap="square" lIns="0" tIns="0" rIns="0" bIns="0" rtlCol="0" anchor="t"/>
          <a:lstStyle/>
          <a:p>
            <a:pPr algn="ctr" indent="0" marL="0">
              <a:buNone/>
            </a:pPr>
            <a:r>
              <a:rPr lang="en-US" sz="1800" b="1" dirty="0">
                <a:solidFill>
                  <a:srgbClr val="5D7774"/>
                </a:solidFill>
                <a:latin typeface="Calibri" pitchFamily="34" charset="0"/>
                <a:ea typeface="Calibri" pitchFamily="34" charset="-122"/>
                <a:cs typeface="Calibri" pitchFamily="34" charset="-120"/>
              </a:rPr>
              <a:t>2nd part: vowelled</a:t>
            </a:r>
            <a:endParaRPr lang="en-US" sz="1800" dirty="0"/>
          </a:p>
        </p:txBody>
      </p:sp>
      <p:sp>
        <p:nvSpPr>
          <p:cNvPr id="13" name="Operator 138"/>
          <p:cNvSpPr txBox="1"/>
          <p:nvPr/>
        </p:nvSpPr>
        <p:spPr>
          <a:xfrm>
            <a:off x="7101688" y="2560320"/>
            <a:ext cx="731520" cy="1463040"/>
          </a:xfrm>
          <a:prstGeom prst="rect">
            <a:avLst/>
          </a:prstGeom>
          <a:noFill/>
          <a:ln/>
        </p:spPr>
        <p:txBody>
          <a:bodyPr wrap="square" lIns="0" tIns="0" rIns="0" bIns="0" rtlCol="0" anchor="ctr"/>
          <a:lstStyle/>
          <a:p>
            <a:pPr algn="ctr" indent="0" marL="0">
              <a:buNone/>
            </a:pPr>
            <a:r>
              <a:rPr lang="en-US" sz="4800" b="1" dirty="0">
                <a:solidFill>
                  <a:srgbClr val="B9770E"/>
                </a:solidFill>
                <a:latin typeface="Calibri" pitchFamily="34" charset="0"/>
                <a:ea typeface="Calibri" pitchFamily="34" charset="-122"/>
                <a:cs typeface="Calibri" pitchFamily="34" charset="-120"/>
              </a:rPr>
              <a:t>+</a:t>
            </a:r>
            <a:endParaRPr lang="en-US" sz="4800" dirty="0"/>
          </a:p>
        </p:txBody>
      </p:sp>
      <p:sp>
        <p:nvSpPr>
          <p:cNvPr id="14" name="Card 139"/>
          <p:cNvSpPr/>
          <p:nvPr/>
        </p:nvSpPr>
        <p:spPr>
          <a:xfrm>
            <a:off x="7833208" y="2560320"/>
            <a:ext cx="2011680" cy="1463040"/>
          </a:xfrm>
          <a:prstGeom prst="roundRect">
            <a:avLst>
              <a:gd name="adj" fmla="val 11250"/>
            </a:avLst>
          </a:prstGeom>
          <a:solidFill>
            <a:srgbClr val="FFFFFF"/>
          </a:solidFill>
          <a:ln w="12700">
            <a:solidFill>
              <a:srgbClr val="D5E5E0"/>
            </a:solidFill>
            <a:prstDash val="solid"/>
          </a:ln>
          <a:effectLst>
            <a:outerShdw sx="100000" sy="100000" kx="0" ky="0" algn="bl" rotWithShape="0" blurRad="101600" dist="25400" dir="5400000">
              <a:srgbClr val="0F3D3A">
                <a:alpha val="10000"/>
              </a:srgbClr>
            </a:outerShdw>
          </a:effectLst>
        </p:spPr>
      </p:sp>
      <p:sp>
        <p:nvSpPr>
          <p:cNvPr id="15" name="Equation letter 140"/>
          <p:cNvSpPr txBox="1"/>
          <p:nvPr/>
        </p:nvSpPr>
        <p:spPr>
          <a:xfrm>
            <a:off x="7833208" y="2514600"/>
            <a:ext cx="2011680" cy="1463040"/>
          </a:xfrm>
          <a:prstGeom prst="rect">
            <a:avLst/>
          </a:prstGeom>
          <a:noFill/>
          <a:ln/>
        </p:spPr>
        <p:txBody>
          <a:bodyPr wrap="square" lIns="0" tIns="0" rIns="0" bIns="0" rtlCol="0" anchor="ctr"/>
          <a:lstStyle/>
          <a:p>
            <a:pPr rtl="1" algn="ctr" indent="0" marL="0">
              <a:buNone/>
            </a:pPr>
            <a:r>
              <a:rPr lang="ar-SA" altLang="en-US" sz="8000" dirty="0">
                <a:solidFill>
                  <a:srgbClr val="16302E"/>
                </a:solidFill>
                <a:latin typeface="Traditional Arabic" pitchFamily="34" charset="0"/>
                <a:ea typeface="Traditional Arabic" pitchFamily="34" charset="-122"/>
                <a:cs typeface="Traditional Arabic" pitchFamily="34" charset="-120"/>
              </a:rPr>
              <a:t>نْ</a:t>
            </a:r>
            <a:endParaRPr lang="ar-SA" sz="8000" dirty="0"/>
          </a:p>
        </p:txBody>
      </p:sp>
      <p:sp>
        <p:nvSpPr>
          <p:cNvPr id="16" name="Equation label 141"/>
          <p:cNvSpPr txBox="1"/>
          <p:nvPr/>
        </p:nvSpPr>
        <p:spPr>
          <a:xfrm>
            <a:off x="7650328" y="4114800"/>
            <a:ext cx="2377440" cy="365760"/>
          </a:xfrm>
          <a:prstGeom prst="rect">
            <a:avLst/>
          </a:prstGeom>
          <a:noFill/>
          <a:ln/>
        </p:spPr>
        <p:txBody>
          <a:bodyPr wrap="square" lIns="0" tIns="0" rIns="0" bIns="0" rtlCol="0" anchor="t"/>
          <a:lstStyle/>
          <a:p>
            <a:pPr algn="ctr" indent="0" marL="0">
              <a:buNone/>
            </a:pPr>
            <a:r>
              <a:rPr lang="en-US" sz="1800" b="1" dirty="0">
                <a:solidFill>
                  <a:srgbClr val="5D7774"/>
                </a:solidFill>
                <a:latin typeface="Calibri" pitchFamily="34" charset="0"/>
                <a:ea typeface="Calibri" pitchFamily="34" charset="-122"/>
                <a:cs typeface="Calibri" pitchFamily="34" charset="-120"/>
              </a:rPr>
              <a:t>1st part: saakin</a:t>
            </a:r>
            <a:endParaRPr lang="en-US" sz="1800" dirty="0"/>
          </a:p>
        </p:txBody>
      </p:sp>
      <p:sp>
        <p:nvSpPr>
          <p:cNvPr id="17" name="Direction note 142"/>
          <p:cNvSpPr txBox="1"/>
          <p:nvPr/>
        </p:nvSpPr>
        <p:spPr>
          <a:xfrm>
            <a:off x="6187288" y="2176272"/>
            <a:ext cx="3657600" cy="320040"/>
          </a:xfrm>
          <a:prstGeom prst="rect">
            <a:avLst/>
          </a:prstGeom>
          <a:noFill/>
          <a:ln/>
        </p:spPr>
        <p:txBody>
          <a:bodyPr wrap="square" lIns="0" tIns="0" rIns="0" bIns="0" rtlCol="0" anchor="t"/>
          <a:lstStyle/>
          <a:p>
            <a:pPr algn="r" indent="0" marL="0">
              <a:buNone/>
            </a:pPr>
            <a:r>
              <a:rPr lang="en-US" sz="1500" i="1" dirty="0">
                <a:solidFill>
                  <a:srgbClr val="5D7774"/>
                </a:solidFill>
                <a:latin typeface="Calibri" pitchFamily="34" charset="0"/>
                <a:ea typeface="Calibri" pitchFamily="34" charset="-122"/>
                <a:cs typeface="Calibri" pitchFamily="34" charset="-120"/>
              </a:rPr>
              <a:t>Arabic reads right to left  ←</a:t>
            </a:r>
            <a:endParaRPr lang="en-US" sz="1500" dirty="0"/>
          </a:p>
        </p:txBody>
      </p:sp>
      <p:sp>
        <p:nvSpPr>
          <p:cNvPr id="18" name="Ghunnah panel 143"/>
          <p:cNvSpPr/>
          <p:nvPr/>
        </p:nvSpPr>
        <p:spPr>
          <a:xfrm>
            <a:off x="548640" y="4663440"/>
            <a:ext cx="11094415" cy="1280160"/>
          </a:xfrm>
          <a:prstGeom prst="roundRect">
            <a:avLst>
              <a:gd name="adj" fmla="val 12857"/>
            </a:avLst>
          </a:prstGeom>
          <a:solidFill>
            <a:srgbClr val="E2F0EC"/>
          </a:solidFill>
          <a:ln w="12700">
            <a:solidFill>
              <a:srgbClr val="E2F0EC"/>
            </a:solidFill>
            <a:prstDash val="solid"/>
          </a:ln>
        </p:spPr>
      </p:sp>
      <p:sp>
        <p:nvSpPr>
          <p:cNvPr id="19" name="Nose circle 144"/>
          <p:cNvSpPr/>
          <p:nvPr/>
        </p:nvSpPr>
        <p:spPr>
          <a:xfrm>
            <a:off x="822960" y="4846320"/>
            <a:ext cx="914400" cy="914400"/>
          </a:xfrm>
          <a:prstGeom prst="ellipse">
            <a:avLst/>
          </a:prstGeom>
          <a:solidFill>
            <a:srgbClr val="1D7A6E"/>
          </a:solidFill>
          <a:ln w="12700">
            <a:solidFill>
              <a:srgbClr val="1D7A6E"/>
            </a:solidFill>
            <a:prstDash val="solid"/>
          </a:ln>
        </p:spPr>
      </p:sp>
      <p:pic>
        <p:nvPicPr>
          <p:cNvPr id="20" name="Nose glyph 145" descr="preencoded.png">    </p:cNvPr>
          <p:cNvPicPr>
            <a:picLocks noChangeAspect="1"/>
          </p:cNvPicPr>
          <p:nvPr/>
        </p:nvPicPr>
        <p:blipFill>
          <a:blip r:embed="rId1"/>
          <a:stretch>
            <a:fillRect/>
          </a:stretch>
        </p:blipFill>
        <p:spPr>
          <a:xfrm>
            <a:off x="1051560" y="5074920"/>
            <a:ext cx="457200" cy="457200"/>
          </a:xfrm>
          <a:prstGeom prst="rect">
            <a:avLst/>
          </a:prstGeom>
        </p:spPr>
      </p:pic>
      <p:sp>
        <p:nvSpPr>
          <p:cNvPr id="21" name="Ghunnah text 146"/>
          <p:cNvSpPr txBox="1"/>
          <p:nvPr/>
        </p:nvSpPr>
        <p:spPr>
          <a:xfrm>
            <a:off x="1965960" y="4709160"/>
            <a:ext cx="6675120" cy="1188720"/>
          </a:xfrm>
          <a:prstGeom prst="rect">
            <a:avLst/>
          </a:prstGeom>
          <a:noFill/>
          <a:ln/>
        </p:spPr>
        <p:txBody>
          <a:bodyPr wrap="square" lIns="0" tIns="0" rIns="0" bIns="0" rtlCol="0" anchor="ctr"/>
          <a:lstStyle/>
          <a:p>
            <a:pPr indent="0" marL="0">
              <a:buNone/>
            </a:pPr>
            <a:r>
              <a:rPr lang="en-US" sz="2400" dirty="0">
                <a:solidFill>
                  <a:srgbClr val="16302E"/>
                </a:solidFill>
                <a:latin typeface="Calibri" pitchFamily="34" charset="0"/>
                <a:ea typeface="Calibri" pitchFamily="34" charset="-122"/>
                <a:cs typeface="Calibri" pitchFamily="34" charset="-120"/>
              </a:rPr>
              <a:t>A doubled noon or meem has a clear ghunnah: the sound resonating through the nose.</a:t>
            </a:r>
            <a:endParaRPr lang="en-US" sz="2400" dirty="0"/>
          </a:p>
        </p:txBody>
      </p:sp>
      <p:pic>
        <p:nvPicPr>
          <p:cNvPr id="22" name="Nasal wave 147" descr="preencoded.png">    </p:cNvPr>
          <p:cNvPicPr>
            <a:picLocks noChangeAspect="1"/>
          </p:cNvPicPr>
          <p:nvPr/>
        </p:nvPicPr>
        <p:blipFill>
          <a:blip r:embed="rId2"/>
          <a:stretch>
            <a:fillRect/>
          </a:stretch>
        </p:blipFill>
        <p:spPr>
          <a:xfrm>
            <a:off x="8778240" y="4892040"/>
            <a:ext cx="2651760" cy="649224"/>
          </a:xfrm>
          <a:prstGeom prst="rect">
            <a:avLst/>
          </a:prstGeom>
        </p:spPr>
      </p:pic>
      <p:sp>
        <p:nvSpPr>
          <p:cNvPr id="23" name="Nav Home 148 LINK:title">
            <a:hlinkClick r:id="rIdJump1" action="ppaction://hlinksldjump"/>
          </p:cNvPr>
          <p:cNvSpPr/>
          <p:nvPr/>
        </p:nvSpPr>
        <p:spPr>
          <a:xfrm>
            <a:off x="548640" y="6236208"/>
            <a:ext cx="1234440" cy="420624"/>
          </a:xfrm>
          <a:prstGeom prst="roundRect">
            <a:avLst>
              <a:gd name="adj" fmla="val 47826"/>
            </a:avLst>
          </a:prstGeom>
          <a:solidFill>
            <a:srgbClr val="16302E"/>
          </a:solidFill>
          <a:ln>
            <a:solidFill>
              <a:srgbClr val="16302E"/>
            </a:solidFill>
          </a:ln>
        </p:spPr>
        <p:txBody>
          <a:bodyPr wrap="square" lIns="365760" tIns="0" rIns="9144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Home</a:t>
            </a:r>
            <a:endParaRPr lang="en-US" sz="1500" dirty="0"/>
          </a:p>
        </p:txBody>
      </p:sp>
      <p:pic>
        <p:nvPicPr>
          <p:cNvPr id="24" name="Button icon 149 LINK:title" descr="preencoded.png">
            <a:hlinkClick r:id="rIdJump2" action="ppaction://hlinksldjump"/>
          </p:cNvPr>
          <p:cNvPicPr>
            <a:picLocks noChangeAspect="1"/>
          </p:cNvPicPr>
          <p:nvPr/>
        </p:nvPicPr>
        <p:blipFill>
          <a:blip r:embed="rId3"/>
          <a:stretch>
            <a:fillRect/>
          </a:stretch>
        </p:blipFill>
        <p:spPr>
          <a:xfrm>
            <a:off x="749808" y="6336792"/>
            <a:ext cx="219456" cy="219456"/>
          </a:xfrm>
          <a:prstGeom prst="rect">
            <a:avLst/>
          </a:prstGeom>
        </p:spPr>
      </p:pic>
      <p:sp>
        <p:nvSpPr>
          <p:cNvPr id="25" name="Nav Menu 150 LINK:menu">
            <a:hlinkClick r:id="rIdJump3" action="ppaction://hlinksldjump"/>
          </p:cNvPr>
          <p:cNvSpPr/>
          <p:nvPr/>
        </p:nvSpPr>
        <p:spPr>
          <a:xfrm>
            <a:off x="1901952" y="6236208"/>
            <a:ext cx="1005840" cy="420624"/>
          </a:xfrm>
          <a:prstGeom prst="roundRect">
            <a:avLst>
              <a:gd name="adj" fmla="val 47826"/>
            </a:avLst>
          </a:prstGeom>
          <a:solidFill>
            <a:srgbClr val="FFFFFF"/>
          </a:solidFill>
          <a:ln w="19050">
            <a:solidFill>
              <a:srgbClr val="16302E"/>
            </a:solidFill>
          </a:ln>
        </p:spPr>
        <p:txBody>
          <a:bodyPr wrap="square" lIns="109728" tIns="0" rIns="109728" bIns="0" rtlCol="0" anchor="ctr"/>
          <a:lstStyle/>
          <a:p>
            <a:pPr algn="ctr" indent="0" marL="0">
              <a:buNone/>
            </a:pPr>
            <a:r>
              <a:rPr lang="en-US" sz="1500" b="1" dirty="0">
                <a:solidFill>
                  <a:srgbClr val="16302E"/>
                </a:solidFill>
                <a:latin typeface="Calibri" pitchFamily="34" charset="0"/>
                <a:ea typeface="Calibri" pitchFamily="34" charset="-122"/>
                <a:cs typeface="Calibri" pitchFamily="34" charset="-120"/>
              </a:rPr>
              <a:t>Menu</a:t>
            </a:r>
            <a:endParaRPr lang="en-US" sz="1500" dirty="0"/>
          </a:p>
        </p:txBody>
      </p:sp>
      <p:sp>
        <p:nvSpPr>
          <p:cNvPr id="26" name="Slide counter 151"/>
          <p:cNvSpPr txBox="1"/>
          <p:nvPr/>
        </p:nvSpPr>
        <p:spPr>
          <a:xfrm>
            <a:off x="5184648" y="6236208"/>
            <a:ext cx="1828800" cy="420624"/>
          </a:xfrm>
          <a:prstGeom prst="rect">
            <a:avLst/>
          </a:prstGeom>
          <a:noFill/>
          <a:ln/>
        </p:spPr>
        <p:txBody>
          <a:bodyPr wrap="square" lIns="0" tIns="0" rIns="0" bIns="0" rtlCol="0" anchor="ctr"/>
          <a:lstStyle/>
          <a:p>
            <a:pPr algn="ctr" indent="0" marL="0">
              <a:buNone/>
            </a:pPr>
            <a:r>
              <a:rPr lang="en-US" sz="1400" dirty="0">
                <a:solidFill>
                  <a:srgbClr val="5D7774"/>
                </a:solidFill>
                <a:latin typeface="Calibri" pitchFamily="34" charset="0"/>
                <a:ea typeface="Calibri" pitchFamily="34" charset="-122"/>
                <a:cs typeface="Calibri" pitchFamily="34" charset="-120"/>
              </a:rPr>
              <a:t>5 / 18</a:t>
            </a:r>
            <a:endParaRPr lang="en-US" sz="1400" dirty="0"/>
          </a:p>
        </p:txBody>
      </p:sp>
      <p:sp>
        <p:nvSpPr>
          <p:cNvPr id="27" name="Nav Back 152 LINK:warm">
            <a:hlinkClick r:id="rIdJump4" action="ppaction://hlinksldjump"/>
          </p:cNvPr>
          <p:cNvSpPr/>
          <p:nvPr/>
        </p:nvSpPr>
        <p:spPr>
          <a:xfrm>
            <a:off x="9052560" y="6236208"/>
            <a:ext cx="1234440" cy="420624"/>
          </a:xfrm>
          <a:prstGeom prst="roundRect">
            <a:avLst>
              <a:gd name="adj" fmla="val 47826"/>
            </a:avLst>
          </a:prstGeom>
          <a:solidFill>
            <a:srgbClr val="FFFFFF"/>
          </a:solidFill>
          <a:ln w="19050">
            <a:solidFill>
              <a:srgbClr val="1D7A6E"/>
            </a:solidFill>
          </a:ln>
        </p:spPr>
        <p:txBody>
          <a:bodyPr wrap="square" lIns="109728" tIns="0" rIns="109728" bIns="0" rtlCol="0" anchor="ctr"/>
          <a:lstStyle/>
          <a:p>
            <a:pPr algn="ctr" indent="0" marL="0">
              <a:buNone/>
            </a:pPr>
            <a:r>
              <a:rPr lang="en-US" sz="1500" b="1" dirty="0">
                <a:solidFill>
                  <a:srgbClr val="1D7A6E"/>
                </a:solidFill>
                <a:latin typeface="Calibri" pitchFamily="34" charset="0"/>
                <a:ea typeface="Calibri" pitchFamily="34" charset="-122"/>
                <a:cs typeface="Calibri" pitchFamily="34" charset="-120"/>
              </a:rPr>
              <a:t>‹  Back</a:t>
            </a:r>
            <a:endParaRPr lang="en-US" sz="1500" dirty="0"/>
          </a:p>
        </p:txBody>
      </p:sp>
      <p:sp>
        <p:nvSpPr>
          <p:cNvPr id="28" name="Nav Next 153 LINK:cues">
            <a:hlinkClick r:id="rIdJump5" action="ppaction://hlinksldjump"/>
          </p:cNvPr>
          <p:cNvSpPr/>
          <p:nvPr/>
        </p:nvSpPr>
        <p:spPr>
          <a:xfrm>
            <a:off x="10405872" y="6236208"/>
            <a:ext cx="1234440" cy="420624"/>
          </a:xfrm>
          <a:prstGeom prst="roundRect">
            <a:avLst>
              <a:gd name="adj" fmla="val 47826"/>
            </a:avLst>
          </a:prstGeom>
          <a:solidFill>
            <a:srgbClr val="1D7A6E"/>
          </a:solidFill>
          <a:ln>
            <a:solidFill>
              <a:srgbClr val="1D7A6E"/>
            </a:solidFill>
          </a:ln>
        </p:spPr>
        <p:txBody>
          <a:bodyPr wrap="square" lIns="109728" tIns="0" rIns="109728"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Next  ›</a:t>
            </a:r>
            <a:endParaRPr lang="en-US" sz="1500" dirty="0"/>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Kicker 154"/>
          <p:cNvSpPr txBox="1"/>
          <p:nvPr/>
        </p:nvSpPr>
        <p:spPr>
          <a:xfrm>
            <a:off x="548640" y="329184"/>
            <a:ext cx="7315200" cy="292608"/>
          </a:xfrm>
          <a:prstGeom prst="rect">
            <a:avLst/>
          </a:prstGeom>
          <a:noFill/>
          <a:ln/>
        </p:spPr>
        <p:txBody>
          <a:bodyPr wrap="square" lIns="0" tIns="0" rIns="0" bIns="0" rtlCol="0" anchor="t"/>
          <a:lstStyle/>
          <a:p>
            <a:pPr indent="0" marL="0">
              <a:buNone/>
            </a:pPr>
            <a:r>
              <a:rPr lang="en-US" sz="1400" b="1" spc="300" kern="0" dirty="0">
                <a:solidFill>
                  <a:srgbClr val="1D7A6E"/>
                </a:solidFill>
                <a:latin typeface="Calibri" pitchFamily="34" charset="0"/>
                <a:ea typeface="Calibri" pitchFamily="34" charset="-122"/>
                <a:cs typeface="Calibri" pitchFamily="34" charset="-120"/>
              </a:rPr>
              <a:t>SPOT IT IN THE MUSHAF</a:t>
            </a:r>
            <a:endParaRPr lang="en-US" sz="1400" dirty="0"/>
          </a:p>
        </p:txBody>
      </p:sp>
      <p:sp>
        <p:nvSpPr>
          <p:cNvPr id="3" name="Text 0"/>
          <p:cNvSpPr/>
          <p:nvPr>
            <p:ph idx="100" type="title" hasCustomPrompt="1"/>
          </p:nvPr>
        </p:nvSpPr>
        <p:spPr>
          <a:xfrm>
            <a:off x="548640" y="658368"/>
            <a:ext cx="9052560" cy="731520"/>
          </a:xfrm>
          <a:prstGeom prst="rect">
            <a:avLst/>
          </a:prstGeom>
          <a:noFill/>
          <a:ln/>
        </p:spPr>
        <p:txBody>
          <a:bodyPr wrap="square" lIns="0" tIns="0" rIns="0" bIns="0" rtlCol="0" anchor="t"/>
          <a:lstStyle/>
          <a:p>
            <a:pPr algn="l" indent="0" marL="0">
              <a:buNone/>
            </a:pPr>
            <a:r>
              <a:rPr lang="en-US" sz="3600" b="1" dirty="0">
                <a:solidFill>
                  <a:srgbClr val="16302E"/>
                </a:solidFill>
                <a:latin typeface="Calibri" pitchFamily="34" charset="0"/>
                <a:ea typeface="Calibri" pitchFamily="34" charset="-122"/>
                <a:cs typeface="Calibri" pitchFamily="34" charset="-120"/>
              </a:rPr>
              <a:t>Look above noon and meem</a:t>
            </a:r>
            <a:endParaRPr lang="en-US" sz="3600" dirty="0"/>
          </a:p>
        </p:txBody>
      </p:sp>
      <p:sp>
        <p:nvSpPr>
          <p:cNvPr id="4" name="Route chip 155"/>
          <p:cNvSpPr/>
          <p:nvPr/>
        </p:nvSpPr>
        <p:spPr>
          <a:xfrm>
            <a:off x="10012680" y="365760"/>
            <a:ext cx="1627632" cy="384048"/>
          </a:xfrm>
          <a:prstGeom prst="roundRect">
            <a:avLst>
              <a:gd name="adj" fmla="val 47619"/>
            </a:avLst>
          </a:prstGeom>
          <a:solidFill>
            <a:srgbClr val="1D7A6E"/>
          </a:solidFill>
          <a:ln>
            <a:solidFill>
              <a:srgbClr val="1D7A6E"/>
            </a:solidFill>
          </a:ln>
        </p:spPr>
        <p:txBody>
          <a:bodyPr wrap="square" lIns="0" tIns="0" rIns="0" bIns="0" rtlCol="0" anchor="ctr"/>
          <a:lstStyle/>
          <a:p>
            <a:pPr algn="ctr" indent="0" marL="0">
              <a:buNone/>
            </a:pPr>
            <a:r>
              <a:rPr lang="en-US" sz="1300" b="1" spc="200" kern="0" dirty="0">
                <a:solidFill>
                  <a:srgbClr val="FFFFFF"/>
                </a:solidFill>
                <a:latin typeface="Calibri" pitchFamily="34" charset="0"/>
                <a:ea typeface="Calibri" pitchFamily="34" charset="-122"/>
                <a:cs typeface="Calibri" pitchFamily="34" charset="-120"/>
              </a:rPr>
              <a:t>GUIDED</a:t>
            </a:r>
            <a:endParaRPr lang="en-US" sz="1300" dirty="0"/>
          </a:p>
        </p:txBody>
      </p:sp>
      <p:sp>
        <p:nvSpPr>
          <p:cNvPr id="5" name="Letter tile 156"/>
          <p:cNvSpPr/>
          <p:nvPr/>
        </p:nvSpPr>
        <p:spPr>
          <a:xfrm>
            <a:off x="548640" y="1600200"/>
            <a:ext cx="2697480" cy="1874520"/>
          </a:xfrm>
          <a:prstGeom prst="roundRect">
            <a:avLst>
              <a:gd name="adj" fmla="val 8780"/>
            </a:avLst>
          </a:prstGeom>
          <a:solidFill>
            <a:srgbClr val="E2F0EC"/>
          </a:solidFill>
          <a:ln w="12700">
            <a:solidFill>
              <a:srgbClr val="E2F0EC"/>
            </a:solidFill>
            <a:prstDash val="solid"/>
          </a:ln>
        </p:spPr>
      </p:sp>
      <p:sp>
        <p:nvSpPr>
          <p:cNvPr id="6" name="Letter 157"/>
          <p:cNvSpPr txBox="1"/>
          <p:nvPr/>
        </p:nvSpPr>
        <p:spPr>
          <a:xfrm>
            <a:off x="548640" y="1691640"/>
            <a:ext cx="2697480" cy="1234440"/>
          </a:xfrm>
          <a:prstGeom prst="rect">
            <a:avLst/>
          </a:prstGeom>
          <a:noFill/>
          <a:ln/>
        </p:spPr>
        <p:txBody>
          <a:bodyPr wrap="square" lIns="0" tIns="0" rIns="0" bIns="0" rtlCol="0" anchor="ctr"/>
          <a:lstStyle/>
          <a:p>
            <a:pPr rtl="1" algn="ctr" indent="0" marL="0">
              <a:buNone/>
            </a:pPr>
            <a:r>
              <a:rPr lang="ar-SA" altLang="en-US" sz="6400" dirty="0">
                <a:solidFill>
                  <a:srgbClr val="0F5148"/>
                </a:solidFill>
                <a:latin typeface="Traditional Arabic" pitchFamily="34" charset="0"/>
                <a:ea typeface="Traditional Arabic" pitchFamily="34" charset="-122"/>
                <a:cs typeface="Traditional Arabic" pitchFamily="34" charset="-120"/>
              </a:rPr>
              <a:t>نّ</a:t>
            </a:r>
            <a:endParaRPr lang="ar-SA" sz="6400" dirty="0"/>
          </a:p>
        </p:txBody>
      </p:sp>
      <p:sp>
        <p:nvSpPr>
          <p:cNvPr id="7" name="Letter label 158"/>
          <p:cNvSpPr txBox="1"/>
          <p:nvPr/>
        </p:nvSpPr>
        <p:spPr>
          <a:xfrm>
            <a:off x="548640" y="3035808"/>
            <a:ext cx="2697480" cy="365760"/>
          </a:xfrm>
          <a:prstGeom prst="rect">
            <a:avLst/>
          </a:prstGeom>
          <a:noFill/>
          <a:ln/>
        </p:spPr>
        <p:txBody>
          <a:bodyPr wrap="square" lIns="0" tIns="0" rIns="0" bIns="0" rtlCol="0" anchor="t"/>
          <a:lstStyle/>
          <a:p>
            <a:pPr algn="ctr" indent="0" marL="0">
              <a:buNone/>
            </a:pPr>
            <a:r>
              <a:rPr lang="en-US" sz="1800" b="1" dirty="0">
                <a:solidFill>
                  <a:srgbClr val="1D7A6E"/>
                </a:solidFill>
                <a:latin typeface="Calibri" pitchFamily="34" charset="0"/>
                <a:ea typeface="Calibri" pitchFamily="34" charset="-122"/>
                <a:cs typeface="Calibri" pitchFamily="34" charset="-120"/>
              </a:rPr>
              <a:t>noon + shaddah</a:t>
            </a:r>
            <a:endParaRPr lang="en-US" sz="1800" dirty="0"/>
          </a:p>
        </p:txBody>
      </p:sp>
      <p:sp>
        <p:nvSpPr>
          <p:cNvPr id="8" name="Letter tile 159"/>
          <p:cNvSpPr/>
          <p:nvPr/>
        </p:nvSpPr>
        <p:spPr>
          <a:xfrm>
            <a:off x="3429000" y="1600200"/>
            <a:ext cx="2697480" cy="1874520"/>
          </a:xfrm>
          <a:prstGeom prst="roundRect">
            <a:avLst>
              <a:gd name="adj" fmla="val 8780"/>
            </a:avLst>
          </a:prstGeom>
          <a:solidFill>
            <a:srgbClr val="E2F0EC"/>
          </a:solidFill>
          <a:ln w="12700">
            <a:solidFill>
              <a:srgbClr val="E2F0EC"/>
            </a:solidFill>
            <a:prstDash val="solid"/>
          </a:ln>
        </p:spPr>
      </p:sp>
      <p:sp>
        <p:nvSpPr>
          <p:cNvPr id="9" name="Letter 160"/>
          <p:cNvSpPr txBox="1"/>
          <p:nvPr/>
        </p:nvSpPr>
        <p:spPr>
          <a:xfrm>
            <a:off x="3429000" y="1691640"/>
            <a:ext cx="2697480" cy="1234440"/>
          </a:xfrm>
          <a:prstGeom prst="rect">
            <a:avLst/>
          </a:prstGeom>
          <a:noFill/>
          <a:ln/>
        </p:spPr>
        <p:txBody>
          <a:bodyPr wrap="square" lIns="0" tIns="0" rIns="0" bIns="0" rtlCol="0" anchor="ctr"/>
          <a:lstStyle/>
          <a:p>
            <a:pPr rtl="1" algn="ctr" indent="0" marL="0">
              <a:buNone/>
            </a:pPr>
            <a:r>
              <a:rPr lang="ar-SA" altLang="en-US" sz="6400" dirty="0">
                <a:solidFill>
                  <a:srgbClr val="0F5148"/>
                </a:solidFill>
                <a:latin typeface="Traditional Arabic" pitchFamily="34" charset="0"/>
                <a:ea typeface="Traditional Arabic" pitchFamily="34" charset="-122"/>
                <a:cs typeface="Traditional Arabic" pitchFamily="34" charset="-120"/>
              </a:rPr>
              <a:t>مّ</a:t>
            </a:r>
            <a:endParaRPr lang="ar-SA" sz="6400" dirty="0"/>
          </a:p>
        </p:txBody>
      </p:sp>
      <p:sp>
        <p:nvSpPr>
          <p:cNvPr id="10" name="Letter label 161"/>
          <p:cNvSpPr txBox="1"/>
          <p:nvPr/>
        </p:nvSpPr>
        <p:spPr>
          <a:xfrm>
            <a:off x="3429000" y="3035808"/>
            <a:ext cx="2697480" cy="365760"/>
          </a:xfrm>
          <a:prstGeom prst="rect">
            <a:avLst/>
          </a:prstGeom>
          <a:noFill/>
          <a:ln/>
        </p:spPr>
        <p:txBody>
          <a:bodyPr wrap="square" lIns="0" tIns="0" rIns="0" bIns="0" rtlCol="0" anchor="t"/>
          <a:lstStyle/>
          <a:p>
            <a:pPr algn="ctr" indent="0" marL="0">
              <a:buNone/>
            </a:pPr>
            <a:r>
              <a:rPr lang="en-US" sz="1800" b="1" dirty="0">
                <a:solidFill>
                  <a:srgbClr val="1D7A6E"/>
                </a:solidFill>
                <a:latin typeface="Calibri" pitchFamily="34" charset="0"/>
                <a:ea typeface="Calibri" pitchFamily="34" charset="-122"/>
                <a:cs typeface="Calibri" pitchFamily="34" charset="-120"/>
              </a:rPr>
              <a:t>meem + shaddah</a:t>
            </a:r>
            <a:endParaRPr lang="en-US" sz="1800" dirty="0"/>
          </a:p>
        </p:txBody>
      </p:sp>
      <p:sp>
        <p:nvSpPr>
          <p:cNvPr id="11" name="Cue circle 162"/>
          <p:cNvSpPr/>
          <p:nvPr/>
        </p:nvSpPr>
        <p:spPr>
          <a:xfrm>
            <a:off x="548640" y="3840480"/>
            <a:ext cx="731520" cy="731520"/>
          </a:xfrm>
          <a:prstGeom prst="ellipse">
            <a:avLst/>
          </a:prstGeom>
          <a:solidFill>
            <a:srgbClr val="1D7A6E"/>
          </a:solidFill>
          <a:ln w="12700">
            <a:solidFill>
              <a:srgbClr val="1D7A6E"/>
            </a:solidFill>
            <a:prstDash val="solid"/>
          </a:ln>
        </p:spPr>
      </p:sp>
      <p:pic>
        <p:nvPicPr>
          <p:cNvPr id="12" name="Cue glyph 163" descr="preencoded.png">    </p:cNvPr>
          <p:cNvPicPr>
            <a:picLocks noChangeAspect="1"/>
          </p:cNvPicPr>
          <p:nvPr/>
        </p:nvPicPr>
        <p:blipFill>
          <a:blip r:embed="rId1"/>
          <a:stretch>
            <a:fillRect/>
          </a:stretch>
        </p:blipFill>
        <p:spPr>
          <a:xfrm>
            <a:off x="731520" y="4023360"/>
            <a:ext cx="365760" cy="365760"/>
          </a:xfrm>
          <a:prstGeom prst="rect">
            <a:avLst/>
          </a:prstGeom>
        </p:spPr>
      </p:pic>
      <p:sp>
        <p:nvSpPr>
          <p:cNvPr id="13" name="Cue text 164"/>
          <p:cNvSpPr txBox="1"/>
          <p:nvPr/>
        </p:nvSpPr>
        <p:spPr>
          <a:xfrm>
            <a:off x="1508760" y="3749040"/>
            <a:ext cx="4754880" cy="960120"/>
          </a:xfrm>
          <a:prstGeom prst="rect">
            <a:avLst/>
          </a:prstGeom>
          <a:noFill/>
          <a:ln/>
        </p:spPr>
        <p:txBody>
          <a:bodyPr wrap="square" lIns="0" tIns="0" rIns="0" bIns="0" rtlCol="0" anchor="ctr"/>
          <a:lstStyle/>
          <a:p>
            <a:pPr indent="0" marL="0">
              <a:buNone/>
            </a:pPr>
            <a:r>
              <a:rPr lang="en-US" sz="2400" dirty="0">
                <a:solidFill>
                  <a:srgbClr val="16302E"/>
                </a:solidFill>
                <a:latin typeface="Calibri" pitchFamily="34" charset="0"/>
                <a:ea typeface="Calibri" pitchFamily="34" charset="-122"/>
                <a:cs typeface="Calibri" pitchFamily="34" charset="-120"/>
              </a:rPr>
              <a:t>Look for shaddah above noon or meem.</a:t>
            </a:r>
            <a:endParaRPr lang="en-US" sz="2400" dirty="0"/>
          </a:p>
        </p:txBody>
      </p:sp>
      <p:sp>
        <p:nvSpPr>
          <p:cNvPr id="14" name="Cue circle 165"/>
          <p:cNvSpPr/>
          <p:nvPr/>
        </p:nvSpPr>
        <p:spPr>
          <a:xfrm>
            <a:off x="548640" y="4937760"/>
            <a:ext cx="731520" cy="731520"/>
          </a:xfrm>
          <a:prstGeom prst="ellipse">
            <a:avLst/>
          </a:prstGeom>
          <a:solidFill>
            <a:srgbClr val="B9770E"/>
          </a:solidFill>
          <a:ln w="12700">
            <a:solidFill>
              <a:srgbClr val="B9770E"/>
            </a:solidFill>
            <a:prstDash val="solid"/>
          </a:ln>
        </p:spPr>
      </p:sp>
      <p:pic>
        <p:nvPicPr>
          <p:cNvPr id="15" name="Cue glyph 166" descr="preencoded.png">    </p:cNvPr>
          <p:cNvPicPr>
            <a:picLocks noChangeAspect="1"/>
          </p:cNvPicPr>
          <p:nvPr/>
        </p:nvPicPr>
        <p:blipFill>
          <a:blip r:embed="rId2"/>
          <a:stretch>
            <a:fillRect/>
          </a:stretch>
        </p:blipFill>
        <p:spPr>
          <a:xfrm>
            <a:off x="731520" y="5120640"/>
            <a:ext cx="365760" cy="365760"/>
          </a:xfrm>
          <a:prstGeom prst="rect">
            <a:avLst/>
          </a:prstGeom>
        </p:spPr>
      </p:pic>
      <p:sp>
        <p:nvSpPr>
          <p:cNvPr id="16" name="Cue text 167"/>
          <p:cNvSpPr txBox="1"/>
          <p:nvPr/>
        </p:nvSpPr>
        <p:spPr>
          <a:xfrm>
            <a:off x="1508760" y="4846320"/>
            <a:ext cx="4754880" cy="960120"/>
          </a:xfrm>
          <a:prstGeom prst="rect">
            <a:avLst/>
          </a:prstGeom>
          <a:noFill/>
          <a:ln/>
        </p:spPr>
        <p:txBody>
          <a:bodyPr wrap="square" lIns="0" tIns="0" rIns="0" bIns="0" rtlCol="0" anchor="ctr"/>
          <a:lstStyle/>
          <a:p>
            <a:pPr indent="0" marL="0">
              <a:buNone/>
            </a:pPr>
            <a:r>
              <a:rPr lang="en-US" sz="2400" dirty="0">
                <a:solidFill>
                  <a:srgbClr val="16302E"/>
                </a:solidFill>
                <a:latin typeface="Calibri" pitchFamily="34" charset="0"/>
                <a:ea typeface="Calibri" pitchFamily="34" charset="-122"/>
                <a:cs typeface="Calibri" pitchFamily="34" charset="-120"/>
              </a:rPr>
              <a:t>A ghunnah is a nasal sound, not an extra letter.</a:t>
            </a:r>
            <a:endParaRPr lang="en-US" sz="2400" dirty="0"/>
          </a:p>
        </p:txBody>
      </p:sp>
      <p:sp>
        <p:nvSpPr>
          <p:cNvPr id="17" name="Image frame 168"/>
          <p:cNvSpPr/>
          <p:nvPr/>
        </p:nvSpPr>
        <p:spPr>
          <a:xfrm>
            <a:off x="6464808" y="1664208"/>
            <a:ext cx="5175504" cy="2975229"/>
          </a:xfrm>
          <a:prstGeom prst="roundRect">
            <a:avLst>
              <a:gd name="adj" fmla="val 5532"/>
            </a:avLst>
          </a:prstGeom>
          <a:solidFill>
            <a:srgbClr val="FFFFFF"/>
          </a:solidFill>
          <a:ln w="12700">
            <a:solidFill>
              <a:srgbClr val="D5E5E0"/>
            </a:solidFill>
            <a:prstDash val="solid"/>
          </a:ln>
          <a:effectLst>
            <a:outerShdw sx="100000" sy="100000" kx="0" ky="0" algn="bl" rotWithShape="0" blurRad="101600" dist="25400" dir="5400000">
              <a:srgbClr val="0F3D3A">
                <a:alpha val="10000"/>
              </a:srgbClr>
            </a:outerShdw>
          </a:effectLst>
        </p:spPr>
      </p:sp>
      <p:pic>
        <p:nvPicPr>
          <p:cNvPr id="18" name="Lesson card 1: the rule 169" descr="Lesson card 1: the rule">    </p:cNvPr>
          <p:cNvPicPr>
            <a:picLocks noChangeAspect="1"/>
          </p:cNvPicPr>
          <p:nvPr/>
        </p:nvPicPr>
        <p:blipFill>
          <a:blip r:embed="rId3"/>
          <a:stretch>
            <a:fillRect/>
          </a:stretch>
        </p:blipFill>
        <p:spPr>
          <a:xfrm>
            <a:off x="6537960" y="1737360"/>
            <a:ext cx="5029200" cy="2828925"/>
          </a:xfrm>
          <a:prstGeom prst="rect">
            <a:avLst/>
          </a:prstGeom>
        </p:spPr>
      </p:pic>
      <p:sp>
        <p:nvSpPr>
          <p:cNvPr id="19" name="Image caption 170"/>
          <p:cNvSpPr txBox="1"/>
          <p:nvPr/>
        </p:nvSpPr>
        <p:spPr>
          <a:xfrm>
            <a:off x="6537960" y="4694301"/>
            <a:ext cx="5029200" cy="274320"/>
          </a:xfrm>
          <a:prstGeom prst="rect">
            <a:avLst/>
          </a:prstGeom>
          <a:noFill/>
          <a:ln/>
        </p:spPr>
        <p:txBody>
          <a:bodyPr wrap="square" lIns="0" tIns="0" rIns="0" bIns="0" rtlCol="0" anchor="t"/>
          <a:lstStyle/>
          <a:p>
            <a:pPr algn="ctr" indent="0" marL="0">
              <a:buNone/>
            </a:pPr>
            <a:r>
              <a:rPr lang="en-US" sz="1400" i="1" dirty="0">
                <a:solidFill>
                  <a:srgbClr val="5D7774"/>
                </a:solidFill>
                <a:latin typeface="Calibri" pitchFamily="34" charset="0"/>
                <a:ea typeface="Calibri" pitchFamily="34" charset="-122"/>
                <a:cs typeface="Calibri" pitchFamily="34" charset="-120"/>
              </a:rPr>
              <a:t>Lesson card 1: the rule</a:t>
            </a:r>
            <a:endParaRPr lang="en-US" sz="1400" dirty="0"/>
          </a:p>
        </p:txBody>
      </p:sp>
      <p:sp>
        <p:nvSpPr>
          <p:cNvPr id="20" name="Nav Home 171 LINK:title">
            <a:hlinkClick r:id="rIdJump1" action="ppaction://hlinksldjump"/>
          </p:cNvPr>
          <p:cNvSpPr/>
          <p:nvPr/>
        </p:nvSpPr>
        <p:spPr>
          <a:xfrm>
            <a:off x="548640" y="6236208"/>
            <a:ext cx="1234440" cy="420624"/>
          </a:xfrm>
          <a:prstGeom prst="roundRect">
            <a:avLst>
              <a:gd name="adj" fmla="val 47826"/>
            </a:avLst>
          </a:prstGeom>
          <a:solidFill>
            <a:srgbClr val="16302E"/>
          </a:solidFill>
          <a:ln>
            <a:solidFill>
              <a:srgbClr val="16302E"/>
            </a:solidFill>
          </a:ln>
        </p:spPr>
        <p:txBody>
          <a:bodyPr wrap="square" lIns="365760" tIns="0" rIns="9144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Home</a:t>
            </a:r>
            <a:endParaRPr lang="en-US" sz="1500" dirty="0"/>
          </a:p>
        </p:txBody>
      </p:sp>
      <p:pic>
        <p:nvPicPr>
          <p:cNvPr id="21" name="Button icon 172 LINK:title" descr="preencoded.png">
            <a:hlinkClick r:id="rIdJump2" action="ppaction://hlinksldjump"/>
          </p:cNvPr>
          <p:cNvPicPr>
            <a:picLocks noChangeAspect="1"/>
          </p:cNvPicPr>
          <p:nvPr/>
        </p:nvPicPr>
        <p:blipFill>
          <a:blip r:embed="rId4"/>
          <a:stretch>
            <a:fillRect/>
          </a:stretch>
        </p:blipFill>
        <p:spPr>
          <a:xfrm>
            <a:off x="749808" y="6336792"/>
            <a:ext cx="219456" cy="219456"/>
          </a:xfrm>
          <a:prstGeom prst="rect">
            <a:avLst/>
          </a:prstGeom>
        </p:spPr>
      </p:pic>
      <p:sp>
        <p:nvSpPr>
          <p:cNvPr id="22" name="Nav Menu 173 LINK:menu">
            <a:hlinkClick r:id="rIdJump3" action="ppaction://hlinksldjump"/>
          </p:cNvPr>
          <p:cNvSpPr/>
          <p:nvPr/>
        </p:nvSpPr>
        <p:spPr>
          <a:xfrm>
            <a:off x="1901952" y="6236208"/>
            <a:ext cx="1005840" cy="420624"/>
          </a:xfrm>
          <a:prstGeom prst="roundRect">
            <a:avLst>
              <a:gd name="adj" fmla="val 47826"/>
            </a:avLst>
          </a:prstGeom>
          <a:solidFill>
            <a:srgbClr val="FFFFFF"/>
          </a:solidFill>
          <a:ln w="19050">
            <a:solidFill>
              <a:srgbClr val="16302E"/>
            </a:solidFill>
          </a:ln>
        </p:spPr>
        <p:txBody>
          <a:bodyPr wrap="square" lIns="109728" tIns="0" rIns="109728" bIns="0" rtlCol="0" anchor="ctr"/>
          <a:lstStyle/>
          <a:p>
            <a:pPr algn="ctr" indent="0" marL="0">
              <a:buNone/>
            </a:pPr>
            <a:r>
              <a:rPr lang="en-US" sz="1500" b="1" dirty="0">
                <a:solidFill>
                  <a:srgbClr val="16302E"/>
                </a:solidFill>
                <a:latin typeface="Calibri" pitchFamily="34" charset="0"/>
                <a:ea typeface="Calibri" pitchFamily="34" charset="-122"/>
                <a:cs typeface="Calibri" pitchFamily="34" charset="-120"/>
              </a:rPr>
              <a:t>Menu</a:t>
            </a:r>
            <a:endParaRPr lang="en-US" sz="1500" dirty="0"/>
          </a:p>
        </p:txBody>
      </p:sp>
      <p:sp>
        <p:nvSpPr>
          <p:cNvPr id="23" name="Slide counter 174"/>
          <p:cNvSpPr txBox="1"/>
          <p:nvPr/>
        </p:nvSpPr>
        <p:spPr>
          <a:xfrm>
            <a:off x="5184648" y="6236208"/>
            <a:ext cx="1828800" cy="420624"/>
          </a:xfrm>
          <a:prstGeom prst="rect">
            <a:avLst/>
          </a:prstGeom>
          <a:noFill/>
          <a:ln/>
        </p:spPr>
        <p:txBody>
          <a:bodyPr wrap="square" lIns="0" tIns="0" rIns="0" bIns="0" rtlCol="0" anchor="ctr"/>
          <a:lstStyle/>
          <a:p>
            <a:pPr algn="ctr" indent="0" marL="0">
              <a:buNone/>
            </a:pPr>
            <a:r>
              <a:rPr lang="en-US" sz="1400" dirty="0">
                <a:solidFill>
                  <a:srgbClr val="5D7774"/>
                </a:solidFill>
                <a:latin typeface="Calibri" pitchFamily="34" charset="0"/>
                <a:ea typeface="Calibri" pitchFamily="34" charset="-122"/>
                <a:cs typeface="Calibri" pitchFamily="34" charset="-120"/>
              </a:rPr>
              <a:t>6 / 18</a:t>
            </a:r>
            <a:endParaRPr lang="en-US" sz="1400" dirty="0"/>
          </a:p>
        </p:txBody>
      </p:sp>
      <p:sp>
        <p:nvSpPr>
          <p:cNvPr id="24" name="Nav Back 175 LINK:idea">
            <a:hlinkClick r:id="rIdJump4" action="ppaction://hlinksldjump"/>
          </p:cNvPr>
          <p:cNvSpPr/>
          <p:nvPr/>
        </p:nvSpPr>
        <p:spPr>
          <a:xfrm>
            <a:off x="9052560" y="6236208"/>
            <a:ext cx="1234440" cy="420624"/>
          </a:xfrm>
          <a:prstGeom prst="roundRect">
            <a:avLst>
              <a:gd name="adj" fmla="val 47826"/>
            </a:avLst>
          </a:prstGeom>
          <a:solidFill>
            <a:srgbClr val="FFFFFF"/>
          </a:solidFill>
          <a:ln w="19050">
            <a:solidFill>
              <a:srgbClr val="1D7A6E"/>
            </a:solidFill>
          </a:ln>
        </p:spPr>
        <p:txBody>
          <a:bodyPr wrap="square" lIns="109728" tIns="0" rIns="109728" bIns="0" rtlCol="0" anchor="ctr"/>
          <a:lstStyle/>
          <a:p>
            <a:pPr algn="ctr" indent="0" marL="0">
              <a:buNone/>
            </a:pPr>
            <a:r>
              <a:rPr lang="en-US" sz="1500" b="1" dirty="0">
                <a:solidFill>
                  <a:srgbClr val="1D7A6E"/>
                </a:solidFill>
                <a:latin typeface="Calibri" pitchFamily="34" charset="0"/>
                <a:ea typeface="Calibri" pitchFamily="34" charset="-122"/>
                <a:cs typeface="Calibri" pitchFamily="34" charset="-120"/>
              </a:rPr>
              <a:t>‹  Back</a:t>
            </a:r>
            <a:endParaRPr lang="en-US" sz="1500" dirty="0"/>
          </a:p>
        </p:txBody>
      </p:sp>
      <p:sp>
        <p:nvSpPr>
          <p:cNvPr id="25" name="Nav Next 176 LINK:steps">
            <a:hlinkClick r:id="rIdJump5" action="ppaction://hlinksldjump"/>
          </p:cNvPr>
          <p:cNvSpPr/>
          <p:nvPr/>
        </p:nvSpPr>
        <p:spPr>
          <a:xfrm>
            <a:off x="10405872" y="6236208"/>
            <a:ext cx="1234440" cy="420624"/>
          </a:xfrm>
          <a:prstGeom prst="roundRect">
            <a:avLst>
              <a:gd name="adj" fmla="val 47826"/>
            </a:avLst>
          </a:prstGeom>
          <a:solidFill>
            <a:srgbClr val="1D7A6E"/>
          </a:solidFill>
          <a:ln>
            <a:solidFill>
              <a:srgbClr val="1D7A6E"/>
            </a:solidFill>
          </a:ln>
        </p:spPr>
        <p:txBody>
          <a:bodyPr wrap="square" lIns="109728" tIns="0" rIns="109728"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Next  ›</a:t>
            </a:r>
            <a:endParaRPr lang="en-US" sz="1500" dirty="0"/>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Kicker 177"/>
          <p:cNvSpPr txBox="1"/>
          <p:nvPr/>
        </p:nvSpPr>
        <p:spPr>
          <a:xfrm>
            <a:off x="548640" y="329184"/>
            <a:ext cx="7315200" cy="292608"/>
          </a:xfrm>
          <a:prstGeom prst="rect">
            <a:avLst/>
          </a:prstGeom>
          <a:noFill/>
          <a:ln/>
        </p:spPr>
        <p:txBody>
          <a:bodyPr wrap="square" lIns="0" tIns="0" rIns="0" bIns="0" rtlCol="0" anchor="t"/>
          <a:lstStyle/>
          <a:p>
            <a:pPr indent="0" marL="0">
              <a:buNone/>
            </a:pPr>
            <a:r>
              <a:rPr lang="en-US" sz="1400" b="1" spc="300" kern="0" dirty="0">
                <a:solidFill>
                  <a:srgbClr val="1D7A6E"/>
                </a:solidFill>
                <a:latin typeface="Calibri" pitchFamily="34" charset="0"/>
                <a:ea typeface="Calibri" pitchFamily="34" charset="-122"/>
                <a:cs typeface="Calibri" pitchFamily="34" charset="-120"/>
              </a:rPr>
              <a:t>HOW TO APPLY IT</a:t>
            </a:r>
            <a:endParaRPr lang="en-US" sz="1400" dirty="0"/>
          </a:p>
        </p:txBody>
      </p:sp>
      <p:sp>
        <p:nvSpPr>
          <p:cNvPr id="3" name="Text 0"/>
          <p:cNvSpPr/>
          <p:nvPr>
            <p:ph idx="100" type="title" hasCustomPrompt="1"/>
          </p:nvPr>
        </p:nvSpPr>
        <p:spPr>
          <a:xfrm>
            <a:off x="548640" y="658368"/>
            <a:ext cx="9052560" cy="731520"/>
          </a:xfrm>
          <a:prstGeom prst="rect">
            <a:avLst/>
          </a:prstGeom>
          <a:noFill/>
          <a:ln/>
        </p:spPr>
        <p:txBody>
          <a:bodyPr wrap="square" lIns="0" tIns="0" rIns="0" bIns="0" rtlCol="0" anchor="t"/>
          <a:lstStyle/>
          <a:p>
            <a:pPr algn="l" indent="0" marL="0">
              <a:buNone/>
            </a:pPr>
            <a:r>
              <a:rPr lang="en-US" sz="3600" b="1" dirty="0">
                <a:solidFill>
                  <a:srgbClr val="16302E"/>
                </a:solidFill>
                <a:latin typeface="Calibri" pitchFamily="34" charset="0"/>
                <a:ea typeface="Calibri" pitchFamily="34" charset="-122"/>
                <a:cs typeface="Calibri" pitchFamily="34" charset="-120"/>
              </a:rPr>
              <a:t>Pronounce it in three steps</a:t>
            </a:r>
            <a:endParaRPr lang="en-US" sz="3600" dirty="0"/>
          </a:p>
        </p:txBody>
      </p:sp>
      <p:sp>
        <p:nvSpPr>
          <p:cNvPr id="4" name="Route chip 178"/>
          <p:cNvSpPr/>
          <p:nvPr/>
        </p:nvSpPr>
        <p:spPr>
          <a:xfrm>
            <a:off x="10012680" y="365760"/>
            <a:ext cx="1627632" cy="384048"/>
          </a:xfrm>
          <a:prstGeom prst="roundRect">
            <a:avLst>
              <a:gd name="adj" fmla="val 47619"/>
            </a:avLst>
          </a:prstGeom>
          <a:solidFill>
            <a:srgbClr val="1D7A6E"/>
          </a:solidFill>
          <a:ln>
            <a:solidFill>
              <a:srgbClr val="1D7A6E"/>
            </a:solidFill>
          </a:ln>
        </p:spPr>
        <p:txBody>
          <a:bodyPr wrap="square" lIns="0" tIns="0" rIns="0" bIns="0" rtlCol="0" anchor="ctr"/>
          <a:lstStyle/>
          <a:p>
            <a:pPr algn="ctr" indent="0" marL="0">
              <a:buNone/>
            </a:pPr>
            <a:r>
              <a:rPr lang="en-US" sz="1300" b="1" spc="200" kern="0" dirty="0">
                <a:solidFill>
                  <a:srgbClr val="FFFFFF"/>
                </a:solidFill>
                <a:latin typeface="Calibri" pitchFamily="34" charset="0"/>
                <a:ea typeface="Calibri" pitchFamily="34" charset="-122"/>
                <a:cs typeface="Calibri" pitchFamily="34" charset="-120"/>
              </a:rPr>
              <a:t>GUIDED</a:t>
            </a:r>
            <a:endParaRPr lang="en-US" sz="1300" dirty="0"/>
          </a:p>
        </p:txBody>
      </p:sp>
      <p:sp>
        <p:nvSpPr>
          <p:cNvPr id="5" name="Card 179"/>
          <p:cNvSpPr/>
          <p:nvPr/>
        </p:nvSpPr>
        <p:spPr>
          <a:xfrm>
            <a:off x="548640" y="1600200"/>
            <a:ext cx="3383280" cy="3063240"/>
          </a:xfrm>
          <a:prstGeom prst="roundRect">
            <a:avLst>
              <a:gd name="adj" fmla="val 5373"/>
            </a:avLst>
          </a:prstGeom>
          <a:solidFill>
            <a:srgbClr val="FFFFFF"/>
          </a:solidFill>
          <a:ln w="12700">
            <a:solidFill>
              <a:srgbClr val="D5E5E0"/>
            </a:solidFill>
            <a:prstDash val="solid"/>
          </a:ln>
          <a:effectLst>
            <a:outerShdw sx="100000" sy="100000" kx="0" ky="0" algn="bl" rotWithShape="0" blurRad="101600" dist="25400" dir="5400000">
              <a:srgbClr val="0F3D3A">
                <a:alpha val="10000"/>
              </a:srgbClr>
            </a:outerShdw>
          </a:effectLst>
        </p:spPr>
      </p:sp>
      <p:sp>
        <p:nvSpPr>
          <p:cNvPr id="6" name="Step number 180"/>
          <p:cNvSpPr/>
          <p:nvPr/>
        </p:nvSpPr>
        <p:spPr>
          <a:xfrm>
            <a:off x="822960" y="1828800"/>
            <a:ext cx="685800" cy="685800"/>
          </a:xfrm>
          <a:prstGeom prst="ellipse">
            <a:avLst/>
          </a:prstGeom>
          <a:solidFill>
            <a:srgbClr val="1D7A6E"/>
          </a:solidFill>
          <a:ln>
            <a:solidFill>
              <a:srgbClr val="1D7A6E"/>
            </a:solid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1</a:t>
            </a:r>
            <a:endParaRPr lang="en-US" sz="2800" dirty="0"/>
          </a:p>
        </p:txBody>
      </p:sp>
      <p:sp>
        <p:nvSpPr>
          <p:cNvPr id="7" name="Step icon circle 181"/>
          <p:cNvSpPr/>
          <p:nvPr/>
        </p:nvSpPr>
        <p:spPr>
          <a:xfrm>
            <a:off x="2971800" y="1828800"/>
            <a:ext cx="685800" cy="685800"/>
          </a:xfrm>
          <a:prstGeom prst="ellipse">
            <a:avLst/>
          </a:prstGeom>
          <a:solidFill>
            <a:srgbClr val="B9770E"/>
          </a:solidFill>
          <a:ln w="12700">
            <a:solidFill>
              <a:srgbClr val="B9770E"/>
            </a:solidFill>
            <a:prstDash val="solid"/>
          </a:ln>
        </p:spPr>
      </p:sp>
      <p:pic>
        <p:nvPicPr>
          <p:cNvPr id="8" name="Step icon glyph 182" descr="preencoded.png">    </p:cNvPr>
          <p:cNvPicPr>
            <a:picLocks noChangeAspect="1"/>
          </p:cNvPicPr>
          <p:nvPr/>
        </p:nvPicPr>
        <p:blipFill>
          <a:blip r:embed="rId1"/>
          <a:stretch>
            <a:fillRect/>
          </a:stretch>
        </p:blipFill>
        <p:spPr>
          <a:xfrm>
            <a:off x="3143250" y="2000250"/>
            <a:ext cx="342900" cy="342900"/>
          </a:xfrm>
          <a:prstGeom prst="rect">
            <a:avLst/>
          </a:prstGeom>
        </p:spPr>
      </p:pic>
      <p:sp>
        <p:nvSpPr>
          <p:cNvPr id="9" name="Step text 183"/>
          <p:cNvSpPr txBox="1"/>
          <p:nvPr/>
        </p:nvSpPr>
        <p:spPr>
          <a:xfrm>
            <a:off x="822960" y="2697480"/>
            <a:ext cx="2834640" cy="1828800"/>
          </a:xfrm>
          <a:prstGeom prst="rect">
            <a:avLst/>
          </a:prstGeom>
          <a:noFill/>
          <a:ln/>
        </p:spPr>
        <p:txBody>
          <a:bodyPr wrap="square" lIns="0" tIns="0" rIns="0" bIns="0" rtlCol="0" anchor="t"/>
          <a:lstStyle/>
          <a:p>
            <a:pPr indent="0" marL="0">
              <a:buNone/>
            </a:pPr>
            <a:r>
              <a:rPr lang="en-US" sz="2400" dirty="0">
                <a:solidFill>
                  <a:srgbClr val="16302E"/>
                </a:solidFill>
                <a:latin typeface="Calibri" pitchFamily="34" charset="0"/>
                <a:ea typeface="Calibri" pitchFamily="34" charset="-122"/>
                <a:cs typeface="Calibri" pitchFamily="34" charset="-120"/>
              </a:rPr>
              <a:t>Find the shaddah.</a:t>
            </a:r>
            <a:endParaRPr lang="en-US" sz="2400" dirty="0"/>
          </a:p>
        </p:txBody>
      </p:sp>
      <p:sp>
        <p:nvSpPr>
          <p:cNvPr id="10" name="Step arrow 184"/>
          <p:cNvSpPr txBox="1"/>
          <p:nvPr/>
        </p:nvSpPr>
        <p:spPr>
          <a:xfrm>
            <a:off x="3931920" y="2788920"/>
            <a:ext cx="470916" cy="548640"/>
          </a:xfrm>
          <a:prstGeom prst="rect">
            <a:avLst/>
          </a:prstGeom>
          <a:noFill/>
          <a:ln/>
        </p:spPr>
        <p:txBody>
          <a:bodyPr wrap="square" lIns="0" tIns="0" rIns="0" bIns="0" rtlCol="0" anchor="ctr"/>
          <a:lstStyle/>
          <a:p>
            <a:pPr algn="ctr" indent="0" marL="0">
              <a:buNone/>
            </a:pPr>
            <a:r>
              <a:rPr lang="en-US" sz="3000" b="1" dirty="0">
                <a:solidFill>
                  <a:srgbClr val="1D7A6E"/>
                </a:solidFill>
                <a:latin typeface="Calibri" pitchFamily="34" charset="0"/>
                <a:ea typeface="Calibri" pitchFamily="34" charset="-122"/>
                <a:cs typeface="Calibri" pitchFamily="34" charset="-120"/>
              </a:rPr>
              <a:t>→</a:t>
            </a:r>
            <a:endParaRPr lang="en-US" sz="3000" dirty="0"/>
          </a:p>
        </p:txBody>
      </p:sp>
      <p:sp>
        <p:nvSpPr>
          <p:cNvPr id="11" name="Card 185"/>
          <p:cNvSpPr/>
          <p:nvPr/>
        </p:nvSpPr>
        <p:spPr>
          <a:xfrm>
            <a:off x="4402836" y="1600200"/>
            <a:ext cx="3383280" cy="3063240"/>
          </a:xfrm>
          <a:prstGeom prst="roundRect">
            <a:avLst>
              <a:gd name="adj" fmla="val 5373"/>
            </a:avLst>
          </a:prstGeom>
          <a:solidFill>
            <a:srgbClr val="FFFFFF"/>
          </a:solidFill>
          <a:ln w="12700">
            <a:solidFill>
              <a:srgbClr val="D5E5E0"/>
            </a:solidFill>
            <a:prstDash val="solid"/>
          </a:ln>
          <a:effectLst>
            <a:outerShdw sx="100000" sy="100000" kx="0" ky="0" algn="bl" rotWithShape="0" blurRad="101600" dist="25400" dir="5400000">
              <a:srgbClr val="0F3D3A">
                <a:alpha val="10000"/>
              </a:srgbClr>
            </a:outerShdw>
          </a:effectLst>
        </p:spPr>
      </p:sp>
      <p:sp>
        <p:nvSpPr>
          <p:cNvPr id="12" name="Step number 186"/>
          <p:cNvSpPr/>
          <p:nvPr/>
        </p:nvSpPr>
        <p:spPr>
          <a:xfrm>
            <a:off x="4677156" y="1828800"/>
            <a:ext cx="685800" cy="685800"/>
          </a:xfrm>
          <a:prstGeom prst="ellipse">
            <a:avLst/>
          </a:prstGeom>
          <a:solidFill>
            <a:srgbClr val="1D7A6E"/>
          </a:solidFill>
          <a:ln>
            <a:solidFill>
              <a:srgbClr val="1D7A6E"/>
            </a:solid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2</a:t>
            </a:r>
            <a:endParaRPr lang="en-US" sz="2800" dirty="0"/>
          </a:p>
        </p:txBody>
      </p:sp>
      <p:sp>
        <p:nvSpPr>
          <p:cNvPr id="13" name="Step icon circle 187"/>
          <p:cNvSpPr/>
          <p:nvPr/>
        </p:nvSpPr>
        <p:spPr>
          <a:xfrm>
            <a:off x="6825996" y="1828800"/>
            <a:ext cx="685800" cy="685800"/>
          </a:xfrm>
          <a:prstGeom prst="ellipse">
            <a:avLst/>
          </a:prstGeom>
          <a:solidFill>
            <a:srgbClr val="B9770E"/>
          </a:solidFill>
          <a:ln w="12700">
            <a:solidFill>
              <a:srgbClr val="B9770E"/>
            </a:solidFill>
            <a:prstDash val="solid"/>
          </a:ln>
        </p:spPr>
      </p:sp>
      <p:pic>
        <p:nvPicPr>
          <p:cNvPr id="14" name="Step icon glyph 188" descr="preencoded.png">    </p:cNvPr>
          <p:cNvPicPr>
            <a:picLocks noChangeAspect="1"/>
          </p:cNvPicPr>
          <p:nvPr/>
        </p:nvPicPr>
        <p:blipFill>
          <a:blip r:embed="rId2"/>
          <a:stretch>
            <a:fillRect/>
          </a:stretch>
        </p:blipFill>
        <p:spPr>
          <a:xfrm>
            <a:off x="6997446" y="2000250"/>
            <a:ext cx="342900" cy="342900"/>
          </a:xfrm>
          <a:prstGeom prst="rect">
            <a:avLst/>
          </a:prstGeom>
        </p:spPr>
      </p:pic>
      <p:sp>
        <p:nvSpPr>
          <p:cNvPr id="15" name="Step text 189"/>
          <p:cNvSpPr txBox="1"/>
          <p:nvPr/>
        </p:nvSpPr>
        <p:spPr>
          <a:xfrm>
            <a:off x="4677156" y="2697480"/>
            <a:ext cx="2834640" cy="1828800"/>
          </a:xfrm>
          <a:prstGeom prst="rect">
            <a:avLst/>
          </a:prstGeom>
          <a:noFill/>
          <a:ln/>
        </p:spPr>
        <p:txBody>
          <a:bodyPr wrap="square" lIns="0" tIns="0" rIns="0" bIns="0" rtlCol="0" anchor="t"/>
          <a:lstStyle/>
          <a:p>
            <a:pPr indent="0" marL="0">
              <a:buNone/>
            </a:pPr>
            <a:r>
              <a:rPr lang="en-US" sz="2400" dirty="0">
                <a:solidFill>
                  <a:srgbClr val="16302E"/>
                </a:solidFill>
                <a:latin typeface="Calibri" pitchFamily="34" charset="0"/>
                <a:ea typeface="Calibri" pitchFamily="34" charset="-122"/>
                <a:cs typeface="Calibri" pitchFamily="34" charset="-120"/>
              </a:rPr>
              <a:t>Form the letter at its normal articulation point and keep the nasal passage open.</a:t>
            </a:r>
            <a:endParaRPr lang="en-US" sz="2400" dirty="0"/>
          </a:p>
        </p:txBody>
      </p:sp>
      <p:sp>
        <p:nvSpPr>
          <p:cNvPr id="16" name="Step arrow 190"/>
          <p:cNvSpPr txBox="1"/>
          <p:nvPr/>
        </p:nvSpPr>
        <p:spPr>
          <a:xfrm>
            <a:off x="7786116" y="2788920"/>
            <a:ext cx="470916" cy="548640"/>
          </a:xfrm>
          <a:prstGeom prst="rect">
            <a:avLst/>
          </a:prstGeom>
          <a:noFill/>
          <a:ln/>
        </p:spPr>
        <p:txBody>
          <a:bodyPr wrap="square" lIns="0" tIns="0" rIns="0" bIns="0" rtlCol="0" anchor="ctr"/>
          <a:lstStyle/>
          <a:p>
            <a:pPr algn="ctr" indent="0" marL="0">
              <a:buNone/>
            </a:pPr>
            <a:r>
              <a:rPr lang="en-US" sz="3000" b="1" dirty="0">
                <a:solidFill>
                  <a:srgbClr val="1D7A6E"/>
                </a:solidFill>
                <a:latin typeface="Calibri" pitchFamily="34" charset="0"/>
                <a:ea typeface="Calibri" pitchFamily="34" charset="-122"/>
                <a:cs typeface="Calibri" pitchFamily="34" charset="-120"/>
              </a:rPr>
              <a:t>→</a:t>
            </a:r>
            <a:endParaRPr lang="en-US" sz="3000" dirty="0"/>
          </a:p>
        </p:txBody>
      </p:sp>
      <p:sp>
        <p:nvSpPr>
          <p:cNvPr id="17" name="Card 191"/>
          <p:cNvSpPr/>
          <p:nvPr/>
        </p:nvSpPr>
        <p:spPr>
          <a:xfrm>
            <a:off x="8257032" y="1600200"/>
            <a:ext cx="3383280" cy="3063240"/>
          </a:xfrm>
          <a:prstGeom prst="roundRect">
            <a:avLst>
              <a:gd name="adj" fmla="val 5373"/>
            </a:avLst>
          </a:prstGeom>
          <a:solidFill>
            <a:srgbClr val="FFFFFF"/>
          </a:solidFill>
          <a:ln w="12700">
            <a:solidFill>
              <a:srgbClr val="D5E5E0"/>
            </a:solidFill>
            <a:prstDash val="solid"/>
          </a:ln>
          <a:effectLst>
            <a:outerShdw sx="100000" sy="100000" kx="0" ky="0" algn="bl" rotWithShape="0" blurRad="101600" dist="25400" dir="5400000">
              <a:srgbClr val="0F3D3A">
                <a:alpha val="10000"/>
              </a:srgbClr>
            </a:outerShdw>
          </a:effectLst>
        </p:spPr>
      </p:sp>
      <p:sp>
        <p:nvSpPr>
          <p:cNvPr id="18" name="Step number 192"/>
          <p:cNvSpPr/>
          <p:nvPr/>
        </p:nvSpPr>
        <p:spPr>
          <a:xfrm>
            <a:off x="8531352" y="1828800"/>
            <a:ext cx="685800" cy="685800"/>
          </a:xfrm>
          <a:prstGeom prst="ellipse">
            <a:avLst/>
          </a:prstGeom>
          <a:solidFill>
            <a:srgbClr val="1D7A6E"/>
          </a:solidFill>
          <a:ln>
            <a:solidFill>
              <a:srgbClr val="1D7A6E"/>
            </a:solid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3</a:t>
            </a:r>
            <a:endParaRPr lang="en-US" sz="2800" dirty="0"/>
          </a:p>
        </p:txBody>
      </p:sp>
      <p:sp>
        <p:nvSpPr>
          <p:cNvPr id="19" name="Step icon circle 193"/>
          <p:cNvSpPr/>
          <p:nvPr/>
        </p:nvSpPr>
        <p:spPr>
          <a:xfrm>
            <a:off x="10680192" y="1828800"/>
            <a:ext cx="685800" cy="685800"/>
          </a:xfrm>
          <a:prstGeom prst="ellipse">
            <a:avLst/>
          </a:prstGeom>
          <a:solidFill>
            <a:srgbClr val="B9770E"/>
          </a:solidFill>
          <a:ln w="12700">
            <a:solidFill>
              <a:srgbClr val="B9770E"/>
            </a:solidFill>
            <a:prstDash val="solid"/>
          </a:ln>
        </p:spPr>
      </p:sp>
      <p:pic>
        <p:nvPicPr>
          <p:cNvPr id="20" name="Step icon glyph 194" descr="preencoded.png">    </p:cNvPr>
          <p:cNvPicPr>
            <a:picLocks noChangeAspect="1"/>
          </p:cNvPicPr>
          <p:nvPr/>
        </p:nvPicPr>
        <p:blipFill>
          <a:blip r:embed="rId3"/>
          <a:stretch>
            <a:fillRect/>
          </a:stretch>
        </p:blipFill>
        <p:spPr>
          <a:xfrm>
            <a:off x="10851642" y="2000250"/>
            <a:ext cx="342900" cy="342900"/>
          </a:xfrm>
          <a:prstGeom prst="rect">
            <a:avLst/>
          </a:prstGeom>
        </p:spPr>
      </p:pic>
      <p:sp>
        <p:nvSpPr>
          <p:cNvPr id="21" name="Step text 195"/>
          <p:cNvSpPr txBox="1"/>
          <p:nvPr/>
        </p:nvSpPr>
        <p:spPr>
          <a:xfrm>
            <a:off x="8531352" y="2697480"/>
            <a:ext cx="2834640" cy="1828800"/>
          </a:xfrm>
          <a:prstGeom prst="rect">
            <a:avLst/>
          </a:prstGeom>
          <a:noFill/>
          <a:ln/>
        </p:spPr>
        <p:txBody>
          <a:bodyPr wrap="square" lIns="0" tIns="0" rIns="0" bIns="0" rtlCol="0" anchor="t"/>
          <a:lstStyle/>
          <a:p>
            <a:pPr indent="0" marL="0">
              <a:buNone/>
            </a:pPr>
            <a:r>
              <a:rPr lang="en-US" sz="2400" dirty="0">
                <a:solidFill>
                  <a:srgbClr val="16302E"/>
                </a:solidFill>
                <a:latin typeface="Calibri" pitchFamily="34" charset="0"/>
                <a:ea typeface="Calibri" pitchFamily="34" charset="-122"/>
                <a:cs typeface="Calibri" pitchFamily="34" charset="-120"/>
              </a:rPr>
              <a:t>Hold the ghunnah for two counts, then release into its written vowel.</a:t>
            </a:r>
            <a:endParaRPr lang="en-US" sz="2400" dirty="0"/>
          </a:p>
        </p:txBody>
      </p:sp>
      <p:sp>
        <p:nvSpPr>
          <p:cNvPr id="22" name="Model strip 196"/>
          <p:cNvSpPr/>
          <p:nvPr/>
        </p:nvSpPr>
        <p:spPr>
          <a:xfrm>
            <a:off x="548640" y="4937760"/>
            <a:ext cx="11094415" cy="1051560"/>
          </a:xfrm>
          <a:prstGeom prst="roundRect">
            <a:avLst>
              <a:gd name="adj" fmla="val 15652"/>
            </a:avLst>
          </a:prstGeom>
          <a:solidFill>
            <a:srgbClr val="E2F0EC"/>
          </a:solidFill>
          <a:ln w="12700">
            <a:solidFill>
              <a:srgbClr val="E2F0EC"/>
            </a:solidFill>
            <a:prstDash val="solid"/>
          </a:ln>
        </p:spPr>
      </p:sp>
      <p:sp>
        <p:nvSpPr>
          <p:cNvPr id="23" name="Model circle 197"/>
          <p:cNvSpPr/>
          <p:nvPr/>
        </p:nvSpPr>
        <p:spPr>
          <a:xfrm>
            <a:off x="777240" y="5093208"/>
            <a:ext cx="731520" cy="731520"/>
          </a:xfrm>
          <a:prstGeom prst="ellipse">
            <a:avLst/>
          </a:prstGeom>
          <a:solidFill>
            <a:srgbClr val="B9770E"/>
          </a:solidFill>
          <a:ln w="12700">
            <a:solidFill>
              <a:srgbClr val="B9770E"/>
            </a:solidFill>
            <a:prstDash val="solid"/>
          </a:ln>
        </p:spPr>
      </p:sp>
      <p:pic>
        <p:nvPicPr>
          <p:cNvPr id="24" name="Model glyph 198" descr="preencoded.png">    </p:cNvPr>
          <p:cNvPicPr>
            <a:picLocks noChangeAspect="1"/>
          </p:cNvPicPr>
          <p:nvPr/>
        </p:nvPicPr>
        <p:blipFill>
          <a:blip r:embed="rId4"/>
          <a:stretch>
            <a:fillRect/>
          </a:stretch>
        </p:blipFill>
        <p:spPr>
          <a:xfrm>
            <a:off x="960120" y="5276088"/>
            <a:ext cx="365760" cy="365760"/>
          </a:xfrm>
          <a:prstGeom prst="rect">
            <a:avLst/>
          </a:prstGeom>
        </p:spPr>
      </p:pic>
      <p:sp>
        <p:nvSpPr>
          <p:cNvPr id="25" name="Model text 199"/>
          <p:cNvSpPr txBox="1"/>
          <p:nvPr/>
        </p:nvSpPr>
        <p:spPr>
          <a:xfrm>
            <a:off x="1737360" y="4983480"/>
            <a:ext cx="9722815" cy="960120"/>
          </a:xfrm>
          <a:prstGeom prst="rect">
            <a:avLst/>
          </a:prstGeom>
          <a:noFill/>
          <a:ln/>
        </p:spPr>
        <p:txBody>
          <a:bodyPr wrap="square" lIns="0" tIns="0" rIns="0" bIns="0" rtlCol="0" anchor="ctr"/>
          <a:lstStyle/>
          <a:p>
            <a:pPr indent="0" marL="0">
              <a:buNone/>
            </a:pPr>
            <a:r>
              <a:rPr lang="en-US" sz="2400" dirty="0">
                <a:solidFill>
                  <a:srgbClr val="16302E"/>
                </a:solidFill>
                <a:latin typeface="Calibri" pitchFamily="34" charset="0"/>
                <a:ea typeface="Calibri" pitchFamily="34" charset="-122"/>
                <a:cs typeface="Calibri" pitchFamily="34" charset="-120"/>
              </a:rPr>
              <a:t>Teacher models slowly  →  learner echoes  →  learner reads alone.</a:t>
            </a:r>
            <a:endParaRPr lang="en-US" sz="2400" dirty="0"/>
          </a:p>
        </p:txBody>
      </p:sp>
      <p:sp>
        <p:nvSpPr>
          <p:cNvPr id="26" name="Nav Home 200 LINK:title">
            <a:hlinkClick r:id="rIdJump1" action="ppaction://hlinksldjump"/>
          </p:cNvPr>
          <p:cNvSpPr/>
          <p:nvPr/>
        </p:nvSpPr>
        <p:spPr>
          <a:xfrm>
            <a:off x="548640" y="6236208"/>
            <a:ext cx="1234440" cy="420624"/>
          </a:xfrm>
          <a:prstGeom prst="roundRect">
            <a:avLst>
              <a:gd name="adj" fmla="val 47826"/>
            </a:avLst>
          </a:prstGeom>
          <a:solidFill>
            <a:srgbClr val="16302E"/>
          </a:solidFill>
          <a:ln>
            <a:solidFill>
              <a:srgbClr val="16302E"/>
            </a:solidFill>
          </a:ln>
        </p:spPr>
        <p:txBody>
          <a:bodyPr wrap="square" lIns="365760" tIns="0" rIns="9144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Home</a:t>
            </a:r>
            <a:endParaRPr lang="en-US" sz="1500" dirty="0"/>
          </a:p>
        </p:txBody>
      </p:sp>
      <p:pic>
        <p:nvPicPr>
          <p:cNvPr id="27" name="Button icon 201 LINK:title" descr="preencoded.png">
            <a:hlinkClick r:id="rIdJump2" action="ppaction://hlinksldjump"/>
          </p:cNvPr>
          <p:cNvPicPr>
            <a:picLocks noChangeAspect="1"/>
          </p:cNvPicPr>
          <p:nvPr/>
        </p:nvPicPr>
        <p:blipFill>
          <a:blip r:embed="rId5"/>
          <a:stretch>
            <a:fillRect/>
          </a:stretch>
        </p:blipFill>
        <p:spPr>
          <a:xfrm>
            <a:off x="749808" y="6336792"/>
            <a:ext cx="219456" cy="219456"/>
          </a:xfrm>
          <a:prstGeom prst="rect">
            <a:avLst/>
          </a:prstGeom>
        </p:spPr>
      </p:pic>
      <p:sp>
        <p:nvSpPr>
          <p:cNvPr id="28" name="Nav Menu 202 LINK:menu">
            <a:hlinkClick r:id="rIdJump3" action="ppaction://hlinksldjump"/>
          </p:cNvPr>
          <p:cNvSpPr/>
          <p:nvPr/>
        </p:nvSpPr>
        <p:spPr>
          <a:xfrm>
            <a:off x="1901952" y="6236208"/>
            <a:ext cx="1005840" cy="420624"/>
          </a:xfrm>
          <a:prstGeom prst="roundRect">
            <a:avLst>
              <a:gd name="adj" fmla="val 47826"/>
            </a:avLst>
          </a:prstGeom>
          <a:solidFill>
            <a:srgbClr val="FFFFFF"/>
          </a:solidFill>
          <a:ln w="19050">
            <a:solidFill>
              <a:srgbClr val="16302E"/>
            </a:solidFill>
          </a:ln>
        </p:spPr>
        <p:txBody>
          <a:bodyPr wrap="square" lIns="109728" tIns="0" rIns="109728" bIns="0" rtlCol="0" anchor="ctr"/>
          <a:lstStyle/>
          <a:p>
            <a:pPr algn="ctr" indent="0" marL="0">
              <a:buNone/>
            </a:pPr>
            <a:r>
              <a:rPr lang="en-US" sz="1500" b="1" dirty="0">
                <a:solidFill>
                  <a:srgbClr val="16302E"/>
                </a:solidFill>
                <a:latin typeface="Calibri" pitchFamily="34" charset="0"/>
                <a:ea typeface="Calibri" pitchFamily="34" charset="-122"/>
                <a:cs typeface="Calibri" pitchFamily="34" charset="-120"/>
              </a:rPr>
              <a:t>Menu</a:t>
            </a:r>
            <a:endParaRPr lang="en-US" sz="1500" dirty="0"/>
          </a:p>
        </p:txBody>
      </p:sp>
      <p:sp>
        <p:nvSpPr>
          <p:cNvPr id="29" name="Slide counter 203"/>
          <p:cNvSpPr txBox="1"/>
          <p:nvPr/>
        </p:nvSpPr>
        <p:spPr>
          <a:xfrm>
            <a:off x="5184648" y="6236208"/>
            <a:ext cx="1828800" cy="420624"/>
          </a:xfrm>
          <a:prstGeom prst="rect">
            <a:avLst/>
          </a:prstGeom>
          <a:noFill/>
          <a:ln/>
        </p:spPr>
        <p:txBody>
          <a:bodyPr wrap="square" lIns="0" tIns="0" rIns="0" bIns="0" rtlCol="0" anchor="ctr"/>
          <a:lstStyle/>
          <a:p>
            <a:pPr algn="ctr" indent="0" marL="0">
              <a:buNone/>
            </a:pPr>
            <a:r>
              <a:rPr lang="en-US" sz="1400" dirty="0">
                <a:solidFill>
                  <a:srgbClr val="5D7774"/>
                </a:solidFill>
                <a:latin typeface="Calibri" pitchFamily="34" charset="0"/>
                <a:ea typeface="Calibri" pitchFamily="34" charset="-122"/>
                <a:cs typeface="Calibri" pitchFamily="34" charset="-120"/>
              </a:rPr>
              <a:t>7 / 18</a:t>
            </a:r>
            <a:endParaRPr lang="en-US" sz="1400" dirty="0"/>
          </a:p>
        </p:txBody>
      </p:sp>
      <p:sp>
        <p:nvSpPr>
          <p:cNvPr id="30" name="Nav Back 204 LINK:cues">
            <a:hlinkClick r:id="rIdJump4" action="ppaction://hlinksldjump"/>
          </p:cNvPr>
          <p:cNvSpPr/>
          <p:nvPr/>
        </p:nvSpPr>
        <p:spPr>
          <a:xfrm>
            <a:off x="9052560" y="6236208"/>
            <a:ext cx="1234440" cy="420624"/>
          </a:xfrm>
          <a:prstGeom prst="roundRect">
            <a:avLst>
              <a:gd name="adj" fmla="val 47826"/>
            </a:avLst>
          </a:prstGeom>
          <a:solidFill>
            <a:srgbClr val="FFFFFF"/>
          </a:solidFill>
          <a:ln w="19050">
            <a:solidFill>
              <a:srgbClr val="1D7A6E"/>
            </a:solidFill>
          </a:ln>
        </p:spPr>
        <p:txBody>
          <a:bodyPr wrap="square" lIns="109728" tIns="0" rIns="109728" bIns="0" rtlCol="0" anchor="ctr"/>
          <a:lstStyle/>
          <a:p>
            <a:pPr algn="ctr" indent="0" marL="0">
              <a:buNone/>
            </a:pPr>
            <a:r>
              <a:rPr lang="en-US" sz="1500" b="1" dirty="0">
                <a:solidFill>
                  <a:srgbClr val="1D7A6E"/>
                </a:solidFill>
                <a:latin typeface="Calibri" pitchFamily="34" charset="0"/>
                <a:ea typeface="Calibri" pitchFamily="34" charset="-122"/>
                <a:cs typeface="Calibri" pitchFamily="34" charset="-120"/>
              </a:rPr>
              <a:t>‹  Back</a:t>
            </a:r>
            <a:endParaRPr lang="en-US" sz="1500" dirty="0"/>
          </a:p>
        </p:txBody>
      </p:sp>
      <p:sp>
        <p:nvSpPr>
          <p:cNvPr id="31" name="Nav Next 205 LINK:timing">
            <a:hlinkClick r:id="rIdJump5" action="ppaction://hlinksldjump"/>
          </p:cNvPr>
          <p:cNvSpPr/>
          <p:nvPr/>
        </p:nvSpPr>
        <p:spPr>
          <a:xfrm>
            <a:off x="10405872" y="6236208"/>
            <a:ext cx="1234440" cy="420624"/>
          </a:xfrm>
          <a:prstGeom prst="roundRect">
            <a:avLst>
              <a:gd name="adj" fmla="val 47826"/>
            </a:avLst>
          </a:prstGeom>
          <a:solidFill>
            <a:srgbClr val="1D7A6E"/>
          </a:solidFill>
          <a:ln>
            <a:solidFill>
              <a:srgbClr val="1D7A6E"/>
            </a:solidFill>
          </a:ln>
        </p:spPr>
        <p:txBody>
          <a:bodyPr wrap="square" lIns="109728" tIns="0" rIns="109728"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Next  ›</a:t>
            </a:r>
            <a:endParaRPr lang="en-US" sz="1500" dirty="0"/>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Kicker 206"/>
          <p:cNvSpPr txBox="1"/>
          <p:nvPr/>
        </p:nvSpPr>
        <p:spPr>
          <a:xfrm>
            <a:off x="548640" y="329184"/>
            <a:ext cx="7315200" cy="292608"/>
          </a:xfrm>
          <a:prstGeom prst="rect">
            <a:avLst/>
          </a:prstGeom>
          <a:noFill/>
          <a:ln/>
        </p:spPr>
        <p:txBody>
          <a:bodyPr wrap="square" lIns="0" tIns="0" rIns="0" bIns="0" rtlCol="0" anchor="t"/>
          <a:lstStyle/>
          <a:p>
            <a:pPr indent="0" marL="0">
              <a:buNone/>
            </a:pPr>
            <a:r>
              <a:rPr lang="en-US" sz="1400" b="1" spc="300" kern="0" dirty="0">
                <a:solidFill>
                  <a:srgbClr val="1D7A6E"/>
                </a:solidFill>
                <a:latin typeface="Calibri" pitchFamily="34" charset="0"/>
                <a:ea typeface="Calibri" pitchFamily="34" charset="-122"/>
                <a:cs typeface="Calibri" pitchFamily="34" charset="-120"/>
              </a:rPr>
              <a:t>TIMING AND PACE</a:t>
            </a:r>
            <a:endParaRPr lang="en-US" sz="1400" dirty="0"/>
          </a:p>
        </p:txBody>
      </p:sp>
      <p:sp>
        <p:nvSpPr>
          <p:cNvPr id="3" name="Text 0"/>
          <p:cNvSpPr/>
          <p:nvPr>
            <p:ph idx="100" type="title" hasCustomPrompt="1"/>
          </p:nvPr>
        </p:nvSpPr>
        <p:spPr>
          <a:xfrm>
            <a:off x="548640" y="658368"/>
            <a:ext cx="9052560" cy="731520"/>
          </a:xfrm>
          <a:prstGeom prst="rect">
            <a:avLst/>
          </a:prstGeom>
          <a:noFill/>
          <a:ln/>
        </p:spPr>
        <p:txBody>
          <a:bodyPr wrap="square" lIns="0" tIns="0" rIns="0" bIns="0" rtlCol="0" anchor="t"/>
          <a:lstStyle/>
          <a:p>
            <a:pPr algn="l" indent="0" marL="0">
              <a:buNone/>
            </a:pPr>
            <a:r>
              <a:rPr lang="en-US" sz="3600" b="1" dirty="0">
                <a:solidFill>
                  <a:srgbClr val="16302E"/>
                </a:solidFill>
                <a:latin typeface="Calibri" pitchFamily="34" charset="0"/>
                <a:ea typeface="Calibri" pitchFamily="34" charset="-122"/>
                <a:cs typeface="Calibri" pitchFamily="34" charset="-120"/>
              </a:rPr>
              <a:t>Hold for two counts</a:t>
            </a:r>
            <a:endParaRPr lang="en-US" sz="3600" dirty="0"/>
          </a:p>
        </p:txBody>
      </p:sp>
      <p:sp>
        <p:nvSpPr>
          <p:cNvPr id="4" name="Route chip 207"/>
          <p:cNvSpPr/>
          <p:nvPr/>
        </p:nvSpPr>
        <p:spPr>
          <a:xfrm>
            <a:off x="10012680" y="365760"/>
            <a:ext cx="1627632" cy="384048"/>
          </a:xfrm>
          <a:prstGeom prst="roundRect">
            <a:avLst>
              <a:gd name="adj" fmla="val 47619"/>
            </a:avLst>
          </a:prstGeom>
          <a:solidFill>
            <a:srgbClr val="1D7A6E"/>
          </a:solidFill>
          <a:ln>
            <a:solidFill>
              <a:srgbClr val="1D7A6E"/>
            </a:solidFill>
          </a:ln>
        </p:spPr>
        <p:txBody>
          <a:bodyPr wrap="square" lIns="0" tIns="0" rIns="0" bIns="0" rtlCol="0" anchor="ctr"/>
          <a:lstStyle/>
          <a:p>
            <a:pPr algn="ctr" indent="0" marL="0">
              <a:buNone/>
            </a:pPr>
            <a:r>
              <a:rPr lang="en-US" sz="1300" b="1" spc="200" kern="0" dirty="0">
                <a:solidFill>
                  <a:srgbClr val="FFFFFF"/>
                </a:solidFill>
                <a:latin typeface="Calibri" pitchFamily="34" charset="0"/>
                <a:ea typeface="Calibri" pitchFamily="34" charset="-122"/>
                <a:cs typeface="Calibri" pitchFamily="34" charset="-120"/>
              </a:rPr>
              <a:t>GUIDED</a:t>
            </a:r>
            <a:endParaRPr lang="en-US" sz="1300" dirty="0"/>
          </a:p>
        </p:txBody>
      </p:sp>
      <p:sp>
        <p:nvSpPr>
          <p:cNvPr id="5" name="Card 208"/>
          <p:cNvSpPr/>
          <p:nvPr/>
        </p:nvSpPr>
        <p:spPr>
          <a:xfrm>
            <a:off x="548640" y="1600200"/>
            <a:ext cx="5715000" cy="4389120"/>
          </a:xfrm>
          <a:prstGeom prst="roundRect">
            <a:avLst>
              <a:gd name="adj" fmla="val 3750"/>
            </a:avLst>
          </a:prstGeom>
          <a:solidFill>
            <a:srgbClr val="FFFFFF"/>
          </a:solidFill>
          <a:ln w="12700">
            <a:solidFill>
              <a:srgbClr val="D5E5E0"/>
            </a:solidFill>
            <a:prstDash val="solid"/>
          </a:ln>
          <a:effectLst>
            <a:outerShdw sx="100000" sy="100000" kx="0" ky="0" algn="bl" rotWithShape="0" blurRad="101600" dist="25400" dir="5400000">
              <a:srgbClr val="0F3D3A">
                <a:alpha val="10000"/>
              </a:srgbClr>
            </a:outerShdw>
          </a:effectLst>
        </p:spPr>
      </p:sp>
      <p:sp>
        <p:nvSpPr>
          <p:cNvPr id="6" name="Stat number 209"/>
          <p:cNvSpPr txBox="1"/>
          <p:nvPr/>
        </p:nvSpPr>
        <p:spPr>
          <a:xfrm>
            <a:off x="868680" y="1691640"/>
            <a:ext cx="1188720" cy="1371600"/>
          </a:xfrm>
          <a:prstGeom prst="rect">
            <a:avLst/>
          </a:prstGeom>
          <a:noFill/>
          <a:ln/>
        </p:spPr>
        <p:txBody>
          <a:bodyPr wrap="square" lIns="0" tIns="0" rIns="0" bIns="0" rtlCol="0" anchor="ctr"/>
          <a:lstStyle/>
          <a:p>
            <a:pPr indent="0" marL="0">
              <a:buNone/>
            </a:pPr>
            <a:r>
              <a:rPr lang="en-US" sz="11000" b="1" dirty="0">
                <a:solidFill>
                  <a:srgbClr val="1D7A6E"/>
                </a:solidFill>
                <a:latin typeface="Calibri" pitchFamily="34" charset="0"/>
                <a:ea typeface="Calibri" pitchFamily="34" charset="-122"/>
                <a:cs typeface="Calibri" pitchFamily="34" charset="-120"/>
              </a:rPr>
              <a:t>2</a:t>
            </a:r>
            <a:endParaRPr lang="en-US" sz="11000" dirty="0"/>
          </a:p>
        </p:txBody>
      </p:sp>
      <p:sp>
        <p:nvSpPr>
          <p:cNvPr id="7" name="Stat label 210"/>
          <p:cNvSpPr txBox="1"/>
          <p:nvPr/>
        </p:nvSpPr>
        <p:spPr>
          <a:xfrm>
            <a:off x="2057400" y="2057400"/>
            <a:ext cx="4023360" cy="640080"/>
          </a:xfrm>
          <a:prstGeom prst="rect">
            <a:avLst/>
          </a:prstGeom>
          <a:noFill/>
          <a:ln/>
        </p:spPr>
        <p:txBody>
          <a:bodyPr wrap="square" lIns="0" tIns="0" rIns="0" bIns="0" rtlCol="0" anchor="ctr"/>
          <a:lstStyle/>
          <a:p>
            <a:pPr indent="0" marL="0">
              <a:buNone/>
            </a:pPr>
            <a:r>
              <a:rPr lang="en-US" sz="3000" b="1" dirty="0">
                <a:solidFill>
                  <a:srgbClr val="16302E"/>
                </a:solidFill>
                <a:latin typeface="Calibri" pitchFamily="34" charset="0"/>
                <a:ea typeface="Calibri" pitchFamily="34" charset="-122"/>
                <a:cs typeface="Calibri" pitchFamily="34" charset="-120"/>
              </a:rPr>
              <a:t>counts of ghunnah</a:t>
            </a:r>
            <a:endParaRPr lang="en-US" sz="3000" dirty="0"/>
          </a:p>
        </p:txBody>
      </p:sp>
      <p:sp>
        <p:nvSpPr>
          <p:cNvPr id="8" name="Beat 211"/>
          <p:cNvSpPr/>
          <p:nvPr/>
        </p:nvSpPr>
        <p:spPr>
          <a:xfrm>
            <a:off x="960120" y="3154680"/>
            <a:ext cx="1097280" cy="1097280"/>
          </a:xfrm>
          <a:prstGeom prst="ellipse">
            <a:avLst/>
          </a:prstGeom>
          <a:solidFill>
            <a:srgbClr val="E2F0EC"/>
          </a:solidFill>
          <a:ln w="31750">
            <a:solidFill>
              <a:srgbClr val="1D7A6E"/>
            </a:solidFill>
            <a:prstDash val="solid"/>
          </a:ln>
        </p:spPr>
      </p:sp>
      <p:sp>
        <p:nvSpPr>
          <p:cNvPr id="9" name="Beat vowel 212"/>
          <p:cNvSpPr txBox="1"/>
          <p:nvPr/>
        </p:nvSpPr>
        <p:spPr>
          <a:xfrm>
            <a:off x="960120" y="3154680"/>
            <a:ext cx="1097280" cy="1051560"/>
          </a:xfrm>
          <a:prstGeom prst="rect">
            <a:avLst/>
          </a:prstGeom>
          <a:noFill/>
          <a:ln/>
        </p:spPr>
        <p:txBody>
          <a:bodyPr wrap="square" lIns="0" tIns="0" rIns="0" bIns="0" rtlCol="0" anchor="ctr"/>
          <a:lstStyle/>
          <a:p>
            <a:pPr rtl="1" algn="ctr" indent="0" marL="0">
              <a:buNone/>
            </a:pPr>
            <a:r>
              <a:rPr lang="ar-SA" altLang="en-US" sz="5000" dirty="0">
                <a:solidFill>
                  <a:srgbClr val="0F5148"/>
                </a:solidFill>
                <a:latin typeface="Traditional Arabic" pitchFamily="34" charset="0"/>
                <a:ea typeface="Traditional Arabic" pitchFamily="34" charset="-122"/>
                <a:cs typeface="Traditional Arabic" pitchFamily="34" charset="-120"/>
              </a:rPr>
              <a:t>بَ</a:t>
            </a:r>
            <a:endParaRPr lang="ar-SA" sz="5000" dirty="0"/>
          </a:p>
        </p:txBody>
      </p:sp>
      <p:sp>
        <p:nvSpPr>
          <p:cNvPr id="10" name="Beat label 213"/>
          <p:cNvSpPr txBox="1"/>
          <p:nvPr/>
        </p:nvSpPr>
        <p:spPr>
          <a:xfrm>
            <a:off x="868680" y="4279392"/>
            <a:ext cx="1280160" cy="274320"/>
          </a:xfrm>
          <a:prstGeom prst="rect">
            <a:avLst/>
          </a:prstGeom>
          <a:noFill/>
          <a:ln/>
        </p:spPr>
        <p:txBody>
          <a:bodyPr wrap="square" lIns="0" tIns="0" rIns="0" bIns="0" rtlCol="0" anchor="t"/>
          <a:lstStyle/>
          <a:p>
            <a:pPr algn="ctr" indent="0" marL="0">
              <a:buNone/>
            </a:pPr>
            <a:r>
              <a:rPr lang="en-US" sz="1500" b="1" dirty="0">
                <a:solidFill>
                  <a:srgbClr val="5D7774"/>
                </a:solidFill>
                <a:latin typeface="Calibri" pitchFamily="34" charset="0"/>
                <a:ea typeface="Calibri" pitchFamily="34" charset="-122"/>
                <a:cs typeface="Calibri" pitchFamily="34" charset="-120"/>
              </a:rPr>
              <a:t>count 1</a:t>
            </a:r>
            <a:endParaRPr lang="en-US" sz="1500" dirty="0"/>
          </a:p>
        </p:txBody>
      </p:sp>
      <p:sp>
        <p:nvSpPr>
          <p:cNvPr id="11" name="Beat 214"/>
          <p:cNvSpPr/>
          <p:nvPr/>
        </p:nvSpPr>
        <p:spPr>
          <a:xfrm>
            <a:off x="2423160" y="3154680"/>
            <a:ext cx="1097280" cy="1097280"/>
          </a:xfrm>
          <a:prstGeom prst="ellipse">
            <a:avLst/>
          </a:prstGeom>
          <a:solidFill>
            <a:srgbClr val="E2F0EC"/>
          </a:solidFill>
          <a:ln w="31750">
            <a:solidFill>
              <a:srgbClr val="1D7A6E"/>
            </a:solidFill>
            <a:prstDash val="solid"/>
          </a:ln>
        </p:spPr>
      </p:sp>
      <p:sp>
        <p:nvSpPr>
          <p:cNvPr id="12" name="Beat vowel 215"/>
          <p:cNvSpPr txBox="1"/>
          <p:nvPr/>
        </p:nvSpPr>
        <p:spPr>
          <a:xfrm>
            <a:off x="2423160" y="3154680"/>
            <a:ext cx="1097280" cy="1051560"/>
          </a:xfrm>
          <a:prstGeom prst="rect">
            <a:avLst/>
          </a:prstGeom>
          <a:noFill/>
          <a:ln/>
        </p:spPr>
        <p:txBody>
          <a:bodyPr wrap="square" lIns="0" tIns="0" rIns="0" bIns="0" rtlCol="0" anchor="ctr"/>
          <a:lstStyle/>
          <a:p>
            <a:pPr rtl="1" algn="ctr" indent="0" marL="0">
              <a:buNone/>
            </a:pPr>
            <a:r>
              <a:rPr lang="ar-SA" altLang="en-US" sz="5000" dirty="0">
                <a:solidFill>
                  <a:srgbClr val="0F5148"/>
                </a:solidFill>
                <a:latin typeface="Traditional Arabic" pitchFamily="34" charset="0"/>
                <a:ea typeface="Traditional Arabic" pitchFamily="34" charset="-122"/>
                <a:cs typeface="Traditional Arabic" pitchFamily="34" charset="-120"/>
              </a:rPr>
              <a:t>بَ</a:t>
            </a:r>
            <a:endParaRPr lang="ar-SA" sz="5000" dirty="0"/>
          </a:p>
        </p:txBody>
      </p:sp>
      <p:sp>
        <p:nvSpPr>
          <p:cNvPr id="13" name="Beat label 216"/>
          <p:cNvSpPr txBox="1"/>
          <p:nvPr/>
        </p:nvSpPr>
        <p:spPr>
          <a:xfrm>
            <a:off x="2331720" y="4279392"/>
            <a:ext cx="1280160" cy="274320"/>
          </a:xfrm>
          <a:prstGeom prst="rect">
            <a:avLst/>
          </a:prstGeom>
          <a:noFill/>
          <a:ln/>
        </p:spPr>
        <p:txBody>
          <a:bodyPr wrap="square" lIns="0" tIns="0" rIns="0" bIns="0" rtlCol="0" anchor="t"/>
          <a:lstStyle/>
          <a:p>
            <a:pPr algn="ctr" indent="0" marL="0">
              <a:buNone/>
            </a:pPr>
            <a:r>
              <a:rPr lang="en-US" sz="1500" b="1" dirty="0">
                <a:solidFill>
                  <a:srgbClr val="5D7774"/>
                </a:solidFill>
                <a:latin typeface="Calibri" pitchFamily="34" charset="0"/>
                <a:ea typeface="Calibri" pitchFamily="34" charset="-122"/>
                <a:cs typeface="Calibri" pitchFamily="34" charset="-120"/>
              </a:rPr>
              <a:t>count 2</a:t>
            </a:r>
            <a:endParaRPr lang="en-US" sz="1500" dirty="0"/>
          </a:p>
        </p:txBody>
      </p:sp>
      <p:sp>
        <p:nvSpPr>
          <p:cNvPr id="14" name="Beat note 217"/>
          <p:cNvSpPr txBox="1"/>
          <p:nvPr/>
        </p:nvSpPr>
        <p:spPr>
          <a:xfrm>
            <a:off x="3840480" y="3108960"/>
            <a:ext cx="2240280" cy="1463040"/>
          </a:xfrm>
          <a:prstGeom prst="rect">
            <a:avLst/>
          </a:prstGeom>
          <a:noFill/>
          <a:ln/>
        </p:spPr>
        <p:txBody>
          <a:bodyPr wrap="square" lIns="0" tIns="0" rIns="0" bIns="0" rtlCol="0" anchor="ctr"/>
          <a:lstStyle/>
          <a:p>
            <a:pPr indent="0" marL="0">
              <a:buNone/>
            </a:pPr>
            <a:r>
              <a:rPr lang="en-US" sz="1800" i="1" dirty="0">
                <a:solidFill>
                  <a:srgbClr val="5D7774"/>
                </a:solidFill>
                <a:latin typeface="Calibri" pitchFamily="34" charset="0"/>
                <a:ea typeface="Calibri" pitchFamily="34" charset="-122"/>
                <a:cs typeface="Calibri" pitchFamily="34" charset="-120"/>
              </a:rPr>
              <a:t>One count = one short vowel at your pace.</a:t>
            </a:r>
            <a:endParaRPr lang="en-US" sz="1800" dirty="0"/>
          </a:p>
        </p:txBody>
      </p:sp>
      <p:sp>
        <p:nvSpPr>
          <p:cNvPr id="15" name="Timing text 218"/>
          <p:cNvSpPr txBox="1"/>
          <p:nvPr/>
        </p:nvSpPr>
        <p:spPr>
          <a:xfrm>
            <a:off x="868680" y="4645152"/>
            <a:ext cx="5120640" cy="1234440"/>
          </a:xfrm>
          <a:prstGeom prst="rect">
            <a:avLst/>
          </a:prstGeom>
          <a:noFill/>
          <a:ln/>
        </p:spPr>
        <p:txBody>
          <a:bodyPr wrap="square" lIns="0" tIns="0" rIns="0" bIns="0" rtlCol="0" anchor="ctr"/>
          <a:lstStyle/>
          <a:p>
            <a:pPr indent="0" marL="0">
              <a:buNone/>
            </a:pPr>
            <a:r>
              <a:rPr lang="en-US" sz="2200" dirty="0">
                <a:solidFill>
                  <a:srgbClr val="16302E"/>
                </a:solidFill>
                <a:latin typeface="Calibri" pitchFamily="34" charset="0"/>
                <a:ea typeface="Calibri" pitchFamily="34" charset="-122"/>
                <a:cs typeface="Calibri" pitchFamily="34" charset="-120"/>
              </a:rPr>
              <a:t>Measured against two short vowels at your current recitation speed. Counts are relative to pace, not fixed seconds.</a:t>
            </a:r>
            <a:endParaRPr lang="en-US" sz="2200" dirty="0"/>
          </a:p>
        </p:txBody>
      </p:sp>
      <p:sp>
        <p:nvSpPr>
          <p:cNvPr id="16" name="Image frame 219"/>
          <p:cNvSpPr/>
          <p:nvPr/>
        </p:nvSpPr>
        <p:spPr>
          <a:xfrm>
            <a:off x="6739128" y="1618488"/>
            <a:ext cx="4901184" cy="2820924"/>
          </a:xfrm>
          <a:prstGeom prst="roundRect">
            <a:avLst>
              <a:gd name="adj" fmla="val 5835"/>
            </a:avLst>
          </a:prstGeom>
          <a:solidFill>
            <a:srgbClr val="FFFFFF"/>
          </a:solidFill>
          <a:ln w="12700">
            <a:solidFill>
              <a:srgbClr val="D5E5E0"/>
            </a:solidFill>
            <a:prstDash val="solid"/>
          </a:ln>
          <a:effectLst>
            <a:outerShdw sx="100000" sy="100000" kx="0" ky="0" algn="bl" rotWithShape="0" blurRad="101600" dist="25400" dir="5400000">
              <a:srgbClr val="0F3D3A">
                <a:alpha val="10000"/>
              </a:srgbClr>
            </a:outerShdw>
          </a:effectLst>
        </p:spPr>
      </p:sp>
      <p:pic>
        <p:nvPicPr>
          <p:cNvPr id="17" name="Lesson card 2: how to apply it 220" descr="Lesson card 2: how to apply it">    </p:cNvPr>
          <p:cNvPicPr>
            <a:picLocks noChangeAspect="1"/>
          </p:cNvPicPr>
          <p:nvPr/>
        </p:nvPicPr>
        <p:blipFill>
          <a:blip r:embed="rId1"/>
          <a:stretch>
            <a:fillRect/>
          </a:stretch>
        </p:blipFill>
        <p:spPr>
          <a:xfrm>
            <a:off x="6812280" y="1691640"/>
            <a:ext cx="4754880" cy="2674620"/>
          </a:xfrm>
          <a:prstGeom prst="rect">
            <a:avLst/>
          </a:prstGeom>
        </p:spPr>
      </p:pic>
      <p:sp>
        <p:nvSpPr>
          <p:cNvPr id="18" name="Image caption 221"/>
          <p:cNvSpPr txBox="1"/>
          <p:nvPr/>
        </p:nvSpPr>
        <p:spPr>
          <a:xfrm>
            <a:off x="6812280" y="4494276"/>
            <a:ext cx="4754880" cy="274320"/>
          </a:xfrm>
          <a:prstGeom prst="rect">
            <a:avLst/>
          </a:prstGeom>
          <a:noFill/>
          <a:ln/>
        </p:spPr>
        <p:txBody>
          <a:bodyPr wrap="square" lIns="0" tIns="0" rIns="0" bIns="0" rtlCol="0" anchor="t"/>
          <a:lstStyle/>
          <a:p>
            <a:pPr algn="ctr" indent="0" marL="0">
              <a:buNone/>
            </a:pPr>
            <a:r>
              <a:rPr lang="en-US" sz="1400" i="1" dirty="0">
                <a:solidFill>
                  <a:srgbClr val="5D7774"/>
                </a:solidFill>
                <a:latin typeface="Calibri" pitchFamily="34" charset="0"/>
                <a:ea typeface="Calibri" pitchFamily="34" charset="-122"/>
                <a:cs typeface="Calibri" pitchFamily="34" charset="-120"/>
              </a:rPr>
              <a:t>Lesson card 2: how to apply it</a:t>
            </a:r>
            <a:endParaRPr lang="en-US" sz="1400" dirty="0"/>
          </a:p>
        </p:txBody>
      </p:sp>
      <p:sp>
        <p:nvSpPr>
          <p:cNvPr id="19" name="Accuracy callout 222"/>
          <p:cNvSpPr/>
          <p:nvPr/>
        </p:nvSpPr>
        <p:spPr>
          <a:xfrm>
            <a:off x="6629400" y="4892040"/>
            <a:ext cx="5010912" cy="1097280"/>
          </a:xfrm>
          <a:prstGeom prst="roundRect">
            <a:avLst>
              <a:gd name="adj" fmla="val 15000"/>
            </a:avLst>
          </a:prstGeom>
          <a:solidFill>
            <a:srgbClr val="0F3D3A"/>
          </a:solidFill>
          <a:ln>
            <a:solidFill>
              <a:srgbClr val="0F3D3A"/>
            </a:solidFill>
          </a:ln>
        </p:spPr>
        <p:txBody>
          <a:bodyPr wrap="square" lIns="228600" tIns="88900" rIns="228600" bIns="88900" rtlCol="0" anchor="ctr"/>
          <a:lstStyle/>
          <a:p>
            <a:pPr indent="0" marL="0">
              <a:buNone/>
            </a:pPr>
            <a:r>
              <a:rPr lang="en-US" sz="1900" b="1" dirty="0">
                <a:solidFill>
                  <a:srgbClr val="F6C552"/>
                </a:solidFill>
                <a:latin typeface="Calibri" pitchFamily="34" charset="0"/>
                <a:ea typeface="Calibri" pitchFamily="34" charset="-122"/>
                <a:cs typeface="Calibri" pitchFamily="34" charset="-120"/>
              </a:rPr>
              <a:t>Keep it accurate  </a:t>
            </a:r>
            <a:pPr indent="0" marL="0">
              <a:buNone/>
            </a:pPr>
            <a:r>
              <a:rPr lang="en-US" sz="1900" dirty="0">
                <a:solidFill>
                  <a:srgbClr val="FFFFFF"/>
                </a:solidFill>
                <a:latin typeface="Calibri" pitchFamily="34" charset="0"/>
                <a:ea typeface="Calibri" pitchFamily="34" charset="-122"/>
                <a:cs typeface="Calibri" pitchFamily="34" charset="-120"/>
              </a:rPr>
              <a:t>Do not remove the nasal sound or add a separate vowel between the doubled parts.</a:t>
            </a:r>
            <a:endParaRPr lang="en-US" sz="1900" dirty="0"/>
          </a:p>
        </p:txBody>
      </p:sp>
      <p:sp>
        <p:nvSpPr>
          <p:cNvPr id="20" name="Nav Home 223 LINK:title">
            <a:hlinkClick r:id="rIdJump1" action="ppaction://hlinksldjump"/>
          </p:cNvPr>
          <p:cNvSpPr/>
          <p:nvPr/>
        </p:nvSpPr>
        <p:spPr>
          <a:xfrm>
            <a:off x="548640" y="6236208"/>
            <a:ext cx="1234440" cy="420624"/>
          </a:xfrm>
          <a:prstGeom prst="roundRect">
            <a:avLst>
              <a:gd name="adj" fmla="val 47826"/>
            </a:avLst>
          </a:prstGeom>
          <a:solidFill>
            <a:srgbClr val="16302E"/>
          </a:solidFill>
          <a:ln>
            <a:solidFill>
              <a:srgbClr val="16302E"/>
            </a:solidFill>
          </a:ln>
        </p:spPr>
        <p:txBody>
          <a:bodyPr wrap="square" lIns="365760" tIns="0" rIns="9144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Home</a:t>
            </a:r>
            <a:endParaRPr lang="en-US" sz="1500" dirty="0"/>
          </a:p>
        </p:txBody>
      </p:sp>
      <p:pic>
        <p:nvPicPr>
          <p:cNvPr id="21" name="Button icon 224 LINK:title" descr="preencoded.png">
            <a:hlinkClick r:id="rIdJump2" action="ppaction://hlinksldjump"/>
          </p:cNvPr>
          <p:cNvPicPr>
            <a:picLocks noChangeAspect="1"/>
          </p:cNvPicPr>
          <p:nvPr/>
        </p:nvPicPr>
        <p:blipFill>
          <a:blip r:embed="rId2"/>
          <a:stretch>
            <a:fillRect/>
          </a:stretch>
        </p:blipFill>
        <p:spPr>
          <a:xfrm>
            <a:off x="749808" y="6336792"/>
            <a:ext cx="219456" cy="219456"/>
          </a:xfrm>
          <a:prstGeom prst="rect">
            <a:avLst/>
          </a:prstGeom>
        </p:spPr>
      </p:pic>
      <p:sp>
        <p:nvSpPr>
          <p:cNvPr id="22" name="Nav Menu 225 LINK:menu">
            <a:hlinkClick r:id="rIdJump3" action="ppaction://hlinksldjump"/>
          </p:cNvPr>
          <p:cNvSpPr/>
          <p:nvPr/>
        </p:nvSpPr>
        <p:spPr>
          <a:xfrm>
            <a:off x="1901952" y="6236208"/>
            <a:ext cx="1005840" cy="420624"/>
          </a:xfrm>
          <a:prstGeom prst="roundRect">
            <a:avLst>
              <a:gd name="adj" fmla="val 47826"/>
            </a:avLst>
          </a:prstGeom>
          <a:solidFill>
            <a:srgbClr val="FFFFFF"/>
          </a:solidFill>
          <a:ln w="19050">
            <a:solidFill>
              <a:srgbClr val="16302E"/>
            </a:solidFill>
          </a:ln>
        </p:spPr>
        <p:txBody>
          <a:bodyPr wrap="square" lIns="109728" tIns="0" rIns="109728" bIns="0" rtlCol="0" anchor="ctr"/>
          <a:lstStyle/>
          <a:p>
            <a:pPr algn="ctr" indent="0" marL="0">
              <a:buNone/>
            </a:pPr>
            <a:r>
              <a:rPr lang="en-US" sz="1500" b="1" dirty="0">
                <a:solidFill>
                  <a:srgbClr val="16302E"/>
                </a:solidFill>
                <a:latin typeface="Calibri" pitchFamily="34" charset="0"/>
                <a:ea typeface="Calibri" pitchFamily="34" charset="-122"/>
                <a:cs typeface="Calibri" pitchFamily="34" charset="-120"/>
              </a:rPr>
              <a:t>Menu</a:t>
            </a:r>
            <a:endParaRPr lang="en-US" sz="1500" dirty="0"/>
          </a:p>
        </p:txBody>
      </p:sp>
      <p:sp>
        <p:nvSpPr>
          <p:cNvPr id="23" name="Slide counter 226"/>
          <p:cNvSpPr txBox="1"/>
          <p:nvPr/>
        </p:nvSpPr>
        <p:spPr>
          <a:xfrm>
            <a:off x="5184648" y="6236208"/>
            <a:ext cx="1828800" cy="420624"/>
          </a:xfrm>
          <a:prstGeom prst="rect">
            <a:avLst/>
          </a:prstGeom>
          <a:noFill/>
          <a:ln/>
        </p:spPr>
        <p:txBody>
          <a:bodyPr wrap="square" lIns="0" tIns="0" rIns="0" bIns="0" rtlCol="0" anchor="ctr"/>
          <a:lstStyle/>
          <a:p>
            <a:pPr algn="ctr" indent="0" marL="0">
              <a:buNone/>
            </a:pPr>
            <a:r>
              <a:rPr lang="en-US" sz="1400" dirty="0">
                <a:solidFill>
                  <a:srgbClr val="5D7774"/>
                </a:solidFill>
                <a:latin typeface="Calibri" pitchFamily="34" charset="0"/>
                <a:ea typeface="Calibri" pitchFamily="34" charset="-122"/>
                <a:cs typeface="Calibri" pitchFamily="34" charset="-120"/>
              </a:rPr>
              <a:t>8 / 18</a:t>
            </a:r>
            <a:endParaRPr lang="en-US" sz="1400" dirty="0"/>
          </a:p>
        </p:txBody>
      </p:sp>
      <p:sp>
        <p:nvSpPr>
          <p:cNvPr id="24" name="Nav Back 227 LINK:steps">
            <a:hlinkClick r:id="rIdJump4" action="ppaction://hlinksldjump"/>
          </p:cNvPr>
          <p:cNvSpPr/>
          <p:nvPr/>
        </p:nvSpPr>
        <p:spPr>
          <a:xfrm>
            <a:off x="9052560" y="6236208"/>
            <a:ext cx="1234440" cy="420624"/>
          </a:xfrm>
          <a:prstGeom prst="roundRect">
            <a:avLst>
              <a:gd name="adj" fmla="val 47826"/>
            </a:avLst>
          </a:prstGeom>
          <a:solidFill>
            <a:srgbClr val="FFFFFF"/>
          </a:solidFill>
          <a:ln w="19050">
            <a:solidFill>
              <a:srgbClr val="1D7A6E"/>
            </a:solidFill>
          </a:ln>
        </p:spPr>
        <p:txBody>
          <a:bodyPr wrap="square" lIns="109728" tIns="0" rIns="109728" bIns="0" rtlCol="0" anchor="ctr"/>
          <a:lstStyle/>
          <a:p>
            <a:pPr algn="ctr" indent="0" marL="0">
              <a:buNone/>
            </a:pPr>
            <a:r>
              <a:rPr lang="en-US" sz="1500" b="1" dirty="0">
                <a:solidFill>
                  <a:srgbClr val="1D7A6E"/>
                </a:solidFill>
                <a:latin typeface="Calibri" pitchFamily="34" charset="0"/>
                <a:ea typeface="Calibri" pitchFamily="34" charset="-122"/>
                <a:cs typeface="Calibri" pitchFamily="34" charset="-120"/>
              </a:rPr>
              <a:t>‹  Back</a:t>
            </a:r>
            <a:endParaRPr lang="en-US" sz="1500" dirty="0"/>
          </a:p>
        </p:txBody>
      </p:sp>
      <p:sp>
        <p:nvSpPr>
          <p:cNvPr id="25" name="Nav Next 228 LINK:ex1">
            <a:hlinkClick r:id="rIdJump5" action="ppaction://hlinksldjump"/>
          </p:cNvPr>
          <p:cNvSpPr/>
          <p:nvPr/>
        </p:nvSpPr>
        <p:spPr>
          <a:xfrm>
            <a:off x="10405872" y="6236208"/>
            <a:ext cx="1234440" cy="420624"/>
          </a:xfrm>
          <a:prstGeom prst="roundRect">
            <a:avLst>
              <a:gd name="adj" fmla="val 47826"/>
            </a:avLst>
          </a:prstGeom>
          <a:solidFill>
            <a:srgbClr val="1D7A6E"/>
          </a:solidFill>
          <a:ln>
            <a:solidFill>
              <a:srgbClr val="1D7A6E"/>
            </a:solidFill>
          </a:ln>
        </p:spPr>
        <p:txBody>
          <a:bodyPr wrap="square" lIns="109728" tIns="0" rIns="109728"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Next  ›</a:t>
            </a:r>
            <a:endParaRPr lang="en-US" sz="1500" dirty="0"/>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Kicker 229"/>
          <p:cNvSpPr txBox="1"/>
          <p:nvPr/>
        </p:nvSpPr>
        <p:spPr>
          <a:xfrm>
            <a:off x="548640" y="329184"/>
            <a:ext cx="7315200" cy="292608"/>
          </a:xfrm>
          <a:prstGeom prst="rect">
            <a:avLst/>
          </a:prstGeom>
          <a:noFill/>
          <a:ln/>
        </p:spPr>
        <p:txBody>
          <a:bodyPr wrap="square" lIns="0" tIns="0" rIns="0" bIns="0" rtlCol="0" anchor="t"/>
          <a:lstStyle/>
          <a:p>
            <a:pPr indent="0" marL="0">
              <a:buNone/>
            </a:pPr>
            <a:r>
              <a:rPr lang="en-US" sz="1400" b="1" spc="300" kern="0" dirty="0">
                <a:solidFill>
                  <a:srgbClr val="1D7A6E"/>
                </a:solidFill>
                <a:latin typeface="Calibri" pitchFamily="34" charset="0"/>
                <a:ea typeface="Calibri" pitchFamily="34" charset="-122"/>
                <a:cs typeface="Calibri" pitchFamily="34" charset="-120"/>
              </a:rPr>
              <a:t>WORKED EXAMPLE 1  ·  114:6</a:t>
            </a:r>
            <a:endParaRPr lang="en-US" sz="1400" dirty="0"/>
          </a:p>
        </p:txBody>
      </p:sp>
      <p:sp>
        <p:nvSpPr>
          <p:cNvPr id="3" name="Text 0"/>
          <p:cNvSpPr/>
          <p:nvPr>
            <p:ph idx="100" type="title" hasCustomPrompt="1"/>
          </p:nvPr>
        </p:nvSpPr>
        <p:spPr>
          <a:xfrm>
            <a:off x="548640" y="658368"/>
            <a:ext cx="9052560" cy="731520"/>
          </a:xfrm>
          <a:prstGeom prst="rect">
            <a:avLst/>
          </a:prstGeom>
          <a:noFill/>
          <a:ln/>
        </p:spPr>
        <p:txBody>
          <a:bodyPr wrap="square" lIns="0" tIns="0" rIns="0" bIns="0" rtlCol="0" anchor="t"/>
          <a:lstStyle/>
          <a:p>
            <a:pPr algn="l" indent="0" marL="0">
              <a:buNone/>
            </a:pPr>
            <a:r>
              <a:rPr lang="en-US" sz="3600" b="1" dirty="0">
                <a:solidFill>
                  <a:srgbClr val="16302E"/>
                </a:solidFill>
                <a:latin typeface="Calibri" pitchFamily="34" charset="0"/>
                <a:ea typeface="Calibri" pitchFamily="34" charset="-122"/>
                <a:cs typeface="Calibri" pitchFamily="34" charset="-120"/>
              </a:rPr>
              <a:t>The doubled noon in al-jinnah</a:t>
            </a:r>
            <a:endParaRPr lang="en-US" sz="3600" dirty="0"/>
          </a:p>
        </p:txBody>
      </p:sp>
      <p:sp>
        <p:nvSpPr>
          <p:cNvPr id="4" name="Route chip 230"/>
          <p:cNvSpPr/>
          <p:nvPr/>
        </p:nvSpPr>
        <p:spPr>
          <a:xfrm>
            <a:off x="10012680" y="365760"/>
            <a:ext cx="1627632" cy="384048"/>
          </a:xfrm>
          <a:prstGeom prst="roundRect">
            <a:avLst>
              <a:gd name="adj" fmla="val 47619"/>
            </a:avLst>
          </a:prstGeom>
          <a:solidFill>
            <a:srgbClr val="1D7A6E"/>
          </a:solidFill>
          <a:ln>
            <a:solidFill>
              <a:srgbClr val="1D7A6E"/>
            </a:solidFill>
          </a:ln>
        </p:spPr>
        <p:txBody>
          <a:bodyPr wrap="square" lIns="0" tIns="0" rIns="0" bIns="0" rtlCol="0" anchor="ctr"/>
          <a:lstStyle/>
          <a:p>
            <a:pPr algn="ctr" indent="0" marL="0">
              <a:buNone/>
            </a:pPr>
            <a:r>
              <a:rPr lang="en-US" sz="1300" b="1" spc="200" kern="0" dirty="0">
                <a:solidFill>
                  <a:srgbClr val="FFFFFF"/>
                </a:solidFill>
                <a:latin typeface="Calibri" pitchFamily="34" charset="0"/>
                <a:ea typeface="Calibri" pitchFamily="34" charset="-122"/>
                <a:cs typeface="Calibri" pitchFamily="34" charset="-120"/>
              </a:rPr>
              <a:t>GUIDED</a:t>
            </a:r>
            <a:endParaRPr lang="en-US" sz="1300" dirty="0"/>
          </a:p>
        </p:txBody>
      </p:sp>
      <p:sp>
        <p:nvSpPr>
          <p:cNvPr id="5" name="Verse panel 231"/>
          <p:cNvSpPr/>
          <p:nvPr/>
        </p:nvSpPr>
        <p:spPr>
          <a:xfrm>
            <a:off x="548640" y="1572768"/>
            <a:ext cx="11094415" cy="2011680"/>
          </a:xfrm>
          <a:prstGeom prst="roundRect">
            <a:avLst>
              <a:gd name="adj" fmla="val 8182"/>
            </a:avLst>
          </a:prstGeom>
          <a:solidFill>
            <a:srgbClr val="FFFFFF"/>
          </a:solidFill>
          <a:ln w="12700">
            <a:solidFill>
              <a:srgbClr val="D5E5E0"/>
            </a:solidFill>
            <a:prstDash val="solid"/>
          </a:ln>
          <a:effectLst>
            <a:outerShdw sx="100000" sy="100000" kx="0" ky="0" algn="bl" rotWithShape="0" blurRad="101600" dist="25400" dir="5400000">
              <a:srgbClr val="0F3D3A">
                <a:alpha val="10000"/>
              </a:srgbClr>
            </a:outerShdw>
          </a:effectLst>
        </p:spPr>
      </p:sp>
      <p:sp>
        <p:nvSpPr>
          <p:cNvPr id="6" name="Focus note 232"/>
          <p:cNvSpPr txBox="1"/>
          <p:nvPr/>
        </p:nvSpPr>
        <p:spPr>
          <a:xfrm>
            <a:off x="822960" y="1682496"/>
            <a:ext cx="10545775" cy="310896"/>
          </a:xfrm>
          <a:prstGeom prst="rect">
            <a:avLst/>
          </a:prstGeom>
          <a:noFill/>
          <a:ln/>
        </p:spPr>
        <p:txBody>
          <a:bodyPr wrap="square" lIns="0" tIns="0" rIns="0" bIns="0" rtlCol="0" anchor="t"/>
          <a:lstStyle/>
          <a:p>
            <a:pPr algn="ctr" indent="0" marL="0">
              <a:buNone/>
            </a:pPr>
            <a:r>
              <a:rPr lang="en-US" sz="1600" i="1" dirty="0">
                <a:solidFill>
                  <a:srgbClr val="5D7774"/>
                </a:solidFill>
                <a:latin typeface="Calibri" pitchFamily="34" charset="0"/>
                <a:ea typeface="Calibri" pitchFamily="34" charset="-122"/>
                <a:cs typeface="Calibri" pitchFamily="34" charset="-120"/>
              </a:rPr>
              <a:t>Focus: ٱلْجِنَّةِ  ·  short excerpt; read it only in its stated context</a:t>
            </a:r>
            <a:endParaRPr lang="en-US" sz="1600" dirty="0"/>
          </a:p>
        </p:txBody>
      </p:sp>
      <p:sp>
        <p:nvSpPr>
          <p:cNvPr id="7" name="Verse excerpt 233"/>
          <p:cNvSpPr txBox="1"/>
          <p:nvPr/>
        </p:nvSpPr>
        <p:spPr>
          <a:xfrm>
            <a:off x="822960" y="2011680"/>
            <a:ext cx="10545775" cy="1481328"/>
          </a:xfrm>
          <a:prstGeom prst="rect">
            <a:avLst/>
          </a:prstGeom>
          <a:noFill/>
          <a:ln/>
        </p:spPr>
        <p:txBody>
          <a:bodyPr wrap="square" lIns="0" tIns="0" rIns="0" bIns="0" rtlCol="0" anchor="ctr"/>
          <a:lstStyle/>
          <a:p>
            <a:pPr algn="ctr" indent="0" marL="0">
              <a:buNone/>
            </a:pPr>
            <a:r>
              <a:rPr lang="ar-SA" altLang="en-US" sz="6600" dirty="0">
                <a:solidFill>
                  <a:srgbClr val="16302E"/>
                </a:solidFill>
                <a:latin typeface="Traditional Arabic" pitchFamily="34" charset="0"/>
                <a:ea typeface="Traditional Arabic" pitchFamily="34" charset="-122"/>
                <a:cs typeface="Traditional Arabic" pitchFamily="34" charset="-120"/>
              </a:rPr>
              <a:t>مِنَ </a:t>
            </a:r>
            <a:pPr algn="ctr" indent="0" marL="0">
              <a:buNone/>
            </a:pPr>
            <a:r>
              <a:rPr lang="ar-SA" altLang="en-US" sz="6600" dirty="0">
                <a:solidFill>
                  <a:srgbClr val="0F5148"/>
                </a:solidFill>
                <a:highlight>
                  <a:srgbClr val="FFE08A"/>
                </a:highlight>
                <a:latin typeface="Traditional Arabic" pitchFamily="34" charset="0"/>
                <a:ea typeface="Traditional Arabic" pitchFamily="34" charset="-122"/>
                <a:cs typeface="Traditional Arabic" pitchFamily="34" charset="-120"/>
              </a:rPr>
              <a:t>ٱلْجِنَّةِ</a:t>
            </a:r>
            <a:pPr algn="ctr" indent="0" marL="0">
              <a:buNone/>
            </a:pPr>
            <a:r>
              <a:rPr lang="ar-SA" altLang="en-US" sz="6600" dirty="0">
                <a:solidFill>
                  <a:srgbClr val="16302E"/>
                </a:solidFill>
                <a:latin typeface="Traditional Arabic" pitchFamily="34" charset="0"/>
                <a:ea typeface="Traditional Arabic" pitchFamily="34" charset="-122"/>
                <a:cs typeface="Traditional Arabic" pitchFamily="34" charset="-120"/>
              </a:rPr>
              <a:t> وَ</a:t>
            </a:r>
            <a:pPr algn="ctr" indent="0" marL="0">
              <a:buNone/>
            </a:pPr>
            <a:r>
              <a:rPr lang="ar-SA" altLang="en-US" sz="6600" dirty="0">
                <a:solidFill>
                  <a:srgbClr val="16302E"/>
                </a:solidFill>
                <a:latin typeface="Traditional Arabic" pitchFamily="34" charset="0"/>
                <a:ea typeface="Traditional Arabic" pitchFamily="34" charset="-122"/>
                <a:cs typeface="Traditional Arabic" pitchFamily="34" charset="-120"/>
              </a:rPr>
              <a:t>ٱلنَّاسِ</a:t>
            </a:r>
            <a:endParaRPr lang="ar-SA" sz="6000" dirty="0"/>
          </a:p>
        </p:txBody>
      </p:sp>
      <p:sp>
        <p:nvSpPr>
          <p:cNvPr id="8" name="Card 234"/>
          <p:cNvSpPr/>
          <p:nvPr/>
        </p:nvSpPr>
        <p:spPr>
          <a:xfrm>
            <a:off x="548640" y="3794760"/>
            <a:ext cx="3511296" cy="2194560"/>
          </a:xfrm>
          <a:prstGeom prst="roundRect">
            <a:avLst>
              <a:gd name="adj" fmla="val 7500"/>
            </a:avLst>
          </a:prstGeom>
          <a:solidFill>
            <a:srgbClr val="FFFFFF"/>
          </a:solidFill>
          <a:ln w="12700">
            <a:solidFill>
              <a:srgbClr val="D5E5E0"/>
            </a:solidFill>
            <a:prstDash val="solid"/>
          </a:ln>
          <a:effectLst>
            <a:outerShdw sx="100000" sy="100000" kx="0" ky="0" algn="bl" rotWithShape="0" blurRad="101600" dist="25400" dir="5400000">
              <a:srgbClr val="0F3D3A">
                <a:alpha val="10000"/>
              </a:srgbClr>
            </a:outerShdw>
          </a:effectLst>
        </p:spPr>
      </p:sp>
      <p:sp>
        <p:nvSpPr>
          <p:cNvPr id="9" name="Row circle 235"/>
          <p:cNvSpPr/>
          <p:nvPr/>
        </p:nvSpPr>
        <p:spPr>
          <a:xfrm>
            <a:off x="777240" y="3950208"/>
            <a:ext cx="548640" cy="548640"/>
          </a:xfrm>
          <a:prstGeom prst="ellipse">
            <a:avLst/>
          </a:prstGeom>
          <a:solidFill>
            <a:srgbClr val="1D7A6E"/>
          </a:solidFill>
          <a:ln w="12700">
            <a:solidFill>
              <a:srgbClr val="1D7A6E"/>
            </a:solidFill>
            <a:prstDash val="solid"/>
          </a:ln>
        </p:spPr>
      </p:sp>
      <p:pic>
        <p:nvPicPr>
          <p:cNvPr id="10" name="Row glyph 236" descr="preencoded.png">    </p:cNvPr>
          <p:cNvPicPr>
            <a:picLocks noChangeAspect="1"/>
          </p:cNvPicPr>
          <p:nvPr/>
        </p:nvPicPr>
        <p:blipFill>
          <a:blip r:embed="rId1"/>
          <a:stretch>
            <a:fillRect/>
          </a:stretch>
        </p:blipFill>
        <p:spPr>
          <a:xfrm>
            <a:off x="914400" y="4087368"/>
            <a:ext cx="274320" cy="274320"/>
          </a:xfrm>
          <a:prstGeom prst="rect">
            <a:avLst/>
          </a:prstGeom>
        </p:spPr>
      </p:pic>
      <p:sp>
        <p:nvSpPr>
          <p:cNvPr id="11" name="Row head 237"/>
          <p:cNvSpPr txBox="1"/>
          <p:nvPr/>
        </p:nvSpPr>
        <p:spPr>
          <a:xfrm>
            <a:off x="1463040" y="3977640"/>
            <a:ext cx="2414016" cy="502920"/>
          </a:xfrm>
          <a:prstGeom prst="rect">
            <a:avLst/>
          </a:prstGeom>
          <a:noFill/>
          <a:ln/>
        </p:spPr>
        <p:txBody>
          <a:bodyPr wrap="square" lIns="0" tIns="0" rIns="0" bIns="0" rtlCol="0" anchor="ctr"/>
          <a:lstStyle/>
          <a:p>
            <a:pPr indent="0" marL="0">
              <a:buNone/>
            </a:pPr>
            <a:r>
              <a:rPr lang="en-US" sz="2200" b="1" dirty="0">
                <a:solidFill>
                  <a:srgbClr val="16302E"/>
                </a:solidFill>
                <a:latin typeface="Calibri" pitchFamily="34" charset="0"/>
                <a:ea typeface="Calibri" pitchFamily="34" charset="-122"/>
                <a:cs typeface="Calibri" pitchFamily="34" charset="-120"/>
              </a:rPr>
              <a:t>Where and why</a:t>
            </a:r>
            <a:endParaRPr lang="en-US" sz="2200" dirty="0"/>
          </a:p>
        </p:txBody>
      </p:sp>
      <p:sp>
        <p:nvSpPr>
          <p:cNvPr id="12" name="Row text 238"/>
          <p:cNvSpPr txBox="1"/>
          <p:nvPr/>
        </p:nvSpPr>
        <p:spPr>
          <a:xfrm>
            <a:off x="777240" y="4617720"/>
            <a:ext cx="3099816" cy="1280160"/>
          </a:xfrm>
          <a:prstGeom prst="rect">
            <a:avLst/>
          </a:prstGeom>
          <a:noFill/>
          <a:ln/>
        </p:spPr>
        <p:txBody>
          <a:bodyPr wrap="square" lIns="0" tIns="0" rIns="0" bIns="0" rtlCol="0" anchor="t"/>
          <a:lstStyle/>
          <a:p>
            <a:pPr indent="0" marL="0">
              <a:buNone/>
            </a:pPr>
            <a:r>
              <a:rPr lang="en-US" sz="2100" dirty="0">
                <a:solidFill>
                  <a:srgbClr val="2C4744"/>
                </a:solidFill>
                <a:latin typeface="Calibri" pitchFamily="34" charset="0"/>
                <a:ea typeface="Calibri" pitchFamily="34" charset="-122"/>
                <a:cs typeface="Calibri" pitchFamily="34" charset="-120"/>
              </a:rPr>
              <a:t>The doubled noon carries nasal resonance.</a:t>
            </a:r>
            <a:endParaRPr lang="en-US" sz="2100" dirty="0"/>
          </a:p>
        </p:txBody>
      </p:sp>
      <p:sp>
        <p:nvSpPr>
          <p:cNvPr id="13" name="Card 239"/>
          <p:cNvSpPr/>
          <p:nvPr/>
        </p:nvSpPr>
        <p:spPr>
          <a:xfrm>
            <a:off x="4338828" y="3794760"/>
            <a:ext cx="3511296" cy="2194560"/>
          </a:xfrm>
          <a:prstGeom prst="roundRect">
            <a:avLst>
              <a:gd name="adj" fmla="val 7500"/>
            </a:avLst>
          </a:prstGeom>
          <a:solidFill>
            <a:srgbClr val="FFFFFF"/>
          </a:solidFill>
          <a:ln w="12700">
            <a:solidFill>
              <a:srgbClr val="D5E5E0"/>
            </a:solidFill>
            <a:prstDash val="solid"/>
          </a:ln>
          <a:effectLst>
            <a:outerShdw sx="100000" sy="100000" kx="0" ky="0" algn="bl" rotWithShape="0" blurRad="101600" dist="25400" dir="5400000">
              <a:srgbClr val="0F3D3A">
                <a:alpha val="10000"/>
              </a:srgbClr>
            </a:outerShdw>
          </a:effectLst>
        </p:spPr>
      </p:sp>
      <p:sp>
        <p:nvSpPr>
          <p:cNvPr id="14" name="Row circle 240"/>
          <p:cNvSpPr/>
          <p:nvPr/>
        </p:nvSpPr>
        <p:spPr>
          <a:xfrm>
            <a:off x="4567428" y="3950208"/>
            <a:ext cx="548640" cy="548640"/>
          </a:xfrm>
          <a:prstGeom prst="ellipse">
            <a:avLst/>
          </a:prstGeom>
          <a:solidFill>
            <a:srgbClr val="B9770E"/>
          </a:solidFill>
          <a:ln w="12700">
            <a:solidFill>
              <a:srgbClr val="B9770E"/>
            </a:solidFill>
            <a:prstDash val="solid"/>
          </a:ln>
        </p:spPr>
      </p:sp>
      <p:pic>
        <p:nvPicPr>
          <p:cNvPr id="15" name="Row glyph 241" descr="preencoded.png">    </p:cNvPr>
          <p:cNvPicPr>
            <a:picLocks noChangeAspect="1"/>
          </p:cNvPicPr>
          <p:nvPr/>
        </p:nvPicPr>
        <p:blipFill>
          <a:blip r:embed="rId2"/>
          <a:stretch>
            <a:fillRect/>
          </a:stretch>
        </p:blipFill>
        <p:spPr>
          <a:xfrm>
            <a:off x="4704588" y="4087368"/>
            <a:ext cx="274320" cy="274320"/>
          </a:xfrm>
          <a:prstGeom prst="rect">
            <a:avLst/>
          </a:prstGeom>
        </p:spPr>
      </p:pic>
      <p:sp>
        <p:nvSpPr>
          <p:cNvPr id="16" name="Row head 242"/>
          <p:cNvSpPr txBox="1"/>
          <p:nvPr/>
        </p:nvSpPr>
        <p:spPr>
          <a:xfrm>
            <a:off x="5253228" y="3977640"/>
            <a:ext cx="2414016" cy="502920"/>
          </a:xfrm>
          <a:prstGeom prst="rect">
            <a:avLst/>
          </a:prstGeom>
          <a:noFill/>
          <a:ln/>
        </p:spPr>
        <p:txBody>
          <a:bodyPr wrap="square" lIns="0" tIns="0" rIns="0" bIns="0" rtlCol="0" anchor="ctr"/>
          <a:lstStyle/>
          <a:p>
            <a:pPr indent="0" marL="0">
              <a:buNone/>
            </a:pPr>
            <a:r>
              <a:rPr lang="en-US" sz="2200" b="1" dirty="0">
                <a:solidFill>
                  <a:srgbClr val="16302E"/>
                </a:solidFill>
                <a:latin typeface="Calibri" pitchFamily="34" charset="0"/>
                <a:ea typeface="Calibri" pitchFamily="34" charset="-122"/>
                <a:cs typeface="Calibri" pitchFamily="34" charset="-120"/>
              </a:rPr>
              <a:t>Pronounce</a:t>
            </a:r>
            <a:endParaRPr lang="en-US" sz="2200" dirty="0"/>
          </a:p>
        </p:txBody>
      </p:sp>
      <p:sp>
        <p:nvSpPr>
          <p:cNvPr id="17" name="Row text 243"/>
          <p:cNvSpPr txBox="1"/>
          <p:nvPr/>
        </p:nvSpPr>
        <p:spPr>
          <a:xfrm>
            <a:off x="4567428" y="4617720"/>
            <a:ext cx="3099816" cy="1280160"/>
          </a:xfrm>
          <a:prstGeom prst="rect">
            <a:avLst/>
          </a:prstGeom>
          <a:noFill/>
          <a:ln/>
        </p:spPr>
        <p:txBody>
          <a:bodyPr wrap="square" lIns="0" tIns="0" rIns="0" bIns="0" rtlCol="0" anchor="t"/>
          <a:lstStyle/>
          <a:p>
            <a:pPr indent="0" marL="0">
              <a:buNone/>
            </a:pPr>
            <a:r>
              <a:rPr lang="en-US" sz="2100" dirty="0">
                <a:solidFill>
                  <a:srgbClr val="2C4744"/>
                </a:solidFill>
                <a:latin typeface="Calibri" pitchFamily="34" charset="0"/>
                <a:ea typeface="Calibri" pitchFamily="34" charset="-122"/>
                <a:cs typeface="Calibri" pitchFamily="34" charset="-120"/>
              </a:rPr>
              <a:t>Hold the ghunnah for two counts, then release into its written vowel.</a:t>
            </a:r>
            <a:endParaRPr lang="en-US" sz="2100" dirty="0"/>
          </a:p>
        </p:txBody>
      </p:sp>
      <p:sp>
        <p:nvSpPr>
          <p:cNvPr id="18" name="Card 244"/>
          <p:cNvSpPr/>
          <p:nvPr/>
        </p:nvSpPr>
        <p:spPr>
          <a:xfrm>
            <a:off x="8129016" y="3794760"/>
            <a:ext cx="3511296" cy="2194560"/>
          </a:xfrm>
          <a:prstGeom prst="roundRect">
            <a:avLst>
              <a:gd name="adj" fmla="val 7500"/>
            </a:avLst>
          </a:prstGeom>
          <a:solidFill>
            <a:srgbClr val="FFFFFF"/>
          </a:solidFill>
          <a:ln w="12700">
            <a:solidFill>
              <a:srgbClr val="D5E5E0"/>
            </a:solidFill>
            <a:prstDash val="solid"/>
          </a:ln>
          <a:effectLst>
            <a:outerShdw sx="100000" sy="100000" kx="0" ky="0" algn="bl" rotWithShape="0" blurRad="101600" dist="25400" dir="5400000">
              <a:srgbClr val="0F3D3A">
                <a:alpha val="10000"/>
              </a:srgbClr>
            </a:outerShdw>
          </a:effectLst>
        </p:spPr>
      </p:sp>
      <p:sp>
        <p:nvSpPr>
          <p:cNvPr id="19" name="Row circle 245"/>
          <p:cNvSpPr/>
          <p:nvPr/>
        </p:nvSpPr>
        <p:spPr>
          <a:xfrm>
            <a:off x="8357616" y="3950208"/>
            <a:ext cx="548640" cy="548640"/>
          </a:xfrm>
          <a:prstGeom prst="ellipse">
            <a:avLst/>
          </a:prstGeom>
          <a:solidFill>
            <a:srgbClr val="16302E"/>
          </a:solidFill>
          <a:ln w="12700">
            <a:solidFill>
              <a:srgbClr val="16302E"/>
            </a:solidFill>
            <a:prstDash val="solid"/>
          </a:ln>
        </p:spPr>
      </p:sp>
      <p:pic>
        <p:nvPicPr>
          <p:cNvPr id="20" name="Row glyph 246" descr="preencoded.png">    </p:cNvPr>
          <p:cNvPicPr>
            <a:picLocks noChangeAspect="1"/>
          </p:cNvPicPr>
          <p:nvPr/>
        </p:nvPicPr>
        <p:blipFill>
          <a:blip r:embed="rId3"/>
          <a:stretch>
            <a:fillRect/>
          </a:stretch>
        </p:blipFill>
        <p:spPr>
          <a:xfrm>
            <a:off x="8494776" y="4087368"/>
            <a:ext cx="274320" cy="274320"/>
          </a:xfrm>
          <a:prstGeom prst="rect">
            <a:avLst/>
          </a:prstGeom>
        </p:spPr>
      </p:pic>
      <p:sp>
        <p:nvSpPr>
          <p:cNvPr id="21" name="Row head 247"/>
          <p:cNvSpPr txBox="1"/>
          <p:nvPr/>
        </p:nvSpPr>
        <p:spPr>
          <a:xfrm>
            <a:off x="9043416" y="3977640"/>
            <a:ext cx="2414016" cy="502920"/>
          </a:xfrm>
          <a:prstGeom prst="rect">
            <a:avLst/>
          </a:prstGeom>
          <a:noFill/>
          <a:ln/>
        </p:spPr>
        <p:txBody>
          <a:bodyPr wrap="square" lIns="0" tIns="0" rIns="0" bIns="0" rtlCol="0" anchor="ctr"/>
          <a:lstStyle/>
          <a:p>
            <a:pPr indent="0" marL="0">
              <a:buNone/>
            </a:pPr>
            <a:r>
              <a:rPr lang="en-US" sz="2200" b="1" dirty="0">
                <a:solidFill>
                  <a:srgbClr val="16302E"/>
                </a:solidFill>
                <a:latin typeface="Calibri" pitchFamily="34" charset="0"/>
                <a:ea typeface="Calibri" pitchFamily="34" charset="-122"/>
                <a:cs typeface="Calibri" pitchFamily="34" charset="-120"/>
              </a:rPr>
              <a:t>Notice</a:t>
            </a:r>
            <a:endParaRPr lang="en-US" sz="2200" dirty="0"/>
          </a:p>
        </p:txBody>
      </p:sp>
      <p:sp>
        <p:nvSpPr>
          <p:cNvPr id="22" name="Row text 248"/>
          <p:cNvSpPr txBox="1"/>
          <p:nvPr/>
        </p:nvSpPr>
        <p:spPr>
          <a:xfrm>
            <a:off x="8357616" y="4617720"/>
            <a:ext cx="3099816" cy="1280160"/>
          </a:xfrm>
          <a:prstGeom prst="rect">
            <a:avLst/>
          </a:prstGeom>
          <a:noFill/>
          <a:ln/>
        </p:spPr>
        <p:txBody>
          <a:bodyPr wrap="square" lIns="0" tIns="0" rIns="0" bIns="0" rtlCol="0" anchor="t"/>
          <a:lstStyle/>
          <a:p>
            <a:pPr indent="0" marL="0">
              <a:buNone/>
            </a:pPr>
            <a:r>
              <a:rPr lang="en-US" sz="2100" dirty="0">
                <a:solidFill>
                  <a:srgbClr val="2C4744"/>
                </a:solidFill>
                <a:latin typeface="Calibri" pitchFamily="34" charset="0"/>
                <a:ea typeface="Calibri" pitchFamily="34" charset="-122"/>
                <a:cs typeface="Calibri" pitchFamily="34" charset="-120"/>
              </a:rPr>
              <a:t>Keep the surrounding letters and vowels clear.</a:t>
            </a:r>
            <a:endParaRPr lang="en-US" sz="2100" dirty="0"/>
          </a:p>
        </p:txBody>
      </p:sp>
      <p:sp>
        <p:nvSpPr>
          <p:cNvPr id="23" name="Nav Home 249 LINK:title">
            <a:hlinkClick r:id="rIdJump1" action="ppaction://hlinksldjump"/>
          </p:cNvPr>
          <p:cNvSpPr/>
          <p:nvPr/>
        </p:nvSpPr>
        <p:spPr>
          <a:xfrm>
            <a:off x="548640" y="6236208"/>
            <a:ext cx="1234440" cy="420624"/>
          </a:xfrm>
          <a:prstGeom prst="roundRect">
            <a:avLst>
              <a:gd name="adj" fmla="val 47826"/>
            </a:avLst>
          </a:prstGeom>
          <a:solidFill>
            <a:srgbClr val="16302E"/>
          </a:solidFill>
          <a:ln>
            <a:solidFill>
              <a:srgbClr val="16302E"/>
            </a:solidFill>
          </a:ln>
        </p:spPr>
        <p:txBody>
          <a:bodyPr wrap="square" lIns="365760" tIns="0" rIns="9144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Home</a:t>
            </a:r>
            <a:endParaRPr lang="en-US" sz="1500" dirty="0"/>
          </a:p>
        </p:txBody>
      </p:sp>
      <p:pic>
        <p:nvPicPr>
          <p:cNvPr id="24" name="Button icon 250 LINK:title" descr="preencoded.png">
            <a:hlinkClick r:id="rIdJump2" action="ppaction://hlinksldjump"/>
          </p:cNvPr>
          <p:cNvPicPr>
            <a:picLocks noChangeAspect="1"/>
          </p:cNvPicPr>
          <p:nvPr/>
        </p:nvPicPr>
        <p:blipFill>
          <a:blip r:embed="rId4"/>
          <a:stretch>
            <a:fillRect/>
          </a:stretch>
        </p:blipFill>
        <p:spPr>
          <a:xfrm>
            <a:off x="749808" y="6336792"/>
            <a:ext cx="219456" cy="219456"/>
          </a:xfrm>
          <a:prstGeom prst="rect">
            <a:avLst/>
          </a:prstGeom>
        </p:spPr>
      </p:pic>
      <p:sp>
        <p:nvSpPr>
          <p:cNvPr id="25" name="Nav Menu 251 LINK:menu">
            <a:hlinkClick r:id="rIdJump3" action="ppaction://hlinksldjump"/>
          </p:cNvPr>
          <p:cNvSpPr/>
          <p:nvPr/>
        </p:nvSpPr>
        <p:spPr>
          <a:xfrm>
            <a:off x="1901952" y="6236208"/>
            <a:ext cx="1005840" cy="420624"/>
          </a:xfrm>
          <a:prstGeom prst="roundRect">
            <a:avLst>
              <a:gd name="adj" fmla="val 47826"/>
            </a:avLst>
          </a:prstGeom>
          <a:solidFill>
            <a:srgbClr val="FFFFFF"/>
          </a:solidFill>
          <a:ln w="19050">
            <a:solidFill>
              <a:srgbClr val="16302E"/>
            </a:solidFill>
          </a:ln>
        </p:spPr>
        <p:txBody>
          <a:bodyPr wrap="square" lIns="109728" tIns="0" rIns="109728" bIns="0" rtlCol="0" anchor="ctr"/>
          <a:lstStyle/>
          <a:p>
            <a:pPr algn="ctr" indent="0" marL="0">
              <a:buNone/>
            </a:pPr>
            <a:r>
              <a:rPr lang="en-US" sz="1500" b="1" dirty="0">
                <a:solidFill>
                  <a:srgbClr val="16302E"/>
                </a:solidFill>
                <a:latin typeface="Calibri" pitchFamily="34" charset="0"/>
                <a:ea typeface="Calibri" pitchFamily="34" charset="-122"/>
                <a:cs typeface="Calibri" pitchFamily="34" charset="-120"/>
              </a:rPr>
              <a:t>Menu</a:t>
            </a:r>
            <a:endParaRPr lang="en-US" sz="1500" dirty="0"/>
          </a:p>
        </p:txBody>
      </p:sp>
      <p:sp>
        <p:nvSpPr>
          <p:cNvPr id="26" name="Slide counter 252"/>
          <p:cNvSpPr txBox="1"/>
          <p:nvPr/>
        </p:nvSpPr>
        <p:spPr>
          <a:xfrm>
            <a:off x="5184648" y="6236208"/>
            <a:ext cx="1828800" cy="420624"/>
          </a:xfrm>
          <a:prstGeom prst="rect">
            <a:avLst/>
          </a:prstGeom>
          <a:noFill/>
          <a:ln/>
        </p:spPr>
        <p:txBody>
          <a:bodyPr wrap="square" lIns="0" tIns="0" rIns="0" bIns="0" rtlCol="0" anchor="ctr"/>
          <a:lstStyle/>
          <a:p>
            <a:pPr algn="ctr" indent="0" marL="0">
              <a:buNone/>
            </a:pPr>
            <a:r>
              <a:rPr lang="en-US" sz="1400" dirty="0">
                <a:solidFill>
                  <a:srgbClr val="5D7774"/>
                </a:solidFill>
                <a:latin typeface="Calibri" pitchFamily="34" charset="0"/>
                <a:ea typeface="Calibri" pitchFamily="34" charset="-122"/>
                <a:cs typeface="Calibri" pitchFamily="34" charset="-120"/>
              </a:rPr>
              <a:t>9 / 18</a:t>
            </a:r>
            <a:endParaRPr lang="en-US" sz="1400" dirty="0"/>
          </a:p>
        </p:txBody>
      </p:sp>
      <p:sp>
        <p:nvSpPr>
          <p:cNvPr id="27" name="Nav Back 253 LINK:timing">
            <a:hlinkClick r:id="rIdJump4" action="ppaction://hlinksldjump"/>
          </p:cNvPr>
          <p:cNvSpPr/>
          <p:nvPr/>
        </p:nvSpPr>
        <p:spPr>
          <a:xfrm>
            <a:off x="9052560" y="6236208"/>
            <a:ext cx="1234440" cy="420624"/>
          </a:xfrm>
          <a:prstGeom prst="roundRect">
            <a:avLst>
              <a:gd name="adj" fmla="val 47826"/>
            </a:avLst>
          </a:prstGeom>
          <a:solidFill>
            <a:srgbClr val="FFFFFF"/>
          </a:solidFill>
          <a:ln w="19050">
            <a:solidFill>
              <a:srgbClr val="1D7A6E"/>
            </a:solidFill>
          </a:ln>
        </p:spPr>
        <p:txBody>
          <a:bodyPr wrap="square" lIns="109728" tIns="0" rIns="109728" bIns="0" rtlCol="0" anchor="ctr"/>
          <a:lstStyle/>
          <a:p>
            <a:pPr algn="ctr" indent="0" marL="0">
              <a:buNone/>
            </a:pPr>
            <a:r>
              <a:rPr lang="en-US" sz="1500" b="1" dirty="0">
                <a:solidFill>
                  <a:srgbClr val="1D7A6E"/>
                </a:solidFill>
                <a:latin typeface="Calibri" pitchFamily="34" charset="0"/>
                <a:ea typeface="Calibri" pitchFamily="34" charset="-122"/>
                <a:cs typeface="Calibri" pitchFamily="34" charset="-120"/>
              </a:rPr>
              <a:t>‹  Back</a:t>
            </a:r>
            <a:endParaRPr lang="en-US" sz="1500" dirty="0"/>
          </a:p>
        </p:txBody>
      </p:sp>
      <p:sp>
        <p:nvSpPr>
          <p:cNvPr id="28" name="Nav Next 254 LINK:ex2">
            <a:hlinkClick r:id="rIdJump5" action="ppaction://hlinksldjump"/>
          </p:cNvPr>
          <p:cNvSpPr/>
          <p:nvPr/>
        </p:nvSpPr>
        <p:spPr>
          <a:xfrm>
            <a:off x="10405872" y="6236208"/>
            <a:ext cx="1234440" cy="420624"/>
          </a:xfrm>
          <a:prstGeom prst="roundRect">
            <a:avLst>
              <a:gd name="adj" fmla="val 47826"/>
            </a:avLst>
          </a:prstGeom>
          <a:solidFill>
            <a:srgbClr val="1D7A6E"/>
          </a:solidFill>
          <a:ln>
            <a:solidFill>
              <a:srgbClr val="1D7A6E"/>
            </a:solidFill>
          </a:ln>
        </p:spPr>
        <p:txBody>
          <a:bodyPr wrap="square" lIns="109728" tIns="0" rIns="109728"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Next  ›</a:t>
            </a:r>
            <a:endParaRPr lang="en-US" sz="1500" dirty="0"/>
          </a:p>
        </p:txBody>
      </p:sp>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Kicker 255"/>
          <p:cNvSpPr txBox="1"/>
          <p:nvPr/>
        </p:nvSpPr>
        <p:spPr>
          <a:xfrm>
            <a:off x="548640" y="329184"/>
            <a:ext cx="7315200" cy="292608"/>
          </a:xfrm>
          <a:prstGeom prst="rect">
            <a:avLst/>
          </a:prstGeom>
          <a:noFill/>
          <a:ln/>
        </p:spPr>
        <p:txBody>
          <a:bodyPr wrap="square" lIns="0" tIns="0" rIns="0" bIns="0" rtlCol="0" anchor="t"/>
          <a:lstStyle/>
          <a:p>
            <a:pPr indent="0" marL="0">
              <a:buNone/>
            </a:pPr>
            <a:r>
              <a:rPr lang="en-US" sz="1400" b="1" spc="300" kern="0" dirty="0">
                <a:solidFill>
                  <a:srgbClr val="1D7A6E"/>
                </a:solidFill>
                <a:latin typeface="Calibri" pitchFamily="34" charset="0"/>
                <a:ea typeface="Calibri" pitchFamily="34" charset="-122"/>
                <a:cs typeface="Calibri" pitchFamily="34" charset="-120"/>
              </a:rPr>
              <a:t>WORKED EXAMPLE 2  ·  2:6</a:t>
            </a:r>
            <a:endParaRPr lang="en-US" sz="1400" dirty="0"/>
          </a:p>
        </p:txBody>
      </p:sp>
      <p:sp>
        <p:nvSpPr>
          <p:cNvPr id="3" name="Text 0"/>
          <p:cNvSpPr/>
          <p:nvPr>
            <p:ph idx="100" type="title" hasCustomPrompt="1"/>
          </p:nvPr>
        </p:nvSpPr>
        <p:spPr>
          <a:xfrm>
            <a:off x="548640" y="658368"/>
            <a:ext cx="9052560" cy="731520"/>
          </a:xfrm>
          <a:prstGeom prst="rect">
            <a:avLst/>
          </a:prstGeom>
          <a:noFill/>
          <a:ln/>
        </p:spPr>
        <p:txBody>
          <a:bodyPr wrap="square" lIns="0" tIns="0" rIns="0" bIns="0" rtlCol="0" anchor="t"/>
          <a:lstStyle/>
          <a:p>
            <a:pPr algn="l" indent="0" marL="0">
              <a:buNone/>
            </a:pPr>
            <a:r>
              <a:rPr lang="en-US" sz="3600" b="1" dirty="0">
                <a:solidFill>
                  <a:srgbClr val="16302E"/>
                </a:solidFill>
                <a:latin typeface="Calibri" pitchFamily="34" charset="0"/>
                <a:ea typeface="Calibri" pitchFamily="34" charset="-122"/>
                <a:cs typeface="Calibri" pitchFamily="34" charset="-120"/>
              </a:rPr>
              <a:t>The doubled noon of inna</a:t>
            </a:r>
            <a:endParaRPr lang="en-US" sz="3600" dirty="0"/>
          </a:p>
        </p:txBody>
      </p:sp>
      <p:sp>
        <p:nvSpPr>
          <p:cNvPr id="4" name="Route chip 256"/>
          <p:cNvSpPr/>
          <p:nvPr/>
        </p:nvSpPr>
        <p:spPr>
          <a:xfrm>
            <a:off x="10012680" y="365760"/>
            <a:ext cx="1627632" cy="384048"/>
          </a:xfrm>
          <a:prstGeom prst="roundRect">
            <a:avLst>
              <a:gd name="adj" fmla="val 47619"/>
            </a:avLst>
          </a:prstGeom>
          <a:solidFill>
            <a:srgbClr val="1D7A6E"/>
          </a:solidFill>
          <a:ln>
            <a:solidFill>
              <a:srgbClr val="1D7A6E"/>
            </a:solidFill>
          </a:ln>
        </p:spPr>
        <p:txBody>
          <a:bodyPr wrap="square" lIns="0" tIns="0" rIns="0" bIns="0" rtlCol="0" anchor="ctr"/>
          <a:lstStyle/>
          <a:p>
            <a:pPr algn="ctr" indent="0" marL="0">
              <a:buNone/>
            </a:pPr>
            <a:r>
              <a:rPr lang="en-US" sz="1300" b="1" spc="200" kern="0" dirty="0">
                <a:solidFill>
                  <a:srgbClr val="FFFFFF"/>
                </a:solidFill>
                <a:latin typeface="Calibri" pitchFamily="34" charset="0"/>
                <a:ea typeface="Calibri" pitchFamily="34" charset="-122"/>
                <a:cs typeface="Calibri" pitchFamily="34" charset="-120"/>
              </a:rPr>
              <a:t>GUIDED</a:t>
            </a:r>
            <a:endParaRPr lang="en-US" sz="1300" dirty="0"/>
          </a:p>
        </p:txBody>
      </p:sp>
      <p:sp>
        <p:nvSpPr>
          <p:cNvPr id="5" name="Verse panel 257"/>
          <p:cNvSpPr/>
          <p:nvPr/>
        </p:nvSpPr>
        <p:spPr>
          <a:xfrm>
            <a:off x="548640" y="1572768"/>
            <a:ext cx="11094415" cy="2011680"/>
          </a:xfrm>
          <a:prstGeom prst="roundRect">
            <a:avLst>
              <a:gd name="adj" fmla="val 8182"/>
            </a:avLst>
          </a:prstGeom>
          <a:solidFill>
            <a:srgbClr val="FFFFFF"/>
          </a:solidFill>
          <a:ln w="12700">
            <a:solidFill>
              <a:srgbClr val="D5E5E0"/>
            </a:solidFill>
            <a:prstDash val="solid"/>
          </a:ln>
          <a:effectLst>
            <a:outerShdw sx="100000" sy="100000" kx="0" ky="0" algn="bl" rotWithShape="0" blurRad="101600" dist="25400" dir="5400000">
              <a:srgbClr val="0F3D3A">
                <a:alpha val="10000"/>
              </a:srgbClr>
            </a:outerShdw>
          </a:effectLst>
        </p:spPr>
      </p:sp>
      <p:sp>
        <p:nvSpPr>
          <p:cNvPr id="6" name="Focus note 258"/>
          <p:cNvSpPr txBox="1"/>
          <p:nvPr/>
        </p:nvSpPr>
        <p:spPr>
          <a:xfrm>
            <a:off x="822960" y="1682496"/>
            <a:ext cx="10545775" cy="310896"/>
          </a:xfrm>
          <a:prstGeom prst="rect">
            <a:avLst/>
          </a:prstGeom>
          <a:noFill/>
          <a:ln/>
        </p:spPr>
        <p:txBody>
          <a:bodyPr wrap="square" lIns="0" tIns="0" rIns="0" bIns="0" rtlCol="0" anchor="t"/>
          <a:lstStyle/>
          <a:p>
            <a:pPr algn="ctr" indent="0" marL="0">
              <a:buNone/>
            </a:pPr>
            <a:r>
              <a:rPr lang="en-US" sz="1600" i="1" dirty="0">
                <a:solidFill>
                  <a:srgbClr val="5D7774"/>
                </a:solidFill>
                <a:latin typeface="Calibri" pitchFamily="34" charset="0"/>
                <a:ea typeface="Calibri" pitchFamily="34" charset="-122"/>
                <a:cs typeface="Calibri" pitchFamily="34" charset="-120"/>
              </a:rPr>
              <a:t>Focus: إِنَّ  ·  opening words of the verse; read them only in their stated context</a:t>
            </a:r>
            <a:endParaRPr lang="en-US" sz="1600" dirty="0"/>
          </a:p>
        </p:txBody>
      </p:sp>
      <p:sp>
        <p:nvSpPr>
          <p:cNvPr id="7" name="Verse excerpt 259"/>
          <p:cNvSpPr txBox="1"/>
          <p:nvPr/>
        </p:nvSpPr>
        <p:spPr>
          <a:xfrm>
            <a:off x="822960" y="2011680"/>
            <a:ext cx="10545775" cy="1481328"/>
          </a:xfrm>
          <a:prstGeom prst="rect">
            <a:avLst/>
          </a:prstGeom>
          <a:noFill/>
          <a:ln/>
        </p:spPr>
        <p:txBody>
          <a:bodyPr wrap="square" lIns="0" tIns="0" rIns="0" bIns="0" rtlCol="0" anchor="ctr"/>
          <a:lstStyle/>
          <a:p>
            <a:pPr algn="ctr" indent="0" marL="0">
              <a:buNone/>
            </a:pPr>
            <a:r>
              <a:rPr lang="ar-SA" altLang="en-US" sz="6600" dirty="0">
                <a:solidFill>
                  <a:srgbClr val="0F5148"/>
                </a:solidFill>
                <a:highlight>
                  <a:srgbClr val="FFE08A"/>
                </a:highlight>
                <a:latin typeface="Traditional Arabic" pitchFamily="34" charset="0"/>
                <a:ea typeface="Traditional Arabic" pitchFamily="34" charset="-122"/>
                <a:cs typeface="Traditional Arabic" pitchFamily="34" charset="-120"/>
              </a:rPr>
              <a:t>إِنَّ</a:t>
            </a:r>
            <a:pPr algn="ctr" indent="0" marL="0">
              <a:buNone/>
            </a:pPr>
            <a:r>
              <a:rPr lang="ar-SA" altLang="en-US" sz="6600" dirty="0">
                <a:solidFill>
                  <a:srgbClr val="16302E"/>
                </a:solidFill>
                <a:latin typeface="Traditional Arabic" pitchFamily="34" charset="0"/>
                <a:ea typeface="Traditional Arabic" pitchFamily="34" charset="-122"/>
                <a:cs typeface="Traditional Arabic" pitchFamily="34" charset="-120"/>
              </a:rPr>
              <a:t> ٱلَّذِينَ</a:t>
            </a:r>
            <a:endParaRPr lang="ar-SA" sz="6000" dirty="0"/>
          </a:p>
        </p:txBody>
      </p:sp>
      <p:sp>
        <p:nvSpPr>
          <p:cNvPr id="8" name="Card 260"/>
          <p:cNvSpPr/>
          <p:nvPr/>
        </p:nvSpPr>
        <p:spPr>
          <a:xfrm>
            <a:off x="548640" y="3794760"/>
            <a:ext cx="3511296" cy="2194560"/>
          </a:xfrm>
          <a:prstGeom prst="roundRect">
            <a:avLst>
              <a:gd name="adj" fmla="val 7500"/>
            </a:avLst>
          </a:prstGeom>
          <a:solidFill>
            <a:srgbClr val="FFFFFF"/>
          </a:solidFill>
          <a:ln w="12700">
            <a:solidFill>
              <a:srgbClr val="D5E5E0"/>
            </a:solidFill>
            <a:prstDash val="solid"/>
          </a:ln>
          <a:effectLst>
            <a:outerShdw sx="100000" sy="100000" kx="0" ky="0" algn="bl" rotWithShape="0" blurRad="101600" dist="25400" dir="5400000">
              <a:srgbClr val="0F3D3A">
                <a:alpha val="10000"/>
              </a:srgbClr>
            </a:outerShdw>
          </a:effectLst>
        </p:spPr>
      </p:sp>
      <p:sp>
        <p:nvSpPr>
          <p:cNvPr id="9" name="Row circle 261"/>
          <p:cNvSpPr/>
          <p:nvPr/>
        </p:nvSpPr>
        <p:spPr>
          <a:xfrm>
            <a:off x="777240" y="3950208"/>
            <a:ext cx="548640" cy="548640"/>
          </a:xfrm>
          <a:prstGeom prst="ellipse">
            <a:avLst/>
          </a:prstGeom>
          <a:solidFill>
            <a:srgbClr val="1D7A6E"/>
          </a:solidFill>
          <a:ln w="12700">
            <a:solidFill>
              <a:srgbClr val="1D7A6E"/>
            </a:solidFill>
            <a:prstDash val="solid"/>
          </a:ln>
        </p:spPr>
      </p:sp>
      <p:pic>
        <p:nvPicPr>
          <p:cNvPr id="10" name="Row glyph 262" descr="preencoded.png">    </p:cNvPr>
          <p:cNvPicPr>
            <a:picLocks noChangeAspect="1"/>
          </p:cNvPicPr>
          <p:nvPr/>
        </p:nvPicPr>
        <p:blipFill>
          <a:blip r:embed="rId1"/>
          <a:stretch>
            <a:fillRect/>
          </a:stretch>
        </p:blipFill>
        <p:spPr>
          <a:xfrm>
            <a:off x="914400" y="4087368"/>
            <a:ext cx="274320" cy="274320"/>
          </a:xfrm>
          <a:prstGeom prst="rect">
            <a:avLst/>
          </a:prstGeom>
        </p:spPr>
      </p:pic>
      <p:sp>
        <p:nvSpPr>
          <p:cNvPr id="11" name="Row head 263"/>
          <p:cNvSpPr txBox="1"/>
          <p:nvPr/>
        </p:nvSpPr>
        <p:spPr>
          <a:xfrm>
            <a:off x="1463040" y="3977640"/>
            <a:ext cx="2414016" cy="502920"/>
          </a:xfrm>
          <a:prstGeom prst="rect">
            <a:avLst/>
          </a:prstGeom>
          <a:noFill/>
          <a:ln/>
        </p:spPr>
        <p:txBody>
          <a:bodyPr wrap="square" lIns="0" tIns="0" rIns="0" bIns="0" rtlCol="0" anchor="ctr"/>
          <a:lstStyle/>
          <a:p>
            <a:pPr indent="0" marL="0">
              <a:buNone/>
            </a:pPr>
            <a:r>
              <a:rPr lang="en-US" sz="2200" b="1" dirty="0">
                <a:solidFill>
                  <a:srgbClr val="16302E"/>
                </a:solidFill>
                <a:latin typeface="Calibri" pitchFamily="34" charset="0"/>
                <a:ea typeface="Calibri" pitchFamily="34" charset="-122"/>
                <a:cs typeface="Calibri" pitchFamily="34" charset="-120"/>
              </a:rPr>
              <a:t>Where and why</a:t>
            </a:r>
            <a:endParaRPr lang="en-US" sz="2200" dirty="0"/>
          </a:p>
        </p:txBody>
      </p:sp>
      <p:sp>
        <p:nvSpPr>
          <p:cNvPr id="12" name="Row text 264"/>
          <p:cNvSpPr txBox="1"/>
          <p:nvPr/>
        </p:nvSpPr>
        <p:spPr>
          <a:xfrm>
            <a:off x="777240" y="4617720"/>
            <a:ext cx="3099816" cy="1280160"/>
          </a:xfrm>
          <a:prstGeom prst="rect">
            <a:avLst/>
          </a:prstGeom>
          <a:noFill/>
          <a:ln/>
        </p:spPr>
        <p:txBody>
          <a:bodyPr wrap="square" lIns="0" tIns="0" rIns="0" bIns="0" rtlCol="0" anchor="t"/>
          <a:lstStyle/>
          <a:p>
            <a:pPr indent="0" marL="0">
              <a:buNone/>
            </a:pPr>
            <a:r>
              <a:rPr lang="en-US" sz="2100" dirty="0">
                <a:solidFill>
                  <a:srgbClr val="2C4744"/>
                </a:solidFill>
                <a:latin typeface="Calibri" pitchFamily="34" charset="0"/>
                <a:ea typeface="Calibri" pitchFamily="34" charset="-122"/>
                <a:cs typeface="Calibri" pitchFamily="34" charset="-120"/>
              </a:rPr>
              <a:t>The noon of inna is doubled; keep two counts of ghunnah.</a:t>
            </a:r>
            <a:endParaRPr lang="en-US" sz="2100" dirty="0"/>
          </a:p>
        </p:txBody>
      </p:sp>
      <p:sp>
        <p:nvSpPr>
          <p:cNvPr id="13" name="Card 265"/>
          <p:cNvSpPr/>
          <p:nvPr/>
        </p:nvSpPr>
        <p:spPr>
          <a:xfrm>
            <a:off x="4338828" y="3794760"/>
            <a:ext cx="3511296" cy="2194560"/>
          </a:xfrm>
          <a:prstGeom prst="roundRect">
            <a:avLst>
              <a:gd name="adj" fmla="val 7500"/>
            </a:avLst>
          </a:prstGeom>
          <a:solidFill>
            <a:srgbClr val="FFFFFF"/>
          </a:solidFill>
          <a:ln w="12700">
            <a:solidFill>
              <a:srgbClr val="D5E5E0"/>
            </a:solidFill>
            <a:prstDash val="solid"/>
          </a:ln>
          <a:effectLst>
            <a:outerShdw sx="100000" sy="100000" kx="0" ky="0" algn="bl" rotWithShape="0" blurRad="101600" dist="25400" dir="5400000">
              <a:srgbClr val="0F3D3A">
                <a:alpha val="10000"/>
              </a:srgbClr>
            </a:outerShdw>
          </a:effectLst>
        </p:spPr>
      </p:sp>
      <p:sp>
        <p:nvSpPr>
          <p:cNvPr id="14" name="Row circle 266"/>
          <p:cNvSpPr/>
          <p:nvPr/>
        </p:nvSpPr>
        <p:spPr>
          <a:xfrm>
            <a:off x="4567428" y="3950208"/>
            <a:ext cx="548640" cy="548640"/>
          </a:xfrm>
          <a:prstGeom prst="ellipse">
            <a:avLst/>
          </a:prstGeom>
          <a:solidFill>
            <a:srgbClr val="B9770E"/>
          </a:solidFill>
          <a:ln w="12700">
            <a:solidFill>
              <a:srgbClr val="B9770E"/>
            </a:solidFill>
            <a:prstDash val="solid"/>
          </a:ln>
        </p:spPr>
      </p:sp>
      <p:pic>
        <p:nvPicPr>
          <p:cNvPr id="15" name="Row glyph 267" descr="preencoded.png">    </p:cNvPr>
          <p:cNvPicPr>
            <a:picLocks noChangeAspect="1"/>
          </p:cNvPicPr>
          <p:nvPr/>
        </p:nvPicPr>
        <p:blipFill>
          <a:blip r:embed="rId2"/>
          <a:stretch>
            <a:fillRect/>
          </a:stretch>
        </p:blipFill>
        <p:spPr>
          <a:xfrm>
            <a:off x="4704588" y="4087368"/>
            <a:ext cx="274320" cy="274320"/>
          </a:xfrm>
          <a:prstGeom prst="rect">
            <a:avLst/>
          </a:prstGeom>
        </p:spPr>
      </p:pic>
      <p:sp>
        <p:nvSpPr>
          <p:cNvPr id="16" name="Row head 268"/>
          <p:cNvSpPr txBox="1"/>
          <p:nvPr/>
        </p:nvSpPr>
        <p:spPr>
          <a:xfrm>
            <a:off x="5253228" y="3977640"/>
            <a:ext cx="2414016" cy="502920"/>
          </a:xfrm>
          <a:prstGeom prst="rect">
            <a:avLst/>
          </a:prstGeom>
          <a:noFill/>
          <a:ln/>
        </p:spPr>
        <p:txBody>
          <a:bodyPr wrap="square" lIns="0" tIns="0" rIns="0" bIns="0" rtlCol="0" anchor="ctr"/>
          <a:lstStyle/>
          <a:p>
            <a:pPr indent="0" marL="0">
              <a:buNone/>
            </a:pPr>
            <a:r>
              <a:rPr lang="en-US" sz="2200" b="1" dirty="0">
                <a:solidFill>
                  <a:srgbClr val="16302E"/>
                </a:solidFill>
                <a:latin typeface="Calibri" pitchFamily="34" charset="0"/>
                <a:ea typeface="Calibri" pitchFamily="34" charset="-122"/>
                <a:cs typeface="Calibri" pitchFamily="34" charset="-120"/>
              </a:rPr>
              <a:t>Pronounce</a:t>
            </a:r>
            <a:endParaRPr lang="en-US" sz="2200" dirty="0"/>
          </a:p>
        </p:txBody>
      </p:sp>
      <p:sp>
        <p:nvSpPr>
          <p:cNvPr id="17" name="Row text 269"/>
          <p:cNvSpPr txBox="1"/>
          <p:nvPr/>
        </p:nvSpPr>
        <p:spPr>
          <a:xfrm>
            <a:off x="4567428" y="4617720"/>
            <a:ext cx="3099816" cy="1280160"/>
          </a:xfrm>
          <a:prstGeom prst="rect">
            <a:avLst/>
          </a:prstGeom>
          <a:noFill/>
          <a:ln/>
        </p:spPr>
        <p:txBody>
          <a:bodyPr wrap="square" lIns="0" tIns="0" rIns="0" bIns="0" rtlCol="0" anchor="t"/>
          <a:lstStyle/>
          <a:p>
            <a:pPr indent="0" marL="0">
              <a:buNone/>
            </a:pPr>
            <a:r>
              <a:rPr lang="en-US" sz="2100" dirty="0">
                <a:solidFill>
                  <a:srgbClr val="2C4744"/>
                </a:solidFill>
                <a:latin typeface="Calibri" pitchFamily="34" charset="0"/>
                <a:ea typeface="Calibri" pitchFamily="34" charset="-122"/>
                <a:cs typeface="Calibri" pitchFamily="34" charset="-120"/>
              </a:rPr>
              <a:t>Hold the ghunnah for two counts, then release into its written vowel.</a:t>
            </a:r>
            <a:endParaRPr lang="en-US" sz="2100" dirty="0"/>
          </a:p>
        </p:txBody>
      </p:sp>
      <p:sp>
        <p:nvSpPr>
          <p:cNvPr id="18" name="Card 270"/>
          <p:cNvSpPr/>
          <p:nvPr/>
        </p:nvSpPr>
        <p:spPr>
          <a:xfrm>
            <a:off x="8129016" y="3794760"/>
            <a:ext cx="3511296" cy="2194560"/>
          </a:xfrm>
          <a:prstGeom prst="roundRect">
            <a:avLst>
              <a:gd name="adj" fmla="val 7500"/>
            </a:avLst>
          </a:prstGeom>
          <a:solidFill>
            <a:srgbClr val="FFFFFF"/>
          </a:solidFill>
          <a:ln w="12700">
            <a:solidFill>
              <a:srgbClr val="D5E5E0"/>
            </a:solidFill>
            <a:prstDash val="solid"/>
          </a:ln>
          <a:effectLst>
            <a:outerShdw sx="100000" sy="100000" kx="0" ky="0" algn="bl" rotWithShape="0" blurRad="101600" dist="25400" dir="5400000">
              <a:srgbClr val="0F3D3A">
                <a:alpha val="10000"/>
              </a:srgbClr>
            </a:outerShdw>
          </a:effectLst>
        </p:spPr>
      </p:sp>
      <p:sp>
        <p:nvSpPr>
          <p:cNvPr id="19" name="Row circle 271"/>
          <p:cNvSpPr/>
          <p:nvPr/>
        </p:nvSpPr>
        <p:spPr>
          <a:xfrm>
            <a:off x="8357616" y="3950208"/>
            <a:ext cx="548640" cy="548640"/>
          </a:xfrm>
          <a:prstGeom prst="ellipse">
            <a:avLst/>
          </a:prstGeom>
          <a:solidFill>
            <a:srgbClr val="16302E"/>
          </a:solidFill>
          <a:ln w="12700">
            <a:solidFill>
              <a:srgbClr val="16302E"/>
            </a:solidFill>
            <a:prstDash val="solid"/>
          </a:ln>
        </p:spPr>
      </p:sp>
      <p:pic>
        <p:nvPicPr>
          <p:cNvPr id="20" name="Row glyph 272" descr="preencoded.png">    </p:cNvPr>
          <p:cNvPicPr>
            <a:picLocks noChangeAspect="1"/>
          </p:cNvPicPr>
          <p:nvPr/>
        </p:nvPicPr>
        <p:blipFill>
          <a:blip r:embed="rId3"/>
          <a:stretch>
            <a:fillRect/>
          </a:stretch>
        </p:blipFill>
        <p:spPr>
          <a:xfrm>
            <a:off x="8494776" y="4087368"/>
            <a:ext cx="274320" cy="274320"/>
          </a:xfrm>
          <a:prstGeom prst="rect">
            <a:avLst/>
          </a:prstGeom>
        </p:spPr>
      </p:pic>
      <p:sp>
        <p:nvSpPr>
          <p:cNvPr id="21" name="Row head 273"/>
          <p:cNvSpPr txBox="1"/>
          <p:nvPr/>
        </p:nvSpPr>
        <p:spPr>
          <a:xfrm>
            <a:off x="9043416" y="3977640"/>
            <a:ext cx="2414016" cy="502920"/>
          </a:xfrm>
          <a:prstGeom prst="rect">
            <a:avLst/>
          </a:prstGeom>
          <a:noFill/>
          <a:ln/>
        </p:spPr>
        <p:txBody>
          <a:bodyPr wrap="square" lIns="0" tIns="0" rIns="0" bIns="0" rtlCol="0" anchor="ctr"/>
          <a:lstStyle/>
          <a:p>
            <a:pPr indent="0" marL="0">
              <a:buNone/>
            </a:pPr>
            <a:r>
              <a:rPr lang="en-US" sz="2200" b="1" dirty="0">
                <a:solidFill>
                  <a:srgbClr val="16302E"/>
                </a:solidFill>
                <a:latin typeface="Calibri" pitchFamily="34" charset="0"/>
                <a:ea typeface="Calibri" pitchFamily="34" charset="-122"/>
                <a:cs typeface="Calibri" pitchFamily="34" charset="-120"/>
              </a:rPr>
              <a:t>Notice</a:t>
            </a:r>
            <a:endParaRPr lang="en-US" sz="2200" dirty="0"/>
          </a:p>
        </p:txBody>
      </p:sp>
      <p:sp>
        <p:nvSpPr>
          <p:cNvPr id="22" name="Row text 274"/>
          <p:cNvSpPr txBox="1"/>
          <p:nvPr/>
        </p:nvSpPr>
        <p:spPr>
          <a:xfrm>
            <a:off x="8357616" y="4617720"/>
            <a:ext cx="3099816" cy="1280160"/>
          </a:xfrm>
          <a:prstGeom prst="rect">
            <a:avLst/>
          </a:prstGeom>
          <a:noFill/>
          <a:ln/>
        </p:spPr>
        <p:txBody>
          <a:bodyPr wrap="square" lIns="0" tIns="0" rIns="0" bIns="0" rtlCol="0" anchor="t"/>
          <a:lstStyle/>
          <a:p>
            <a:pPr indent="0" marL="0">
              <a:buNone/>
            </a:pPr>
            <a:r>
              <a:rPr lang="en-US" sz="2100" dirty="0">
                <a:solidFill>
                  <a:srgbClr val="2C4744"/>
                </a:solidFill>
                <a:latin typeface="Calibri" pitchFamily="34" charset="0"/>
                <a:ea typeface="Calibri" pitchFamily="34" charset="-122"/>
                <a:cs typeface="Calibri" pitchFamily="34" charset="-120"/>
              </a:rPr>
              <a:t>Keep the surrounding letters and vowels clear.</a:t>
            </a:r>
            <a:endParaRPr lang="en-US" sz="2100" dirty="0"/>
          </a:p>
        </p:txBody>
      </p:sp>
      <p:sp>
        <p:nvSpPr>
          <p:cNvPr id="23" name="Nav Home 275 LINK:title">
            <a:hlinkClick r:id="rIdJump1" action="ppaction://hlinksldjump"/>
          </p:cNvPr>
          <p:cNvSpPr/>
          <p:nvPr/>
        </p:nvSpPr>
        <p:spPr>
          <a:xfrm>
            <a:off x="548640" y="6236208"/>
            <a:ext cx="1234440" cy="420624"/>
          </a:xfrm>
          <a:prstGeom prst="roundRect">
            <a:avLst>
              <a:gd name="adj" fmla="val 47826"/>
            </a:avLst>
          </a:prstGeom>
          <a:solidFill>
            <a:srgbClr val="16302E"/>
          </a:solidFill>
          <a:ln>
            <a:solidFill>
              <a:srgbClr val="16302E"/>
            </a:solidFill>
          </a:ln>
        </p:spPr>
        <p:txBody>
          <a:bodyPr wrap="square" lIns="365760" tIns="0" rIns="9144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Home</a:t>
            </a:r>
            <a:endParaRPr lang="en-US" sz="1500" dirty="0"/>
          </a:p>
        </p:txBody>
      </p:sp>
      <p:pic>
        <p:nvPicPr>
          <p:cNvPr id="24" name="Button icon 276 LINK:title" descr="preencoded.png">
            <a:hlinkClick r:id="rIdJump2" action="ppaction://hlinksldjump"/>
          </p:cNvPr>
          <p:cNvPicPr>
            <a:picLocks noChangeAspect="1"/>
          </p:cNvPicPr>
          <p:nvPr/>
        </p:nvPicPr>
        <p:blipFill>
          <a:blip r:embed="rId4"/>
          <a:stretch>
            <a:fillRect/>
          </a:stretch>
        </p:blipFill>
        <p:spPr>
          <a:xfrm>
            <a:off x="749808" y="6336792"/>
            <a:ext cx="219456" cy="219456"/>
          </a:xfrm>
          <a:prstGeom prst="rect">
            <a:avLst/>
          </a:prstGeom>
        </p:spPr>
      </p:pic>
      <p:sp>
        <p:nvSpPr>
          <p:cNvPr id="25" name="Nav Menu 277 LINK:menu">
            <a:hlinkClick r:id="rIdJump3" action="ppaction://hlinksldjump"/>
          </p:cNvPr>
          <p:cNvSpPr/>
          <p:nvPr/>
        </p:nvSpPr>
        <p:spPr>
          <a:xfrm>
            <a:off x="1901952" y="6236208"/>
            <a:ext cx="1005840" cy="420624"/>
          </a:xfrm>
          <a:prstGeom prst="roundRect">
            <a:avLst>
              <a:gd name="adj" fmla="val 47826"/>
            </a:avLst>
          </a:prstGeom>
          <a:solidFill>
            <a:srgbClr val="FFFFFF"/>
          </a:solidFill>
          <a:ln w="19050">
            <a:solidFill>
              <a:srgbClr val="16302E"/>
            </a:solidFill>
          </a:ln>
        </p:spPr>
        <p:txBody>
          <a:bodyPr wrap="square" lIns="109728" tIns="0" rIns="109728" bIns="0" rtlCol="0" anchor="ctr"/>
          <a:lstStyle/>
          <a:p>
            <a:pPr algn="ctr" indent="0" marL="0">
              <a:buNone/>
            </a:pPr>
            <a:r>
              <a:rPr lang="en-US" sz="1500" b="1" dirty="0">
                <a:solidFill>
                  <a:srgbClr val="16302E"/>
                </a:solidFill>
                <a:latin typeface="Calibri" pitchFamily="34" charset="0"/>
                <a:ea typeface="Calibri" pitchFamily="34" charset="-122"/>
                <a:cs typeface="Calibri" pitchFamily="34" charset="-120"/>
              </a:rPr>
              <a:t>Menu</a:t>
            </a:r>
            <a:endParaRPr lang="en-US" sz="1500" dirty="0"/>
          </a:p>
        </p:txBody>
      </p:sp>
      <p:sp>
        <p:nvSpPr>
          <p:cNvPr id="26" name="Slide counter 278"/>
          <p:cNvSpPr txBox="1"/>
          <p:nvPr/>
        </p:nvSpPr>
        <p:spPr>
          <a:xfrm>
            <a:off x="5184648" y="6236208"/>
            <a:ext cx="1828800" cy="420624"/>
          </a:xfrm>
          <a:prstGeom prst="rect">
            <a:avLst/>
          </a:prstGeom>
          <a:noFill/>
          <a:ln/>
        </p:spPr>
        <p:txBody>
          <a:bodyPr wrap="square" lIns="0" tIns="0" rIns="0" bIns="0" rtlCol="0" anchor="ctr"/>
          <a:lstStyle/>
          <a:p>
            <a:pPr algn="ctr" indent="0" marL="0">
              <a:buNone/>
            </a:pPr>
            <a:r>
              <a:rPr lang="en-US" sz="1400" dirty="0">
                <a:solidFill>
                  <a:srgbClr val="5D7774"/>
                </a:solidFill>
                <a:latin typeface="Calibri" pitchFamily="34" charset="0"/>
                <a:ea typeface="Calibri" pitchFamily="34" charset="-122"/>
                <a:cs typeface="Calibri" pitchFamily="34" charset="-120"/>
              </a:rPr>
              <a:t>10 / 18</a:t>
            </a:r>
            <a:endParaRPr lang="en-US" sz="1400" dirty="0"/>
          </a:p>
        </p:txBody>
      </p:sp>
      <p:sp>
        <p:nvSpPr>
          <p:cNvPr id="27" name="Nav Back 279 LINK:ex1">
            <a:hlinkClick r:id="rIdJump4" action="ppaction://hlinksldjump"/>
          </p:cNvPr>
          <p:cNvSpPr/>
          <p:nvPr/>
        </p:nvSpPr>
        <p:spPr>
          <a:xfrm>
            <a:off x="9052560" y="6236208"/>
            <a:ext cx="1234440" cy="420624"/>
          </a:xfrm>
          <a:prstGeom prst="roundRect">
            <a:avLst>
              <a:gd name="adj" fmla="val 47826"/>
            </a:avLst>
          </a:prstGeom>
          <a:solidFill>
            <a:srgbClr val="FFFFFF"/>
          </a:solidFill>
          <a:ln w="19050">
            <a:solidFill>
              <a:srgbClr val="1D7A6E"/>
            </a:solidFill>
          </a:ln>
        </p:spPr>
        <p:txBody>
          <a:bodyPr wrap="square" lIns="109728" tIns="0" rIns="109728" bIns="0" rtlCol="0" anchor="ctr"/>
          <a:lstStyle/>
          <a:p>
            <a:pPr algn="ctr" indent="0" marL="0">
              <a:buNone/>
            </a:pPr>
            <a:r>
              <a:rPr lang="en-US" sz="1500" b="1" dirty="0">
                <a:solidFill>
                  <a:srgbClr val="1D7A6E"/>
                </a:solidFill>
                <a:latin typeface="Calibri" pitchFamily="34" charset="0"/>
                <a:ea typeface="Calibri" pitchFamily="34" charset="-122"/>
                <a:cs typeface="Calibri" pitchFamily="34" charset="-120"/>
              </a:rPr>
              <a:t>‹  Back</a:t>
            </a:r>
            <a:endParaRPr lang="en-US" sz="1500" dirty="0"/>
          </a:p>
        </p:txBody>
      </p:sp>
      <p:sp>
        <p:nvSpPr>
          <p:cNvPr id="28" name="Nav Next 280 LINK:mistakes">
            <a:hlinkClick r:id="rIdJump5" action="ppaction://hlinksldjump"/>
          </p:cNvPr>
          <p:cNvSpPr/>
          <p:nvPr/>
        </p:nvSpPr>
        <p:spPr>
          <a:xfrm>
            <a:off x="10405872" y="6236208"/>
            <a:ext cx="1234440" cy="420624"/>
          </a:xfrm>
          <a:prstGeom prst="roundRect">
            <a:avLst>
              <a:gd name="adj" fmla="val 47826"/>
            </a:avLst>
          </a:prstGeom>
          <a:solidFill>
            <a:srgbClr val="1D7A6E"/>
          </a:solidFill>
          <a:ln>
            <a:solidFill>
              <a:srgbClr val="1D7A6E"/>
            </a:solidFill>
          </a:ln>
        </p:spPr>
        <p:txBody>
          <a:bodyPr wrap="square" lIns="109728" tIns="0" rIns="109728"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Next  ›</a:t>
            </a:r>
            <a:endParaRPr lang="en-US" sz="1500" dirty="0"/>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Kicker 281"/>
          <p:cNvSpPr txBox="1"/>
          <p:nvPr/>
        </p:nvSpPr>
        <p:spPr>
          <a:xfrm>
            <a:off x="548640" y="329184"/>
            <a:ext cx="7315200" cy="292608"/>
          </a:xfrm>
          <a:prstGeom prst="rect">
            <a:avLst/>
          </a:prstGeom>
          <a:noFill/>
          <a:ln/>
        </p:spPr>
        <p:txBody>
          <a:bodyPr wrap="square" lIns="0" tIns="0" rIns="0" bIns="0" rtlCol="0" anchor="t"/>
          <a:lstStyle/>
          <a:p>
            <a:pPr indent="0" marL="0">
              <a:buNone/>
            </a:pPr>
            <a:r>
              <a:rPr lang="en-US" sz="1400" b="1" spc="300" kern="0" dirty="0">
                <a:solidFill>
                  <a:srgbClr val="1D7A6E"/>
                </a:solidFill>
                <a:latin typeface="Calibri" pitchFamily="34" charset="0"/>
                <a:ea typeface="Calibri" pitchFamily="34" charset="-122"/>
                <a:cs typeface="Calibri" pitchFamily="34" charset="-120"/>
              </a:rPr>
              <a:t>COMMON MISTAKES</a:t>
            </a:r>
            <a:endParaRPr lang="en-US" sz="1400" dirty="0"/>
          </a:p>
        </p:txBody>
      </p:sp>
      <p:sp>
        <p:nvSpPr>
          <p:cNvPr id="3" name="Text 0"/>
          <p:cNvSpPr/>
          <p:nvPr>
            <p:ph idx="100" type="title" hasCustomPrompt="1"/>
          </p:nvPr>
        </p:nvSpPr>
        <p:spPr>
          <a:xfrm>
            <a:off x="548640" y="658368"/>
            <a:ext cx="9052560" cy="731520"/>
          </a:xfrm>
          <a:prstGeom prst="rect">
            <a:avLst/>
          </a:prstGeom>
          <a:noFill/>
          <a:ln/>
        </p:spPr>
        <p:txBody>
          <a:bodyPr wrap="square" lIns="0" tIns="0" rIns="0" bIns="0" rtlCol="0" anchor="t"/>
          <a:lstStyle/>
          <a:p>
            <a:pPr algn="l" indent="0" marL="0">
              <a:buNone/>
            </a:pPr>
            <a:r>
              <a:rPr lang="en-US" sz="3600" b="1" dirty="0">
                <a:solidFill>
                  <a:srgbClr val="16302E"/>
                </a:solidFill>
                <a:latin typeface="Calibri" pitchFamily="34" charset="0"/>
                <a:ea typeface="Calibri" pitchFamily="34" charset="-122"/>
                <a:cs typeface="Calibri" pitchFamily="34" charset="-120"/>
              </a:rPr>
              <a:t>Two slips to avoid</a:t>
            </a:r>
            <a:endParaRPr lang="en-US" sz="3600" dirty="0"/>
          </a:p>
        </p:txBody>
      </p:sp>
      <p:sp>
        <p:nvSpPr>
          <p:cNvPr id="4" name="Route chip 282"/>
          <p:cNvSpPr/>
          <p:nvPr/>
        </p:nvSpPr>
        <p:spPr>
          <a:xfrm>
            <a:off x="10012680" y="365760"/>
            <a:ext cx="1627632" cy="384048"/>
          </a:xfrm>
          <a:prstGeom prst="roundRect">
            <a:avLst>
              <a:gd name="adj" fmla="val 47619"/>
            </a:avLst>
          </a:prstGeom>
          <a:solidFill>
            <a:srgbClr val="1D7A6E"/>
          </a:solidFill>
          <a:ln>
            <a:solidFill>
              <a:srgbClr val="1D7A6E"/>
            </a:solidFill>
          </a:ln>
        </p:spPr>
        <p:txBody>
          <a:bodyPr wrap="square" lIns="0" tIns="0" rIns="0" bIns="0" rtlCol="0" anchor="ctr"/>
          <a:lstStyle/>
          <a:p>
            <a:pPr algn="ctr" indent="0" marL="0">
              <a:buNone/>
            </a:pPr>
            <a:r>
              <a:rPr lang="en-US" sz="1300" b="1" spc="200" kern="0" dirty="0">
                <a:solidFill>
                  <a:srgbClr val="FFFFFF"/>
                </a:solidFill>
                <a:latin typeface="Calibri" pitchFamily="34" charset="0"/>
                <a:ea typeface="Calibri" pitchFamily="34" charset="-122"/>
                <a:cs typeface="Calibri" pitchFamily="34" charset="-120"/>
              </a:rPr>
              <a:t>GUIDED</a:t>
            </a:r>
            <a:endParaRPr lang="en-US" sz="1300" dirty="0"/>
          </a:p>
        </p:txBody>
      </p:sp>
      <p:sp>
        <p:nvSpPr>
          <p:cNvPr id="5" name="Card 283"/>
          <p:cNvSpPr/>
          <p:nvPr/>
        </p:nvSpPr>
        <p:spPr>
          <a:xfrm>
            <a:off x="548640" y="1600200"/>
            <a:ext cx="5458968" cy="2148840"/>
          </a:xfrm>
          <a:prstGeom prst="roundRect">
            <a:avLst>
              <a:gd name="adj" fmla="val 7660"/>
            </a:avLst>
          </a:prstGeom>
          <a:solidFill>
            <a:srgbClr val="FDF0EA"/>
          </a:solidFill>
          <a:ln w="12700">
            <a:solidFill>
              <a:srgbClr val="F3CDBF"/>
            </a:solidFill>
            <a:prstDash val="solid"/>
          </a:ln>
          <a:effectLst>
            <a:outerShdw sx="100000" sy="100000" kx="0" ky="0" algn="bl" rotWithShape="0" blurRad="101600" dist="25400" dir="5400000">
              <a:srgbClr val="0F3D3A">
                <a:alpha val="10000"/>
              </a:srgbClr>
            </a:outerShdw>
          </a:effectLst>
        </p:spPr>
      </p:sp>
      <p:sp>
        <p:nvSpPr>
          <p:cNvPr id="6" name="Mistake circle 284"/>
          <p:cNvSpPr/>
          <p:nvPr/>
        </p:nvSpPr>
        <p:spPr>
          <a:xfrm>
            <a:off x="822960" y="1810512"/>
            <a:ext cx="685800" cy="685800"/>
          </a:xfrm>
          <a:prstGeom prst="ellipse">
            <a:avLst/>
          </a:prstGeom>
          <a:solidFill>
            <a:srgbClr val="E0674F"/>
          </a:solidFill>
          <a:ln w="12700">
            <a:solidFill>
              <a:srgbClr val="E0674F"/>
            </a:solidFill>
            <a:prstDash val="solid"/>
          </a:ln>
        </p:spPr>
      </p:sp>
      <p:pic>
        <p:nvPicPr>
          <p:cNvPr id="7" name="Mistake glyph 285" descr="preencoded.png">    </p:cNvPr>
          <p:cNvPicPr>
            <a:picLocks noChangeAspect="1"/>
          </p:cNvPicPr>
          <p:nvPr/>
        </p:nvPicPr>
        <p:blipFill>
          <a:blip r:embed="rId1"/>
          <a:stretch>
            <a:fillRect/>
          </a:stretch>
        </p:blipFill>
        <p:spPr>
          <a:xfrm>
            <a:off x="994410" y="1981962"/>
            <a:ext cx="342900" cy="342900"/>
          </a:xfrm>
          <a:prstGeom prst="rect">
            <a:avLst/>
          </a:prstGeom>
        </p:spPr>
      </p:pic>
      <p:sp>
        <p:nvSpPr>
          <p:cNvPr id="8" name="Mistake head 286"/>
          <p:cNvSpPr txBox="1"/>
          <p:nvPr/>
        </p:nvSpPr>
        <p:spPr>
          <a:xfrm>
            <a:off x="1691640" y="1828800"/>
            <a:ext cx="4114800" cy="640080"/>
          </a:xfrm>
          <a:prstGeom prst="rect">
            <a:avLst/>
          </a:prstGeom>
          <a:noFill/>
          <a:ln/>
        </p:spPr>
        <p:txBody>
          <a:bodyPr wrap="square" lIns="0" tIns="0" rIns="0" bIns="0" rtlCol="0" anchor="ctr"/>
          <a:lstStyle/>
          <a:p>
            <a:pPr indent="0" marL="0">
              <a:buNone/>
            </a:pPr>
            <a:r>
              <a:rPr lang="en-US" sz="2600" b="1" dirty="0">
                <a:solidFill>
                  <a:srgbClr val="16302E"/>
                </a:solidFill>
                <a:latin typeface="Calibri" pitchFamily="34" charset="0"/>
                <a:ea typeface="Calibri" pitchFamily="34" charset="-122"/>
                <a:cs typeface="Calibri" pitchFamily="34" charset="-120"/>
              </a:rPr>
              <a:t>Dropping the nasal sound</a:t>
            </a:r>
            <a:endParaRPr lang="en-US" sz="2600" dirty="0"/>
          </a:p>
        </p:txBody>
      </p:sp>
      <p:sp>
        <p:nvSpPr>
          <p:cNvPr id="9" name="Mistake text 287"/>
          <p:cNvSpPr txBox="1"/>
          <p:nvPr/>
        </p:nvSpPr>
        <p:spPr>
          <a:xfrm>
            <a:off x="822960" y="2697480"/>
            <a:ext cx="4937760" cy="960120"/>
          </a:xfrm>
          <a:prstGeom prst="rect">
            <a:avLst/>
          </a:prstGeom>
          <a:noFill/>
          <a:ln/>
        </p:spPr>
        <p:txBody>
          <a:bodyPr wrap="square" lIns="0" tIns="0" rIns="0" bIns="0" rtlCol="0" anchor="t"/>
          <a:lstStyle/>
          <a:p>
            <a:pPr indent="0" marL="0">
              <a:buNone/>
            </a:pPr>
            <a:r>
              <a:rPr lang="en-US" sz="2200" dirty="0">
                <a:solidFill>
                  <a:srgbClr val="2C4744"/>
                </a:solidFill>
                <a:latin typeface="Calibri" pitchFamily="34" charset="0"/>
                <a:ea typeface="Calibri" pitchFamily="34" charset="-122"/>
                <a:cs typeface="Calibri" pitchFamily="34" charset="-120"/>
              </a:rPr>
              <a:t>The doubled noon is read flat, with no ghunnah.</a:t>
            </a:r>
            <a:endParaRPr lang="en-US" sz="2200" dirty="0"/>
          </a:p>
        </p:txBody>
      </p:sp>
      <p:sp>
        <p:nvSpPr>
          <p:cNvPr id="10" name="Card 288"/>
          <p:cNvSpPr/>
          <p:nvPr/>
        </p:nvSpPr>
        <p:spPr>
          <a:xfrm>
            <a:off x="6185916" y="1600200"/>
            <a:ext cx="5458968" cy="2148840"/>
          </a:xfrm>
          <a:prstGeom prst="roundRect">
            <a:avLst>
              <a:gd name="adj" fmla="val 7660"/>
            </a:avLst>
          </a:prstGeom>
          <a:solidFill>
            <a:srgbClr val="FDF0EA"/>
          </a:solidFill>
          <a:ln w="12700">
            <a:solidFill>
              <a:srgbClr val="F3CDBF"/>
            </a:solidFill>
            <a:prstDash val="solid"/>
          </a:ln>
          <a:effectLst>
            <a:outerShdw sx="100000" sy="100000" kx="0" ky="0" algn="bl" rotWithShape="0" blurRad="101600" dist="25400" dir="5400000">
              <a:srgbClr val="0F3D3A">
                <a:alpha val="10000"/>
              </a:srgbClr>
            </a:outerShdw>
          </a:effectLst>
        </p:spPr>
      </p:sp>
      <p:sp>
        <p:nvSpPr>
          <p:cNvPr id="11" name="Mistake circle 289"/>
          <p:cNvSpPr/>
          <p:nvPr/>
        </p:nvSpPr>
        <p:spPr>
          <a:xfrm>
            <a:off x="6460236" y="1810512"/>
            <a:ext cx="685800" cy="685800"/>
          </a:xfrm>
          <a:prstGeom prst="ellipse">
            <a:avLst/>
          </a:prstGeom>
          <a:solidFill>
            <a:srgbClr val="E0674F"/>
          </a:solidFill>
          <a:ln w="12700">
            <a:solidFill>
              <a:srgbClr val="E0674F"/>
            </a:solidFill>
            <a:prstDash val="solid"/>
          </a:ln>
        </p:spPr>
      </p:sp>
      <p:pic>
        <p:nvPicPr>
          <p:cNvPr id="12" name="Mistake glyph 290" descr="preencoded.png">    </p:cNvPr>
          <p:cNvPicPr>
            <a:picLocks noChangeAspect="1"/>
          </p:cNvPicPr>
          <p:nvPr/>
        </p:nvPicPr>
        <p:blipFill>
          <a:blip r:embed="rId2"/>
          <a:stretch>
            <a:fillRect/>
          </a:stretch>
        </p:blipFill>
        <p:spPr>
          <a:xfrm>
            <a:off x="6631686" y="1981962"/>
            <a:ext cx="342900" cy="342900"/>
          </a:xfrm>
          <a:prstGeom prst="rect">
            <a:avLst/>
          </a:prstGeom>
        </p:spPr>
      </p:pic>
      <p:sp>
        <p:nvSpPr>
          <p:cNvPr id="13" name="Mistake head 291"/>
          <p:cNvSpPr txBox="1"/>
          <p:nvPr/>
        </p:nvSpPr>
        <p:spPr>
          <a:xfrm>
            <a:off x="7328916" y="1828800"/>
            <a:ext cx="4114800" cy="640080"/>
          </a:xfrm>
          <a:prstGeom prst="rect">
            <a:avLst/>
          </a:prstGeom>
          <a:noFill/>
          <a:ln/>
        </p:spPr>
        <p:txBody>
          <a:bodyPr wrap="square" lIns="0" tIns="0" rIns="0" bIns="0" rtlCol="0" anchor="ctr"/>
          <a:lstStyle/>
          <a:p>
            <a:pPr indent="0" marL="0">
              <a:buNone/>
            </a:pPr>
            <a:r>
              <a:rPr lang="en-US" sz="2600" b="1" dirty="0">
                <a:solidFill>
                  <a:srgbClr val="16302E"/>
                </a:solidFill>
                <a:latin typeface="Calibri" pitchFamily="34" charset="0"/>
                <a:ea typeface="Calibri" pitchFamily="34" charset="-122"/>
                <a:cs typeface="Calibri" pitchFamily="34" charset="-120"/>
              </a:rPr>
              <a:t>Adding a vowel in the middle</a:t>
            </a:r>
            <a:endParaRPr lang="en-US" sz="2600" dirty="0"/>
          </a:p>
        </p:txBody>
      </p:sp>
      <p:sp>
        <p:nvSpPr>
          <p:cNvPr id="14" name="Mistake text 292"/>
          <p:cNvSpPr txBox="1"/>
          <p:nvPr/>
        </p:nvSpPr>
        <p:spPr>
          <a:xfrm>
            <a:off x="6460236" y="2697480"/>
            <a:ext cx="4937760" cy="960120"/>
          </a:xfrm>
          <a:prstGeom prst="rect">
            <a:avLst/>
          </a:prstGeom>
          <a:noFill/>
          <a:ln/>
        </p:spPr>
        <p:txBody>
          <a:bodyPr wrap="square" lIns="0" tIns="0" rIns="0" bIns="0" rtlCol="0" anchor="t"/>
          <a:lstStyle/>
          <a:p>
            <a:pPr indent="0" marL="0">
              <a:buNone/>
            </a:pPr>
            <a:r>
              <a:rPr lang="en-US" sz="2200" dirty="0">
                <a:solidFill>
                  <a:srgbClr val="2C4744"/>
                </a:solidFill>
                <a:latin typeface="Calibri" pitchFamily="34" charset="0"/>
                <a:ea typeface="Calibri" pitchFamily="34" charset="-122"/>
                <a:cs typeface="Calibri" pitchFamily="34" charset="-120"/>
              </a:rPr>
              <a:t>A separate vowel slips in between the two parts of the doubled letter.</a:t>
            </a:r>
            <a:endParaRPr lang="en-US" sz="2200" dirty="0"/>
          </a:p>
        </p:txBody>
      </p:sp>
      <p:sp>
        <p:nvSpPr>
          <p:cNvPr id="15" name="Card 293"/>
          <p:cNvSpPr/>
          <p:nvPr/>
        </p:nvSpPr>
        <p:spPr>
          <a:xfrm>
            <a:off x="548640" y="4023360"/>
            <a:ext cx="11094415" cy="1920240"/>
          </a:xfrm>
          <a:prstGeom prst="roundRect">
            <a:avLst>
              <a:gd name="adj" fmla="val 8571"/>
            </a:avLst>
          </a:prstGeom>
          <a:solidFill>
            <a:srgbClr val="EAF7EF"/>
          </a:solidFill>
          <a:ln w="12700">
            <a:solidFill>
              <a:srgbClr val="BFE5CD"/>
            </a:solidFill>
            <a:prstDash val="solid"/>
          </a:ln>
          <a:effectLst>
            <a:outerShdw sx="100000" sy="100000" kx="0" ky="0" algn="bl" rotWithShape="0" blurRad="101600" dist="25400" dir="5400000">
              <a:srgbClr val="0F3D3A">
                <a:alpha val="10000"/>
              </a:srgbClr>
            </a:outerShdw>
          </a:effectLst>
        </p:spPr>
      </p:sp>
      <p:sp>
        <p:nvSpPr>
          <p:cNvPr id="16" name="Fix circle 294"/>
          <p:cNvSpPr/>
          <p:nvPr/>
        </p:nvSpPr>
        <p:spPr>
          <a:xfrm>
            <a:off x="822960" y="4251960"/>
            <a:ext cx="685800" cy="685800"/>
          </a:xfrm>
          <a:prstGeom prst="ellipse">
            <a:avLst/>
          </a:prstGeom>
          <a:solidFill>
            <a:srgbClr val="2E9E5B"/>
          </a:solidFill>
          <a:ln w="12700">
            <a:solidFill>
              <a:srgbClr val="2E9E5B"/>
            </a:solidFill>
            <a:prstDash val="solid"/>
          </a:ln>
        </p:spPr>
      </p:sp>
      <p:pic>
        <p:nvPicPr>
          <p:cNvPr id="17" name="Fix glyph 295" descr="preencoded.png">    </p:cNvPr>
          <p:cNvPicPr>
            <a:picLocks noChangeAspect="1"/>
          </p:cNvPicPr>
          <p:nvPr/>
        </p:nvPicPr>
        <p:blipFill>
          <a:blip r:embed="rId3"/>
          <a:stretch>
            <a:fillRect/>
          </a:stretch>
        </p:blipFill>
        <p:spPr>
          <a:xfrm>
            <a:off x="994410" y="4423410"/>
            <a:ext cx="342900" cy="342900"/>
          </a:xfrm>
          <a:prstGeom prst="rect">
            <a:avLst/>
          </a:prstGeom>
        </p:spPr>
      </p:pic>
      <p:sp>
        <p:nvSpPr>
          <p:cNvPr id="18" name="Fix head 296"/>
          <p:cNvSpPr txBox="1"/>
          <p:nvPr/>
        </p:nvSpPr>
        <p:spPr>
          <a:xfrm>
            <a:off x="1691640" y="4270248"/>
            <a:ext cx="7315200" cy="640080"/>
          </a:xfrm>
          <a:prstGeom prst="rect">
            <a:avLst/>
          </a:prstGeom>
          <a:noFill/>
          <a:ln/>
        </p:spPr>
        <p:txBody>
          <a:bodyPr wrap="square" lIns="0" tIns="0" rIns="0" bIns="0" rtlCol="0" anchor="ctr"/>
          <a:lstStyle/>
          <a:p>
            <a:pPr indent="0" marL="0">
              <a:buNone/>
            </a:pPr>
            <a:r>
              <a:rPr lang="en-US" sz="2600" b="1" dirty="0">
                <a:solidFill>
                  <a:srgbClr val="16302E"/>
                </a:solidFill>
                <a:latin typeface="Calibri" pitchFamily="34" charset="0"/>
                <a:ea typeface="Calibri" pitchFamily="34" charset="-122"/>
                <a:cs typeface="Calibri" pitchFamily="34" charset="-120"/>
              </a:rPr>
              <a:t>The correction</a:t>
            </a:r>
            <a:endParaRPr lang="en-US" sz="2600" dirty="0"/>
          </a:p>
        </p:txBody>
      </p:sp>
      <p:sp>
        <p:nvSpPr>
          <p:cNvPr id="19" name="Fix text 297"/>
          <p:cNvSpPr txBox="1"/>
          <p:nvPr/>
        </p:nvSpPr>
        <p:spPr>
          <a:xfrm>
            <a:off x="822960" y="5029200"/>
            <a:ext cx="8138160" cy="868680"/>
          </a:xfrm>
          <a:prstGeom prst="rect">
            <a:avLst/>
          </a:prstGeom>
          <a:noFill/>
          <a:ln/>
        </p:spPr>
        <p:txBody>
          <a:bodyPr wrap="square" lIns="0" tIns="0" rIns="0" bIns="0" rtlCol="0" anchor="t"/>
          <a:lstStyle/>
          <a:p>
            <a:pPr indent="0" marL="0">
              <a:buNone/>
            </a:pPr>
            <a:r>
              <a:rPr lang="en-US" sz="2200" dirty="0">
                <a:solidFill>
                  <a:srgbClr val="2C4744"/>
                </a:solidFill>
                <a:latin typeface="Calibri" pitchFamily="34" charset="0"/>
                <a:ea typeface="Calibri" pitchFamily="34" charset="-122"/>
                <a:cs typeface="Calibri" pitchFamily="34" charset="-120"/>
              </a:rPr>
              <a:t>Keep the nasal sound and join the two parts smoothly: hold two counts, then release into the written vowel.</a:t>
            </a:r>
            <a:endParaRPr lang="en-US" sz="2200" dirty="0"/>
          </a:p>
        </p:txBody>
      </p:sp>
      <p:pic>
        <p:nvPicPr>
          <p:cNvPr id="20" name="Nasal wave 298" descr="preencoded.png">    </p:cNvPr>
          <p:cNvPicPr>
            <a:picLocks noChangeAspect="1"/>
          </p:cNvPicPr>
          <p:nvPr/>
        </p:nvPicPr>
        <p:blipFill>
          <a:blip r:embed="rId4"/>
          <a:stretch>
            <a:fillRect/>
          </a:stretch>
        </p:blipFill>
        <p:spPr>
          <a:xfrm>
            <a:off x="9189720" y="4983480"/>
            <a:ext cx="2286000" cy="557784"/>
          </a:xfrm>
          <a:prstGeom prst="rect">
            <a:avLst/>
          </a:prstGeom>
        </p:spPr>
      </p:pic>
      <p:sp>
        <p:nvSpPr>
          <p:cNvPr id="21" name="Nav Home 299 LINK:title">
            <a:hlinkClick r:id="rIdJump1" action="ppaction://hlinksldjump"/>
          </p:cNvPr>
          <p:cNvSpPr/>
          <p:nvPr/>
        </p:nvSpPr>
        <p:spPr>
          <a:xfrm>
            <a:off x="548640" y="6236208"/>
            <a:ext cx="1234440" cy="420624"/>
          </a:xfrm>
          <a:prstGeom prst="roundRect">
            <a:avLst>
              <a:gd name="adj" fmla="val 47826"/>
            </a:avLst>
          </a:prstGeom>
          <a:solidFill>
            <a:srgbClr val="16302E"/>
          </a:solidFill>
          <a:ln>
            <a:solidFill>
              <a:srgbClr val="16302E"/>
            </a:solidFill>
          </a:ln>
        </p:spPr>
        <p:txBody>
          <a:bodyPr wrap="square" lIns="365760" tIns="0" rIns="9144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Home</a:t>
            </a:r>
            <a:endParaRPr lang="en-US" sz="1500" dirty="0"/>
          </a:p>
        </p:txBody>
      </p:sp>
      <p:pic>
        <p:nvPicPr>
          <p:cNvPr id="22" name="Button icon 300 LINK:title" descr="preencoded.png">
            <a:hlinkClick r:id="rIdJump2" action="ppaction://hlinksldjump"/>
          </p:cNvPr>
          <p:cNvPicPr>
            <a:picLocks noChangeAspect="1"/>
          </p:cNvPicPr>
          <p:nvPr/>
        </p:nvPicPr>
        <p:blipFill>
          <a:blip r:embed="rId5"/>
          <a:stretch>
            <a:fillRect/>
          </a:stretch>
        </p:blipFill>
        <p:spPr>
          <a:xfrm>
            <a:off x="749808" y="6336792"/>
            <a:ext cx="219456" cy="219456"/>
          </a:xfrm>
          <a:prstGeom prst="rect">
            <a:avLst/>
          </a:prstGeom>
        </p:spPr>
      </p:pic>
      <p:sp>
        <p:nvSpPr>
          <p:cNvPr id="23" name="Nav Menu 301 LINK:menu">
            <a:hlinkClick r:id="rIdJump3" action="ppaction://hlinksldjump"/>
          </p:cNvPr>
          <p:cNvSpPr/>
          <p:nvPr/>
        </p:nvSpPr>
        <p:spPr>
          <a:xfrm>
            <a:off x="1901952" y="6236208"/>
            <a:ext cx="1005840" cy="420624"/>
          </a:xfrm>
          <a:prstGeom prst="roundRect">
            <a:avLst>
              <a:gd name="adj" fmla="val 47826"/>
            </a:avLst>
          </a:prstGeom>
          <a:solidFill>
            <a:srgbClr val="FFFFFF"/>
          </a:solidFill>
          <a:ln w="19050">
            <a:solidFill>
              <a:srgbClr val="16302E"/>
            </a:solidFill>
          </a:ln>
        </p:spPr>
        <p:txBody>
          <a:bodyPr wrap="square" lIns="109728" tIns="0" rIns="109728" bIns="0" rtlCol="0" anchor="ctr"/>
          <a:lstStyle/>
          <a:p>
            <a:pPr algn="ctr" indent="0" marL="0">
              <a:buNone/>
            </a:pPr>
            <a:r>
              <a:rPr lang="en-US" sz="1500" b="1" dirty="0">
                <a:solidFill>
                  <a:srgbClr val="16302E"/>
                </a:solidFill>
                <a:latin typeface="Calibri" pitchFamily="34" charset="0"/>
                <a:ea typeface="Calibri" pitchFamily="34" charset="-122"/>
                <a:cs typeface="Calibri" pitchFamily="34" charset="-120"/>
              </a:rPr>
              <a:t>Menu</a:t>
            </a:r>
            <a:endParaRPr lang="en-US" sz="1500" dirty="0"/>
          </a:p>
        </p:txBody>
      </p:sp>
      <p:sp>
        <p:nvSpPr>
          <p:cNvPr id="24" name="Slide counter 302"/>
          <p:cNvSpPr txBox="1"/>
          <p:nvPr/>
        </p:nvSpPr>
        <p:spPr>
          <a:xfrm>
            <a:off x="5184648" y="6236208"/>
            <a:ext cx="1828800" cy="420624"/>
          </a:xfrm>
          <a:prstGeom prst="rect">
            <a:avLst/>
          </a:prstGeom>
          <a:noFill/>
          <a:ln/>
        </p:spPr>
        <p:txBody>
          <a:bodyPr wrap="square" lIns="0" tIns="0" rIns="0" bIns="0" rtlCol="0" anchor="ctr"/>
          <a:lstStyle/>
          <a:p>
            <a:pPr algn="ctr" indent="0" marL="0">
              <a:buNone/>
            </a:pPr>
            <a:r>
              <a:rPr lang="en-US" sz="1400" dirty="0">
                <a:solidFill>
                  <a:srgbClr val="5D7774"/>
                </a:solidFill>
                <a:latin typeface="Calibri" pitchFamily="34" charset="0"/>
                <a:ea typeface="Calibri" pitchFamily="34" charset="-122"/>
                <a:cs typeface="Calibri" pitchFamily="34" charset="-120"/>
              </a:rPr>
              <a:t>11 / 18</a:t>
            </a:r>
            <a:endParaRPr lang="en-US" sz="1400" dirty="0"/>
          </a:p>
        </p:txBody>
      </p:sp>
      <p:sp>
        <p:nvSpPr>
          <p:cNvPr id="25" name="Nav Back 303 LINK:ex2">
            <a:hlinkClick r:id="rIdJump4" action="ppaction://hlinksldjump"/>
          </p:cNvPr>
          <p:cNvSpPr/>
          <p:nvPr/>
        </p:nvSpPr>
        <p:spPr>
          <a:xfrm>
            <a:off x="9052560" y="6236208"/>
            <a:ext cx="1234440" cy="420624"/>
          </a:xfrm>
          <a:prstGeom prst="roundRect">
            <a:avLst>
              <a:gd name="adj" fmla="val 47826"/>
            </a:avLst>
          </a:prstGeom>
          <a:solidFill>
            <a:srgbClr val="FFFFFF"/>
          </a:solidFill>
          <a:ln w="19050">
            <a:solidFill>
              <a:srgbClr val="1D7A6E"/>
            </a:solidFill>
          </a:ln>
        </p:spPr>
        <p:txBody>
          <a:bodyPr wrap="square" lIns="109728" tIns="0" rIns="109728" bIns="0" rtlCol="0" anchor="ctr"/>
          <a:lstStyle/>
          <a:p>
            <a:pPr algn="ctr" indent="0" marL="0">
              <a:buNone/>
            </a:pPr>
            <a:r>
              <a:rPr lang="en-US" sz="1500" b="1" dirty="0">
                <a:solidFill>
                  <a:srgbClr val="1D7A6E"/>
                </a:solidFill>
                <a:latin typeface="Calibri" pitchFamily="34" charset="0"/>
                <a:ea typeface="Calibri" pitchFamily="34" charset="-122"/>
                <a:cs typeface="Calibri" pitchFamily="34" charset="-120"/>
              </a:rPr>
              <a:t>‹  Back</a:t>
            </a:r>
            <a:endParaRPr lang="en-US" sz="1500" dirty="0"/>
          </a:p>
        </p:txBody>
      </p:sp>
      <p:sp>
        <p:nvSpPr>
          <p:cNvPr id="26" name="Nav Next 304 LINK:guided">
            <a:hlinkClick r:id="rIdJump5" action="ppaction://hlinksldjump"/>
          </p:cNvPr>
          <p:cNvSpPr/>
          <p:nvPr/>
        </p:nvSpPr>
        <p:spPr>
          <a:xfrm>
            <a:off x="10405872" y="6236208"/>
            <a:ext cx="1234440" cy="420624"/>
          </a:xfrm>
          <a:prstGeom prst="roundRect">
            <a:avLst>
              <a:gd name="adj" fmla="val 47826"/>
            </a:avLst>
          </a:prstGeom>
          <a:solidFill>
            <a:srgbClr val="1D7A6E"/>
          </a:solidFill>
          <a:ln>
            <a:solidFill>
              <a:srgbClr val="1D7A6E"/>
            </a:solidFill>
          </a:ln>
        </p:spPr>
        <p:txBody>
          <a:bodyPr wrap="square" lIns="109728" tIns="0" rIns="109728"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Next  ›</a:t>
            </a:r>
            <a:endParaRPr lang="en-US" sz="1500" dirty="0"/>
          </a:p>
        </p:txBody>
      </p:sp>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Kicker 305"/>
          <p:cNvSpPr txBox="1"/>
          <p:nvPr/>
        </p:nvSpPr>
        <p:spPr>
          <a:xfrm>
            <a:off x="548640" y="329184"/>
            <a:ext cx="7315200" cy="292608"/>
          </a:xfrm>
          <a:prstGeom prst="rect">
            <a:avLst/>
          </a:prstGeom>
          <a:noFill/>
          <a:ln/>
        </p:spPr>
        <p:txBody>
          <a:bodyPr wrap="square" lIns="0" tIns="0" rIns="0" bIns="0" rtlCol="0" anchor="t"/>
          <a:lstStyle/>
          <a:p>
            <a:pPr indent="0" marL="0">
              <a:buNone/>
            </a:pPr>
            <a:r>
              <a:rPr lang="en-US" sz="1400" b="1" spc="300" kern="0" dirty="0">
                <a:solidFill>
                  <a:srgbClr val="1D7A6E"/>
                </a:solidFill>
                <a:latin typeface="Calibri" pitchFamily="34" charset="0"/>
                <a:ea typeface="Calibri" pitchFamily="34" charset="-122"/>
                <a:cs typeface="Calibri" pitchFamily="34" charset="-120"/>
              </a:rPr>
              <a:t>GUIDED PRACTICE</a:t>
            </a:r>
            <a:endParaRPr lang="en-US" sz="1400" dirty="0"/>
          </a:p>
        </p:txBody>
      </p:sp>
      <p:sp>
        <p:nvSpPr>
          <p:cNvPr id="3" name="Text 0"/>
          <p:cNvSpPr/>
          <p:nvPr>
            <p:ph idx="100" type="title" hasCustomPrompt="1"/>
          </p:nvPr>
        </p:nvSpPr>
        <p:spPr>
          <a:xfrm>
            <a:off x="548640" y="658368"/>
            <a:ext cx="9052560" cy="731520"/>
          </a:xfrm>
          <a:prstGeom prst="rect">
            <a:avLst/>
          </a:prstGeom>
          <a:noFill/>
          <a:ln/>
        </p:spPr>
        <p:txBody>
          <a:bodyPr wrap="square" lIns="0" tIns="0" rIns="0" bIns="0" rtlCol="0" anchor="t"/>
          <a:lstStyle/>
          <a:p>
            <a:pPr algn="l" indent="0" marL="0">
              <a:buNone/>
            </a:pPr>
            <a:r>
              <a:rPr lang="en-US" sz="3600" b="1" dirty="0">
                <a:solidFill>
                  <a:srgbClr val="16302E"/>
                </a:solidFill>
                <a:latin typeface="Calibri" pitchFamily="34" charset="0"/>
                <a:ea typeface="Calibri" pitchFamily="34" charset="-122"/>
                <a:cs typeface="Calibri" pitchFamily="34" charset="-120"/>
              </a:rPr>
              <a:t>Read aloud and check</a:t>
            </a:r>
            <a:endParaRPr lang="en-US" sz="3600" dirty="0"/>
          </a:p>
        </p:txBody>
      </p:sp>
      <p:sp>
        <p:nvSpPr>
          <p:cNvPr id="4" name="Route chip 306"/>
          <p:cNvSpPr/>
          <p:nvPr/>
        </p:nvSpPr>
        <p:spPr>
          <a:xfrm>
            <a:off x="10012680" y="365760"/>
            <a:ext cx="1627632" cy="384048"/>
          </a:xfrm>
          <a:prstGeom prst="roundRect">
            <a:avLst>
              <a:gd name="adj" fmla="val 47619"/>
            </a:avLst>
          </a:prstGeom>
          <a:solidFill>
            <a:srgbClr val="1D7A6E"/>
          </a:solidFill>
          <a:ln>
            <a:solidFill>
              <a:srgbClr val="1D7A6E"/>
            </a:solidFill>
          </a:ln>
        </p:spPr>
        <p:txBody>
          <a:bodyPr wrap="square" lIns="0" tIns="0" rIns="0" bIns="0" rtlCol="0" anchor="ctr"/>
          <a:lstStyle/>
          <a:p>
            <a:pPr algn="ctr" indent="0" marL="0">
              <a:buNone/>
            </a:pPr>
            <a:r>
              <a:rPr lang="en-US" sz="1300" b="1" spc="200" kern="0" dirty="0">
                <a:solidFill>
                  <a:srgbClr val="FFFFFF"/>
                </a:solidFill>
                <a:latin typeface="Calibri" pitchFamily="34" charset="0"/>
                <a:ea typeface="Calibri" pitchFamily="34" charset="-122"/>
                <a:cs typeface="Calibri" pitchFamily="34" charset="-120"/>
              </a:rPr>
              <a:t>GUIDED</a:t>
            </a:r>
            <a:endParaRPr lang="en-US" sz="1300" dirty="0"/>
          </a:p>
        </p:txBody>
      </p:sp>
      <p:sp>
        <p:nvSpPr>
          <p:cNvPr id="5" name="Practice number 307"/>
          <p:cNvSpPr/>
          <p:nvPr/>
        </p:nvSpPr>
        <p:spPr>
          <a:xfrm>
            <a:off x="548640" y="1700784"/>
            <a:ext cx="566928" cy="566928"/>
          </a:xfrm>
          <a:prstGeom prst="ellipse">
            <a:avLst/>
          </a:prstGeom>
          <a:solidFill>
            <a:srgbClr val="1D7A6E"/>
          </a:solidFill>
          <a:ln>
            <a:solidFill>
              <a:srgbClr val="FFFFFF"/>
            </a:solid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6" name="Practice step 308"/>
          <p:cNvSpPr txBox="1"/>
          <p:nvPr/>
        </p:nvSpPr>
        <p:spPr>
          <a:xfrm>
            <a:off x="1325880" y="1627632"/>
            <a:ext cx="5074920" cy="731520"/>
          </a:xfrm>
          <a:prstGeom prst="rect">
            <a:avLst/>
          </a:prstGeom>
          <a:noFill/>
          <a:ln/>
        </p:spPr>
        <p:txBody>
          <a:bodyPr wrap="square" lIns="0" tIns="0" rIns="0" bIns="0" rtlCol="0" anchor="ctr"/>
          <a:lstStyle/>
          <a:p>
            <a:pPr indent="0" marL="0">
              <a:buNone/>
            </a:pPr>
            <a:r>
              <a:rPr lang="en-US" sz="2200" dirty="0">
                <a:solidFill>
                  <a:srgbClr val="16302E"/>
                </a:solidFill>
                <a:latin typeface="Calibri" pitchFamily="34" charset="0"/>
                <a:ea typeface="Calibri" pitchFamily="34" charset="-122"/>
                <a:cs typeface="Calibri" pitchFamily="34" charset="-120"/>
              </a:rPr>
              <a:t>Teacher models Example 1 slowly.</a:t>
            </a:r>
            <a:endParaRPr lang="en-US" sz="2200" dirty="0"/>
          </a:p>
        </p:txBody>
      </p:sp>
      <p:sp>
        <p:nvSpPr>
          <p:cNvPr id="7" name="Practice number 309"/>
          <p:cNvSpPr/>
          <p:nvPr/>
        </p:nvSpPr>
        <p:spPr>
          <a:xfrm>
            <a:off x="548640" y="2569464"/>
            <a:ext cx="566928" cy="566928"/>
          </a:xfrm>
          <a:prstGeom prst="ellipse">
            <a:avLst/>
          </a:prstGeom>
          <a:solidFill>
            <a:srgbClr val="F2B134"/>
          </a:solidFill>
          <a:ln>
            <a:solidFill>
              <a:srgbClr val="FFFFFF"/>
            </a:solidFill>
          </a:ln>
        </p:spPr>
        <p:txBody>
          <a:bodyPr wrap="square" lIns="0" tIns="0" rIns="0" bIns="0" rtlCol="0" anchor="ctr"/>
          <a:lstStyle/>
          <a:p>
            <a:pPr algn="ctr" indent="0" marL="0">
              <a:buNone/>
            </a:pPr>
            <a:r>
              <a:rPr lang="en-US" sz="2200" b="1" dirty="0">
                <a:solidFill>
                  <a:srgbClr val="16302E"/>
                </a:solidFill>
                <a:latin typeface="Calibri" pitchFamily="34" charset="0"/>
                <a:ea typeface="Calibri" pitchFamily="34" charset="-122"/>
                <a:cs typeface="Calibri" pitchFamily="34" charset="-120"/>
              </a:rPr>
              <a:t>2</a:t>
            </a:r>
            <a:endParaRPr lang="en-US" sz="2200" dirty="0"/>
          </a:p>
        </p:txBody>
      </p:sp>
      <p:sp>
        <p:nvSpPr>
          <p:cNvPr id="8" name="Practice step 310"/>
          <p:cNvSpPr txBox="1"/>
          <p:nvPr/>
        </p:nvSpPr>
        <p:spPr>
          <a:xfrm>
            <a:off x="1325880" y="2496312"/>
            <a:ext cx="5074920" cy="731520"/>
          </a:xfrm>
          <a:prstGeom prst="rect">
            <a:avLst/>
          </a:prstGeom>
          <a:noFill/>
          <a:ln/>
        </p:spPr>
        <p:txBody>
          <a:bodyPr wrap="square" lIns="0" tIns="0" rIns="0" bIns="0" rtlCol="0" anchor="ctr"/>
          <a:lstStyle/>
          <a:p>
            <a:pPr indent="0" marL="0">
              <a:buNone/>
            </a:pPr>
            <a:r>
              <a:rPr lang="en-US" sz="2200" dirty="0">
                <a:solidFill>
                  <a:srgbClr val="16302E"/>
                </a:solidFill>
                <a:latin typeface="Calibri" pitchFamily="34" charset="0"/>
                <a:ea typeface="Calibri" pitchFamily="34" charset="-122"/>
                <a:cs typeface="Calibri" pitchFamily="34" charset="-120"/>
              </a:rPr>
              <a:t>Learner echoes the model.</a:t>
            </a:r>
            <a:endParaRPr lang="en-US" sz="2200" dirty="0"/>
          </a:p>
        </p:txBody>
      </p:sp>
      <p:sp>
        <p:nvSpPr>
          <p:cNvPr id="9" name="Practice number 311"/>
          <p:cNvSpPr/>
          <p:nvPr/>
        </p:nvSpPr>
        <p:spPr>
          <a:xfrm>
            <a:off x="548640" y="3438144"/>
            <a:ext cx="566928" cy="566928"/>
          </a:xfrm>
          <a:prstGeom prst="ellipse">
            <a:avLst/>
          </a:prstGeom>
          <a:solidFill>
            <a:srgbClr val="1D7A6E"/>
          </a:solidFill>
          <a:ln>
            <a:solidFill>
              <a:srgbClr val="FFFFFF"/>
            </a:solid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sp>
        <p:nvSpPr>
          <p:cNvPr id="10" name="Practice step 312"/>
          <p:cNvSpPr txBox="1"/>
          <p:nvPr/>
        </p:nvSpPr>
        <p:spPr>
          <a:xfrm>
            <a:off x="1325880" y="3364992"/>
            <a:ext cx="5074920" cy="731520"/>
          </a:xfrm>
          <a:prstGeom prst="rect">
            <a:avLst/>
          </a:prstGeom>
          <a:noFill/>
          <a:ln/>
        </p:spPr>
        <p:txBody>
          <a:bodyPr wrap="square" lIns="0" tIns="0" rIns="0" bIns="0" rtlCol="0" anchor="ctr"/>
          <a:lstStyle/>
          <a:p>
            <a:pPr indent="0" marL="0">
              <a:buNone/>
            </a:pPr>
            <a:r>
              <a:rPr lang="en-US" sz="2200" dirty="0">
                <a:solidFill>
                  <a:srgbClr val="16302E"/>
                </a:solidFill>
                <a:latin typeface="Calibri" pitchFamily="34" charset="0"/>
                <a:ea typeface="Calibri" pitchFamily="34" charset="-122"/>
                <a:cs typeface="Calibri" pitchFamily="34" charset="-120"/>
              </a:rPr>
              <a:t>Learner reads Example 1 alone.</a:t>
            </a:r>
            <a:endParaRPr lang="en-US" sz="2200" dirty="0"/>
          </a:p>
        </p:txBody>
      </p:sp>
      <p:sp>
        <p:nvSpPr>
          <p:cNvPr id="11" name="Practice number 313"/>
          <p:cNvSpPr/>
          <p:nvPr/>
        </p:nvSpPr>
        <p:spPr>
          <a:xfrm>
            <a:off x="548640" y="4306824"/>
            <a:ext cx="566928" cy="566928"/>
          </a:xfrm>
          <a:prstGeom prst="ellipse">
            <a:avLst/>
          </a:prstGeom>
          <a:solidFill>
            <a:srgbClr val="F2B134"/>
          </a:solidFill>
          <a:ln>
            <a:solidFill>
              <a:srgbClr val="FFFFFF"/>
            </a:solidFill>
          </a:ln>
        </p:spPr>
        <p:txBody>
          <a:bodyPr wrap="square" lIns="0" tIns="0" rIns="0" bIns="0" rtlCol="0" anchor="ctr"/>
          <a:lstStyle/>
          <a:p>
            <a:pPr algn="ctr" indent="0" marL="0">
              <a:buNone/>
            </a:pPr>
            <a:r>
              <a:rPr lang="en-US" sz="2200" b="1" dirty="0">
                <a:solidFill>
                  <a:srgbClr val="16302E"/>
                </a:solidFill>
                <a:latin typeface="Calibri" pitchFamily="34" charset="0"/>
                <a:ea typeface="Calibri" pitchFamily="34" charset="-122"/>
                <a:cs typeface="Calibri" pitchFamily="34" charset="-120"/>
              </a:rPr>
              <a:t>4</a:t>
            </a:r>
            <a:endParaRPr lang="en-US" sz="2200" dirty="0"/>
          </a:p>
        </p:txBody>
      </p:sp>
      <p:sp>
        <p:nvSpPr>
          <p:cNvPr id="12" name="Practice step 314"/>
          <p:cNvSpPr txBox="1"/>
          <p:nvPr/>
        </p:nvSpPr>
        <p:spPr>
          <a:xfrm>
            <a:off x="1325880" y="4233672"/>
            <a:ext cx="5074920" cy="731520"/>
          </a:xfrm>
          <a:prstGeom prst="rect">
            <a:avLst/>
          </a:prstGeom>
          <a:noFill/>
          <a:ln/>
        </p:spPr>
        <p:txBody>
          <a:bodyPr wrap="square" lIns="0" tIns="0" rIns="0" bIns="0" rtlCol="0" anchor="ctr"/>
          <a:lstStyle/>
          <a:p>
            <a:pPr indent="0" marL="0">
              <a:buNone/>
            </a:pPr>
            <a:r>
              <a:rPr lang="en-US" sz="2200" dirty="0">
                <a:solidFill>
                  <a:srgbClr val="16302E"/>
                </a:solidFill>
                <a:latin typeface="Calibri" pitchFamily="34" charset="0"/>
                <a:ea typeface="Calibri" pitchFamily="34" charset="-122"/>
                <a:cs typeface="Calibri" pitchFamily="34" charset="-120"/>
              </a:rPr>
              <a:t>Replay a short recording and check together.</a:t>
            </a:r>
            <a:endParaRPr lang="en-US" sz="2200" dirty="0"/>
          </a:p>
        </p:txBody>
      </p:sp>
      <p:sp>
        <p:nvSpPr>
          <p:cNvPr id="13" name="Image frame 315"/>
          <p:cNvSpPr/>
          <p:nvPr/>
        </p:nvSpPr>
        <p:spPr>
          <a:xfrm>
            <a:off x="6739128" y="1618488"/>
            <a:ext cx="4901184" cy="2820924"/>
          </a:xfrm>
          <a:prstGeom prst="roundRect">
            <a:avLst>
              <a:gd name="adj" fmla="val 5835"/>
            </a:avLst>
          </a:prstGeom>
          <a:solidFill>
            <a:srgbClr val="FFFFFF"/>
          </a:solidFill>
          <a:ln w="12700">
            <a:solidFill>
              <a:srgbClr val="D5E5E0"/>
            </a:solidFill>
            <a:prstDash val="solid"/>
          </a:ln>
          <a:effectLst>
            <a:outerShdw sx="100000" sy="100000" kx="0" ky="0" algn="bl" rotWithShape="0" blurRad="101600" dist="25400" dir="5400000">
              <a:srgbClr val="0F3D3A">
                <a:alpha val="10000"/>
              </a:srgbClr>
            </a:outerShdw>
          </a:effectLst>
        </p:spPr>
      </p:sp>
      <p:pic>
        <p:nvPicPr>
          <p:cNvPr id="14" name="Lesson card 3: worked examples 316" descr="Lesson card 3: worked examples">    </p:cNvPr>
          <p:cNvPicPr>
            <a:picLocks noChangeAspect="1"/>
          </p:cNvPicPr>
          <p:nvPr/>
        </p:nvPicPr>
        <p:blipFill>
          <a:blip r:embed="rId1"/>
          <a:stretch>
            <a:fillRect/>
          </a:stretch>
        </p:blipFill>
        <p:spPr>
          <a:xfrm>
            <a:off x="6812280" y="1691640"/>
            <a:ext cx="4754880" cy="2674620"/>
          </a:xfrm>
          <a:prstGeom prst="rect">
            <a:avLst/>
          </a:prstGeom>
        </p:spPr>
      </p:pic>
      <p:sp>
        <p:nvSpPr>
          <p:cNvPr id="15" name="Image caption 317"/>
          <p:cNvSpPr txBox="1"/>
          <p:nvPr/>
        </p:nvSpPr>
        <p:spPr>
          <a:xfrm>
            <a:off x="6812280" y="4494276"/>
            <a:ext cx="4754880" cy="274320"/>
          </a:xfrm>
          <a:prstGeom prst="rect">
            <a:avLst/>
          </a:prstGeom>
          <a:noFill/>
          <a:ln/>
        </p:spPr>
        <p:txBody>
          <a:bodyPr wrap="square" lIns="0" tIns="0" rIns="0" bIns="0" rtlCol="0" anchor="t"/>
          <a:lstStyle/>
          <a:p>
            <a:pPr algn="ctr" indent="0" marL="0">
              <a:buNone/>
            </a:pPr>
            <a:r>
              <a:rPr lang="en-US" sz="1400" i="1" dirty="0">
                <a:solidFill>
                  <a:srgbClr val="5D7774"/>
                </a:solidFill>
                <a:latin typeface="Calibri" pitchFamily="34" charset="0"/>
                <a:ea typeface="Calibri" pitchFamily="34" charset="-122"/>
                <a:cs typeface="Calibri" pitchFamily="34" charset="-120"/>
              </a:rPr>
              <a:t>Lesson card 3: worked examples</a:t>
            </a:r>
            <a:endParaRPr lang="en-US" sz="1400" dirty="0"/>
          </a:p>
        </p:txBody>
      </p:sp>
      <p:sp>
        <p:nvSpPr>
          <p:cNvPr id="16" name="Checklist 318"/>
          <p:cNvSpPr/>
          <p:nvPr/>
        </p:nvSpPr>
        <p:spPr>
          <a:xfrm>
            <a:off x="6629400" y="4892040"/>
            <a:ext cx="5010912" cy="1097280"/>
          </a:xfrm>
          <a:prstGeom prst="roundRect">
            <a:avLst>
              <a:gd name="adj" fmla="val 15000"/>
            </a:avLst>
          </a:prstGeom>
          <a:solidFill>
            <a:srgbClr val="E2F0EC"/>
          </a:solidFill>
          <a:ln>
            <a:solidFill>
              <a:srgbClr val="E2F0EC"/>
            </a:solidFill>
          </a:ln>
        </p:spPr>
        <p:txBody>
          <a:bodyPr wrap="square" lIns="228600" tIns="76200" rIns="228600" bIns="76200" rtlCol="0" anchor="ctr"/>
          <a:lstStyle/>
          <a:p>
            <a:pPr indent="0" marL="0">
              <a:buNone/>
            </a:pPr>
            <a:r>
              <a:rPr lang="en-US" sz="1800" b="1" dirty="0">
                <a:solidFill>
                  <a:srgbClr val="0F5148"/>
                </a:solidFill>
                <a:latin typeface="Calibri" pitchFamily="34" charset="0"/>
                <a:ea typeface="Calibri" pitchFamily="34" charset="-122"/>
                <a:cs typeface="Calibri" pitchFamily="34" charset="-120"/>
              </a:rPr>
              <a:t>Before moving on</a:t>
            </a:r>
            <a:endParaRPr lang="en-US" sz="1800" dirty="0"/>
          </a:p>
          <a:p>
            <a:pPr indent="0" marL="0">
              <a:buNone/>
            </a:pPr>
            <a:r>
              <a:rPr lang="en-US" sz="1800" dirty="0">
                <a:solidFill>
                  <a:srgbClr val="16302E"/>
                </a:solidFill>
                <a:latin typeface="Calibri" pitchFamily="34" charset="0"/>
                <a:ea typeface="Calibri" pitchFamily="34" charset="-122"/>
                <a:cs typeface="Calibri" pitchFamily="34" charset="-120"/>
              </a:rPr>
              <a:t>Found the target? No added vowel? Can you explain the timing?</a:t>
            </a:r>
            <a:endParaRPr lang="en-US" sz="1800" dirty="0"/>
          </a:p>
        </p:txBody>
      </p:sp>
      <p:sp>
        <p:nvSpPr>
          <p:cNvPr id="17" name="Nav Home 319 LINK:title">
            <a:hlinkClick r:id="rIdJump1" action="ppaction://hlinksldjump"/>
          </p:cNvPr>
          <p:cNvSpPr/>
          <p:nvPr/>
        </p:nvSpPr>
        <p:spPr>
          <a:xfrm>
            <a:off x="548640" y="6236208"/>
            <a:ext cx="1234440" cy="420624"/>
          </a:xfrm>
          <a:prstGeom prst="roundRect">
            <a:avLst>
              <a:gd name="adj" fmla="val 47826"/>
            </a:avLst>
          </a:prstGeom>
          <a:solidFill>
            <a:srgbClr val="16302E"/>
          </a:solidFill>
          <a:ln>
            <a:solidFill>
              <a:srgbClr val="16302E"/>
            </a:solidFill>
          </a:ln>
        </p:spPr>
        <p:txBody>
          <a:bodyPr wrap="square" lIns="365760" tIns="0" rIns="9144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Home</a:t>
            </a:r>
            <a:endParaRPr lang="en-US" sz="1500" dirty="0"/>
          </a:p>
        </p:txBody>
      </p:sp>
      <p:pic>
        <p:nvPicPr>
          <p:cNvPr id="18" name="Button icon 320 LINK:title" descr="preencoded.png">
            <a:hlinkClick r:id="rIdJump2" action="ppaction://hlinksldjump"/>
          </p:cNvPr>
          <p:cNvPicPr>
            <a:picLocks noChangeAspect="1"/>
          </p:cNvPicPr>
          <p:nvPr/>
        </p:nvPicPr>
        <p:blipFill>
          <a:blip r:embed="rId2"/>
          <a:stretch>
            <a:fillRect/>
          </a:stretch>
        </p:blipFill>
        <p:spPr>
          <a:xfrm>
            <a:off x="749808" y="6336792"/>
            <a:ext cx="219456" cy="219456"/>
          </a:xfrm>
          <a:prstGeom prst="rect">
            <a:avLst/>
          </a:prstGeom>
        </p:spPr>
      </p:pic>
      <p:sp>
        <p:nvSpPr>
          <p:cNvPr id="19" name="Nav Menu 321 LINK:menu">
            <a:hlinkClick r:id="rIdJump3" action="ppaction://hlinksldjump"/>
          </p:cNvPr>
          <p:cNvSpPr/>
          <p:nvPr/>
        </p:nvSpPr>
        <p:spPr>
          <a:xfrm>
            <a:off x="1901952" y="6236208"/>
            <a:ext cx="1005840" cy="420624"/>
          </a:xfrm>
          <a:prstGeom prst="roundRect">
            <a:avLst>
              <a:gd name="adj" fmla="val 47826"/>
            </a:avLst>
          </a:prstGeom>
          <a:solidFill>
            <a:srgbClr val="FFFFFF"/>
          </a:solidFill>
          <a:ln w="19050">
            <a:solidFill>
              <a:srgbClr val="16302E"/>
            </a:solidFill>
          </a:ln>
        </p:spPr>
        <p:txBody>
          <a:bodyPr wrap="square" lIns="109728" tIns="0" rIns="109728" bIns="0" rtlCol="0" anchor="ctr"/>
          <a:lstStyle/>
          <a:p>
            <a:pPr algn="ctr" indent="0" marL="0">
              <a:buNone/>
            </a:pPr>
            <a:r>
              <a:rPr lang="en-US" sz="1500" b="1" dirty="0">
                <a:solidFill>
                  <a:srgbClr val="16302E"/>
                </a:solidFill>
                <a:latin typeface="Calibri" pitchFamily="34" charset="0"/>
                <a:ea typeface="Calibri" pitchFamily="34" charset="-122"/>
                <a:cs typeface="Calibri" pitchFamily="34" charset="-120"/>
              </a:rPr>
              <a:t>Menu</a:t>
            </a:r>
            <a:endParaRPr lang="en-US" sz="1500" dirty="0"/>
          </a:p>
        </p:txBody>
      </p:sp>
      <p:sp>
        <p:nvSpPr>
          <p:cNvPr id="20" name="Slide counter 322"/>
          <p:cNvSpPr txBox="1"/>
          <p:nvPr/>
        </p:nvSpPr>
        <p:spPr>
          <a:xfrm>
            <a:off x="5184648" y="6236208"/>
            <a:ext cx="1828800" cy="420624"/>
          </a:xfrm>
          <a:prstGeom prst="rect">
            <a:avLst/>
          </a:prstGeom>
          <a:noFill/>
          <a:ln/>
        </p:spPr>
        <p:txBody>
          <a:bodyPr wrap="square" lIns="0" tIns="0" rIns="0" bIns="0" rtlCol="0" anchor="ctr"/>
          <a:lstStyle/>
          <a:p>
            <a:pPr algn="ctr" indent="0" marL="0">
              <a:buNone/>
            </a:pPr>
            <a:r>
              <a:rPr lang="en-US" sz="1400" dirty="0">
                <a:solidFill>
                  <a:srgbClr val="5D7774"/>
                </a:solidFill>
                <a:latin typeface="Calibri" pitchFamily="34" charset="0"/>
                <a:ea typeface="Calibri" pitchFamily="34" charset="-122"/>
                <a:cs typeface="Calibri" pitchFamily="34" charset="-120"/>
              </a:rPr>
              <a:t>12 / 18</a:t>
            </a:r>
            <a:endParaRPr lang="en-US" sz="1400" dirty="0"/>
          </a:p>
        </p:txBody>
      </p:sp>
      <p:sp>
        <p:nvSpPr>
          <p:cNvPr id="21" name="Nav Back 323 LINK:mistakes">
            <a:hlinkClick r:id="rIdJump4" action="ppaction://hlinksldjump"/>
          </p:cNvPr>
          <p:cNvSpPr/>
          <p:nvPr/>
        </p:nvSpPr>
        <p:spPr>
          <a:xfrm>
            <a:off x="9052560" y="6236208"/>
            <a:ext cx="1234440" cy="420624"/>
          </a:xfrm>
          <a:prstGeom prst="roundRect">
            <a:avLst>
              <a:gd name="adj" fmla="val 47826"/>
            </a:avLst>
          </a:prstGeom>
          <a:solidFill>
            <a:srgbClr val="FFFFFF"/>
          </a:solidFill>
          <a:ln w="19050">
            <a:solidFill>
              <a:srgbClr val="1D7A6E"/>
            </a:solidFill>
          </a:ln>
        </p:spPr>
        <p:txBody>
          <a:bodyPr wrap="square" lIns="109728" tIns="0" rIns="109728" bIns="0" rtlCol="0" anchor="ctr"/>
          <a:lstStyle/>
          <a:p>
            <a:pPr algn="ctr" indent="0" marL="0">
              <a:buNone/>
            </a:pPr>
            <a:r>
              <a:rPr lang="en-US" sz="1500" b="1" dirty="0">
                <a:solidFill>
                  <a:srgbClr val="1D7A6E"/>
                </a:solidFill>
                <a:latin typeface="Calibri" pitchFamily="34" charset="0"/>
                <a:ea typeface="Calibri" pitchFamily="34" charset="-122"/>
                <a:cs typeface="Calibri" pitchFamily="34" charset="-120"/>
              </a:rPr>
              <a:t>‹  Back</a:t>
            </a:r>
            <a:endParaRPr lang="en-US" sz="1500" dirty="0"/>
          </a:p>
        </p:txBody>
      </p:sp>
      <p:sp>
        <p:nvSpPr>
          <p:cNvPr id="22" name="Nav Next 324 LINK:act1">
            <a:hlinkClick r:id="rIdJump5" action="ppaction://hlinksldjump"/>
          </p:cNvPr>
          <p:cNvSpPr/>
          <p:nvPr/>
        </p:nvSpPr>
        <p:spPr>
          <a:xfrm>
            <a:off x="10405872" y="6236208"/>
            <a:ext cx="1234440" cy="420624"/>
          </a:xfrm>
          <a:prstGeom prst="roundRect">
            <a:avLst>
              <a:gd name="adj" fmla="val 47826"/>
            </a:avLst>
          </a:prstGeom>
          <a:solidFill>
            <a:srgbClr val="1D7A6E"/>
          </a:solidFill>
          <a:ln>
            <a:solidFill>
              <a:srgbClr val="1D7A6E"/>
            </a:solidFill>
          </a:ln>
        </p:spPr>
        <p:txBody>
          <a:bodyPr wrap="square" lIns="109728" tIns="0" rIns="109728"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Next  ›</a:t>
            </a:r>
            <a:endParaRPr lang="en-US" sz="1500" dirty="0"/>
          </a:p>
        </p:txBody>
      </p:sp>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Kicker 325"/>
          <p:cNvSpPr txBox="1"/>
          <p:nvPr/>
        </p:nvSpPr>
        <p:spPr>
          <a:xfrm>
            <a:off x="548640" y="329184"/>
            <a:ext cx="7315200" cy="292608"/>
          </a:xfrm>
          <a:prstGeom prst="rect">
            <a:avLst/>
          </a:prstGeom>
          <a:noFill/>
          <a:ln/>
        </p:spPr>
        <p:txBody>
          <a:bodyPr wrap="square" lIns="0" tIns="0" rIns="0" bIns="0" rtlCol="0" anchor="t"/>
          <a:lstStyle/>
          <a:p>
            <a:pPr indent="0" marL="0">
              <a:buNone/>
            </a:pPr>
            <a:r>
              <a:rPr lang="en-US" sz="1400" b="1" spc="300" kern="0" dirty="0">
                <a:solidFill>
                  <a:srgbClr val="1D7A6E"/>
                </a:solidFill>
                <a:latin typeface="Calibri" pitchFamily="34" charset="0"/>
                <a:ea typeface="Calibri" pitchFamily="34" charset="-122"/>
                <a:cs typeface="Calibri" pitchFamily="34" charset="-120"/>
              </a:rPr>
              <a:t>ACTIVITY 1  ·  FIND THE RULE</a:t>
            </a:r>
            <a:endParaRPr lang="en-US" sz="1400" dirty="0"/>
          </a:p>
        </p:txBody>
      </p:sp>
      <p:sp>
        <p:nvSpPr>
          <p:cNvPr id="3" name="Text 0"/>
          <p:cNvSpPr/>
          <p:nvPr>
            <p:ph idx="100" type="title" hasCustomPrompt="1"/>
          </p:nvPr>
        </p:nvSpPr>
        <p:spPr>
          <a:xfrm>
            <a:off x="548640" y="658368"/>
            <a:ext cx="9052560" cy="731520"/>
          </a:xfrm>
          <a:prstGeom prst="rect">
            <a:avLst/>
          </a:prstGeom>
          <a:noFill/>
          <a:ln/>
        </p:spPr>
        <p:txBody>
          <a:bodyPr wrap="square" lIns="0" tIns="0" rIns="0" bIns="0" rtlCol="0" anchor="t"/>
          <a:lstStyle/>
          <a:p>
            <a:pPr algn="l" indent="0" marL="0">
              <a:buNone/>
            </a:pPr>
            <a:r>
              <a:rPr lang="en-US" sz="3600" b="1" dirty="0">
                <a:solidFill>
                  <a:srgbClr val="16302E"/>
                </a:solidFill>
                <a:latin typeface="Calibri" pitchFamily="34" charset="0"/>
                <a:ea typeface="Calibri" pitchFamily="34" charset="-122"/>
                <a:cs typeface="Calibri" pitchFamily="34" charset="-120"/>
              </a:rPr>
              <a:t>How many doubled noons?</a:t>
            </a:r>
            <a:endParaRPr lang="en-US" sz="3600" dirty="0"/>
          </a:p>
        </p:txBody>
      </p:sp>
      <p:sp>
        <p:nvSpPr>
          <p:cNvPr id="4" name="Route chip 326"/>
          <p:cNvSpPr/>
          <p:nvPr/>
        </p:nvSpPr>
        <p:spPr>
          <a:xfrm>
            <a:off x="10012680" y="365760"/>
            <a:ext cx="1627632" cy="384048"/>
          </a:xfrm>
          <a:prstGeom prst="roundRect">
            <a:avLst>
              <a:gd name="adj" fmla="val 47619"/>
            </a:avLst>
          </a:prstGeom>
          <a:solidFill>
            <a:srgbClr val="F2B134"/>
          </a:solidFill>
          <a:ln>
            <a:solidFill>
              <a:srgbClr val="F2B134"/>
            </a:solidFill>
          </a:ln>
        </p:spPr>
        <p:txBody>
          <a:bodyPr wrap="square" lIns="0" tIns="0" rIns="0" bIns="0" rtlCol="0" anchor="ctr"/>
          <a:lstStyle/>
          <a:p>
            <a:pPr algn="ctr" indent="0" marL="0">
              <a:buNone/>
            </a:pPr>
            <a:r>
              <a:rPr lang="en-US" sz="1300" b="1" spc="200" kern="0" dirty="0">
                <a:solidFill>
                  <a:srgbClr val="FFFFFF"/>
                </a:solidFill>
                <a:latin typeface="Calibri" pitchFamily="34" charset="0"/>
                <a:ea typeface="Calibri" pitchFamily="34" charset="-122"/>
                <a:cs typeface="Calibri" pitchFamily="34" charset="-120"/>
              </a:rPr>
              <a:t>CHALLENGE</a:t>
            </a:r>
            <a:endParaRPr lang="en-US" sz="1300" dirty="0"/>
          </a:p>
        </p:txBody>
      </p:sp>
      <p:sp>
        <p:nvSpPr>
          <p:cNvPr id="5" name="Question 327"/>
          <p:cNvSpPr txBox="1"/>
          <p:nvPr/>
        </p:nvSpPr>
        <p:spPr>
          <a:xfrm>
            <a:off x="548640" y="1536192"/>
            <a:ext cx="11094415" cy="868680"/>
          </a:xfrm>
          <a:prstGeom prst="rect">
            <a:avLst/>
          </a:prstGeom>
          <a:noFill/>
          <a:ln/>
        </p:spPr>
        <p:txBody>
          <a:bodyPr wrap="square" lIns="0" tIns="0" rIns="0" bIns="0" rtlCol="0" anchor="t"/>
          <a:lstStyle/>
          <a:p>
            <a:pPr indent="0" marL="0">
              <a:buNone/>
            </a:pPr>
            <a:r>
              <a:rPr lang="en-US" sz="2600" dirty="0">
                <a:solidFill>
                  <a:srgbClr val="16302E"/>
                </a:solidFill>
                <a:latin typeface="Calibri" pitchFamily="34" charset="0"/>
                <a:ea typeface="Calibri" pitchFamily="34" charset="-122"/>
                <a:cs typeface="Calibri" pitchFamily="34" charset="-120"/>
              </a:rPr>
              <a:t>Look carefully at Example 1. How many noons carry a shaddah?</a:t>
            </a:r>
            <a:endParaRPr lang="en-US" sz="2600" dirty="0"/>
          </a:p>
        </p:txBody>
      </p:sp>
      <p:sp>
        <p:nvSpPr>
          <p:cNvPr id="6" name="Verse panel 328"/>
          <p:cNvSpPr/>
          <p:nvPr/>
        </p:nvSpPr>
        <p:spPr>
          <a:xfrm>
            <a:off x="548640" y="2487168"/>
            <a:ext cx="11094415" cy="1508760"/>
          </a:xfrm>
          <a:prstGeom prst="roundRect">
            <a:avLst>
              <a:gd name="adj" fmla="val 10909"/>
            </a:avLst>
          </a:prstGeom>
          <a:solidFill>
            <a:srgbClr val="FFFFFF"/>
          </a:solidFill>
          <a:ln w="12700">
            <a:solidFill>
              <a:srgbClr val="D5E5E0"/>
            </a:solidFill>
            <a:prstDash val="solid"/>
          </a:ln>
          <a:effectLst>
            <a:outerShdw sx="100000" sy="100000" kx="0" ky="0" algn="bl" rotWithShape="0" blurRad="101600" dist="25400" dir="5400000">
              <a:srgbClr val="0F3D3A">
                <a:alpha val="10000"/>
              </a:srgbClr>
            </a:outerShdw>
          </a:effectLst>
        </p:spPr>
      </p:sp>
      <p:sp>
        <p:nvSpPr>
          <p:cNvPr id="7" name="Verse excerpt 329"/>
          <p:cNvSpPr txBox="1"/>
          <p:nvPr/>
        </p:nvSpPr>
        <p:spPr>
          <a:xfrm>
            <a:off x="822960" y="2606040"/>
            <a:ext cx="10545775" cy="1298448"/>
          </a:xfrm>
          <a:prstGeom prst="rect">
            <a:avLst/>
          </a:prstGeom>
          <a:noFill/>
          <a:ln/>
        </p:spPr>
        <p:txBody>
          <a:bodyPr wrap="square" lIns="0" tIns="0" rIns="0" bIns="0" rtlCol="0" anchor="ctr"/>
          <a:lstStyle/>
          <a:p>
            <a:pPr algn="ctr" indent="0" marL="0">
              <a:buNone/>
            </a:pPr>
            <a:r>
              <a:rPr lang="ar-SA" altLang="en-US" sz="6000" dirty="0">
                <a:solidFill>
                  <a:srgbClr val="16302E"/>
                </a:solidFill>
                <a:latin typeface="Traditional Arabic" pitchFamily="34" charset="0"/>
                <a:ea typeface="Traditional Arabic" pitchFamily="34" charset="-122"/>
                <a:cs typeface="Traditional Arabic" pitchFamily="34" charset="-120"/>
              </a:rPr>
              <a:t>مِنَ </a:t>
            </a:r>
            <a:pPr algn="ctr" indent="0" marL="0">
              <a:buNone/>
            </a:pPr>
            <a:r>
              <a:rPr lang="ar-SA" altLang="en-US" sz="6000" dirty="0">
                <a:solidFill>
                  <a:srgbClr val="16302E"/>
                </a:solidFill>
                <a:latin typeface="Traditional Arabic" pitchFamily="34" charset="0"/>
                <a:ea typeface="Traditional Arabic" pitchFamily="34" charset="-122"/>
                <a:cs typeface="Traditional Arabic" pitchFamily="34" charset="-120"/>
              </a:rPr>
              <a:t>ٱلْجِنَّةِ</a:t>
            </a:r>
            <a:pPr algn="ctr" indent="0" marL="0">
              <a:buNone/>
            </a:pPr>
            <a:r>
              <a:rPr lang="ar-SA" altLang="en-US" sz="6000" dirty="0">
                <a:solidFill>
                  <a:srgbClr val="16302E"/>
                </a:solidFill>
                <a:latin typeface="Traditional Arabic" pitchFamily="34" charset="0"/>
                <a:ea typeface="Traditional Arabic" pitchFamily="34" charset="-122"/>
                <a:cs typeface="Traditional Arabic" pitchFamily="34" charset="-120"/>
              </a:rPr>
              <a:t> وَ</a:t>
            </a:r>
            <a:pPr algn="ctr" indent="0" marL="0">
              <a:buNone/>
            </a:pPr>
            <a:r>
              <a:rPr lang="ar-SA" altLang="en-US" sz="6000" dirty="0">
                <a:solidFill>
                  <a:srgbClr val="16302E"/>
                </a:solidFill>
                <a:latin typeface="Traditional Arabic" pitchFamily="34" charset="0"/>
                <a:ea typeface="Traditional Arabic" pitchFamily="34" charset="-122"/>
                <a:cs typeface="Traditional Arabic" pitchFamily="34" charset="-120"/>
              </a:rPr>
              <a:t>ٱلنَّاسِ</a:t>
            </a:r>
            <a:endParaRPr lang="ar-SA" sz="6000" dirty="0"/>
          </a:p>
        </p:txBody>
      </p:sp>
      <p:sp>
        <p:nvSpPr>
          <p:cNvPr id="8" name="Verse ref 330"/>
          <p:cNvSpPr txBox="1"/>
          <p:nvPr/>
        </p:nvSpPr>
        <p:spPr>
          <a:xfrm>
            <a:off x="777240" y="2578608"/>
            <a:ext cx="1371600" cy="274320"/>
          </a:xfrm>
          <a:prstGeom prst="rect">
            <a:avLst/>
          </a:prstGeom>
          <a:noFill/>
          <a:ln/>
        </p:spPr>
        <p:txBody>
          <a:bodyPr wrap="square" lIns="0" tIns="0" rIns="0" bIns="0" rtlCol="0" anchor="t"/>
          <a:lstStyle/>
          <a:p>
            <a:pPr indent="0" marL="0">
              <a:buNone/>
            </a:pPr>
            <a:r>
              <a:rPr lang="en-US" sz="1400" b="1" dirty="0">
                <a:solidFill>
                  <a:srgbClr val="5D7774"/>
                </a:solidFill>
                <a:latin typeface="Calibri" pitchFamily="34" charset="0"/>
                <a:ea typeface="Calibri" pitchFamily="34" charset="-122"/>
                <a:cs typeface="Calibri" pitchFamily="34" charset="-120"/>
              </a:rPr>
              <a:t>114:6</a:t>
            </a:r>
            <a:endParaRPr lang="en-US" sz="1400" dirty="0"/>
          </a:p>
        </p:txBody>
      </p:sp>
      <p:sp>
        <p:nvSpPr>
          <p:cNvPr id="9" name="Choice A 331 LINK:act1_1">
            <a:hlinkClick r:id="rIdJump1" action="ppaction://hlinksldjump"/>
          </p:cNvPr>
          <p:cNvSpPr/>
          <p:nvPr/>
        </p:nvSpPr>
        <p:spPr>
          <a:xfrm>
            <a:off x="548640" y="4160520"/>
            <a:ext cx="3515258" cy="1783080"/>
          </a:xfrm>
          <a:prstGeom prst="roundRect">
            <a:avLst>
              <a:gd name="adj" fmla="val 11282"/>
            </a:avLst>
          </a:prstGeom>
          <a:solidFill>
            <a:srgbClr val="FFFFFF"/>
          </a:solidFill>
          <a:ln w="19050">
            <a:solidFill>
              <a:srgbClr val="1D7A6E"/>
            </a:solidFill>
          </a:ln>
          <a:effectLst>
            <a:outerShdw sx="100000" sy="100000" kx="0" ky="0" algn="bl" rotWithShape="0" blurRad="50800" dist="25400" dir="5400000">
              <a:srgbClr val="0F3D3A">
                <a:alpha val="18000"/>
              </a:srgbClr>
            </a:outerShdw>
          </a:effectLst>
        </p:spPr>
        <p:txBody>
          <a:bodyPr wrap="square" lIns="868680" tIns="91440" rIns="274320" bIns="91440" rtlCol="0" anchor="ctr"/>
          <a:lstStyle/>
          <a:p>
            <a:pPr algn="l" indent="0" marL="0">
              <a:buNone/>
            </a:pPr>
            <a:r>
              <a:rPr lang="en-US" sz="2600" b="1" dirty="0">
                <a:solidFill>
                  <a:srgbClr val="16302E"/>
                </a:solidFill>
                <a:latin typeface="Calibri" pitchFamily="34" charset="0"/>
                <a:ea typeface="Calibri" pitchFamily="34" charset="-122"/>
                <a:cs typeface="Calibri" pitchFamily="34" charset="-120"/>
              </a:rPr>
              <a:t>One</a:t>
            </a:r>
            <a:endParaRPr lang="en-US" sz="2600" dirty="0"/>
          </a:p>
        </p:txBody>
      </p:sp>
      <p:sp>
        <p:nvSpPr>
          <p:cNvPr id="10" name="Choice letter 332 LINK:act1_1">
            <a:hlinkClick r:id="rIdJump2" action="ppaction://hlinksldjump"/>
          </p:cNvPr>
          <p:cNvSpPr/>
          <p:nvPr/>
        </p:nvSpPr>
        <p:spPr>
          <a:xfrm>
            <a:off x="713232" y="4786884"/>
            <a:ext cx="530352" cy="530352"/>
          </a:xfrm>
          <a:prstGeom prst="ellipse">
            <a:avLst/>
          </a:prstGeom>
          <a:solidFill>
            <a:srgbClr val="1D7A6E"/>
          </a:solidFill>
          <a:ln>
            <a:solidFill>
              <a:srgbClr val="1D7A6E"/>
            </a:solid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a:t>
            </a:r>
            <a:endParaRPr lang="en-US" sz="2000" dirty="0"/>
          </a:p>
        </p:txBody>
      </p:sp>
      <p:sp>
        <p:nvSpPr>
          <p:cNvPr id="11" name="Choice B 333 LINK:act1_ok">
            <a:hlinkClick r:id="rIdJump3" action="ppaction://hlinksldjump"/>
          </p:cNvPr>
          <p:cNvSpPr/>
          <p:nvPr/>
        </p:nvSpPr>
        <p:spPr>
          <a:xfrm>
            <a:off x="4338218" y="4160520"/>
            <a:ext cx="3515258" cy="1783080"/>
          </a:xfrm>
          <a:prstGeom prst="roundRect">
            <a:avLst>
              <a:gd name="adj" fmla="val 11282"/>
            </a:avLst>
          </a:prstGeom>
          <a:solidFill>
            <a:srgbClr val="FFFFFF"/>
          </a:solidFill>
          <a:ln w="19050">
            <a:solidFill>
              <a:srgbClr val="1D7A6E"/>
            </a:solidFill>
          </a:ln>
          <a:effectLst>
            <a:outerShdw sx="100000" sy="100000" kx="0" ky="0" algn="bl" rotWithShape="0" blurRad="50800" dist="25400" dir="5400000">
              <a:srgbClr val="0F3D3A">
                <a:alpha val="18000"/>
              </a:srgbClr>
            </a:outerShdw>
          </a:effectLst>
        </p:spPr>
        <p:txBody>
          <a:bodyPr wrap="square" lIns="868680" tIns="91440" rIns="274320" bIns="91440" rtlCol="0" anchor="ctr"/>
          <a:lstStyle/>
          <a:p>
            <a:pPr algn="l" indent="0" marL="0">
              <a:buNone/>
            </a:pPr>
            <a:r>
              <a:rPr lang="en-US" sz="2600" b="1" dirty="0">
                <a:solidFill>
                  <a:srgbClr val="16302E"/>
                </a:solidFill>
                <a:latin typeface="Calibri" pitchFamily="34" charset="0"/>
                <a:ea typeface="Calibri" pitchFamily="34" charset="-122"/>
                <a:cs typeface="Calibri" pitchFamily="34" charset="-120"/>
              </a:rPr>
              <a:t>Two</a:t>
            </a:r>
            <a:endParaRPr lang="en-US" sz="2600" dirty="0"/>
          </a:p>
        </p:txBody>
      </p:sp>
      <p:sp>
        <p:nvSpPr>
          <p:cNvPr id="12" name="Choice letter 334 LINK:act1_ok">
            <a:hlinkClick r:id="rIdJump4" action="ppaction://hlinksldjump"/>
          </p:cNvPr>
          <p:cNvSpPr/>
          <p:nvPr/>
        </p:nvSpPr>
        <p:spPr>
          <a:xfrm>
            <a:off x="4502810" y="4786884"/>
            <a:ext cx="530352" cy="530352"/>
          </a:xfrm>
          <a:prstGeom prst="ellipse">
            <a:avLst/>
          </a:prstGeom>
          <a:solidFill>
            <a:srgbClr val="1D7A6E"/>
          </a:solidFill>
          <a:ln>
            <a:solidFill>
              <a:srgbClr val="1D7A6E"/>
            </a:solid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3" name="Choice C 335 LINK:act1_3">
            <a:hlinkClick r:id="rIdJump5" action="ppaction://hlinksldjump"/>
          </p:cNvPr>
          <p:cNvSpPr/>
          <p:nvPr/>
        </p:nvSpPr>
        <p:spPr>
          <a:xfrm>
            <a:off x="8127797" y="4160520"/>
            <a:ext cx="3515258" cy="1783080"/>
          </a:xfrm>
          <a:prstGeom prst="roundRect">
            <a:avLst>
              <a:gd name="adj" fmla="val 11282"/>
            </a:avLst>
          </a:prstGeom>
          <a:solidFill>
            <a:srgbClr val="FFFFFF"/>
          </a:solidFill>
          <a:ln w="19050">
            <a:solidFill>
              <a:srgbClr val="1D7A6E"/>
            </a:solidFill>
          </a:ln>
          <a:effectLst>
            <a:outerShdw sx="100000" sy="100000" kx="0" ky="0" algn="bl" rotWithShape="0" blurRad="50800" dist="25400" dir="5400000">
              <a:srgbClr val="0F3D3A">
                <a:alpha val="18000"/>
              </a:srgbClr>
            </a:outerShdw>
          </a:effectLst>
        </p:spPr>
        <p:txBody>
          <a:bodyPr wrap="square" lIns="868680" tIns="91440" rIns="274320" bIns="91440" rtlCol="0" anchor="ctr"/>
          <a:lstStyle/>
          <a:p>
            <a:pPr algn="l" indent="0" marL="0">
              <a:buNone/>
            </a:pPr>
            <a:r>
              <a:rPr lang="en-US" sz="2600" b="1" dirty="0">
                <a:solidFill>
                  <a:srgbClr val="16302E"/>
                </a:solidFill>
                <a:latin typeface="Calibri" pitchFamily="34" charset="0"/>
                <a:ea typeface="Calibri" pitchFamily="34" charset="-122"/>
                <a:cs typeface="Calibri" pitchFamily="34" charset="-120"/>
              </a:rPr>
              <a:t>Three</a:t>
            </a:r>
            <a:endParaRPr lang="en-US" sz="2600" dirty="0"/>
          </a:p>
        </p:txBody>
      </p:sp>
      <p:sp>
        <p:nvSpPr>
          <p:cNvPr id="14" name="Choice letter 336 LINK:act1_3">
            <a:hlinkClick r:id="rIdJump6" action="ppaction://hlinksldjump"/>
          </p:cNvPr>
          <p:cNvSpPr/>
          <p:nvPr/>
        </p:nvSpPr>
        <p:spPr>
          <a:xfrm>
            <a:off x="8292389" y="4786884"/>
            <a:ext cx="530352" cy="530352"/>
          </a:xfrm>
          <a:prstGeom prst="ellipse">
            <a:avLst/>
          </a:prstGeom>
          <a:solidFill>
            <a:srgbClr val="1D7A6E"/>
          </a:solidFill>
          <a:ln>
            <a:solidFill>
              <a:srgbClr val="1D7A6E"/>
            </a:solid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C</a:t>
            </a:r>
            <a:endParaRPr lang="en-US" sz="2000" dirty="0"/>
          </a:p>
        </p:txBody>
      </p:sp>
      <p:sp>
        <p:nvSpPr>
          <p:cNvPr id="15" name="Nav Home 337 LINK:title">
            <a:hlinkClick r:id="rIdJump7" action="ppaction://hlinksldjump"/>
          </p:cNvPr>
          <p:cNvSpPr/>
          <p:nvPr/>
        </p:nvSpPr>
        <p:spPr>
          <a:xfrm>
            <a:off x="548640" y="6236208"/>
            <a:ext cx="1234440" cy="420624"/>
          </a:xfrm>
          <a:prstGeom prst="roundRect">
            <a:avLst>
              <a:gd name="adj" fmla="val 47826"/>
            </a:avLst>
          </a:prstGeom>
          <a:solidFill>
            <a:srgbClr val="16302E"/>
          </a:solidFill>
          <a:ln>
            <a:solidFill>
              <a:srgbClr val="16302E"/>
            </a:solidFill>
          </a:ln>
        </p:spPr>
        <p:txBody>
          <a:bodyPr wrap="square" lIns="365760" tIns="0" rIns="9144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Home</a:t>
            </a:r>
            <a:endParaRPr lang="en-US" sz="1500" dirty="0"/>
          </a:p>
        </p:txBody>
      </p:sp>
      <p:pic>
        <p:nvPicPr>
          <p:cNvPr id="16" name="Button icon 338 LINK:title" descr="preencoded.png">
            <a:hlinkClick r:id="rIdJump8" action="ppaction://hlinksldjump"/>
          </p:cNvPr>
          <p:cNvPicPr>
            <a:picLocks noChangeAspect="1"/>
          </p:cNvPicPr>
          <p:nvPr/>
        </p:nvPicPr>
        <p:blipFill>
          <a:blip r:embed="rId1"/>
          <a:stretch>
            <a:fillRect/>
          </a:stretch>
        </p:blipFill>
        <p:spPr>
          <a:xfrm>
            <a:off x="749808" y="6336792"/>
            <a:ext cx="219456" cy="219456"/>
          </a:xfrm>
          <a:prstGeom prst="rect">
            <a:avLst/>
          </a:prstGeom>
        </p:spPr>
      </p:pic>
      <p:sp>
        <p:nvSpPr>
          <p:cNvPr id="17" name="Nav Menu 339 LINK:menu">
            <a:hlinkClick r:id="rIdJump9" action="ppaction://hlinksldjump"/>
          </p:cNvPr>
          <p:cNvSpPr/>
          <p:nvPr/>
        </p:nvSpPr>
        <p:spPr>
          <a:xfrm>
            <a:off x="1901952" y="6236208"/>
            <a:ext cx="1005840" cy="420624"/>
          </a:xfrm>
          <a:prstGeom prst="roundRect">
            <a:avLst>
              <a:gd name="adj" fmla="val 47826"/>
            </a:avLst>
          </a:prstGeom>
          <a:solidFill>
            <a:srgbClr val="FFFFFF"/>
          </a:solidFill>
          <a:ln w="19050">
            <a:solidFill>
              <a:srgbClr val="16302E"/>
            </a:solidFill>
          </a:ln>
        </p:spPr>
        <p:txBody>
          <a:bodyPr wrap="square" lIns="109728" tIns="0" rIns="109728" bIns="0" rtlCol="0" anchor="ctr"/>
          <a:lstStyle/>
          <a:p>
            <a:pPr algn="ctr" indent="0" marL="0">
              <a:buNone/>
            </a:pPr>
            <a:r>
              <a:rPr lang="en-US" sz="1500" b="1" dirty="0">
                <a:solidFill>
                  <a:srgbClr val="16302E"/>
                </a:solidFill>
                <a:latin typeface="Calibri" pitchFamily="34" charset="0"/>
                <a:ea typeface="Calibri" pitchFamily="34" charset="-122"/>
                <a:cs typeface="Calibri" pitchFamily="34" charset="-120"/>
              </a:rPr>
              <a:t>Menu</a:t>
            </a:r>
            <a:endParaRPr lang="en-US" sz="1500" dirty="0"/>
          </a:p>
        </p:txBody>
      </p:sp>
      <p:sp>
        <p:nvSpPr>
          <p:cNvPr id="18" name="Slide counter 340"/>
          <p:cNvSpPr txBox="1"/>
          <p:nvPr/>
        </p:nvSpPr>
        <p:spPr>
          <a:xfrm>
            <a:off x="5184648" y="6236208"/>
            <a:ext cx="1828800" cy="420624"/>
          </a:xfrm>
          <a:prstGeom prst="rect">
            <a:avLst/>
          </a:prstGeom>
          <a:noFill/>
          <a:ln/>
        </p:spPr>
        <p:txBody>
          <a:bodyPr wrap="square" lIns="0" tIns="0" rIns="0" bIns="0" rtlCol="0" anchor="ctr"/>
          <a:lstStyle/>
          <a:p>
            <a:pPr algn="ctr" indent="0" marL="0">
              <a:buNone/>
            </a:pPr>
            <a:r>
              <a:rPr lang="en-US" sz="1400" dirty="0">
                <a:solidFill>
                  <a:srgbClr val="5D7774"/>
                </a:solidFill>
                <a:latin typeface="Calibri" pitchFamily="34" charset="0"/>
                <a:ea typeface="Calibri" pitchFamily="34" charset="-122"/>
                <a:cs typeface="Calibri" pitchFamily="34" charset="-120"/>
              </a:rPr>
              <a:t>13 / 18</a:t>
            </a:r>
            <a:endParaRPr lang="en-US" sz="1400" dirty="0"/>
          </a:p>
        </p:txBody>
      </p:sp>
      <p:sp>
        <p:nvSpPr>
          <p:cNvPr id="19" name="Nav Back 341 LINK:guided">
            <a:hlinkClick r:id="rIdJump10" action="ppaction://hlinksldjump"/>
          </p:cNvPr>
          <p:cNvSpPr/>
          <p:nvPr/>
        </p:nvSpPr>
        <p:spPr>
          <a:xfrm>
            <a:off x="9052560" y="6236208"/>
            <a:ext cx="1234440" cy="420624"/>
          </a:xfrm>
          <a:prstGeom prst="roundRect">
            <a:avLst>
              <a:gd name="adj" fmla="val 47826"/>
            </a:avLst>
          </a:prstGeom>
          <a:solidFill>
            <a:srgbClr val="FFFFFF"/>
          </a:solidFill>
          <a:ln w="19050">
            <a:solidFill>
              <a:srgbClr val="1D7A6E"/>
            </a:solidFill>
          </a:ln>
        </p:spPr>
        <p:txBody>
          <a:bodyPr wrap="square" lIns="109728" tIns="0" rIns="109728" bIns="0" rtlCol="0" anchor="ctr"/>
          <a:lstStyle/>
          <a:p>
            <a:pPr algn="ctr" indent="0" marL="0">
              <a:buNone/>
            </a:pPr>
            <a:r>
              <a:rPr lang="en-US" sz="1500" b="1" dirty="0">
                <a:solidFill>
                  <a:srgbClr val="1D7A6E"/>
                </a:solidFill>
                <a:latin typeface="Calibri" pitchFamily="34" charset="0"/>
                <a:ea typeface="Calibri" pitchFamily="34" charset="-122"/>
                <a:cs typeface="Calibri" pitchFamily="34" charset="-120"/>
              </a:rPr>
              <a:t>‹  Back</a:t>
            </a:r>
            <a:endParaRPr lang="en-US" sz="1500" dirty="0"/>
          </a:p>
        </p:txBody>
      </p:sp>
      <p:sp>
        <p:nvSpPr>
          <p:cNvPr id="20" name="Nav Next 342 LINK:act2">
            <a:hlinkClick r:id="rIdJump11" action="ppaction://hlinksldjump"/>
          </p:cNvPr>
          <p:cNvSpPr/>
          <p:nvPr/>
        </p:nvSpPr>
        <p:spPr>
          <a:xfrm>
            <a:off x="10405872" y="6236208"/>
            <a:ext cx="1234440" cy="420624"/>
          </a:xfrm>
          <a:prstGeom prst="roundRect">
            <a:avLst>
              <a:gd name="adj" fmla="val 47826"/>
            </a:avLst>
          </a:prstGeom>
          <a:solidFill>
            <a:srgbClr val="1D7A6E"/>
          </a:solidFill>
          <a:ln>
            <a:solidFill>
              <a:srgbClr val="1D7A6E"/>
            </a:solidFill>
          </a:ln>
        </p:spPr>
        <p:txBody>
          <a:bodyPr wrap="square" lIns="109728" tIns="0" rIns="109728"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Next  ›</a:t>
            </a:r>
            <a:endParaRPr lang="en-US" sz="1500" dirty="0"/>
          </a:p>
        </p:txBody>
      </p:sp>
    </p:spTree>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show="0">
  <p:cSld name="Slide 15">
    <p:spTree>
      <p:nvGrpSpPr>
        <p:cNvPr id="1" name=""/>
        <p:cNvGrpSpPr/>
        <p:nvPr/>
      </p:nvGrpSpPr>
      <p:grpSpPr>
        <a:xfrm>
          <a:off x="0" y="0"/>
          <a:ext cx="0" cy="0"/>
          <a:chOff x="0" y="0"/>
          <a:chExt cx="0" cy="0"/>
        </a:xfrm>
      </p:grpSpPr>
      <p:sp>
        <p:nvSpPr>
          <p:cNvPr id="2" name="Correct badge circle 343"/>
          <p:cNvSpPr/>
          <p:nvPr/>
        </p:nvSpPr>
        <p:spPr>
          <a:xfrm>
            <a:off x="548640" y="502920"/>
            <a:ext cx="1005840" cy="1005840"/>
          </a:xfrm>
          <a:prstGeom prst="ellipse">
            <a:avLst/>
          </a:prstGeom>
          <a:solidFill>
            <a:srgbClr val="2E9E5B"/>
          </a:solidFill>
          <a:ln w="12700">
            <a:solidFill>
              <a:srgbClr val="2E9E5B"/>
            </a:solidFill>
            <a:prstDash val="solid"/>
          </a:ln>
        </p:spPr>
      </p:sp>
      <p:pic>
        <p:nvPicPr>
          <p:cNvPr id="3" name="Correct badge glyph 344" descr="preencoded.png">    </p:cNvPr>
          <p:cNvPicPr>
            <a:picLocks noChangeAspect="1"/>
          </p:cNvPicPr>
          <p:nvPr/>
        </p:nvPicPr>
        <p:blipFill>
          <a:blip r:embed="rId1"/>
          <a:stretch>
            <a:fillRect/>
          </a:stretch>
        </p:blipFill>
        <p:spPr>
          <a:xfrm>
            <a:off x="800100" y="754380"/>
            <a:ext cx="502920" cy="502920"/>
          </a:xfrm>
          <a:prstGeom prst="rect">
            <a:avLst/>
          </a:prstGeom>
        </p:spPr>
      </p:pic>
      <p:sp>
        <p:nvSpPr>
          <p:cNvPr id="4" name="Feedback title 345"/>
          <p:cNvSpPr txBox="1"/>
          <p:nvPr/>
        </p:nvSpPr>
        <p:spPr>
          <a:xfrm>
            <a:off x="1783080" y="548640"/>
            <a:ext cx="7315200" cy="914400"/>
          </a:xfrm>
          <a:prstGeom prst="rect">
            <a:avLst/>
          </a:prstGeom>
          <a:noFill/>
          <a:ln/>
        </p:spPr>
        <p:txBody>
          <a:bodyPr wrap="square" lIns="0" tIns="0" rIns="0" bIns="0" rtlCol="0" anchor="ctr"/>
          <a:lstStyle/>
          <a:p>
            <a:pPr indent="0" marL="0">
              <a:buNone/>
            </a:pPr>
            <a:r>
              <a:rPr lang="en-US" sz="4400" b="1" dirty="0">
                <a:solidFill>
                  <a:srgbClr val="1E7543"/>
                </a:solidFill>
                <a:latin typeface="Calibri" pitchFamily="34" charset="0"/>
                <a:ea typeface="Calibri" pitchFamily="34" charset="-122"/>
                <a:cs typeface="Calibri" pitchFamily="34" charset="-120"/>
              </a:rPr>
              <a:t>Correct!</a:t>
            </a:r>
            <a:endParaRPr lang="en-US" sz="4400" dirty="0"/>
          </a:p>
        </p:txBody>
      </p:sp>
      <p:pic>
        <p:nvPicPr>
          <p:cNvPr id="5" name="Deco star 0 346" descr="preencoded.png">    </p:cNvPr>
          <p:cNvPicPr>
            <a:picLocks noChangeAspect="1"/>
          </p:cNvPicPr>
          <p:nvPr/>
        </p:nvPicPr>
        <p:blipFill>
          <a:blip r:embed="rId2"/>
          <a:stretch>
            <a:fillRect/>
          </a:stretch>
        </p:blipFill>
        <p:spPr>
          <a:xfrm>
            <a:off x="9692640" y="457200"/>
            <a:ext cx="502920" cy="502920"/>
          </a:xfrm>
          <a:prstGeom prst="rect">
            <a:avLst/>
          </a:prstGeom>
        </p:spPr>
      </p:pic>
      <p:pic>
        <p:nvPicPr>
          <p:cNvPr id="6" name="Deco star 1 347" descr="preencoded.png">    </p:cNvPr>
          <p:cNvPicPr>
            <a:picLocks noChangeAspect="1"/>
          </p:cNvPicPr>
          <p:nvPr/>
        </p:nvPicPr>
        <p:blipFill>
          <a:blip r:embed="rId3"/>
          <a:stretch>
            <a:fillRect/>
          </a:stretch>
        </p:blipFill>
        <p:spPr>
          <a:xfrm>
            <a:off x="10424160" y="868680"/>
            <a:ext cx="347472" cy="347472"/>
          </a:xfrm>
          <a:prstGeom prst="rect">
            <a:avLst/>
          </a:prstGeom>
        </p:spPr>
      </p:pic>
      <p:pic>
        <p:nvPicPr>
          <p:cNvPr id="7" name="Deco star 2 348" descr="preencoded.png">    </p:cNvPr>
          <p:cNvPicPr>
            <a:picLocks noChangeAspect="1"/>
          </p:cNvPicPr>
          <p:nvPr/>
        </p:nvPicPr>
        <p:blipFill>
          <a:blip r:embed="rId4"/>
          <a:stretch>
            <a:fillRect/>
          </a:stretch>
        </p:blipFill>
        <p:spPr>
          <a:xfrm>
            <a:off x="11064240" y="411480"/>
            <a:ext cx="411480" cy="411480"/>
          </a:xfrm>
          <a:prstGeom prst="rect">
            <a:avLst/>
          </a:prstGeom>
        </p:spPr>
      </p:pic>
      <p:pic>
        <p:nvPicPr>
          <p:cNvPr id="8" name="Deco star 3 349" descr="preencoded.png">    </p:cNvPr>
          <p:cNvPicPr>
            <a:picLocks noChangeAspect="1"/>
          </p:cNvPicPr>
          <p:nvPr/>
        </p:nvPicPr>
        <p:blipFill>
          <a:blip r:embed="rId5"/>
          <a:stretch>
            <a:fillRect/>
          </a:stretch>
        </p:blipFill>
        <p:spPr>
          <a:xfrm>
            <a:off x="9052560" y="960120"/>
            <a:ext cx="274320" cy="274320"/>
          </a:xfrm>
          <a:prstGeom prst="rect">
            <a:avLst/>
          </a:prstGeom>
        </p:spPr>
      </p:pic>
      <p:sp>
        <p:nvSpPr>
          <p:cNvPr id="9" name="Verse panel 350"/>
          <p:cNvSpPr/>
          <p:nvPr/>
        </p:nvSpPr>
        <p:spPr>
          <a:xfrm>
            <a:off x="548640" y="1783080"/>
            <a:ext cx="11094415" cy="1371600"/>
          </a:xfrm>
          <a:prstGeom prst="roundRect">
            <a:avLst>
              <a:gd name="adj" fmla="val 12000"/>
            </a:avLst>
          </a:prstGeom>
          <a:solidFill>
            <a:srgbClr val="FFFFFF"/>
          </a:solidFill>
          <a:ln w="12700">
            <a:solidFill>
              <a:srgbClr val="D5E5E0"/>
            </a:solidFill>
            <a:prstDash val="solid"/>
          </a:ln>
          <a:effectLst>
            <a:outerShdw sx="100000" sy="100000" kx="0" ky="0" algn="bl" rotWithShape="0" blurRad="101600" dist="25400" dir="5400000">
              <a:srgbClr val="0F3D3A">
                <a:alpha val="10000"/>
              </a:srgbClr>
            </a:outerShdw>
          </a:effectLst>
        </p:spPr>
      </p:sp>
      <p:sp>
        <p:nvSpPr>
          <p:cNvPr id="10" name="Verse excerpt 351"/>
          <p:cNvSpPr txBox="1"/>
          <p:nvPr/>
        </p:nvSpPr>
        <p:spPr>
          <a:xfrm>
            <a:off x="822960" y="1810512"/>
            <a:ext cx="10545775" cy="1280160"/>
          </a:xfrm>
          <a:prstGeom prst="rect">
            <a:avLst/>
          </a:prstGeom>
          <a:noFill/>
          <a:ln/>
        </p:spPr>
        <p:txBody>
          <a:bodyPr wrap="square" lIns="0" tIns="0" rIns="0" bIns="0" rtlCol="0" anchor="ctr"/>
          <a:lstStyle/>
          <a:p>
            <a:pPr algn="ctr" indent="0" marL="0">
              <a:buNone/>
            </a:pPr>
            <a:r>
              <a:rPr lang="ar-SA" altLang="en-US" sz="6000" dirty="0">
                <a:solidFill>
                  <a:srgbClr val="16302E"/>
                </a:solidFill>
                <a:latin typeface="Traditional Arabic" pitchFamily="34" charset="0"/>
                <a:ea typeface="Traditional Arabic" pitchFamily="34" charset="-122"/>
                <a:cs typeface="Traditional Arabic" pitchFamily="34" charset="-120"/>
              </a:rPr>
              <a:t>مِنَ </a:t>
            </a:r>
            <a:pPr algn="ctr" indent="0" marL="0">
              <a:buNone/>
            </a:pPr>
            <a:r>
              <a:rPr lang="ar-SA" altLang="en-US" sz="6000" dirty="0">
                <a:solidFill>
                  <a:srgbClr val="0F5148"/>
                </a:solidFill>
                <a:highlight>
                  <a:srgbClr val="FFE08A"/>
                </a:highlight>
                <a:latin typeface="Traditional Arabic" pitchFamily="34" charset="0"/>
                <a:ea typeface="Traditional Arabic" pitchFamily="34" charset="-122"/>
                <a:cs typeface="Traditional Arabic" pitchFamily="34" charset="-120"/>
              </a:rPr>
              <a:t>ٱلْجِنَّةِ</a:t>
            </a:r>
            <a:pPr algn="ctr" indent="0" marL="0">
              <a:buNone/>
            </a:pPr>
            <a:r>
              <a:rPr lang="ar-SA" altLang="en-US" sz="6000" dirty="0">
                <a:solidFill>
                  <a:srgbClr val="16302E"/>
                </a:solidFill>
                <a:latin typeface="Traditional Arabic" pitchFamily="34" charset="0"/>
                <a:ea typeface="Traditional Arabic" pitchFamily="34" charset="-122"/>
                <a:cs typeface="Traditional Arabic" pitchFamily="34" charset="-120"/>
              </a:rPr>
              <a:t> وَ</a:t>
            </a:r>
            <a:pPr algn="ctr" indent="0" marL="0">
              <a:buNone/>
            </a:pPr>
            <a:r>
              <a:rPr lang="ar-SA" altLang="en-US" sz="6000" dirty="0">
                <a:solidFill>
                  <a:srgbClr val="0F5148"/>
                </a:solidFill>
                <a:highlight>
                  <a:srgbClr val="FFE08A"/>
                </a:highlight>
                <a:latin typeface="Traditional Arabic" pitchFamily="34" charset="0"/>
                <a:ea typeface="Traditional Arabic" pitchFamily="34" charset="-122"/>
                <a:cs typeface="Traditional Arabic" pitchFamily="34" charset="-120"/>
              </a:rPr>
              <a:t>ٱلنَّاسِ</a:t>
            </a:r>
            <a:endParaRPr lang="ar-SA" sz="6000" dirty="0"/>
          </a:p>
        </p:txBody>
      </p:sp>
      <p:sp>
        <p:nvSpPr>
          <p:cNvPr id="11" name="Explanation 352"/>
          <p:cNvSpPr txBox="1"/>
          <p:nvPr/>
        </p:nvSpPr>
        <p:spPr>
          <a:xfrm>
            <a:off x="548640" y="3383280"/>
            <a:ext cx="11094415" cy="1234440"/>
          </a:xfrm>
          <a:prstGeom prst="rect">
            <a:avLst/>
          </a:prstGeom>
          <a:noFill/>
          <a:ln/>
        </p:spPr>
        <p:txBody>
          <a:bodyPr wrap="square" lIns="0" tIns="0" rIns="0" bIns="0" rtlCol="0" anchor="t"/>
          <a:lstStyle/>
          <a:p>
            <a:pPr indent="0" marL="0">
              <a:buNone/>
            </a:pPr>
            <a:r>
              <a:rPr lang="en-US" sz="2400" dirty="0">
                <a:solidFill>
                  <a:srgbClr val="16302E"/>
                </a:solidFill>
                <a:latin typeface="Calibri" pitchFamily="34" charset="0"/>
                <a:ea typeface="Calibri" pitchFamily="34" charset="-122"/>
                <a:cs typeface="Calibri" pitchFamily="34" charset="-120"/>
              </a:rPr>
              <a:t>Two! The noon in ٱلْجِنَّةِ and the noon in ٱلنَّاسِ both carry a shaddah, so each gets a two-count ghunnah.</a:t>
            </a:r>
            <a:endParaRPr lang="en-US" sz="2400" dirty="0"/>
          </a:p>
        </p:txBody>
      </p:sp>
      <p:sp>
        <p:nvSpPr>
          <p:cNvPr id="12" name="Extra challenge 353"/>
          <p:cNvSpPr/>
          <p:nvPr/>
        </p:nvSpPr>
        <p:spPr>
          <a:xfrm>
            <a:off x="548640" y="4754880"/>
            <a:ext cx="11094415" cy="1143000"/>
          </a:xfrm>
          <a:prstGeom prst="roundRect">
            <a:avLst>
              <a:gd name="adj" fmla="val 14400"/>
            </a:avLst>
          </a:prstGeom>
          <a:solidFill>
            <a:srgbClr val="FDF3DC"/>
          </a:solidFill>
          <a:ln w="12700">
            <a:solidFill>
              <a:srgbClr val="F2B134"/>
            </a:solidFill>
            <a:prstDash val="solid"/>
          </a:ln>
        </p:spPr>
      </p:sp>
      <p:sp>
        <p:nvSpPr>
          <p:cNvPr id="13" name="Extra circle 354"/>
          <p:cNvSpPr/>
          <p:nvPr/>
        </p:nvSpPr>
        <p:spPr>
          <a:xfrm>
            <a:off x="777240" y="5001768"/>
            <a:ext cx="640080" cy="640080"/>
          </a:xfrm>
          <a:prstGeom prst="ellipse">
            <a:avLst/>
          </a:prstGeom>
          <a:solidFill>
            <a:srgbClr val="F2B134"/>
          </a:solidFill>
          <a:ln w="12700">
            <a:solidFill>
              <a:srgbClr val="F2B134"/>
            </a:solidFill>
            <a:prstDash val="solid"/>
          </a:ln>
        </p:spPr>
      </p:sp>
      <p:pic>
        <p:nvPicPr>
          <p:cNvPr id="14" name="Extra glyph 355" descr="preencoded.png">    </p:cNvPr>
          <p:cNvPicPr>
            <a:picLocks noChangeAspect="1"/>
          </p:cNvPicPr>
          <p:nvPr/>
        </p:nvPicPr>
        <p:blipFill>
          <a:blip r:embed="rId6"/>
          <a:stretch>
            <a:fillRect/>
          </a:stretch>
        </p:blipFill>
        <p:spPr>
          <a:xfrm>
            <a:off x="937260" y="5161788"/>
            <a:ext cx="320040" cy="320040"/>
          </a:xfrm>
          <a:prstGeom prst="rect">
            <a:avLst/>
          </a:prstGeom>
        </p:spPr>
      </p:pic>
      <p:sp>
        <p:nvSpPr>
          <p:cNvPr id="15" name="Extra text 356"/>
          <p:cNvSpPr txBox="1"/>
          <p:nvPr/>
        </p:nvSpPr>
        <p:spPr>
          <a:xfrm>
            <a:off x="1600200" y="4828032"/>
            <a:ext cx="9814255" cy="1005840"/>
          </a:xfrm>
          <a:prstGeom prst="rect">
            <a:avLst/>
          </a:prstGeom>
          <a:noFill/>
          <a:ln/>
        </p:spPr>
        <p:txBody>
          <a:bodyPr wrap="square" lIns="0" tIns="0" rIns="0" bIns="0" rtlCol="0" anchor="ctr"/>
          <a:lstStyle/>
          <a:p>
            <a:pPr indent="0" marL="0">
              <a:buNone/>
            </a:pPr>
            <a:r>
              <a:rPr lang="en-US" sz="2100" b="1" dirty="0">
                <a:solidFill>
                  <a:srgbClr val="B9770E"/>
                </a:solidFill>
                <a:latin typeface="Calibri" pitchFamily="34" charset="0"/>
                <a:ea typeface="Calibri" pitchFamily="34" charset="-122"/>
                <a:cs typeface="Calibri" pitchFamily="34" charset="-120"/>
              </a:rPr>
              <a:t>Extra challenge  </a:t>
            </a:r>
            <a:pPr indent="0" marL="0">
              <a:buNone/>
            </a:pPr>
            <a:r>
              <a:rPr lang="en-US" sz="2100" dirty="0">
                <a:solidFill>
                  <a:srgbClr val="16302E"/>
                </a:solidFill>
                <a:latin typeface="Calibri" pitchFamily="34" charset="0"/>
                <a:ea typeface="Calibri" pitchFamily="34" charset="-122"/>
                <a:cs typeface="Calibri" pitchFamily="34" charset="-120"/>
              </a:rPr>
              <a:t>Read the whole excerpt aloud and hold both ghunnahs for two counts each.</a:t>
            </a:r>
            <a:endParaRPr lang="en-US" sz="2100" dirty="0"/>
          </a:p>
        </p:txBody>
      </p:sp>
      <p:sp>
        <p:nvSpPr>
          <p:cNvPr id="16" name="Back to question 357 LINK:act1">
            <a:hlinkClick r:id="rIdJump1" action="ppaction://hlinksldjump"/>
          </p:cNvPr>
          <p:cNvSpPr/>
          <p:nvPr/>
        </p:nvSpPr>
        <p:spPr>
          <a:xfrm>
            <a:off x="548640" y="6236208"/>
            <a:ext cx="2377440" cy="420624"/>
          </a:xfrm>
          <a:prstGeom prst="roundRect">
            <a:avLst>
              <a:gd name="adj" fmla="val 47826"/>
            </a:avLst>
          </a:prstGeom>
          <a:solidFill>
            <a:srgbClr val="FFFFFF"/>
          </a:solidFill>
          <a:ln w="19050">
            <a:solidFill>
              <a:srgbClr val="1D7A6E"/>
            </a:solidFill>
          </a:ln>
        </p:spPr>
        <p:txBody>
          <a:bodyPr wrap="square" lIns="109728" tIns="0" rIns="109728" bIns="0" rtlCol="0" anchor="ctr"/>
          <a:lstStyle/>
          <a:p>
            <a:pPr algn="ctr" indent="0" marL="0">
              <a:buNone/>
            </a:pPr>
            <a:r>
              <a:rPr lang="en-US" sz="1500" b="1" dirty="0">
                <a:solidFill>
                  <a:srgbClr val="1D7A6E"/>
                </a:solidFill>
                <a:latin typeface="Calibri" pitchFamily="34" charset="0"/>
                <a:ea typeface="Calibri" pitchFamily="34" charset="-122"/>
                <a:cs typeface="Calibri" pitchFamily="34" charset="-120"/>
              </a:rPr>
              <a:t>‹  Back to question</a:t>
            </a:r>
            <a:endParaRPr lang="en-US" sz="1500" dirty="0"/>
          </a:p>
        </p:txBody>
      </p:sp>
      <p:sp>
        <p:nvSpPr>
          <p:cNvPr id="17" name="Feedback next 358 LINK:act2">
            <a:hlinkClick r:id="rIdJump2" action="ppaction://hlinksldjump"/>
          </p:cNvPr>
          <p:cNvSpPr/>
          <p:nvPr/>
        </p:nvSpPr>
        <p:spPr>
          <a:xfrm>
            <a:off x="9537192" y="6236208"/>
            <a:ext cx="2103120" cy="420624"/>
          </a:xfrm>
          <a:prstGeom prst="roundRect">
            <a:avLst>
              <a:gd name="adj" fmla="val 47826"/>
            </a:avLst>
          </a:prstGeom>
          <a:solidFill>
            <a:srgbClr val="2E9E5B"/>
          </a:solidFill>
          <a:ln>
            <a:solidFill>
              <a:srgbClr val="2E9E5B"/>
            </a:solidFill>
          </a:ln>
        </p:spPr>
        <p:txBody>
          <a:bodyPr wrap="square" lIns="109728" tIns="0" rIns="109728"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Next  ›</a:t>
            </a:r>
            <a:endParaRPr lang="en-US" sz="1600" dirty="0"/>
          </a:p>
        </p:txBody>
      </p:sp>
    </p:spTree>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show="0">
  <p:cSld name="Slide 16">
    <p:spTree>
      <p:nvGrpSpPr>
        <p:cNvPr id="1" name=""/>
        <p:cNvGrpSpPr/>
        <p:nvPr/>
      </p:nvGrpSpPr>
      <p:grpSpPr>
        <a:xfrm>
          <a:off x="0" y="0"/>
          <a:ext cx="0" cy="0"/>
          <a:chOff x="0" y="0"/>
          <a:chExt cx="0" cy="0"/>
        </a:xfrm>
      </p:grpSpPr>
      <p:sp>
        <p:nvSpPr>
          <p:cNvPr id="2" name="Try badge circle 359"/>
          <p:cNvSpPr/>
          <p:nvPr/>
        </p:nvSpPr>
        <p:spPr>
          <a:xfrm>
            <a:off x="548640" y="502920"/>
            <a:ext cx="1005840" cy="1005840"/>
          </a:xfrm>
          <a:prstGeom prst="ellipse">
            <a:avLst/>
          </a:prstGeom>
          <a:solidFill>
            <a:srgbClr val="E0674F"/>
          </a:solidFill>
          <a:ln w="12700">
            <a:solidFill>
              <a:srgbClr val="E0674F"/>
            </a:solidFill>
            <a:prstDash val="solid"/>
          </a:ln>
        </p:spPr>
      </p:sp>
      <p:pic>
        <p:nvPicPr>
          <p:cNvPr id="3" name="Try badge glyph 360" descr="preencoded.png">    </p:cNvPr>
          <p:cNvPicPr>
            <a:picLocks noChangeAspect="1"/>
          </p:cNvPicPr>
          <p:nvPr/>
        </p:nvPicPr>
        <p:blipFill>
          <a:blip r:embed="rId1"/>
          <a:stretch>
            <a:fillRect/>
          </a:stretch>
        </p:blipFill>
        <p:spPr>
          <a:xfrm>
            <a:off x="800100" y="754380"/>
            <a:ext cx="502920" cy="502920"/>
          </a:xfrm>
          <a:prstGeom prst="rect">
            <a:avLst/>
          </a:prstGeom>
        </p:spPr>
      </p:pic>
      <p:sp>
        <p:nvSpPr>
          <p:cNvPr id="4" name="Feedback title 361"/>
          <p:cNvSpPr txBox="1"/>
          <p:nvPr/>
        </p:nvSpPr>
        <p:spPr>
          <a:xfrm>
            <a:off x="1783080" y="548640"/>
            <a:ext cx="9144000" cy="914400"/>
          </a:xfrm>
          <a:prstGeom prst="rect">
            <a:avLst/>
          </a:prstGeom>
          <a:noFill/>
          <a:ln/>
        </p:spPr>
        <p:txBody>
          <a:bodyPr wrap="square" lIns="0" tIns="0" rIns="0" bIns="0" rtlCol="0" anchor="ctr"/>
          <a:lstStyle/>
          <a:p>
            <a:pPr indent="0" marL="0">
              <a:buNone/>
            </a:pPr>
            <a:r>
              <a:rPr lang="en-US" sz="4000" b="1" dirty="0">
                <a:solidFill>
                  <a:srgbClr val="B2432E"/>
                </a:solidFill>
                <a:latin typeface="Calibri" pitchFamily="34" charset="0"/>
                <a:ea typeface="Calibri" pitchFamily="34" charset="-122"/>
                <a:cs typeface="Calibri" pitchFamily="34" charset="-120"/>
              </a:rPr>
              <a:t>Good start! There is one more.</a:t>
            </a:r>
            <a:endParaRPr lang="en-US" sz="4000" dirty="0"/>
          </a:p>
        </p:txBody>
      </p:sp>
      <p:sp>
        <p:nvSpPr>
          <p:cNvPr id="5" name="Verse panel 362"/>
          <p:cNvSpPr/>
          <p:nvPr/>
        </p:nvSpPr>
        <p:spPr>
          <a:xfrm>
            <a:off x="548640" y="1783080"/>
            <a:ext cx="11094415" cy="1371600"/>
          </a:xfrm>
          <a:prstGeom prst="roundRect">
            <a:avLst>
              <a:gd name="adj" fmla="val 12000"/>
            </a:avLst>
          </a:prstGeom>
          <a:solidFill>
            <a:srgbClr val="FFFFFF"/>
          </a:solidFill>
          <a:ln w="12700">
            <a:solidFill>
              <a:srgbClr val="D5E5E0"/>
            </a:solidFill>
            <a:prstDash val="solid"/>
          </a:ln>
          <a:effectLst>
            <a:outerShdw sx="100000" sy="100000" kx="0" ky="0" algn="bl" rotWithShape="0" blurRad="101600" dist="25400" dir="5400000">
              <a:srgbClr val="0F3D3A">
                <a:alpha val="10000"/>
              </a:srgbClr>
            </a:outerShdw>
          </a:effectLst>
        </p:spPr>
      </p:sp>
      <p:sp>
        <p:nvSpPr>
          <p:cNvPr id="6" name="Verse excerpt 363"/>
          <p:cNvSpPr txBox="1"/>
          <p:nvPr/>
        </p:nvSpPr>
        <p:spPr>
          <a:xfrm>
            <a:off x="822960" y="1810512"/>
            <a:ext cx="10545775" cy="1280160"/>
          </a:xfrm>
          <a:prstGeom prst="rect">
            <a:avLst/>
          </a:prstGeom>
          <a:noFill/>
          <a:ln/>
        </p:spPr>
        <p:txBody>
          <a:bodyPr wrap="square" lIns="0" tIns="0" rIns="0" bIns="0" rtlCol="0" anchor="ctr"/>
          <a:lstStyle/>
          <a:p>
            <a:pPr algn="ctr" indent="0" marL="0">
              <a:buNone/>
            </a:pPr>
            <a:r>
              <a:rPr lang="ar-SA" altLang="en-US" sz="6000" dirty="0">
                <a:solidFill>
                  <a:srgbClr val="16302E"/>
                </a:solidFill>
                <a:latin typeface="Traditional Arabic" pitchFamily="34" charset="0"/>
                <a:ea typeface="Traditional Arabic" pitchFamily="34" charset="-122"/>
                <a:cs typeface="Traditional Arabic" pitchFamily="34" charset="-120"/>
              </a:rPr>
              <a:t>مِنَ </a:t>
            </a:r>
            <a:pPr algn="ctr" indent="0" marL="0">
              <a:buNone/>
            </a:pPr>
            <a:r>
              <a:rPr lang="ar-SA" altLang="en-US" sz="6000" dirty="0">
                <a:solidFill>
                  <a:srgbClr val="0F5148"/>
                </a:solidFill>
                <a:highlight>
                  <a:srgbClr val="FFE08A"/>
                </a:highlight>
                <a:latin typeface="Traditional Arabic" pitchFamily="34" charset="0"/>
                <a:ea typeface="Traditional Arabic" pitchFamily="34" charset="-122"/>
                <a:cs typeface="Traditional Arabic" pitchFamily="34" charset="-120"/>
              </a:rPr>
              <a:t>ٱلْجِنَّةِ</a:t>
            </a:r>
            <a:pPr algn="ctr" indent="0" marL="0">
              <a:buNone/>
            </a:pPr>
            <a:r>
              <a:rPr lang="ar-SA" altLang="en-US" sz="6000" dirty="0">
                <a:solidFill>
                  <a:srgbClr val="16302E"/>
                </a:solidFill>
                <a:latin typeface="Traditional Arabic" pitchFamily="34" charset="0"/>
                <a:ea typeface="Traditional Arabic" pitchFamily="34" charset="-122"/>
                <a:cs typeface="Traditional Arabic" pitchFamily="34" charset="-120"/>
              </a:rPr>
              <a:t> وَ</a:t>
            </a:r>
            <a:pPr algn="ctr" indent="0" marL="0">
              <a:buNone/>
            </a:pPr>
            <a:r>
              <a:rPr lang="ar-SA" altLang="en-US" sz="6000" dirty="0">
                <a:solidFill>
                  <a:srgbClr val="16302E"/>
                </a:solidFill>
                <a:latin typeface="Traditional Arabic" pitchFamily="34" charset="0"/>
                <a:ea typeface="Traditional Arabic" pitchFamily="34" charset="-122"/>
                <a:cs typeface="Traditional Arabic" pitchFamily="34" charset="-120"/>
              </a:rPr>
              <a:t>ٱلنَّاسِ</a:t>
            </a:r>
            <a:endParaRPr lang="ar-SA" sz="6000" dirty="0"/>
          </a:p>
        </p:txBody>
      </p:sp>
      <p:sp>
        <p:nvSpPr>
          <p:cNvPr id="7" name="Hint circle 364"/>
          <p:cNvSpPr/>
          <p:nvPr/>
        </p:nvSpPr>
        <p:spPr>
          <a:xfrm>
            <a:off x="548640" y="3429000"/>
            <a:ext cx="640080" cy="640080"/>
          </a:xfrm>
          <a:prstGeom prst="ellipse">
            <a:avLst/>
          </a:prstGeom>
          <a:solidFill>
            <a:srgbClr val="F6C552"/>
          </a:solidFill>
          <a:ln w="12700">
            <a:solidFill>
              <a:srgbClr val="F6C552"/>
            </a:solidFill>
            <a:prstDash val="solid"/>
          </a:ln>
        </p:spPr>
      </p:sp>
      <p:pic>
        <p:nvPicPr>
          <p:cNvPr id="8" name="Hint glyph 365" descr="preencoded.png">    </p:cNvPr>
          <p:cNvPicPr>
            <a:picLocks noChangeAspect="1"/>
          </p:cNvPicPr>
          <p:nvPr/>
        </p:nvPicPr>
        <p:blipFill>
          <a:blip r:embed="rId2"/>
          <a:stretch>
            <a:fillRect/>
          </a:stretch>
        </p:blipFill>
        <p:spPr>
          <a:xfrm>
            <a:off x="708660" y="3589020"/>
            <a:ext cx="320040" cy="320040"/>
          </a:xfrm>
          <a:prstGeom prst="rect">
            <a:avLst/>
          </a:prstGeom>
        </p:spPr>
      </p:pic>
      <p:sp>
        <p:nvSpPr>
          <p:cNvPr id="9" name="Hint text 366"/>
          <p:cNvSpPr txBox="1"/>
          <p:nvPr/>
        </p:nvSpPr>
        <p:spPr>
          <a:xfrm>
            <a:off x="1417320" y="3383280"/>
            <a:ext cx="10225735" cy="1280160"/>
          </a:xfrm>
          <a:prstGeom prst="rect">
            <a:avLst/>
          </a:prstGeom>
          <a:noFill/>
          <a:ln/>
        </p:spPr>
        <p:txBody>
          <a:bodyPr wrap="square" lIns="0" tIns="0" rIns="0" bIns="0" rtlCol="0" anchor="t"/>
          <a:lstStyle/>
          <a:p>
            <a:pPr indent="0" marL="0">
              <a:buNone/>
            </a:pPr>
            <a:r>
              <a:rPr lang="en-US" sz="2400" dirty="0">
                <a:solidFill>
                  <a:srgbClr val="16302E"/>
                </a:solidFill>
                <a:latin typeface="Calibri" pitchFamily="34" charset="0"/>
                <a:ea typeface="Calibri" pitchFamily="34" charset="-122"/>
                <a:cs typeface="Calibri" pitchFamily="34" charset="-120"/>
              </a:rPr>
              <a:t>You found the noon in ٱلْجِنَّةِ. Now look at the last word: does its noon carry a shaddah too?</a:t>
            </a:r>
            <a:endParaRPr lang="en-US" sz="2400" dirty="0"/>
          </a:p>
        </p:txBody>
      </p:sp>
      <p:sp>
        <p:nvSpPr>
          <p:cNvPr id="10" name="Try again 367 LINK:act1">
            <a:hlinkClick r:id="rIdJump1" action="ppaction://hlinksldjump"/>
          </p:cNvPr>
          <p:cNvSpPr/>
          <p:nvPr/>
        </p:nvSpPr>
        <p:spPr>
          <a:xfrm>
            <a:off x="4498848" y="5257800"/>
            <a:ext cx="3200400" cy="731520"/>
          </a:xfrm>
          <a:prstGeom prst="roundRect">
            <a:avLst>
              <a:gd name="adj" fmla="val 27500"/>
            </a:avLst>
          </a:prstGeom>
          <a:solidFill>
            <a:srgbClr val="E0674F"/>
          </a:solidFill>
          <a:ln>
            <a:solidFill>
              <a:srgbClr val="E0674F"/>
            </a:solidFill>
          </a:ln>
          <a:effectLst>
            <a:outerShdw sx="100000" sy="100000" kx="0" ky="0" algn="bl" rotWithShape="0" blurRad="50800" dist="25400" dir="5400000">
              <a:srgbClr val="0F3D3A">
                <a:alpha val="18000"/>
              </a:srgbClr>
            </a:outerShdw>
          </a:effectLst>
        </p:spPr>
        <p:txBody>
          <a:bodyPr wrap="square" lIns="457200" tIns="0" rIns="9144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Try again</a:t>
            </a:r>
            <a:endParaRPr lang="en-US" sz="2600" dirty="0"/>
          </a:p>
        </p:txBody>
      </p:sp>
      <p:pic>
        <p:nvPicPr>
          <p:cNvPr id="11" name="Button icon 368 LINK:act1" descr="preencoded.png">
            <a:hlinkClick r:id="rIdJump2" action="ppaction://hlinksldjump"/>
          </p:cNvPr>
          <p:cNvPicPr>
            <a:picLocks noChangeAspect="1"/>
          </p:cNvPicPr>
          <p:nvPr/>
        </p:nvPicPr>
        <p:blipFill>
          <a:blip r:embed="rId3"/>
          <a:stretch>
            <a:fillRect/>
          </a:stretch>
        </p:blipFill>
        <p:spPr>
          <a:xfrm>
            <a:off x="4864608" y="5458968"/>
            <a:ext cx="329184" cy="329184"/>
          </a:xfrm>
          <a:prstGeom prst="rect">
            <a:avLst/>
          </a:prstGeom>
        </p:spPr>
      </p:pic>
    </p:spTree>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show="0">
  <p:cSld name="Slide 17">
    <p:spTree>
      <p:nvGrpSpPr>
        <p:cNvPr id="1" name=""/>
        <p:cNvGrpSpPr/>
        <p:nvPr/>
      </p:nvGrpSpPr>
      <p:grpSpPr>
        <a:xfrm>
          <a:off x="0" y="0"/>
          <a:ext cx="0" cy="0"/>
          <a:chOff x="0" y="0"/>
          <a:chExt cx="0" cy="0"/>
        </a:xfrm>
      </p:grpSpPr>
      <p:sp>
        <p:nvSpPr>
          <p:cNvPr id="2" name="Try badge circle 369"/>
          <p:cNvSpPr/>
          <p:nvPr/>
        </p:nvSpPr>
        <p:spPr>
          <a:xfrm>
            <a:off x="548640" y="502920"/>
            <a:ext cx="1005840" cy="1005840"/>
          </a:xfrm>
          <a:prstGeom prst="ellipse">
            <a:avLst/>
          </a:prstGeom>
          <a:solidFill>
            <a:srgbClr val="E0674F"/>
          </a:solidFill>
          <a:ln w="12700">
            <a:solidFill>
              <a:srgbClr val="E0674F"/>
            </a:solidFill>
            <a:prstDash val="solid"/>
          </a:ln>
        </p:spPr>
      </p:sp>
      <p:pic>
        <p:nvPicPr>
          <p:cNvPr id="3" name="Try badge glyph 370" descr="preencoded.png">    </p:cNvPr>
          <p:cNvPicPr>
            <a:picLocks noChangeAspect="1"/>
          </p:cNvPicPr>
          <p:nvPr/>
        </p:nvPicPr>
        <p:blipFill>
          <a:blip r:embed="rId1"/>
          <a:stretch>
            <a:fillRect/>
          </a:stretch>
        </p:blipFill>
        <p:spPr>
          <a:xfrm>
            <a:off x="800100" y="754380"/>
            <a:ext cx="502920" cy="502920"/>
          </a:xfrm>
          <a:prstGeom prst="rect">
            <a:avLst/>
          </a:prstGeom>
        </p:spPr>
      </p:pic>
      <p:sp>
        <p:nvSpPr>
          <p:cNvPr id="4" name="Feedback title 371"/>
          <p:cNvSpPr txBox="1"/>
          <p:nvPr/>
        </p:nvSpPr>
        <p:spPr>
          <a:xfrm>
            <a:off x="1783080" y="548640"/>
            <a:ext cx="9144000" cy="914400"/>
          </a:xfrm>
          <a:prstGeom prst="rect">
            <a:avLst/>
          </a:prstGeom>
          <a:noFill/>
          <a:ln/>
        </p:spPr>
        <p:txBody>
          <a:bodyPr wrap="square" lIns="0" tIns="0" rIns="0" bIns="0" rtlCol="0" anchor="ctr"/>
          <a:lstStyle/>
          <a:p>
            <a:pPr indent="0" marL="0">
              <a:buNone/>
            </a:pPr>
            <a:r>
              <a:rPr lang="en-US" sz="4000" b="1" dirty="0">
                <a:solidFill>
                  <a:srgbClr val="B2432E"/>
                </a:solidFill>
                <a:latin typeface="Calibri" pitchFamily="34" charset="0"/>
                <a:ea typeface="Calibri" pitchFamily="34" charset="-122"/>
                <a:cs typeface="Calibri" pitchFamily="34" charset="-120"/>
              </a:rPr>
              <a:t>Careful: one of those is a plain noon.</a:t>
            </a:r>
            <a:endParaRPr lang="en-US" sz="4000" dirty="0"/>
          </a:p>
        </p:txBody>
      </p:sp>
      <p:sp>
        <p:nvSpPr>
          <p:cNvPr id="5" name="Verse panel 372"/>
          <p:cNvSpPr/>
          <p:nvPr/>
        </p:nvSpPr>
        <p:spPr>
          <a:xfrm>
            <a:off x="548640" y="1783080"/>
            <a:ext cx="11094415" cy="1371600"/>
          </a:xfrm>
          <a:prstGeom prst="roundRect">
            <a:avLst>
              <a:gd name="adj" fmla="val 12000"/>
            </a:avLst>
          </a:prstGeom>
          <a:solidFill>
            <a:srgbClr val="FFFFFF"/>
          </a:solidFill>
          <a:ln w="12700">
            <a:solidFill>
              <a:srgbClr val="D5E5E0"/>
            </a:solidFill>
            <a:prstDash val="solid"/>
          </a:ln>
          <a:effectLst>
            <a:outerShdw sx="100000" sy="100000" kx="0" ky="0" algn="bl" rotWithShape="0" blurRad="101600" dist="25400" dir="5400000">
              <a:srgbClr val="0F3D3A">
                <a:alpha val="10000"/>
              </a:srgbClr>
            </a:outerShdw>
          </a:effectLst>
        </p:spPr>
      </p:sp>
      <p:sp>
        <p:nvSpPr>
          <p:cNvPr id="6" name="Verse excerpt 373"/>
          <p:cNvSpPr txBox="1"/>
          <p:nvPr/>
        </p:nvSpPr>
        <p:spPr>
          <a:xfrm>
            <a:off x="822960" y="1810512"/>
            <a:ext cx="10545775" cy="1280160"/>
          </a:xfrm>
          <a:prstGeom prst="rect">
            <a:avLst/>
          </a:prstGeom>
          <a:noFill/>
          <a:ln/>
        </p:spPr>
        <p:txBody>
          <a:bodyPr wrap="square" lIns="0" tIns="0" rIns="0" bIns="0" rtlCol="0" anchor="ctr"/>
          <a:lstStyle/>
          <a:p>
            <a:pPr algn="ctr" indent="0" marL="0">
              <a:buNone/>
            </a:pPr>
            <a:r>
              <a:rPr lang="ar-SA" altLang="en-US" sz="6000" dirty="0">
                <a:solidFill>
                  <a:srgbClr val="0F5148"/>
                </a:solidFill>
                <a:highlight>
                  <a:srgbClr val="FFE08A"/>
                </a:highlight>
                <a:latin typeface="Traditional Arabic" pitchFamily="34" charset="0"/>
                <a:ea typeface="Traditional Arabic" pitchFamily="34" charset="-122"/>
                <a:cs typeface="Traditional Arabic" pitchFamily="34" charset="-120"/>
              </a:rPr>
              <a:t>مِنَ</a:t>
            </a:r>
            <a:pPr algn="ctr" indent="0" marL="0">
              <a:buNone/>
            </a:pPr>
            <a:r>
              <a:rPr lang="ar-SA" altLang="en-US" sz="6000" dirty="0">
                <a:solidFill>
                  <a:srgbClr val="16302E"/>
                </a:solidFill>
                <a:latin typeface="Traditional Arabic" pitchFamily="34" charset="0"/>
                <a:ea typeface="Traditional Arabic" pitchFamily="34" charset="-122"/>
                <a:cs typeface="Traditional Arabic" pitchFamily="34" charset="-120"/>
              </a:rPr>
              <a:t> ٱلْجِنَّةِ وَٱلنَّاسِ</a:t>
            </a:r>
            <a:endParaRPr lang="ar-SA" sz="6000" dirty="0"/>
          </a:p>
        </p:txBody>
      </p:sp>
      <p:sp>
        <p:nvSpPr>
          <p:cNvPr id="7" name="Hint circle 374"/>
          <p:cNvSpPr/>
          <p:nvPr/>
        </p:nvSpPr>
        <p:spPr>
          <a:xfrm>
            <a:off x="548640" y="3429000"/>
            <a:ext cx="640080" cy="640080"/>
          </a:xfrm>
          <a:prstGeom prst="ellipse">
            <a:avLst/>
          </a:prstGeom>
          <a:solidFill>
            <a:srgbClr val="F6C552"/>
          </a:solidFill>
          <a:ln w="12700">
            <a:solidFill>
              <a:srgbClr val="F6C552"/>
            </a:solidFill>
            <a:prstDash val="solid"/>
          </a:ln>
        </p:spPr>
      </p:sp>
      <p:pic>
        <p:nvPicPr>
          <p:cNvPr id="8" name="Hint glyph 375" descr="preencoded.png">    </p:cNvPr>
          <p:cNvPicPr>
            <a:picLocks noChangeAspect="1"/>
          </p:cNvPicPr>
          <p:nvPr/>
        </p:nvPicPr>
        <p:blipFill>
          <a:blip r:embed="rId2"/>
          <a:stretch>
            <a:fillRect/>
          </a:stretch>
        </p:blipFill>
        <p:spPr>
          <a:xfrm>
            <a:off x="708660" y="3589020"/>
            <a:ext cx="320040" cy="320040"/>
          </a:xfrm>
          <a:prstGeom prst="rect">
            <a:avLst/>
          </a:prstGeom>
        </p:spPr>
      </p:pic>
      <p:sp>
        <p:nvSpPr>
          <p:cNvPr id="9" name="Hint text 376"/>
          <p:cNvSpPr txBox="1"/>
          <p:nvPr/>
        </p:nvSpPr>
        <p:spPr>
          <a:xfrm>
            <a:off x="1417320" y="3383280"/>
            <a:ext cx="10225735" cy="1280160"/>
          </a:xfrm>
          <a:prstGeom prst="rect">
            <a:avLst/>
          </a:prstGeom>
          <a:noFill/>
          <a:ln/>
        </p:spPr>
        <p:txBody>
          <a:bodyPr wrap="square" lIns="0" tIns="0" rIns="0" bIns="0" rtlCol="0" anchor="t"/>
          <a:lstStyle/>
          <a:p>
            <a:pPr indent="0" marL="0">
              <a:buNone/>
            </a:pPr>
            <a:r>
              <a:rPr lang="en-US" sz="2400" dirty="0">
                <a:solidFill>
                  <a:srgbClr val="16302E"/>
                </a:solidFill>
                <a:latin typeface="Calibri" pitchFamily="34" charset="0"/>
                <a:ea typeface="Calibri" pitchFamily="34" charset="-122"/>
                <a:cs typeface="Calibri" pitchFamily="34" charset="-120"/>
              </a:rPr>
              <a:t>The noon in مِنَ has a fathah, but no shaddah. Count only the noons that carry a shaddah.</a:t>
            </a:r>
            <a:endParaRPr lang="en-US" sz="2400" dirty="0"/>
          </a:p>
        </p:txBody>
      </p:sp>
      <p:sp>
        <p:nvSpPr>
          <p:cNvPr id="10" name="Try again 377 LINK:act1">
            <a:hlinkClick r:id="rIdJump1" action="ppaction://hlinksldjump"/>
          </p:cNvPr>
          <p:cNvSpPr/>
          <p:nvPr/>
        </p:nvSpPr>
        <p:spPr>
          <a:xfrm>
            <a:off x="4498848" y="5257800"/>
            <a:ext cx="3200400" cy="731520"/>
          </a:xfrm>
          <a:prstGeom prst="roundRect">
            <a:avLst>
              <a:gd name="adj" fmla="val 27500"/>
            </a:avLst>
          </a:prstGeom>
          <a:solidFill>
            <a:srgbClr val="E0674F"/>
          </a:solidFill>
          <a:ln>
            <a:solidFill>
              <a:srgbClr val="E0674F"/>
            </a:solidFill>
          </a:ln>
          <a:effectLst>
            <a:outerShdw sx="100000" sy="100000" kx="0" ky="0" algn="bl" rotWithShape="0" blurRad="50800" dist="25400" dir="5400000">
              <a:srgbClr val="0F3D3A">
                <a:alpha val="18000"/>
              </a:srgbClr>
            </a:outerShdw>
          </a:effectLst>
        </p:spPr>
        <p:txBody>
          <a:bodyPr wrap="square" lIns="457200" tIns="0" rIns="9144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Try again</a:t>
            </a:r>
            <a:endParaRPr lang="en-US" sz="2600" dirty="0"/>
          </a:p>
        </p:txBody>
      </p:sp>
      <p:pic>
        <p:nvPicPr>
          <p:cNvPr id="11" name="Button icon 378 LINK:act1" descr="preencoded.png">
            <a:hlinkClick r:id="rIdJump2" action="ppaction://hlinksldjump"/>
          </p:cNvPr>
          <p:cNvPicPr>
            <a:picLocks noChangeAspect="1"/>
          </p:cNvPicPr>
          <p:nvPr/>
        </p:nvPicPr>
        <p:blipFill>
          <a:blip r:embed="rId3"/>
          <a:stretch>
            <a:fillRect/>
          </a:stretch>
        </p:blipFill>
        <p:spPr>
          <a:xfrm>
            <a:off x="4864608" y="5458968"/>
            <a:ext cx="329184" cy="329184"/>
          </a:xfrm>
          <a:prstGeom prst="rect">
            <a:avLst/>
          </a:prstGeom>
        </p:spPr>
      </p:pic>
    </p:spTree>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Kicker 379"/>
          <p:cNvSpPr txBox="1"/>
          <p:nvPr/>
        </p:nvSpPr>
        <p:spPr>
          <a:xfrm>
            <a:off x="548640" y="329184"/>
            <a:ext cx="7315200" cy="292608"/>
          </a:xfrm>
          <a:prstGeom prst="rect">
            <a:avLst/>
          </a:prstGeom>
          <a:noFill/>
          <a:ln/>
        </p:spPr>
        <p:txBody>
          <a:bodyPr wrap="square" lIns="0" tIns="0" rIns="0" bIns="0" rtlCol="0" anchor="t"/>
          <a:lstStyle/>
          <a:p>
            <a:pPr indent="0" marL="0">
              <a:buNone/>
            </a:pPr>
            <a:r>
              <a:rPr lang="en-US" sz="1400" b="1" spc="300" kern="0" dirty="0">
                <a:solidFill>
                  <a:srgbClr val="1D7A6E"/>
                </a:solidFill>
                <a:latin typeface="Calibri" pitchFamily="34" charset="0"/>
                <a:ea typeface="Calibri" pitchFamily="34" charset="-122"/>
                <a:cs typeface="Calibri" pitchFamily="34" charset="-120"/>
              </a:rPr>
              <a:t>ACTIVITY 2  ·  IDENTIFY THE TRIGGER</a:t>
            </a:r>
            <a:endParaRPr lang="en-US" sz="1400" dirty="0"/>
          </a:p>
        </p:txBody>
      </p:sp>
      <p:sp>
        <p:nvSpPr>
          <p:cNvPr id="3" name="Text 0"/>
          <p:cNvSpPr/>
          <p:nvPr>
            <p:ph idx="100" type="title" hasCustomPrompt="1"/>
          </p:nvPr>
        </p:nvSpPr>
        <p:spPr>
          <a:xfrm>
            <a:off x="548640" y="658368"/>
            <a:ext cx="9052560" cy="731520"/>
          </a:xfrm>
          <a:prstGeom prst="rect">
            <a:avLst/>
          </a:prstGeom>
          <a:noFill/>
          <a:ln/>
        </p:spPr>
        <p:txBody>
          <a:bodyPr wrap="square" lIns="0" tIns="0" rIns="0" bIns="0" rtlCol="0" anchor="t"/>
          <a:lstStyle/>
          <a:p>
            <a:pPr algn="l" indent="0" marL="0">
              <a:buNone/>
            </a:pPr>
            <a:r>
              <a:rPr lang="en-US" sz="3600" b="1" dirty="0">
                <a:solidFill>
                  <a:srgbClr val="16302E"/>
                </a:solidFill>
                <a:latin typeface="Calibri" pitchFamily="34" charset="0"/>
                <a:ea typeface="Calibri" pitchFamily="34" charset="-122"/>
                <a:cs typeface="Calibri" pitchFamily="34" charset="-120"/>
              </a:rPr>
              <a:t>Which letter gets the ghunnah?</a:t>
            </a:r>
            <a:endParaRPr lang="en-US" sz="3600" dirty="0"/>
          </a:p>
        </p:txBody>
      </p:sp>
      <p:sp>
        <p:nvSpPr>
          <p:cNvPr id="4" name="Route chip 380"/>
          <p:cNvSpPr/>
          <p:nvPr/>
        </p:nvSpPr>
        <p:spPr>
          <a:xfrm>
            <a:off x="10012680" y="365760"/>
            <a:ext cx="1627632" cy="384048"/>
          </a:xfrm>
          <a:prstGeom prst="roundRect">
            <a:avLst>
              <a:gd name="adj" fmla="val 47619"/>
            </a:avLst>
          </a:prstGeom>
          <a:solidFill>
            <a:srgbClr val="F2B134"/>
          </a:solidFill>
          <a:ln>
            <a:solidFill>
              <a:srgbClr val="F2B134"/>
            </a:solidFill>
          </a:ln>
        </p:spPr>
        <p:txBody>
          <a:bodyPr wrap="square" lIns="0" tIns="0" rIns="0" bIns="0" rtlCol="0" anchor="ctr"/>
          <a:lstStyle/>
          <a:p>
            <a:pPr algn="ctr" indent="0" marL="0">
              <a:buNone/>
            </a:pPr>
            <a:r>
              <a:rPr lang="en-US" sz="1300" b="1" spc="200" kern="0" dirty="0">
                <a:solidFill>
                  <a:srgbClr val="FFFFFF"/>
                </a:solidFill>
                <a:latin typeface="Calibri" pitchFamily="34" charset="0"/>
                <a:ea typeface="Calibri" pitchFamily="34" charset="-122"/>
                <a:cs typeface="Calibri" pitchFamily="34" charset="-120"/>
              </a:rPr>
              <a:t>CHALLENGE</a:t>
            </a:r>
            <a:endParaRPr lang="en-US" sz="1300" dirty="0"/>
          </a:p>
        </p:txBody>
      </p:sp>
      <p:sp>
        <p:nvSpPr>
          <p:cNvPr id="5" name="Question 381"/>
          <p:cNvSpPr txBox="1"/>
          <p:nvPr/>
        </p:nvSpPr>
        <p:spPr>
          <a:xfrm>
            <a:off x="548640" y="1536192"/>
            <a:ext cx="11094415" cy="868680"/>
          </a:xfrm>
          <a:prstGeom prst="rect">
            <a:avLst/>
          </a:prstGeom>
          <a:noFill/>
          <a:ln/>
        </p:spPr>
        <p:txBody>
          <a:bodyPr wrap="square" lIns="0" tIns="0" rIns="0" bIns="0" rtlCol="0" anchor="t"/>
          <a:lstStyle/>
          <a:p>
            <a:pPr indent="0" marL="0">
              <a:buNone/>
            </a:pPr>
            <a:r>
              <a:rPr lang="en-US" sz="2600" dirty="0">
                <a:solidFill>
                  <a:srgbClr val="16302E"/>
                </a:solidFill>
                <a:latin typeface="Calibri" pitchFamily="34" charset="0"/>
                <a:ea typeface="Calibri" pitchFamily="34" charset="-122"/>
                <a:cs typeface="Calibri" pitchFamily="34" charset="-120"/>
              </a:rPr>
              <a:t>In Example 2, which letter is held with a two-count ghunnah?</a:t>
            </a:r>
            <a:endParaRPr lang="en-US" sz="2600" dirty="0"/>
          </a:p>
        </p:txBody>
      </p:sp>
      <p:sp>
        <p:nvSpPr>
          <p:cNvPr id="6" name="Verse panel 382"/>
          <p:cNvSpPr/>
          <p:nvPr/>
        </p:nvSpPr>
        <p:spPr>
          <a:xfrm>
            <a:off x="548640" y="2487168"/>
            <a:ext cx="11094415" cy="1508760"/>
          </a:xfrm>
          <a:prstGeom prst="roundRect">
            <a:avLst>
              <a:gd name="adj" fmla="val 10909"/>
            </a:avLst>
          </a:prstGeom>
          <a:solidFill>
            <a:srgbClr val="FFFFFF"/>
          </a:solidFill>
          <a:ln w="12700">
            <a:solidFill>
              <a:srgbClr val="D5E5E0"/>
            </a:solidFill>
            <a:prstDash val="solid"/>
          </a:ln>
          <a:effectLst>
            <a:outerShdw sx="100000" sy="100000" kx="0" ky="0" algn="bl" rotWithShape="0" blurRad="101600" dist="25400" dir="5400000">
              <a:srgbClr val="0F3D3A">
                <a:alpha val="10000"/>
              </a:srgbClr>
            </a:outerShdw>
          </a:effectLst>
        </p:spPr>
      </p:sp>
      <p:sp>
        <p:nvSpPr>
          <p:cNvPr id="7" name="Verse excerpt 383"/>
          <p:cNvSpPr txBox="1"/>
          <p:nvPr/>
        </p:nvSpPr>
        <p:spPr>
          <a:xfrm>
            <a:off x="822960" y="2606040"/>
            <a:ext cx="10545775" cy="1298448"/>
          </a:xfrm>
          <a:prstGeom prst="rect">
            <a:avLst/>
          </a:prstGeom>
          <a:noFill/>
          <a:ln/>
        </p:spPr>
        <p:txBody>
          <a:bodyPr wrap="square" lIns="0" tIns="0" rIns="0" bIns="0" rtlCol="0" anchor="ctr"/>
          <a:lstStyle/>
          <a:p>
            <a:pPr algn="ctr" indent="0" marL="0">
              <a:buNone/>
            </a:pPr>
            <a:r>
              <a:rPr lang="ar-SA" altLang="en-US" sz="6000" dirty="0">
                <a:solidFill>
                  <a:srgbClr val="16302E"/>
                </a:solidFill>
                <a:latin typeface="Traditional Arabic" pitchFamily="34" charset="0"/>
                <a:ea typeface="Traditional Arabic" pitchFamily="34" charset="-122"/>
                <a:cs typeface="Traditional Arabic" pitchFamily="34" charset="-120"/>
              </a:rPr>
              <a:t>إِنَّ</a:t>
            </a:r>
            <a:pPr algn="ctr" indent="0" marL="0">
              <a:buNone/>
            </a:pPr>
            <a:r>
              <a:rPr lang="ar-SA" altLang="en-US" sz="6000" dirty="0">
                <a:solidFill>
                  <a:srgbClr val="16302E"/>
                </a:solidFill>
                <a:latin typeface="Traditional Arabic" pitchFamily="34" charset="0"/>
                <a:ea typeface="Traditional Arabic" pitchFamily="34" charset="-122"/>
                <a:cs typeface="Traditional Arabic" pitchFamily="34" charset="-120"/>
              </a:rPr>
              <a:t> ٱلَّذِينَ</a:t>
            </a:r>
            <a:endParaRPr lang="ar-SA" sz="6000" dirty="0"/>
          </a:p>
        </p:txBody>
      </p:sp>
      <p:sp>
        <p:nvSpPr>
          <p:cNvPr id="8" name="Verse ref 384"/>
          <p:cNvSpPr txBox="1"/>
          <p:nvPr/>
        </p:nvSpPr>
        <p:spPr>
          <a:xfrm>
            <a:off x="777240" y="2578608"/>
            <a:ext cx="1371600" cy="274320"/>
          </a:xfrm>
          <a:prstGeom prst="rect">
            <a:avLst/>
          </a:prstGeom>
          <a:noFill/>
          <a:ln/>
        </p:spPr>
        <p:txBody>
          <a:bodyPr wrap="square" lIns="0" tIns="0" rIns="0" bIns="0" rtlCol="0" anchor="t"/>
          <a:lstStyle/>
          <a:p>
            <a:pPr indent="0" marL="0">
              <a:buNone/>
            </a:pPr>
            <a:r>
              <a:rPr lang="en-US" sz="1400" b="1" dirty="0">
                <a:solidFill>
                  <a:srgbClr val="5D7774"/>
                </a:solidFill>
                <a:latin typeface="Calibri" pitchFamily="34" charset="0"/>
                <a:ea typeface="Calibri" pitchFamily="34" charset="-122"/>
                <a:cs typeface="Calibri" pitchFamily="34" charset="-120"/>
              </a:rPr>
              <a:t>2:6</a:t>
            </a:r>
            <a:endParaRPr lang="en-US" sz="1400" dirty="0"/>
          </a:p>
        </p:txBody>
      </p:sp>
      <p:sp>
        <p:nvSpPr>
          <p:cNvPr id="9" name="Choice A 385 LINK:act2_ok">
            <a:hlinkClick r:id="rIdJump1" action="ppaction://hlinksldjump"/>
          </p:cNvPr>
          <p:cNvSpPr/>
          <p:nvPr/>
        </p:nvSpPr>
        <p:spPr>
          <a:xfrm>
            <a:off x="548640" y="4160520"/>
            <a:ext cx="3515258" cy="1783080"/>
          </a:xfrm>
          <a:prstGeom prst="roundRect">
            <a:avLst>
              <a:gd name="adj" fmla="val 11282"/>
            </a:avLst>
          </a:prstGeom>
          <a:solidFill>
            <a:srgbClr val="FFFFFF"/>
          </a:solidFill>
          <a:ln w="19050">
            <a:solidFill>
              <a:srgbClr val="1D7A6E"/>
            </a:solidFill>
          </a:ln>
          <a:effectLst>
            <a:outerShdw sx="100000" sy="100000" kx="0" ky="0" algn="bl" rotWithShape="0" blurRad="50800" dist="25400" dir="5400000">
              <a:srgbClr val="0F3D3A">
                <a:alpha val="18000"/>
              </a:srgbClr>
            </a:outerShdw>
          </a:effectLst>
        </p:spPr>
        <p:txBody>
          <a:bodyPr wrap="square" lIns="274320" tIns="1141171" rIns="274320" bIns="91440" rtlCol="0" anchor="ctr"/>
          <a:lstStyle/>
          <a:p>
            <a:pPr algn="ctr" indent="0" marL="0">
              <a:buNone/>
            </a:pPr>
            <a:r>
              <a:rPr lang="en-US" sz="2000" b="1" dirty="0">
                <a:solidFill>
                  <a:srgbClr val="16302E"/>
                </a:solidFill>
                <a:latin typeface="Calibri" pitchFamily="34" charset="0"/>
                <a:ea typeface="Calibri" pitchFamily="34" charset="-122"/>
                <a:cs typeface="Calibri" pitchFamily="34" charset="-120"/>
              </a:rPr>
              <a:t>The noon of inna</a:t>
            </a:r>
            <a:endParaRPr lang="en-US" sz="2000" dirty="0"/>
          </a:p>
        </p:txBody>
      </p:sp>
      <p:sp>
        <p:nvSpPr>
          <p:cNvPr id="10" name="Choice letter 386 LINK:act2_ok">
            <a:hlinkClick r:id="rIdJump2" action="ppaction://hlinksldjump"/>
          </p:cNvPr>
          <p:cNvSpPr/>
          <p:nvPr/>
        </p:nvSpPr>
        <p:spPr>
          <a:xfrm>
            <a:off x="713232" y="4297680"/>
            <a:ext cx="530352" cy="530352"/>
          </a:xfrm>
          <a:prstGeom prst="ellipse">
            <a:avLst/>
          </a:prstGeom>
          <a:solidFill>
            <a:srgbClr val="1D7A6E"/>
          </a:solidFill>
          <a:ln>
            <a:solidFill>
              <a:srgbClr val="1D7A6E"/>
            </a:solid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a:t>
            </a:r>
            <a:endParaRPr lang="en-US" sz="2000" dirty="0"/>
          </a:p>
        </p:txBody>
      </p:sp>
      <p:sp>
        <p:nvSpPr>
          <p:cNvPr id="11" name="Choice Arabic 387 LINK:act2_ok">
            <a:hlinkClick r:id="rIdJump3" action="ppaction://hlinksldjump"/>
          </p:cNvPr>
          <p:cNvSpPr txBox="1"/>
          <p:nvPr/>
        </p:nvSpPr>
        <p:spPr>
          <a:xfrm>
            <a:off x="1280160" y="4215384"/>
            <a:ext cx="2600858" cy="998525"/>
          </a:xfrm>
          <a:prstGeom prst="rect">
            <a:avLst/>
          </a:prstGeom>
          <a:noFill/>
          <a:ln/>
        </p:spPr>
        <p:txBody>
          <a:bodyPr wrap="square" lIns="0" tIns="0" rIns="0" bIns="0" rtlCol="0" anchor="ctr"/>
          <a:lstStyle/>
          <a:p>
            <a:pPr algn="ctr" indent="0" marL="0">
              <a:buNone/>
            </a:pPr>
            <a:r>
              <a:rPr lang="ar-SA" altLang="en-US" sz="4200" dirty="0">
                <a:solidFill>
                  <a:srgbClr val="16302E"/>
                </a:solidFill>
                <a:latin typeface="Traditional Arabic" pitchFamily="34" charset="0"/>
                <a:ea typeface="Traditional Arabic" pitchFamily="34" charset="-122"/>
                <a:cs typeface="Traditional Arabic" pitchFamily="34" charset="-120"/>
              </a:rPr>
              <a:t>إِ</a:t>
            </a:r>
            <a:pPr algn="ctr" indent="0" marL="0">
              <a:buNone/>
            </a:pPr>
            <a:r>
              <a:rPr lang="ar-SA" altLang="en-US" sz="4200" dirty="0">
                <a:solidFill>
                  <a:srgbClr val="0F5148"/>
                </a:solidFill>
                <a:highlight>
                  <a:srgbClr val="FFE08A"/>
                </a:highlight>
                <a:latin typeface="Traditional Arabic" pitchFamily="34" charset="0"/>
                <a:ea typeface="Traditional Arabic" pitchFamily="34" charset="-122"/>
                <a:cs typeface="Traditional Arabic" pitchFamily="34" charset="-120"/>
              </a:rPr>
              <a:t>نَّ</a:t>
            </a:r>
            <a:endParaRPr lang="ar-SA" sz="4200" dirty="0"/>
          </a:p>
        </p:txBody>
      </p:sp>
      <p:sp>
        <p:nvSpPr>
          <p:cNvPr id="12" name="Choice B 388 LINK:act2_lam">
            <a:hlinkClick r:id="rIdJump4" action="ppaction://hlinksldjump"/>
          </p:cNvPr>
          <p:cNvSpPr/>
          <p:nvPr/>
        </p:nvSpPr>
        <p:spPr>
          <a:xfrm>
            <a:off x="4338218" y="4160520"/>
            <a:ext cx="3515258" cy="1783080"/>
          </a:xfrm>
          <a:prstGeom prst="roundRect">
            <a:avLst>
              <a:gd name="adj" fmla="val 11282"/>
            </a:avLst>
          </a:prstGeom>
          <a:solidFill>
            <a:srgbClr val="FFFFFF"/>
          </a:solidFill>
          <a:ln w="19050">
            <a:solidFill>
              <a:srgbClr val="1D7A6E"/>
            </a:solidFill>
          </a:ln>
          <a:effectLst>
            <a:outerShdw sx="100000" sy="100000" kx="0" ky="0" algn="bl" rotWithShape="0" blurRad="50800" dist="25400" dir="5400000">
              <a:srgbClr val="0F3D3A">
                <a:alpha val="18000"/>
              </a:srgbClr>
            </a:outerShdw>
          </a:effectLst>
        </p:spPr>
        <p:txBody>
          <a:bodyPr wrap="square" lIns="274320" tIns="1141171" rIns="274320" bIns="91440" rtlCol="0" anchor="ctr"/>
          <a:lstStyle/>
          <a:p>
            <a:pPr algn="ctr" indent="0" marL="0">
              <a:buNone/>
            </a:pPr>
            <a:r>
              <a:rPr lang="en-US" sz="2000" b="1" dirty="0">
                <a:solidFill>
                  <a:srgbClr val="16302E"/>
                </a:solidFill>
                <a:latin typeface="Calibri" pitchFamily="34" charset="0"/>
                <a:ea typeface="Calibri" pitchFamily="34" charset="-122"/>
                <a:cs typeface="Calibri" pitchFamily="34" charset="-120"/>
              </a:rPr>
              <a:t>The doubled lam</a:t>
            </a:r>
            <a:endParaRPr lang="en-US" sz="2000" dirty="0"/>
          </a:p>
        </p:txBody>
      </p:sp>
      <p:sp>
        <p:nvSpPr>
          <p:cNvPr id="13" name="Choice letter 389 LINK:act2_lam">
            <a:hlinkClick r:id="rIdJump5" action="ppaction://hlinksldjump"/>
          </p:cNvPr>
          <p:cNvSpPr/>
          <p:nvPr/>
        </p:nvSpPr>
        <p:spPr>
          <a:xfrm>
            <a:off x="4502810" y="4297680"/>
            <a:ext cx="530352" cy="530352"/>
          </a:xfrm>
          <a:prstGeom prst="ellipse">
            <a:avLst/>
          </a:prstGeom>
          <a:solidFill>
            <a:srgbClr val="1D7A6E"/>
          </a:solidFill>
          <a:ln>
            <a:solidFill>
              <a:srgbClr val="1D7A6E"/>
            </a:solid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4" name="Choice Arabic 390 LINK:act2_lam">
            <a:hlinkClick r:id="rIdJump6" action="ppaction://hlinksldjump"/>
          </p:cNvPr>
          <p:cNvSpPr txBox="1"/>
          <p:nvPr/>
        </p:nvSpPr>
        <p:spPr>
          <a:xfrm>
            <a:off x="5069738" y="4215384"/>
            <a:ext cx="2600858" cy="998525"/>
          </a:xfrm>
          <a:prstGeom prst="rect">
            <a:avLst/>
          </a:prstGeom>
          <a:noFill/>
          <a:ln/>
        </p:spPr>
        <p:txBody>
          <a:bodyPr wrap="square" lIns="0" tIns="0" rIns="0" bIns="0" rtlCol="0" anchor="ctr"/>
          <a:lstStyle/>
          <a:p>
            <a:pPr algn="ctr" indent="0" marL="0">
              <a:buNone/>
            </a:pPr>
            <a:r>
              <a:rPr lang="ar-SA" altLang="en-US" sz="4200" dirty="0">
                <a:solidFill>
                  <a:srgbClr val="16302E"/>
                </a:solidFill>
                <a:latin typeface="Traditional Arabic" pitchFamily="34" charset="0"/>
                <a:ea typeface="Traditional Arabic" pitchFamily="34" charset="-122"/>
                <a:cs typeface="Traditional Arabic" pitchFamily="34" charset="-120"/>
              </a:rPr>
              <a:t>ٱ</a:t>
            </a:r>
            <a:pPr algn="ctr" indent="0" marL="0">
              <a:buNone/>
            </a:pPr>
            <a:r>
              <a:rPr lang="ar-SA" altLang="en-US" sz="4200" dirty="0">
                <a:solidFill>
                  <a:srgbClr val="0F5148"/>
                </a:solidFill>
                <a:highlight>
                  <a:srgbClr val="FFE08A"/>
                </a:highlight>
                <a:latin typeface="Traditional Arabic" pitchFamily="34" charset="0"/>
                <a:ea typeface="Traditional Arabic" pitchFamily="34" charset="-122"/>
                <a:cs typeface="Traditional Arabic" pitchFamily="34" charset="-120"/>
              </a:rPr>
              <a:t>لَّ</a:t>
            </a:r>
            <a:pPr algn="ctr" indent="0" marL="0">
              <a:buNone/>
            </a:pPr>
            <a:r>
              <a:rPr lang="ar-SA" altLang="en-US" sz="4200" dirty="0">
                <a:solidFill>
                  <a:srgbClr val="16302E"/>
                </a:solidFill>
                <a:latin typeface="Traditional Arabic" pitchFamily="34" charset="0"/>
                <a:ea typeface="Traditional Arabic" pitchFamily="34" charset="-122"/>
                <a:cs typeface="Traditional Arabic" pitchFamily="34" charset="-120"/>
              </a:rPr>
              <a:t>ذِينَ</a:t>
            </a:r>
            <a:endParaRPr lang="ar-SA" sz="4200" dirty="0"/>
          </a:p>
        </p:txBody>
      </p:sp>
      <p:sp>
        <p:nvSpPr>
          <p:cNvPr id="15" name="Choice C 391 LINK:act2_noon">
            <a:hlinkClick r:id="rIdJump7" action="ppaction://hlinksldjump"/>
          </p:cNvPr>
          <p:cNvSpPr/>
          <p:nvPr/>
        </p:nvSpPr>
        <p:spPr>
          <a:xfrm>
            <a:off x="8127797" y="4160520"/>
            <a:ext cx="3515258" cy="1783080"/>
          </a:xfrm>
          <a:prstGeom prst="roundRect">
            <a:avLst>
              <a:gd name="adj" fmla="val 11282"/>
            </a:avLst>
          </a:prstGeom>
          <a:solidFill>
            <a:srgbClr val="FFFFFF"/>
          </a:solidFill>
          <a:ln w="19050">
            <a:solidFill>
              <a:srgbClr val="1D7A6E"/>
            </a:solidFill>
          </a:ln>
          <a:effectLst>
            <a:outerShdw sx="100000" sy="100000" kx="0" ky="0" algn="bl" rotWithShape="0" blurRad="50800" dist="25400" dir="5400000">
              <a:srgbClr val="0F3D3A">
                <a:alpha val="18000"/>
              </a:srgbClr>
            </a:outerShdw>
          </a:effectLst>
        </p:spPr>
        <p:txBody>
          <a:bodyPr wrap="square" lIns="274320" tIns="1141171" rIns="274320" bIns="91440" rtlCol="0" anchor="ctr"/>
          <a:lstStyle/>
          <a:p>
            <a:pPr algn="ctr" indent="0" marL="0">
              <a:buNone/>
            </a:pPr>
            <a:r>
              <a:rPr lang="en-US" sz="2000" b="1" dirty="0">
                <a:solidFill>
                  <a:srgbClr val="16302E"/>
                </a:solidFill>
                <a:latin typeface="Calibri" pitchFamily="34" charset="0"/>
                <a:ea typeface="Calibri" pitchFamily="34" charset="-122"/>
                <a:cs typeface="Calibri" pitchFamily="34" charset="-120"/>
              </a:rPr>
              <a:t>The last noon</a:t>
            </a:r>
            <a:endParaRPr lang="en-US" sz="2000" dirty="0"/>
          </a:p>
        </p:txBody>
      </p:sp>
      <p:sp>
        <p:nvSpPr>
          <p:cNvPr id="16" name="Choice letter 392 LINK:act2_noon">
            <a:hlinkClick r:id="rIdJump8" action="ppaction://hlinksldjump"/>
          </p:cNvPr>
          <p:cNvSpPr/>
          <p:nvPr/>
        </p:nvSpPr>
        <p:spPr>
          <a:xfrm>
            <a:off x="8292389" y="4297680"/>
            <a:ext cx="530352" cy="530352"/>
          </a:xfrm>
          <a:prstGeom prst="ellipse">
            <a:avLst/>
          </a:prstGeom>
          <a:solidFill>
            <a:srgbClr val="1D7A6E"/>
          </a:solidFill>
          <a:ln>
            <a:solidFill>
              <a:srgbClr val="1D7A6E"/>
            </a:solid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C</a:t>
            </a:r>
            <a:endParaRPr lang="en-US" sz="2000" dirty="0"/>
          </a:p>
        </p:txBody>
      </p:sp>
      <p:sp>
        <p:nvSpPr>
          <p:cNvPr id="17" name="Choice Arabic 393 LINK:act2_noon">
            <a:hlinkClick r:id="rIdJump9" action="ppaction://hlinksldjump"/>
          </p:cNvPr>
          <p:cNvSpPr txBox="1"/>
          <p:nvPr/>
        </p:nvSpPr>
        <p:spPr>
          <a:xfrm>
            <a:off x="8859317" y="4215384"/>
            <a:ext cx="2600858" cy="998525"/>
          </a:xfrm>
          <a:prstGeom prst="rect">
            <a:avLst/>
          </a:prstGeom>
          <a:noFill/>
          <a:ln/>
        </p:spPr>
        <p:txBody>
          <a:bodyPr wrap="square" lIns="0" tIns="0" rIns="0" bIns="0" rtlCol="0" anchor="ctr"/>
          <a:lstStyle/>
          <a:p>
            <a:pPr algn="ctr" indent="0" marL="0">
              <a:buNone/>
            </a:pPr>
            <a:r>
              <a:rPr lang="ar-SA" altLang="en-US" sz="4200" dirty="0">
                <a:solidFill>
                  <a:srgbClr val="16302E"/>
                </a:solidFill>
                <a:latin typeface="Traditional Arabic" pitchFamily="34" charset="0"/>
                <a:ea typeface="Traditional Arabic" pitchFamily="34" charset="-122"/>
                <a:cs typeface="Traditional Arabic" pitchFamily="34" charset="-120"/>
              </a:rPr>
              <a:t>ٱلَّذِي</a:t>
            </a:r>
            <a:pPr algn="ctr" indent="0" marL="0">
              <a:buNone/>
            </a:pPr>
            <a:r>
              <a:rPr lang="ar-SA" altLang="en-US" sz="4200" dirty="0">
                <a:solidFill>
                  <a:srgbClr val="0F5148"/>
                </a:solidFill>
                <a:highlight>
                  <a:srgbClr val="FFE08A"/>
                </a:highlight>
                <a:latin typeface="Traditional Arabic" pitchFamily="34" charset="0"/>
                <a:ea typeface="Traditional Arabic" pitchFamily="34" charset="-122"/>
                <a:cs typeface="Traditional Arabic" pitchFamily="34" charset="-120"/>
              </a:rPr>
              <a:t>نَ</a:t>
            </a:r>
            <a:endParaRPr lang="ar-SA" sz="4200" dirty="0"/>
          </a:p>
        </p:txBody>
      </p:sp>
      <p:sp>
        <p:nvSpPr>
          <p:cNvPr id="18" name="Nav Home 394 LINK:title">
            <a:hlinkClick r:id="rIdJump10" action="ppaction://hlinksldjump"/>
          </p:cNvPr>
          <p:cNvSpPr/>
          <p:nvPr/>
        </p:nvSpPr>
        <p:spPr>
          <a:xfrm>
            <a:off x="548640" y="6236208"/>
            <a:ext cx="1234440" cy="420624"/>
          </a:xfrm>
          <a:prstGeom prst="roundRect">
            <a:avLst>
              <a:gd name="adj" fmla="val 47826"/>
            </a:avLst>
          </a:prstGeom>
          <a:solidFill>
            <a:srgbClr val="16302E"/>
          </a:solidFill>
          <a:ln>
            <a:solidFill>
              <a:srgbClr val="16302E"/>
            </a:solidFill>
          </a:ln>
        </p:spPr>
        <p:txBody>
          <a:bodyPr wrap="square" lIns="365760" tIns="0" rIns="9144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Home</a:t>
            </a:r>
            <a:endParaRPr lang="en-US" sz="1500" dirty="0"/>
          </a:p>
        </p:txBody>
      </p:sp>
      <p:pic>
        <p:nvPicPr>
          <p:cNvPr id="19" name="Button icon 395 LINK:title" descr="preencoded.png">
            <a:hlinkClick r:id="rIdJump11" action="ppaction://hlinksldjump"/>
          </p:cNvPr>
          <p:cNvPicPr>
            <a:picLocks noChangeAspect="1"/>
          </p:cNvPicPr>
          <p:nvPr/>
        </p:nvPicPr>
        <p:blipFill>
          <a:blip r:embed="rId1"/>
          <a:stretch>
            <a:fillRect/>
          </a:stretch>
        </p:blipFill>
        <p:spPr>
          <a:xfrm>
            <a:off x="749808" y="6336792"/>
            <a:ext cx="219456" cy="219456"/>
          </a:xfrm>
          <a:prstGeom prst="rect">
            <a:avLst/>
          </a:prstGeom>
        </p:spPr>
      </p:pic>
      <p:sp>
        <p:nvSpPr>
          <p:cNvPr id="20" name="Nav Menu 396 LINK:menu">
            <a:hlinkClick r:id="rIdJump12" action="ppaction://hlinksldjump"/>
          </p:cNvPr>
          <p:cNvSpPr/>
          <p:nvPr/>
        </p:nvSpPr>
        <p:spPr>
          <a:xfrm>
            <a:off x="1901952" y="6236208"/>
            <a:ext cx="1005840" cy="420624"/>
          </a:xfrm>
          <a:prstGeom prst="roundRect">
            <a:avLst>
              <a:gd name="adj" fmla="val 47826"/>
            </a:avLst>
          </a:prstGeom>
          <a:solidFill>
            <a:srgbClr val="FFFFFF"/>
          </a:solidFill>
          <a:ln w="19050">
            <a:solidFill>
              <a:srgbClr val="16302E"/>
            </a:solidFill>
          </a:ln>
        </p:spPr>
        <p:txBody>
          <a:bodyPr wrap="square" lIns="109728" tIns="0" rIns="109728" bIns="0" rtlCol="0" anchor="ctr"/>
          <a:lstStyle/>
          <a:p>
            <a:pPr algn="ctr" indent="0" marL="0">
              <a:buNone/>
            </a:pPr>
            <a:r>
              <a:rPr lang="en-US" sz="1500" b="1" dirty="0">
                <a:solidFill>
                  <a:srgbClr val="16302E"/>
                </a:solidFill>
                <a:latin typeface="Calibri" pitchFamily="34" charset="0"/>
                <a:ea typeface="Calibri" pitchFamily="34" charset="-122"/>
                <a:cs typeface="Calibri" pitchFamily="34" charset="-120"/>
              </a:rPr>
              <a:t>Menu</a:t>
            </a:r>
            <a:endParaRPr lang="en-US" sz="1500" dirty="0"/>
          </a:p>
        </p:txBody>
      </p:sp>
      <p:sp>
        <p:nvSpPr>
          <p:cNvPr id="21" name="Slide counter 397"/>
          <p:cNvSpPr txBox="1"/>
          <p:nvPr/>
        </p:nvSpPr>
        <p:spPr>
          <a:xfrm>
            <a:off x="5184648" y="6236208"/>
            <a:ext cx="1828800" cy="420624"/>
          </a:xfrm>
          <a:prstGeom prst="rect">
            <a:avLst/>
          </a:prstGeom>
          <a:noFill/>
          <a:ln/>
        </p:spPr>
        <p:txBody>
          <a:bodyPr wrap="square" lIns="0" tIns="0" rIns="0" bIns="0" rtlCol="0" anchor="ctr"/>
          <a:lstStyle/>
          <a:p>
            <a:pPr algn="ctr" indent="0" marL="0">
              <a:buNone/>
            </a:pPr>
            <a:r>
              <a:rPr lang="en-US" sz="1400" dirty="0">
                <a:solidFill>
                  <a:srgbClr val="5D7774"/>
                </a:solidFill>
                <a:latin typeface="Calibri" pitchFamily="34" charset="0"/>
                <a:ea typeface="Calibri" pitchFamily="34" charset="-122"/>
                <a:cs typeface="Calibri" pitchFamily="34" charset="-120"/>
              </a:rPr>
              <a:t>14 / 18</a:t>
            </a:r>
            <a:endParaRPr lang="en-US" sz="1400" dirty="0"/>
          </a:p>
        </p:txBody>
      </p:sp>
      <p:sp>
        <p:nvSpPr>
          <p:cNvPr id="22" name="Nav Back 398 LINK:act1">
            <a:hlinkClick r:id="rIdJump13" action="ppaction://hlinksldjump"/>
          </p:cNvPr>
          <p:cNvSpPr/>
          <p:nvPr/>
        </p:nvSpPr>
        <p:spPr>
          <a:xfrm>
            <a:off x="9052560" y="6236208"/>
            <a:ext cx="1234440" cy="420624"/>
          </a:xfrm>
          <a:prstGeom prst="roundRect">
            <a:avLst>
              <a:gd name="adj" fmla="val 47826"/>
            </a:avLst>
          </a:prstGeom>
          <a:solidFill>
            <a:srgbClr val="FFFFFF"/>
          </a:solidFill>
          <a:ln w="19050">
            <a:solidFill>
              <a:srgbClr val="1D7A6E"/>
            </a:solidFill>
          </a:ln>
        </p:spPr>
        <p:txBody>
          <a:bodyPr wrap="square" lIns="109728" tIns="0" rIns="109728" bIns="0" rtlCol="0" anchor="ctr"/>
          <a:lstStyle/>
          <a:p>
            <a:pPr algn="ctr" indent="0" marL="0">
              <a:buNone/>
            </a:pPr>
            <a:r>
              <a:rPr lang="en-US" sz="1500" b="1" dirty="0">
                <a:solidFill>
                  <a:srgbClr val="1D7A6E"/>
                </a:solidFill>
                <a:latin typeface="Calibri" pitchFamily="34" charset="0"/>
                <a:ea typeface="Calibri" pitchFamily="34" charset="-122"/>
                <a:cs typeface="Calibri" pitchFamily="34" charset="-120"/>
              </a:rPr>
              <a:t>‹  Back</a:t>
            </a:r>
            <a:endParaRPr lang="en-US" sz="1500" dirty="0"/>
          </a:p>
        </p:txBody>
      </p:sp>
      <p:sp>
        <p:nvSpPr>
          <p:cNvPr id="23" name="Nav Next 399 LINK:act3">
            <a:hlinkClick r:id="rIdJump14" action="ppaction://hlinksldjump"/>
          </p:cNvPr>
          <p:cNvSpPr/>
          <p:nvPr/>
        </p:nvSpPr>
        <p:spPr>
          <a:xfrm>
            <a:off x="10405872" y="6236208"/>
            <a:ext cx="1234440" cy="420624"/>
          </a:xfrm>
          <a:prstGeom prst="roundRect">
            <a:avLst>
              <a:gd name="adj" fmla="val 47826"/>
            </a:avLst>
          </a:prstGeom>
          <a:solidFill>
            <a:srgbClr val="1D7A6E"/>
          </a:solidFill>
          <a:ln>
            <a:solidFill>
              <a:srgbClr val="1D7A6E"/>
            </a:solidFill>
          </a:ln>
        </p:spPr>
        <p:txBody>
          <a:bodyPr wrap="square" lIns="109728" tIns="0" rIns="109728"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Next  ›</a:t>
            </a:r>
            <a:endParaRPr lang="en-US" sz="1500" dirty="0"/>
          </a:p>
        </p:txBody>
      </p:sp>
    </p:spTree>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show="0">
  <p:cSld name="Slide 19">
    <p:spTree>
      <p:nvGrpSpPr>
        <p:cNvPr id="1" name=""/>
        <p:cNvGrpSpPr/>
        <p:nvPr/>
      </p:nvGrpSpPr>
      <p:grpSpPr>
        <a:xfrm>
          <a:off x="0" y="0"/>
          <a:ext cx="0" cy="0"/>
          <a:chOff x="0" y="0"/>
          <a:chExt cx="0" cy="0"/>
        </a:xfrm>
      </p:grpSpPr>
      <p:sp>
        <p:nvSpPr>
          <p:cNvPr id="2" name="Correct badge circle 400"/>
          <p:cNvSpPr/>
          <p:nvPr/>
        </p:nvSpPr>
        <p:spPr>
          <a:xfrm>
            <a:off x="548640" y="502920"/>
            <a:ext cx="1005840" cy="1005840"/>
          </a:xfrm>
          <a:prstGeom prst="ellipse">
            <a:avLst/>
          </a:prstGeom>
          <a:solidFill>
            <a:srgbClr val="2E9E5B"/>
          </a:solidFill>
          <a:ln w="12700">
            <a:solidFill>
              <a:srgbClr val="2E9E5B"/>
            </a:solidFill>
            <a:prstDash val="solid"/>
          </a:ln>
        </p:spPr>
      </p:sp>
      <p:pic>
        <p:nvPicPr>
          <p:cNvPr id="3" name="Correct badge glyph 401" descr="preencoded.png">    </p:cNvPr>
          <p:cNvPicPr>
            <a:picLocks noChangeAspect="1"/>
          </p:cNvPicPr>
          <p:nvPr/>
        </p:nvPicPr>
        <p:blipFill>
          <a:blip r:embed="rId1"/>
          <a:stretch>
            <a:fillRect/>
          </a:stretch>
        </p:blipFill>
        <p:spPr>
          <a:xfrm>
            <a:off x="800100" y="754380"/>
            <a:ext cx="502920" cy="502920"/>
          </a:xfrm>
          <a:prstGeom prst="rect">
            <a:avLst/>
          </a:prstGeom>
        </p:spPr>
      </p:pic>
      <p:sp>
        <p:nvSpPr>
          <p:cNvPr id="4" name="Feedback title 402"/>
          <p:cNvSpPr txBox="1"/>
          <p:nvPr/>
        </p:nvSpPr>
        <p:spPr>
          <a:xfrm>
            <a:off x="1783080" y="548640"/>
            <a:ext cx="7315200" cy="914400"/>
          </a:xfrm>
          <a:prstGeom prst="rect">
            <a:avLst/>
          </a:prstGeom>
          <a:noFill/>
          <a:ln/>
        </p:spPr>
        <p:txBody>
          <a:bodyPr wrap="square" lIns="0" tIns="0" rIns="0" bIns="0" rtlCol="0" anchor="ctr"/>
          <a:lstStyle/>
          <a:p>
            <a:pPr indent="0" marL="0">
              <a:buNone/>
            </a:pPr>
            <a:r>
              <a:rPr lang="en-US" sz="4400" b="1" dirty="0">
                <a:solidFill>
                  <a:srgbClr val="1E7543"/>
                </a:solidFill>
                <a:latin typeface="Calibri" pitchFamily="34" charset="0"/>
                <a:ea typeface="Calibri" pitchFamily="34" charset="-122"/>
                <a:cs typeface="Calibri" pitchFamily="34" charset="-120"/>
              </a:rPr>
              <a:t>Correct!</a:t>
            </a:r>
            <a:endParaRPr lang="en-US" sz="4400" dirty="0"/>
          </a:p>
        </p:txBody>
      </p:sp>
      <p:pic>
        <p:nvPicPr>
          <p:cNvPr id="5" name="Deco star 0 403" descr="preencoded.png">    </p:cNvPr>
          <p:cNvPicPr>
            <a:picLocks noChangeAspect="1"/>
          </p:cNvPicPr>
          <p:nvPr/>
        </p:nvPicPr>
        <p:blipFill>
          <a:blip r:embed="rId2"/>
          <a:stretch>
            <a:fillRect/>
          </a:stretch>
        </p:blipFill>
        <p:spPr>
          <a:xfrm>
            <a:off x="9692640" y="457200"/>
            <a:ext cx="502920" cy="502920"/>
          </a:xfrm>
          <a:prstGeom prst="rect">
            <a:avLst/>
          </a:prstGeom>
        </p:spPr>
      </p:pic>
      <p:pic>
        <p:nvPicPr>
          <p:cNvPr id="6" name="Deco star 1 404" descr="preencoded.png">    </p:cNvPr>
          <p:cNvPicPr>
            <a:picLocks noChangeAspect="1"/>
          </p:cNvPicPr>
          <p:nvPr/>
        </p:nvPicPr>
        <p:blipFill>
          <a:blip r:embed="rId3"/>
          <a:stretch>
            <a:fillRect/>
          </a:stretch>
        </p:blipFill>
        <p:spPr>
          <a:xfrm>
            <a:off x="10424160" y="868680"/>
            <a:ext cx="347472" cy="347472"/>
          </a:xfrm>
          <a:prstGeom prst="rect">
            <a:avLst/>
          </a:prstGeom>
        </p:spPr>
      </p:pic>
      <p:pic>
        <p:nvPicPr>
          <p:cNvPr id="7" name="Deco star 2 405" descr="preencoded.png">    </p:cNvPr>
          <p:cNvPicPr>
            <a:picLocks noChangeAspect="1"/>
          </p:cNvPicPr>
          <p:nvPr/>
        </p:nvPicPr>
        <p:blipFill>
          <a:blip r:embed="rId4"/>
          <a:stretch>
            <a:fillRect/>
          </a:stretch>
        </p:blipFill>
        <p:spPr>
          <a:xfrm>
            <a:off x="11064240" y="411480"/>
            <a:ext cx="411480" cy="411480"/>
          </a:xfrm>
          <a:prstGeom prst="rect">
            <a:avLst/>
          </a:prstGeom>
        </p:spPr>
      </p:pic>
      <p:pic>
        <p:nvPicPr>
          <p:cNvPr id="8" name="Deco star 3 406" descr="preencoded.png">    </p:cNvPr>
          <p:cNvPicPr>
            <a:picLocks noChangeAspect="1"/>
          </p:cNvPicPr>
          <p:nvPr/>
        </p:nvPicPr>
        <p:blipFill>
          <a:blip r:embed="rId5"/>
          <a:stretch>
            <a:fillRect/>
          </a:stretch>
        </p:blipFill>
        <p:spPr>
          <a:xfrm>
            <a:off x="9052560" y="960120"/>
            <a:ext cx="274320" cy="274320"/>
          </a:xfrm>
          <a:prstGeom prst="rect">
            <a:avLst/>
          </a:prstGeom>
        </p:spPr>
      </p:pic>
      <p:sp>
        <p:nvSpPr>
          <p:cNvPr id="9" name="Verse panel 407"/>
          <p:cNvSpPr/>
          <p:nvPr/>
        </p:nvSpPr>
        <p:spPr>
          <a:xfrm>
            <a:off x="548640" y="1783080"/>
            <a:ext cx="11094415" cy="1371600"/>
          </a:xfrm>
          <a:prstGeom prst="roundRect">
            <a:avLst>
              <a:gd name="adj" fmla="val 12000"/>
            </a:avLst>
          </a:prstGeom>
          <a:solidFill>
            <a:srgbClr val="FFFFFF"/>
          </a:solidFill>
          <a:ln w="12700">
            <a:solidFill>
              <a:srgbClr val="D5E5E0"/>
            </a:solidFill>
            <a:prstDash val="solid"/>
          </a:ln>
          <a:effectLst>
            <a:outerShdw sx="100000" sy="100000" kx="0" ky="0" algn="bl" rotWithShape="0" blurRad="101600" dist="25400" dir="5400000">
              <a:srgbClr val="0F3D3A">
                <a:alpha val="10000"/>
              </a:srgbClr>
            </a:outerShdw>
          </a:effectLst>
        </p:spPr>
      </p:sp>
      <p:sp>
        <p:nvSpPr>
          <p:cNvPr id="10" name="Verse excerpt 408"/>
          <p:cNvSpPr txBox="1"/>
          <p:nvPr/>
        </p:nvSpPr>
        <p:spPr>
          <a:xfrm>
            <a:off x="822960" y="1810512"/>
            <a:ext cx="10545775" cy="1280160"/>
          </a:xfrm>
          <a:prstGeom prst="rect">
            <a:avLst/>
          </a:prstGeom>
          <a:noFill/>
          <a:ln/>
        </p:spPr>
        <p:txBody>
          <a:bodyPr wrap="square" lIns="0" tIns="0" rIns="0" bIns="0" rtlCol="0" anchor="ctr"/>
          <a:lstStyle/>
          <a:p>
            <a:pPr algn="ctr" indent="0" marL="0">
              <a:buNone/>
            </a:pPr>
            <a:r>
              <a:rPr lang="ar-SA" altLang="en-US" sz="6000" dirty="0">
                <a:solidFill>
                  <a:srgbClr val="0F5148"/>
                </a:solidFill>
                <a:highlight>
                  <a:srgbClr val="FFE08A"/>
                </a:highlight>
                <a:latin typeface="Traditional Arabic" pitchFamily="34" charset="0"/>
                <a:ea typeface="Traditional Arabic" pitchFamily="34" charset="-122"/>
                <a:cs typeface="Traditional Arabic" pitchFamily="34" charset="-120"/>
              </a:rPr>
              <a:t>إِنَّ</a:t>
            </a:r>
            <a:pPr algn="ctr" indent="0" marL="0">
              <a:buNone/>
            </a:pPr>
            <a:r>
              <a:rPr lang="ar-SA" altLang="en-US" sz="6000" dirty="0">
                <a:solidFill>
                  <a:srgbClr val="16302E"/>
                </a:solidFill>
                <a:latin typeface="Traditional Arabic" pitchFamily="34" charset="0"/>
                <a:ea typeface="Traditional Arabic" pitchFamily="34" charset="-122"/>
                <a:cs typeface="Traditional Arabic" pitchFamily="34" charset="-120"/>
              </a:rPr>
              <a:t> ٱلَّذِينَ</a:t>
            </a:r>
            <a:endParaRPr lang="ar-SA" sz="6000" dirty="0"/>
          </a:p>
        </p:txBody>
      </p:sp>
      <p:sp>
        <p:nvSpPr>
          <p:cNvPr id="11" name="Explanation 409"/>
          <p:cNvSpPr txBox="1"/>
          <p:nvPr/>
        </p:nvSpPr>
        <p:spPr>
          <a:xfrm>
            <a:off x="548640" y="3383280"/>
            <a:ext cx="11094415" cy="1234440"/>
          </a:xfrm>
          <a:prstGeom prst="rect">
            <a:avLst/>
          </a:prstGeom>
          <a:noFill/>
          <a:ln/>
        </p:spPr>
        <p:txBody>
          <a:bodyPr wrap="square" lIns="0" tIns="0" rIns="0" bIns="0" rtlCol="0" anchor="t"/>
          <a:lstStyle/>
          <a:p>
            <a:pPr indent="0" marL="0">
              <a:buNone/>
            </a:pPr>
            <a:r>
              <a:rPr lang="en-US" sz="2400" dirty="0">
                <a:solidFill>
                  <a:srgbClr val="16302E"/>
                </a:solidFill>
                <a:latin typeface="Calibri" pitchFamily="34" charset="0"/>
                <a:ea typeface="Calibri" pitchFamily="34" charset="-122"/>
                <a:cs typeface="Calibri" pitchFamily="34" charset="-120"/>
              </a:rPr>
              <a:t>Yes! The noon of inna carries a shaddah, so hold two counts of ghunnah, then release into its fathah.</a:t>
            </a:r>
            <a:endParaRPr lang="en-US" sz="2400" dirty="0"/>
          </a:p>
        </p:txBody>
      </p:sp>
      <p:sp>
        <p:nvSpPr>
          <p:cNvPr id="12" name="Extra challenge 410"/>
          <p:cNvSpPr/>
          <p:nvPr/>
        </p:nvSpPr>
        <p:spPr>
          <a:xfrm>
            <a:off x="548640" y="4754880"/>
            <a:ext cx="11094415" cy="1143000"/>
          </a:xfrm>
          <a:prstGeom prst="roundRect">
            <a:avLst>
              <a:gd name="adj" fmla="val 14400"/>
            </a:avLst>
          </a:prstGeom>
          <a:solidFill>
            <a:srgbClr val="FDF3DC"/>
          </a:solidFill>
          <a:ln w="12700">
            <a:solidFill>
              <a:srgbClr val="F2B134"/>
            </a:solidFill>
            <a:prstDash val="solid"/>
          </a:ln>
        </p:spPr>
      </p:sp>
      <p:sp>
        <p:nvSpPr>
          <p:cNvPr id="13" name="Extra circle 411"/>
          <p:cNvSpPr/>
          <p:nvPr/>
        </p:nvSpPr>
        <p:spPr>
          <a:xfrm>
            <a:off x="777240" y="5001768"/>
            <a:ext cx="640080" cy="640080"/>
          </a:xfrm>
          <a:prstGeom prst="ellipse">
            <a:avLst/>
          </a:prstGeom>
          <a:solidFill>
            <a:srgbClr val="F2B134"/>
          </a:solidFill>
          <a:ln w="12700">
            <a:solidFill>
              <a:srgbClr val="F2B134"/>
            </a:solidFill>
            <a:prstDash val="solid"/>
          </a:ln>
        </p:spPr>
      </p:sp>
      <p:pic>
        <p:nvPicPr>
          <p:cNvPr id="14" name="Extra glyph 412" descr="preencoded.png">    </p:cNvPr>
          <p:cNvPicPr>
            <a:picLocks noChangeAspect="1"/>
          </p:cNvPicPr>
          <p:nvPr/>
        </p:nvPicPr>
        <p:blipFill>
          <a:blip r:embed="rId6"/>
          <a:stretch>
            <a:fillRect/>
          </a:stretch>
        </p:blipFill>
        <p:spPr>
          <a:xfrm>
            <a:off x="937260" y="5161788"/>
            <a:ext cx="320040" cy="320040"/>
          </a:xfrm>
          <a:prstGeom prst="rect">
            <a:avLst/>
          </a:prstGeom>
        </p:spPr>
      </p:pic>
      <p:sp>
        <p:nvSpPr>
          <p:cNvPr id="15" name="Extra text 413"/>
          <p:cNvSpPr txBox="1"/>
          <p:nvPr/>
        </p:nvSpPr>
        <p:spPr>
          <a:xfrm>
            <a:off x="1600200" y="4828032"/>
            <a:ext cx="9814255" cy="1005840"/>
          </a:xfrm>
          <a:prstGeom prst="rect">
            <a:avLst/>
          </a:prstGeom>
          <a:noFill/>
          <a:ln/>
        </p:spPr>
        <p:txBody>
          <a:bodyPr wrap="square" lIns="0" tIns="0" rIns="0" bIns="0" rtlCol="0" anchor="ctr"/>
          <a:lstStyle/>
          <a:p>
            <a:pPr indent="0" marL="0">
              <a:buNone/>
            </a:pPr>
            <a:r>
              <a:rPr lang="en-US" sz="2100" b="1" dirty="0">
                <a:solidFill>
                  <a:srgbClr val="B9770E"/>
                </a:solidFill>
                <a:latin typeface="Calibri" pitchFamily="34" charset="0"/>
                <a:ea typeface="Calibri" pitchFamily="34" charset="-122"/>
                <a:cs typeface="Calibri" pitchFamily="34" charset="-120"/>
              </a:rPr>
              <a:t>Extra challenge  </a:t>
            </a:r>
            <a:pPr indent="0" marL="0">
              <a:buNone/>
            </a:pPr>
            <a:r>
              <a:rPr lang="en-US" sz="2100" dirty="0">
                <a:solidFill>
                  <a:srgbClr val="16302E"/>
                </a:solidFill>
                <a:latin typeface="Calibri" pitchFamily="34" charset="0"/>
                <a:ea typeface="Calibri" pitchFamily="34" charset="-122"/>
                <a:cs typeface="Calibri" pitchFamily="34" charset="-120"/>
              </a:rPr>
              <a:t>There is another shaddah in this excerpt. Where is it, and why does this ghunnah rule not apply to it?</a:t>
            </a:r>
            <a:endParaRPr lang="en-US" sz="2100" dirty="0"/>
          </a:p>
        </p:txBody>
      </p:sp>
      <p:sp>
        <p:nvSpPr>
          <p:cNvPr id="16" name="Back to question 414 LINK:act2">
            <a:hlinkClick r:id="rIdJump1" action="ppaction://hlinksldjump"/>
          </p:cNvPr>
          <p:cNvSpPr/>
          <p:nvPr/>
        </p:nvSpPr>
        <p:spPr>
          <a:xfrm>
            <a:off x="548640" y="6236208"/>
            <a:ext cx="2377440" cy="420624"/>
          </a:xfrm>
          <a:prstGeom prst="roundRect">
            <a:avLst>
              <a:gd name="adj" fmla="val 47826"/>
            </a:avLst>
          </a:prstGeom>
          <a:solidFill>
            <a:srgbClr val="FFFFFF"/>
          </a:solidFill>
          <a:ln w="19050">
            <a:solidFill>
              <a:srgbClr val="1D7A6E"/>
            </a:solidFill>
          </a:ln>
        </p:spPr>
        <p:txBody>
          <a:bodyPr wrap="square" lIns="109728" tIns="0" rIns="109728" bIns="0" rtlCol="0" anchor="ctr"/>
          <a:lstStyle/>
          <a:p>
            <a:pPr algn="ctr" indent="0" marL="0">
              <a:buNone/>
            </a:pPr>
            <a:r>
              <a:rPr lang="en-US" sz="1500" b="1" dirty="0">
                <a:solidFill>
                  <a:srgbClr val="1D7A6E"/>
                </a:solidFill>
                <a:latin typeface="Calibri" pitchFamily="34" charset="0"/>
                <a:ea typeface="Calibri" pitchFamily="34" charset="-122"/>
                <a:cs typeface="Calibri" pitchFamily="34" charset="-120"/>
              </a:rPr>
              <a:t>‹  Back to question</a:t>
            </a:r>
            <a:endParaRPr lang="en-US" sz="1500" dirty="0"/>
          </a:p>
        </p:txBody>
      </p:sp>
      <p:sp>
        <p:nvSpPr>
          <p:cNvPr id="17" name="Feedback next 415 LINK:act3">
            <a:hlinkClick r:id="rIdJump2" action="ppaction://hlinksldjump"/>
          </p:cNvPr>
          <p:cNvSpPr/>
          <p:nvPr/>
        </p:nvSpPr>
        <p:spPr>
          <a:xfrm>
            <a:off x="9537192" y="6236208"/>
            <a:ext cx="2103120" cy="420624"/>
          </a:xfrm>
          <a:prstGeom prst="roundRect">
            <a:avLst>
              <a:gd name="adj" fmla="val 47826"/>
            </a:avLst>
          </a:prstGeom>
          <a:solidFill>
            <a:srgbClr val="2E9E5B"/>
          </a:solidFill>
          <a:ln>
            <a:solidFill>
              <a:srgbClr val="2E9E5B"/>
            </a:solidFill>
          </a:ln>
        </p:spPr>
        <p:txBody>
          <a:bodyPr wrap="square" lIns="109728" tIns="0" rIns="109728"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Next  ›</a:t>
            </a:r>
            <a:endParaRPr lang="en-US" sz="1600" dirty="0"/>
          </a:p>
        </p:txBody>
      </p:sp>
    </p:spTree>
  </p:cSld>
  <p:clrMapOvr>
    <a:masterClrMapping/>
  </p:clrMapOvr>
  <p:transition spd="med">
    <p:fade/>
  </p:transition>
</p:sld>
</file>

<file path=ppt/slides/slide20.xml><?xml version="1.0" encoding="utf-8"?>
<p:sld xmlns:a="http://schemas.openxmlformats.org/drawingml/2006/main" xmlns:r="http://schemas.openxmlformats.org/officeDocument/2006/relationships" xmlns:p="http://schemas.openxmlformats.org/presentationml/2006/main" show="0">
  <p:cSld name="Slide 20">
    <p:spTree>
      <p:nvGrpSpPr>
        <p:cNvPr id="1" name=""/>
        <p:cNvGrpSpPr/>
        <p:nvPr/>
      </p:nvGrpSpPr>
      <p:grpSpPr>
        <a:xfrm>
          <a:off x="0" y="0"/>
          <a:ext cx="0" cy="0"/>
          <a:chOff x="0" y="0"/>
          <a:chExt cx="0" cy="0"/>
        </a:xfrm>
      </p:grpSpPr>
      <p:sp>
        <p:nvSpPr>
          <p:cNvPr id="2" name="Try badge circle 416"/>
          <p:cNvSpPr/>
          <p:nvPr/>
        </p:nvSpPr>
        <p:spPr>
          <a:xfrm>
            <a:off x="548640" y="502920"/>
            <a:ext cx="1005840" cy="1005840"/>
          </a:xfrm>
          <a:prstGeom prst="ellipse">
            <a:avLst/>
          </a:prstGeom>
          <a:solidFill>
            <a:srgbClr val="E0674F"/>
          </a:solidFill>
          <a:ln w="12700">
            <a:solidFill>
              <a:srgbClr val="E0674F"/>
            </a:solidFill>
            <a:prstDash val="solid"/>
          </a:ln>
        </p:spPr>
      </p:sp>
      <p:pic>
        <p:nvPicPr>
          <p:cNvPr id="3" name="Try badge glyph 417" descr="preencoded.png">    </p:cNvPr>
          <p:cNvPicPr>
            <a:picLocks noChangeAspect="1"/>
          </p:cNvPicPr>
          <p:nvPr/>
        </p:nvPicPr>
        <p:blipFill>
          <a:blip r:embed="rId1"/>
          <a:stretch>
            <a:fillRect/>
          </a:stretch>
        </p:blipFill>
        <p:spPr>
          <a:xfrm>
            <a:off x="800100" y="754380"/>
            <a:ext cx="502920" cy="502920"/>
          </a:xfrm>
          <a:prstGeom prst="rect">
            <a:avLst/>
          </a:prstGeom>
        </p:spPr>
      </p:pic>
      <p:sp>
        <p:nvSpPr>
          <p:cNvPr id="4" name="Feedback title 418"/>
          <p:cNvSpPr txBox="1"/>
          <p:nvPr/>
        </p:nvSpPr>
        <p:spPr>
          <a:xfrm>
            <a:off x="1783080" y="548640"/>
            <a:ext cx="9144000" cy="914400"/>
          </a:xfrm>
          <a:prstGeom prst="rect">
            <a:avLst/>
          </a:prstGeom>
          <a:noFill/>
          <a:ln/>
        </p:spPr>
        <p:txBody>
          <a:bodyPr wrap="square" lIns="0" tIns="0" rIns="0" bIns="0" rtlCol="0" anchor="ctr"/>
          <a:lstStyle/>
          <a:p>
            <a:pPr indent="0" marL="0">
              <a:buNone/>
            </a:pPr>
            <a:r>
              <a:rPr lang="en-US" sz="4000" b="1" dirty="0">
                <a:solidFill>
                  <a:srgbClr val="B2432E"/>
                </a:solidFill>
                <a:latin typeface="Calibri" pitchFamily="34" charset="0"/>
                <a:ea typeface="Calibri" pitchFamily="34" charset="-122"/>
                <a:cs typeface="Calibri" pitchFamily="34" charset="-120"/>
              </a:rPr>
              <a:t>Good eye: that is a shaddah!</a:t>
            </a:r>
            <a:endParaRPr lang="en-US" sz="4000" dirty="0"/>
          </a:p>
        </p:txBody>
      </p:sp>
      <p:sp>
        <p:nvSpPr>
          <p:cNvPr id="5" name="Verse panel 419"/>
          <p:cNvSpPr/>
          <p:nvPr/>
        </p:nvSpPr>
        <p:spPr>
          <a:xfrm>
            <a:off x="548640" y="1783080"/>
            <a:ext cx="11094415" cy="1371600"/>
          </a:xfrm>
          <a:prstGeom prst="roundRect">
            <a:avLst>
              <a:gd name="adj" fmla="val 12000"/>
            </a:avLst>
          </a:prstGeom>
          <a:solidFill>
            <a:srgbClr val="FFFFFF"/>
          </a:solidFill>
          <a:ln w="12700">
            <a:solidFill>
              <a:srgbClr val="D5E5E0"/>
            </a:solidFill>
            <a:prstDash val="solid"/>
          </a:ln>
          <a:effectLst>
            <a:outerShdw sx="100000" sy="100000" kx="0" ky="0" algn="bl" rotWithShape="0" blurRad="101600" dist="25400" dir="5400000">
              <a:srgbClr val="0F3D3A">
                <a:alpha val="10000"/>
              </a:srgbClr>
            </a:outerShdw>
          </a:effectLst>
        </p:spPr>
      </p:sp>
      <p:sp>
        <p:nvSpPr>
          <p:cNvPr id="6" name="Verse excerpt 420"/>
          <p:cNvSpPr txBox="1"/>
          <p:nvPr/>
        </p:nvSpPr>
        <p:spPr>
          <a:xfrm>
            <a:off x="822960" y="1810512"/>
            <a:ext cx="10545775" cy="1280160"/>
          </a:xfrm>
          <a:prstGeom prst="rect">
            <a:avLst/>
          </a:prstGeom>
          <a:noFill/>
          <a:ln/>
        </p:spPr>
        <p:txBody>
          <a:bodyPr wrap="square" lIns="0" tIns="0" rIns="0" bIns="0" rtlCol="0" anchor="ctr"/>
          <a:lstStyle/>
          <a:p>
            <a:pPr algn="ctr" indent="0" marL="0">
              <a:buNone/>
            </a:pPr>
            <a:r>
              <a:rPr lang="ar-SA" altLang="en-US" sz="6000" dirty="0">
                <a:solidFill>
                  <a:srgbClr val="16302E"/>
                </a:solidFill>
                <a:latin typeface="Traditional Arabic" pitchFamily="34" charset="0"/>
                <a:ea typeface="Traditional Arabic" pitchFamily="34" charset="-122"/>
                <a:cs typeface="Traditional Arabic" pitchFamily="34" charset="-120"/>
              </a:rPr>
              <a:t>إِنَّ ٱ</a:t>
            </a:r>
            <a:pPr algn="ctr" indent="0" marL="0">
              <a:buNone/>
            </a:pPr>
            <a:r>
              <a:rPr lang="ar-SA" altLang="en-US" sz="6000" dirty="0">
                <a:solidFill>
                  <a:srgbClr val="0F5148"/>
                </a:solidFill>
                <a:highlight>
                  <a:srgbClr val="FFE08A"/>
                </a:highlight>
                <a:latin typeface="Traditional Arabic" pitchFamily="34" charset="0"/>
                <a:ea typeface="Traditional Arabic" pitchFamily="34" charset="-122"/>
                <a:cs typeface="Traditional Arabic" pitchFamily="34" charset="-120"/>
              </a:rPr>
              <a:t>لَّ</a:t>
            </a:r>
            <a:pPr algn="ctr" indent="0" marL="0">
              <a:buNone/>
            </a:pPr>
            <a:r>
              <a:rPr lang="ar-SA" altLang="en-US" sz="6000" dirty="0">
                <a:solidFill>
                  <a:srgbClr val="16302E"/>
                </a:solidFill>
                <a:latin typeface="Traditional Arabic" pitchFamily="34" charset="0"/>
                <a:ea typeface="Traditional Arabic" pitchFamily="34" charset="-122"/>
                <a:cs typeface="Traditional Arabic" pitchFamily="34" charset="-120"/>
              </a:rPr>
              <a:t>ذِينَ</a:t>
            </a:r>
            <a:endParaRPr lang="ar-SA" sz="6000" dirty="0"/>
          </a:p>
        </p:txBody>
      </p:sp>
      <p:sp>
        <p:nvSpPr>
          <p:cNvPr id="7" name="Hint circle 421"/>
          <p:cNvSpPr/>
          <p:nvPr/>
        </p:nvSpPr>
        <p:spPr>
          <a:xfrm>
            <a:off x="548640" y="3429000"/>
            <a:ext cx="640080" cy="640080"/>
          </a:xfrm>
          <a:prstGeom prst="ellipse">
            <a:avLst/>
          </a:prstGeom>
          <a:solidFill>
            <a:srgbClr val="F6C552"/>
          </a:solidFill>
          <a:ln w="12700">
            <a:solidFill>
              <a:srgbClr val="F6C552"/>
            </a:solidFill>
            <a:prstDash val="solid"/>
          </a:ln>
        </p:spPr>
      </p:sp>
      <p:pic>
        <p:nvPicPr>
          <p:cNvPr id="8" name="Hint glyph 422" descr="preencoded.png">    </p:cNvPr>
          <p:cNvPicPr>
            <a:picLocks noChangeAspect="1"/>
          </p:cNvPicPr>
          <p:nvPr/>
        </p:nvPicPr>
        <p:blipFill>
          <a:blip r:embed="rId2"/>
          <a:stretch>
            <a:fillRect/>
          </a:stretch>
        </p:blipFill>
        <p:spPr>
          <a:xfrm>
            <a:off x="708660" y="3589020"/>
            <a:ext cx="320040" cy="320040"/>
          </a:xfrm>
          <a:prstGeom prst="rect">
            <a:avLst/>
          </a:prstGeom>
        </p:spPr>
      </p:pic>
      <p:sp>
        <p:nvSpPr>
          <p:cNvPr id="9" name="Hint text 423"/>
          <p:cNvSpPr txBox="1"/>
          <p:nvPr/>
        </p:nvSpPr>
        <p:spPr>
          <a:xfrm>
            <a:off x="1417320" y="3383280"/>
            <a:ext cx="10225735" cy="1280160"/>
          </a:xfrm>
          <a:prstGeom prst="rect">
            <a:avLst/>
          </a:prstGeom>
          <a:noFill/>
          <a:ln/>
        </p:spPr>
        <p:txBody>
          <a:bodyPr wrap="square" lIns="0" tIns="0" rIns="0" bIns="0" rtlCol="0" anchor="t"/>
          <a:lstStyle/>
          <a:p>
            <a:pPr indent="0" marL="0">
              <a:buNone/>
            </a:pPr>
            <a:r>
              <a:rPr lang="en-US" sz="2400" dirty="0">
                <a:solidFill>
                  <a:srgbClr val="16302E"/>
                </a:solidFill>
                <a:latin typeface="Calibri" pitchFamily="34" charset="0"/>
                <a:ea typeface="Calibri" pitchFamily="34" charset="-122"/>
                <a:cs typeface="Calibri" pitchFamily="34" charset="-120"/>
              </a:rPr>
              <a:t>But it sits on a lam. This lesson's ghunnah is for a noon or meem carrying shaddah. Look for one of those.</a:t>
            </a:r>
            <a:endParaRPr lang="en-US" sz="2400" dirty="0"/>
          </a:p>
        </p:txBody>
      </p:sp>
      <p:sp>
        <p:nvSpPr>
          <p:cNvPr id="10" name="Try again 424 LINK:act2">
            <a:hlinkClick r:id="rIdJump1" action="ppaction://hlinksldjump"/>
          </p:cNvPr>
          <p:cNvSpPr/>
          <p:nvPr/>
        </p:nvSpPr>
        <p:spPr>
          <a:xfrm>
            <a:off x="4498848" y="5257800"/>
            <a:ext cx="3200400" cy="731520"/>
          </a:xfrm>
          <a:prstGeom prst="roundRect">
            <a:avLst>
              <a:gd name="adj" fmla="val 27500"/>
            </a:avLst>
          </a:prstGeom>
          <a:solidFill>
            <a:srgbClr val="E0674F"/>
          </a:solidFill>
          <a:ln>
            <a:solidFill>
              <a:srgbClr val="E0674F"/>
            </a:solidFill>
          </a:ln>
          <a:effectLst>
            <a:outerShdw sx="100000" sy="100000" kx="0" ky="0" algn="bl" rotWithShape="0" blurRad="50800" dist="25400" dir="5400000">
              <a:srgbClr val="0F3D3A">
                <a:alpha val="18000"/>
              </a:srgbClr>
            </a:outerShdw>
          </a:effectLst>
        </p:spPr>
        <p:txBody>
          <a:bodyPr wrap="square" lIns="457200" tIns="0" rIns="9144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Try again</a:t>
            </a:r>
            <a:endParaRPr lang="en-US" sz="2600" dirty="0"/>
          </a:p>
        </p:txBody>
      </p:sp>
      <p:pic>
        <p:nvPicPr>
          <p:cNvPr id="11" name="Button icon 425 LINK:act2" descr="preencoded.png">
            <a:hlinkClick r:id="rIdJump2" action="ppaction://hlinksldjump"/>
          </p:cNvPr>
          <p:cNvPicPr>
            <a:picLocks noChangeAspect="1"/>
          </p:cNvPicPr>
          <p:nvPr/>
        </p:nvPicPr>
        <p:blipFill>
          <a:blip r:embed="rId3"/>
          <a:stretch>
            <a:fillRect/>
          </a:stretch>
        </p:blipFill>
        <p:spPr>
          <a:xfrm>
            <a:off x="4864608" y="5458968"/>
            <a:ext cx="329184" cy="329184"/>
          </a:xfrm>
          <a:prstGeom prst="rect">
            <a:avLst/>
          </a:prstGeom>
        </p:spPr>
      </p:pic>
    </p:spTree>
  </p:cSld>
  <p:clrMapOvr>
    <a:masterClrMapping/>
  </p:clrMapOvr>
  <p:transition spd="med">
    <p:fade/>
  </p:transition>
</p:sld>
</file>

<file path=ppt/slides/slide21.xml><?xml version="1.0" encoding="utf-8"?>
<p:sld xmlns:a="http://schemas.openxmlformats.org/drawingml/2006/main" xmlns:r="http://schemas.openxmlformats.org/officeDocument/2006/relationships" xmlns:p="http://schemas.openxmlformats.org/presentationml/2006/main" show="0">
  <p:cSld name="Slide 21">
    <p:spTree>
      <p:nvGrpSpPr>
        <p:cNvPr id="1" name=""/>
        <p:cNvGrpSpPr/>
        <p:nvPr/>
      </p:nvGrpSpPr>
      <p:grpSpPr>
        <a:xfrm>
          <a:off x="0" y="0"/>
          <a:ext cx="0" cy="0"/>
          <a:chOff x="0" y="0"/>
          <a:chExt cx="0" cy="0"/>
        </a:xfrm>
      </p:grpSpPr>
      <p:sp>
        <p:nvSpPr>
          <p:cNvPr id="2" name="Try badge circle 426"/>
          <p:cNvSpPr/>
          <p:nvPr/>
        </p:nvSpPr>
        <p:spPr>
          <a:xfrm>
            <a:off x="548640" y="502920"/>
            <a:ext cx="1005840" cy="1005840"/>
          </a:xfrm>
          <a:prstGeom prst="ellipse">
            <a:avLst/>
          </a:prstGeom>
          <a:solidFill>
            <a:srgbClr val="E0674F"/>
          </a:solidFill>
          <a:ln w="12700">
            <a:solidFill>
              <a:srgbClr val="E0674F"/>
            </a:solidFill>
            <a:prstDash val="solid"/>
          </a:ln>
        </p:spPr>
      </p:sp>
      <p:pic>
        <p:nvPicPr>
          <p:cNvPr id="3" name="Try badge glyph 427" descr="preencoded.png">    </p:cNvPr>
          <p:cNvPicPr>
            <a:picLocks noChangeAspect="1"/>
          </p:cNvPicPr>
          <p:nvPr/>
        </p:nvPicPr>
        <p:blipFill>
          <a:blip r:embed="rId1"/>
          <a:stretch>
            <a:fillRect/>
          </a:stretch>
        </p:blipFill>
        <p:spPr>
          <a:xfrm>
            <a:off x="800100" y="754380"/>
            <a:ext cx="502920" cy="502920"/>
          </a:xfrm>
          <a:prstGeom prst="rect">
            <a:avLst/>
          </a:prstGeom>
        </p:spPr>
      </p:pic>
      <p:sp>
        <p:nvSpPr>
          <p:cNvPr id="4" name="Feedback title 428"/>
          <p:cNvSpPr txBox="1"/>
          <p:nvPr/>
        </p:nvSpPr>
        <p:spPr>
          <a:xfrm>
            <a:off x="1783080" y="548640"/>
            <a:ext cx="9144000" cy="914400"/>
          </a:xfrm>
          <a:prstGeom prst="rect">
            <a:avLst/>
          </a:prstGeom>
          <a:noFill/>
          <a:ln/>
        </p:spPr>
        <p:txBody>
          <a:bodyPr wrap="square" lIns="0" tIns="0" rIns="0" bIns="0" rtlCol="0" anchor="ctr"/>
          <a:lstStyle/>
          <a:p>
            <a:pPr indent="0" marL="0">
              <a:buNone/>
            </a:pPr>
            <a:r>
              <a:rPr lang="en-US" sz="4000" b="1" dirty="0">
                <a:solidFill>
                  <a:srgbClr val="B2432E"/>
                </a:solidFill>
                <a:latin typeface="Calibri" pitchFamily="34" charset="0"/>
                <a:ea typeface="Calibri" pitchFamily="34" charset="-122"/>
                <a:cs typeface="Calibri" pitchFamily="34" charset="-120"/>
              </a:rPr>
              <a:t>Right letter, wrong mark.</a:t>
            </a:r>
            <a:endParaRPr lang="en-US" sz="4000" dirty="0"/>
          </a:p>
        </p:txBody>
      </p:sp>
      <p:sp>
        <p:nvSpPr>
          <p:cNvPr id="5" name="Verse panel 429"/>
          <p:cNvSpPr/>
          <p:nvPr/>
        </p:nvSpPr>
        <p:spPr>
          <a:xfrm>
            <a:off x="548640" y="1783080"/>
            <a:ext cx="11094415" cy="1371600"/>
          </a:xfrm>
          <a:prstGeom prst="roundRect">
            <a:avLst>
              <a:gd name="adj" fmla="val 12000"/>
            </a:avLst>
          </a:prstGeom>
          <a:solidFill>
            <a:srgbClr val="FFFFFF"/>
          </a:solidFill>
          <a:ln w="12700">
            <a:solidFill>
              <a:srgbClr val="D5E5E0"/>
            </a:solidFill>
            <a:prstDash val="solid"/>
          </a:ln>
          <a:effectLst>
            <a:outerShdw sx="100000" sy="100000" kx="0" ky="0" algn="bl" rotWithShape="0" blurRad="101600" dist="25400" dir="5400000">
              <a:srgbClr val="0F3D3A">
                <a:alpha val="10000"/>
              </a:srgbClr>
            </a:outerShdw>
          </a:effectLst>
        </p:spPr>
      </p:sp>
      <p:sp>
        <p:nvSpPr>
          <p:cNvPr id="6" name="Verse excerpt 430"/>
          <p:cNvSpPr txBox="1"/>
          <p:nvPr/>
        </p:nvSpPr>
        <p:spPr>
          <a:xfrm>
            <a:off x="822960" y="1810512"/>
            <a:ext cx="10545775" cy="1280160"/>
          </a:xfrm>
          <a:prstGeom prst="rect">
            <a:avLst/>
          </a:prstGeom>
          <a:noFill/>
          <a:ln/>
        </p:spPr>
        <p:txBody>
          <a:bodyPr wrap="square" lIns="0" tIns="0" rIns="0" bIns="0" rtlCol="0" anchor="ctr"/>
          <a:lstStyle/>
          <a:p>
            <a:pPr algn="ctr" indent="0" marL="0">
              <a:buNone/>
            </a:pPr>
            <a:r>
              <a:rPr lang="ar-SA" altLang="en-US" sz="6000" dirty="0">
                <a:solidFill>
                  <a:srgbClr val="16302E"/>
                </a:solidFill>
                <a:latin typeface="Traditional Arabic" pitchFamily="34" charset="0"/>
                <a:ea typeface="Traditional Arabic" pitchFamily="34" charset="-122"/>
                <a:cs typeface="Traditional Arabic" pitchFamily="34" charset="-120"/>
              </a:rPr>
              <a:t>إِنَّ ٱلَّذِي</a:t>
            </a:r>
            <a:pPr algn="ctr" indent="0" marL="0">
              <a:buNone/>
            </a:pPr>
            <a:r>
              <a:rPr lang="ar-SA" altLang="en-US" sz="6000" dirty="0">
                <a:solidFill>
                  <a:srgbClr val="0F5148"/>
                </a:solidFill>
                <a:highlight>
                  <a:srgbClr val="FFE08A"/>
                </a:highlight>
                <a:latin typeface="Traditional Arabic" pitchFamily="34" charset="0"/>
                <a:ea typeface="Traditional Arabic" pitchFamily="34" charset="-122"/>
                <a:cs typeface="Traditional Arabic" pitchFamily="34" charset="-120"/>
              </a:rPr>
              <a:t>نَ</a:t>
            </a:r>
            <a:endParaRPr lang="ar-SA" sz="6000" dirty="0"/>
          </a:p>
        </p:txBody>
      </p:sp>
      <p:sp>
        <p:nvSpPr>
          <p:cNvPr id="7" name="Hint circle 431"/>
          <p:cNvSpPr/>
          <p:nvPr/>
        </p:nvSpPr>
        <p:spPr>
          <a:xfrm>
            <a:off x="548640" y="3429000"/>
            <a:ext cx="640080" cy="640080"/>
          </a:xfrm>
          <a:prstGeom prst="ellipse">
            <a:avLst/>
          </a:prstGeom>
          <a:solidFill>
            <a:srgbClr val="F6C552"/>
          </a:solidFill>
          <a:ln w="12700">
            <a:solidFill>
              <a:srgbClr val="F6C552"/>
            </a:solidFill>
            <a:prstDash val="solid"/>
          </a:ln>
        </p:spPr>
      </p:sp>
      <p:pic>
        <p:nvPicPr>
          <p:cNvPr id="8" name="Hint glyph 432" descr="preencoded.png">    </p:cNvPr>
          <p:cNvPicPr>
            <a:picLocks noChangeAspect="1"/>
          </p:cNvPicPr>
          <p:nvPr/>
        </p:nvPicPr>
        <p:blipFill>
          <a:blip r:embed="rId2"/>
          <a:stretch>
            <a:fillRect/>
          </a:stretch>
        </p:blipFill>
        <p:spPr>
          <a:xfrm>
            <a:off x="708660" y="3589020"/>
            <a:ext cx="320040" cy="320040"/>
          </a:xfrm>
          <a:prstGeom prst="rect">
            <a:avLst/>
          </a:prstGeom>
        </p:spPr>
      </p:pic>
      <p:sp>
        <p:nvSpPr>
          <p:cNvPr id="9" name="Hint text 433"/>
          <p:cNvSpPr txBox="1"/>
          <p:nvPr/>
        </p:nvSpPr>
        <p:spPr>
          <a:xfrm>
            <a:off x="1417320" y="3383280"/>
            <a:ext cx="10225735" cy="1280160"/>
          </a:xfrm>
          <a:prstGeom prst="rect">
            <a:avLst/>
          </a:prstGeom>
          <a:noFill/>
          <a:ln/>
        </p:spPr>
        <p:txBody>
          <a:bodyPr wrap="square" lIns="0" tIns="0" rIns="0" bIns="0" rtlCol="0" anchor="t"/>
          <a:lstStyle/>
          <a:p>
            <a:pPr indent="0" marL="0">
              <a:buNone/>
            </a:pPr>
            <a:r>
              <a:rPr lang="en-US" sz="2400" dirty="0">
                <a:solidFill>
                  <a:srgbClr val="16302E"/>
                </a:solidFill>
                <a:latin typeface="Calibri" pitchFamily="34" charset="0"/>
                <a:ea typeface="Calibri" pitchFamily="34" charset="-122"/>
                <a:cs typeface="Calibri" pitchFamily="34" charset="-120"/>
              </a:rPr>
              <a:t>That is a noon, but look at its mark: a fathah and no shaddah. No two-count hold here. Find the noon that carries a shaddah.</a:t>
            </a:r>
            <a:endParaRPr lang="en-US" sz="2400" dirty="0"/>
          </a:p>
        </p:txBody>
      </p:sp>
      <p:sp>
        <p:nvSpPr>
          <p:cNvPr id="10" name="Try again 434 LINK:act2">
            <a:hlinkClick r:id="rIdJump1" action="ppaction://hlinksldjump"/>
          </p:cNvPr>
          <p:cNvSpPr/>
          <p:nvPr/>
        </p:nvSpPr>
        <p:spPr>
          <a:xfrm>
            <a:off x="4498848" y="5257800"/>
            <a:ext cx="3200400" cy="731520"/>
          </a:xfrm>
          <a:prstGeom prst="roundRect">
            <a:avLst>
              <a:gd name="adj" fmla="val 27500"/>
            </a:avLst>
          </a:prstGeom>
          <a:solidFill>
            <a:srgbClr val="E0674F"/>
          </a:solidFill>
          <a:ln>
            <a:solidFill>
              <a:srgbClr val="E0674F"/>
            </a:solidFill>
          </a:ln>
          <a:effectLst>
            <a:outerShdw sx="100000" sy="100000" kx="0" ky="0" algn="bl" rotWithShape="0" blurRad="50800" dist="25400" dir="5400000">
              <a:srgbClr val="0F3D3A">
                <a:alpha val="18000"/>
              </a:srgbClr>
            </a:outerShdw>
          </a:effectLst>
        </p:spPr>
        <p:txBody>
          <a:bodyPr wrap="square" lIns="457200" tIns="0" rIns="9144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Try again</a:t>
            </a:r>
            <a:endParaRPr lang="en-US" sz="2600" dirty="0"/>
          </a:p>
        </p:txBody>
      </p:sp>
      <p:pic>
        <p:nvPicPr>
          <p:cNvPr id="11" name="Button icon 435 LINK:act2" descr="preencoded.png">
            <a:hlinkClick r:id="rIdJump2" action="ppaction://hlinksldjump"/>
          </p:cNvPr>
          <p:cNvPicPr>
            <a:picLocks noChangeAspect="1"/>
          </p:cNvPicPr>
          <p:nvPr/>
        </p:nvPicPr>
        <p:blipFill>
          <a:blip r:embed="rId3"/>
          <a:stretch>
            <a:fillRect/>
          </a:stretch>
        </p:blipFill>
        <p:spPr>
          <a:xfrm>
            <a:off x="4864608" y="5458968"/>
            <a:ext cx="329184" cy="329184"/>
          </a:xfrm>
          <a:prstGeom prst="rect">
            <a:avLst/>
          </a:prstGeom>
        </p:spPr>
      </p:pic>
    </p:spTree>
  </p:cSld>
  <p:clrMapOvr>
    <a:masterClrMapping/>
  </p:clrMapOvr>
  <p:transition spd="med">
    <p:fade/>
  </p:transition>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Kicker 436"/>
          <p:cNvSpPr txBox="1"/>
          <p:nvPr/>
        </p:nvSpPr>
        <p:spPr>
          <a:xfrm>
            <a:off x="548640" y="329184"/>
            <a:ext cx="7315200" cy="292608"/>
          </a:xfrm>
          <a:prstGeom prst="rect">
            <a:avLst/>
          </a:prstGeom>
          <a:noFill/>
          <a:ln/>
        </p:spPr>
        <p:txBody>
          <a:bodyPr wrap="square" lIns="0" tIns="0" rIns="0" bIns="0" rtlCol="0" anchor="t"/>
          <a:lstStyle/>
          <a:p>
            <a:pPr indent="0" marL="0">
              <a:buNone/>
            </a:pPr>
            <a:r>
              <a:rPr lang="en-US" sz="1400" b="1" spc="300" kern="0" dirty="0">
                <a:solidFill>
                  <a:srgbClr val="1D7A6E"/>
                </a:solidFill>
                <a:latin typeface="Calibri" pitchFamily="34" charset="0"/>
                <a:ea typeface="Calibri" pitchFamily="34" charset="-122"/>
                <a:cs typeface="Calibri" pitchFamily="34" charset="-120"/>
              </a:rPr>
              <a:t>ACTIVITY 3  ·  FIX THE IDEA</a:t>
            </a:r>
            <a:endParaRPr lang="en-US" sz="1400" dirty="0"/>
          </a:p>
        </p:txBody>
      </p:sp>
      <p:sp>
        <p:nvSpPr>
          <p:cNvPr id="3" name="Text 0"/>
          <p:cNvSpPr/>
          <p:nvPr>
            <p:ph idx="100" type="title" hasCustomPrompt="1"/>
          </p:nvPr>
        </p:nvSpPr>
        <p:spPr>
          <a:xfrm>
            <a:off x="548640" y="658368"/>
            <a:ext cx="9052560" cy="731520"/>
          </a:xfrm>
          <a:prstGeom prst="rect">
            <a:avLst/>
          </a:prstGeom>
          <a:noFill/>
          <a:ln/>
        </p:spPr>
        <p:txBody>
          <a:bodyPr wrap="square" lIns="0" tIns="0" rIns="0" bIns="0" rtlCol="0" anchor="t"/>
          <a:lstStyle/>
          <a:p>
            <a:pPr algn="l" indent="0" marL="0">
              <a:buNone/>
            </a:pPr>
            <a:r>
              <a:rPr lang="en-US" sz="3600" b="1" dirty="0">
                <a:solidFill>
                  <a:srgbClr val="16302E"/>
                </a:solidFill>
                <a:latin typeface="Calibri" pitchFamily="34" charset="0"/>
                <a:ea typeface="Calibri" pitchFamily="34" charset="-122"/>
                <a:cs typeface="Calibri" pitchFamily="34" charset="-120"/>
              </a:rPr>
              <a:t>True or false?</a:t>
            </a:r>
            <a:endParaRPr lang="en-US" sz="3600" dirty="0"/>
          </a:p>
        </p:txBody>
      </p:sp>
      <p:sp>
        <p:nvSpPr>
          <p:cNvPr id="4" name="Route chip 437"/>
          <p:cNvSpPr/>
          <p:nvPr/>
        </p:nvSpPr>
        <p:spPr>
          <a:xfrm>
            <a:off x="10012680" y="365760"/>
            <a:ext cx="1627632" cy="384048"/>
          </a:xfrm>
          <a:prstGeom prst="roundRect">
            <a:avLst>
              <a:gd name="adj" fmla="val 47619"/>
            </a:avLst>
          </a:prstGeom>
          <a:solidFill>
            <a:srgbClr val="F2B134"/>
          </a:solidFill>
          <a:ln>
            <a:solidFill>
              <a:srgbClr val="F2B134"/>
            </a:solidFill>
          </a:ln>
        </p:spPr>
        <p:txBody>
          <a:bodyPr wrap="square" lIns="0" tIns="0" rIns="0" bIns="0" rtlCol="0" anchor="ctr"/>
          <a:lstStyle/>
          <a:p>
            <a:pPr algn="ctr" indent="0" marL="0">
              <a:buNone/>
            </a:pPr>
            <a:r>
              <a:rPr lang="en-US" sz="1300" b="1" spc="200" kern="0" dirty="0">
                <a:solidFill>
                  <a:srgbClr val="FFFFFF"/>
                </a:solidFill>
                <a:latin typeface="Calibri" pitchFamily="34" charset="0"/>
                <a:ea typeface="Calibri" pitchFamily="34" charset="-122"/>
                <a:cs typeface="Calibri" pitchFamily="34" charset="-120"/>
              </a:rPr>
              <a:t>CHALLENGE</a:t>
            </a:r>
            <a:endParaRPr lang="en-US" sz="1300" dirty="0"/>
          </a:p>
        </p:txBody>
      </p:sp>
      <p:sp>
        <p:nvSpPr>
          <p:cNvPr id="5" name="Question 438"/>
          <p:cNvSpPr txBox="1"/>
          <p:nvPr/>
        </p:nvSpPr>
        <p:spPr>
          <a:xfrm>
            <a:off x="548640" y="1536192"/>
            <a:ext cx="11094415" cy="868680"/>
          </a:xfrm>
          <a:prstGeom prst="rect">
            <a:avLst/>
          </a:prstGeom>
          <a:noFill/>
          <a:ln/>
        </p:spPr>
        <p:txBody>
          <a:bodyPr wrap="square" lIns="0" tIns="0" rIns="0" bIns="0" rtlCol="0" anchor="t"/>
          <a:lstStyle/>
          <a:p>
            <a:pPr indent="0" marL="0">
              <a:buNone/>
            </a:pPr>
            <a:r>
              <a:rPr lang="en-US" sz="2600" dirty="0">
                <a:solidFill>
                  <a:srgbClr val="16302E"/>
                </a:solidFill>
                <a:latin typeface="Calibri" pitchFamily="34" charset="0"/>
                <a:ea typeface="Calibri" pitchFamily="34" charset="-122"/>
                <a:cs typeface="Calibri" pitchFamily="34" charset="-120"/>
              </a:rPr>
              <a:t>“Every noon and meem must be held with the same two-count nasal sound.”</a:t>
            </a:r>
            <a:endParaRPr lang="en-US" sz="2600" dirty="0"/>
          </a:p>
        </p:txBody>
      </p:sp>
      <p:sp>
        <p:nvSpPr>
          <p:cNvPr id="6" name="Choice A 439 LINK:act3_t">
            <a:hlinkClick r:id="rIdJump1" action="ppaction://hlinksldjump"/>
          </p:cNvPr>
          <p:cNvSpPr/>
          <p:nvPr/>
        </p:nvSpPr>
        <p:spPr>
          <a:xfrm>
            <a:off x="548640" y="2514600"/>
            <a:ext cx="5410048" cy="2377440"/>
          </a:xfrm>
          <a:prstGeom prst="roundRect">
            <a:avLst>
              <a:gd name="adj" fmla="val 8462"/>
            </a:avLst>
          </a:prstGeom>
          <a:solidFill>
            <a:srgbClr val="FFFFFF"/>
          </a:solidFill>
          <a:ln w="19050">
            <a:solidFill>
              <a:srgbClr val="1D7A6E"/>
            </a:solidFill>
          </a:ln>
          <a:effectLst>
            <a:outerShdw sx="100000" sy="100000" kx="0" ky="0" algn="bl" rotWithShape="0" blurRad="50800" dist="25400" dir="5400000">
              <a:srgbClr val="0F3D3A">
                <a:alpha val="18000"/>
              </a:srgbClr>
            </a:outerShdw>
          </a:effectLst>
        </p:spPr>
        <p:txBody>
          <a:bodyPr wrap="square" lIns="868680" tIns="91440" rIns="274320" bIns="91440" rtlCol="0" anchor="ctr"/>
          <a:lstStyle/>
          <a:p>
            <a:pPr algn="l" indent="0" marL="0">
              <a:buNone/>
            </a:pPr>
            <a:r>
              <a:rPr lang="en-US" sz="3000" b="1" dirty="0">
                <a:solidFill>
                  <a:srgbClr val="16302E"/>
                </a:solidFill>
                <a:latin typeface="Calibri" pitchFamily="34" charset="0"/>
                <a:ea typeface="Calibri" pitchFamily="34" charset="-122"/>
                <a:cs typeface="Calibri" pitchFamily="34" charset="-120"/>
              </a:rPr>
              <a:t>True</a:t>
            </a:r>
            <a:endParaRPr lang="en-US" sz="3000" dirty="0"/>
          </a:p>
        </p:txBody>
      </p:sp>
      <p:sp>
        <p:nvSpPr>
          <p:cNvPr id="7" name="Choice letter 440 LINK:act3_t">
            <a:hlinkClick r:id="rIdJump2" action="ppaction://hlinksldjump"/>
          </p:cNvPr>
          <p:cNvSpPr/>
          <p:nvPr/>
        </p:nvSpPr>
        <p:spPr>
          <a:xfrm>
            <a:off x="713232" y="3438144"/>
            <a:ext cx="530352" cy="530352"/>
          </a:xfrm>
          <a:prstGeom prst="ellipse">
            <a:avLst/>
          </a:prstGeom>
          <a:solidFill>
            <a:srgbClr val="1D7A6E"/>
          </a:solidFill>
          <a:ln>
            <a:solidFill>
              <a:srgbClr val="1D7A6E"/>
            </a:solid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a:t>
            </a:r>
            <a:endParaRPr lang="en-US" sz="2000" dirty="0"/>
          </a:p>
        </p:txBody>
      </p:sp>
      <p:sp>
        <p:nvSpPr>
          <p:cNvPr id="8" name="Choice B 441 LINK:act3_ok">
            <a:hlinkClick r:id="rIdJump3" action="ppaction://hlinksldjump"/>
          </p:cNvPr>
          <p:cNvSpPr/>
          <p:nvPr/>
        </p:nvSpPr>
        <p:spPr>
          <a:xfrm>
            <a:off x="6233008" y="2514600"/>
            <a:ext cx="5410048" cy="2377440"/>
          </a:xfrm>
          <a:prstGeom prst="roundRect">
            <a:avLst>
              <a:gd name="adj" fmla="val 8462"/>
            </a:avLst>
          </a:prstGeom>
          <a:solidFill>
            <a:srgbClr val="FFFFFF"/>
          </a:solidFill>
          <a:ln w="19050">
            <a:solidFill>
              <a:srgbClr val="1D7A6E"/>
            </a:solidFill>
          </a:ln>
          <a:effectLst>
            <a:outerShdw sx="100000" sy="100000" kx="0" ky="0" algn="bl" rotWithShape="0" blurRad="50800" dist="25400" dir="5400000">
              <a:srgbClr val="0F3D3A">
                <a:alpha val="18000"/>
              </a:srgbClr>
            </a:outerShdw>
          </a:effectLst>
        </p:spPr>
        <p:txBody>
          <a:bodyPr wrap="square" lIns="868680" tIns="91440" rIns="274320" bIns="91440" rtlCol="0" anchor="ctr"/>
          <a:lstStyle/>
          <a:p>
            <a:pPr algn="l" indent="0" marL="0">
              <a:buNone/>
            </a:pPr>
            <a:r>
              <a:rPr lang="en-US" sz="3000" b="1" dirty="0">
                <a:solidFill>
                  <a:srgbClr val="16302E"/>
                </a:solidFill>
                <a:latin typeface="Calibri" pitchFamily="34" charset="0"/>
                <a:ea typeface="Calibri" pitchFamily="34" charset="-122"/>
                <a:cs typeface="Calibri" pitchFamily="34" charset="-120"/>
              </a:rPr>
              <a:t>False</a:t>
            </a:r>
            <a:endParaRPr lang="en-US" sz="3000" dirty="0"/>
          </a:p>
        </p:txBody>
      </p:sp>
      <p:sp>
        <p:nvSpPr>
          <p:cNvPr id="9" name="Choice letter 442 LINK:act3_ok">
            <a:hlinkClick r:id="rIdJump4" action="ppaction://hlinksldjump"/>
          </p:cNvPr>
          <p:cNvSpPr/>
          <p:nvPr/>
        </p:nvSpPr>
        <p:spPr>
          <a:xfrm>
            <a:off x="6397600" y="3438144"/>
            <a:ext cx="530352" cy="530352"/>
          </a:xfrm>
          <a:prstGeom prst="ellipse">
            <a:avLst/>
          </a:prstGeom>
          <a:solidFill>
            <a:srgbClr val="1D7A6E"/>
          </a:solidFill>
          <a:ln>
            <a:solidFill>
              <a:srgbClr val="1D7A6E"/>
            </a:solid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0" name="Nav Home 443 LINK:title">
            <a:hlinkClick r:id="rIdJump5" action="ppaction://hlinksldjump"/>
          </p:cNvPr>
          <p:cNvSpPr/>
          <p:nvPr/>
        </p:nvSpPr>
        <p:spPr>
          <a:xfrm>
            <a:off x="548640" y="6236208"/>
            <a:ext cx="1234440" cy="420624"/>
          </a:xfrm>
          <a:prstGeom prst="roundRect">
            <a:avLst>
              <a:gd name="adj" fmla="val 47826"/>
            </a:avLst>
          </a:prstGeom>
          <a:solidFill>
            <a:srgbClr val="16302E"/>
          </a:solidFill>
          <a:ln>
            <a:solidFill>
              <a:srgbClr val="16302E"/>
            </a:solidFill>
          </a:ln>
        </p:spPr>
        <p:txBody>
          <a:bodyPr wrap="square" lIns="365760" tIns="0" rIns="9144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Home</a:t>
            </a:r>
            <a:endParaRPr lang="en-US" sz="1500" dirty="0"/>
          </a:p>
        </p:txBody>
      </p:sp>
      <p:pic>
        <p:nvPicPr>
          <p:cNvPr id="11" name="Button icon 444 LINK:title" descr="preencoded.png">
            <a:hlinkClick r:id="rIdJump6" action="ppaction://hlinksldjump"/>
          </p:cNvPr>
          <p:cNvPicPr>
            <a:picLocks noChangeAspect="1"/>
          </p:cNvPicPr>
          <p:nvPr/>
        </p:nvPicPr>
        <p:blipFill>
          <a:blip r:embed="rId1"/>
          <a:stretch>
            <a:fillRect/>
          </a:stretch>
        </p:blipFill>
        <p:spPr>
          <a:xfrm>
            <a:off x="749808" y="6336792"/>
            <a:ext cx="219456" cy="219456"/>
          </a:xfrm>
          <a:prstGeom prst="rect">
            <a:avLst/>
          </a:prstGeom>
        </p:spPr>
      </p:pic>
      <p:sp>
        <p:nvSpPr>
          <p:cNvPr id="12" name="Nav Menu 445 LINK:menu">
            <a:hlinkClick r:id="rIdJump7" action="ppaction://hlinksldjump"/>
          </p:cNvPr>
          <p:cNvSpPr/>
          <p:nvPr/>
        </p:nvSpPr>
        <p:spPr>
          <a:xfrm>
            <a:off x="1901952" y="6236208"/>
            <a:ext cx="1005840" cy="420624"/>
          </a:xfrm>
          <a:prstGeom prst="roundRect">
            <a:avLst>
              <a:gd name="adj" fmla="val 47826"/>
            </a:avLst>
          </a:prstGeom>
          <a:solidFill>
            <a:srgbClr val="FFFFFF"/>
          </a:solidFill>
          <a:ln w="19050">
            <a:solidFill>
              <a:srgbClr val="16302E"/>
            </a:solidFill>
          </a:ln>
        </p:spPr>
        <p:txBody>
          <a:bodyPr wrap="square" lIns="109728" tIns="0" rIns="109728" bIns="0" rtlCol="0" anchor="ctr"/>
          <a:lstStyle/>
          <a:p>
            <a:pPr algn="ctr" indent="0" marL="0">
              <a:buNone/>
            </a:pPr>
            <a:r>
              <a:rPr lang="en-US" sz="1500" b="1" dirty="0">
                <a:solidFill>
                  <a:srgbClr val="16302E"/>
                </a:solidFill>
                <a:latin typeface="Calibri" pitchFamily="34" charset="0"/>
                <a:ea typeface="Calibri" pitchFamily="34" charset="-122"/>
                <a:cs typeface="Calibri" pitchFamily="34" charset="-120"/>
              </a:rPr>
              <a:t>Menu</a:t>
            </a:r>
            <a:endParaRPr lang="en-US" sz="1500" dirty="0"/>
          </a:p>
        </p:txBody>
      </p:sp>
      <p:sp>
        <p:nvSpPr>
          <p:cNvPr id="13" name="Slide counter 446"/>
          <p:cNvSpPr txBox="1"/>
          <p:nvPr/>
        </p:nvSpPr>
        <p:spPr>
          <a:xfrm>
            <a:off x="5184648" y="6236208"/>
            <a:ext cx="1828800" cy="420624"/>
          </a:xfrm>
          <a:prstGeom prst="rect">
            <a:avLst/>
          </a:prstGeom>
          <a:noFill/>
          <a:ln/>
        </p:spPr>
        <p:txBody>
          <a:bodyPr wrap="square" lIns="0" tIns="0" rIns="0" bIns="0" rtlCol="0" anchor="ctr"/>
          <a:lstStyle/>
          <a:p>
            <a:pPr algn="ctr" indent="0" marL="0">
              <a:buNone/>
            </a:pPr>
            <a:r>
              <a:rPr lang="en-US" sz="1400" dirty="0">
                <a:solidFill>
                  <a:srgbClr val="5D7774"/>
                </a:solidFill>
                <a:latin typeface="Calibri" pitchFamily="34" charset="0"/>
                <a:ea typeface="Calibri" pitchFamily="34" charset="-122"/>
                <a:cs typeface="Calibri" pitchFamily="34" charset="-120"/>
              </a:rPr>
              <a:t>15 / 18</a:t>
            </a:r>
            <a:endParaRPr lang="en-US" sz="1400" dirty="0"/>
          </a:p>
        </p:txBody>
      </p:sp>
      <p:sp>
        <p:nvSpPr>
          <p:cNvPr id="14" name="Nav Back 447 LINK:act2">
            <a:hlinkClick r:id="rIdJump8" action="ppaction://hlinksldjump"/>
          </p:cNvPr>
          <p:cNvSpPr/>
          <p:nvPr/>
        </p:nvSpPr>
        <p:spPr>
          <a:xfrm>
            <a:off x="9052560" y="6236208"/>
            <a:ext cx="1234440" cy="420624"/>
          </a:xfrm>
          <a:prstGeom prst="roundRect">
            <a:avLst>
              <a:gd name="adj" fmla="val 47826"/>
            </a:avLst>
          </a:prstGeom>
          <a:solidFill>
            <a:srgbClr val="FFFFFF"/>
          </a:solidFill>
          <a:ln w="19050">
            <a:solidFill>
              <a:srgbClr val="1D7A6E"/>
            </a:solidFill>
          </a:ln>
        </p:spPr>
        <p:txBody>
          <a:bodyPr wrap="square" lIns="109728" tIns="0" rIns="109728" bIns="0" rtlCol="0" anchor="ctr"/>
          <a:lstStyle/>
          <a:p>
            <a:pPr algn="ctr" indent="0" marL="0">
              <a:buNone/>
            </a:pPr>
            <a:r>
              <a:rPr lang="en-US" sz="1500" b="1" dirty="0">
                <a:solidFill>
                  <a:srgbClr val="1D7A6E"/>
                </a:solidFill>
                <a:latin typeface="Calibri" pitchFamily="34" charset="0"/>
                <a:ea typeface="Calibri" pitchFamily="34" charset="-122"/>
                <a:cs typeface="Calibri" pitchFamily="34" charset="-120"/>
              </a:rPr>
              <a:t>‹  Back</a:t>
            </a:r>
            <a:endParaRPr lang="en-US" sz="1500" dirty="0"/>
          </a:p>
        </p:txBody>
      </p:sp>
      <p:sp>
        <p:nvSpPr>
          <p:cNvPr id="15" name="Nav Next 448 LINK:final">
            <a:hlinkClick r:id="rIdJump9" action="ppaction://hlinksldjump"/>
          </p:cNvPr>
          <p:cNvSpPr/>
          <p:nvPr/>
        </p:nvSpPr>
        <p:spPr>
          <a:xfrm>
            <a:off x="10405872" y="6236208"/>
            <a:ext cx="1234440" cy="420624"/>
          </a:xfrm>
          <a:prstGeom prst="roundRect">
            <a:avLst>
              <a:gd name="adj" fmla="val 47826"/>
            </a:avLst>
          </a:prstGeom>
          <a:solidFill>
            <a:srgbClr val="1D7A6E"/>
          </a:solidFill>
          <a:ln>
            <a:solidFill>
              <a:srgbClr val="1D7A6E"/>
            </a:solidFill>
          </a:ln>
        </p:spPr>
        <p:txBody>
          <a:bodyPr wrap="square" lIns="109728" tIns="0" rIns="109728"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Next  ›</a:t>
            </a:r>
            <a:endParaRPr lang="en-US" sz="1500" dirty="0"/>
          </a:p>
        </p:txBody>
      </p:sp>
    </p:spTree>
  </p:cSld>
  <p:clrMapOvr>
    <a:masterClrMapping/>
  </p:clrMapOvr>
  <p:transition spd="med">
    <p:fade/>
  </p:transition>
</p:sld>
</file>

<file path=ppt/slides/slide23.xml><?xml version="1.0" encoding="utf-8"?>
<p:sld xmlns:a="http://schemas.openxmlformats.org/drawingml/2006/main" xmlns:r="http://schemas.openxmlformats.org/officeDocument/2006/relationships" xmlns:p="http://schemas.openxmlformats.org/presentationml/2006/main" show="0">
  <p:cSld name="Slide 23">
    <p:spTree>
      <p:nvGrpSpPr>
        <p:cNvPr id="1" name=""/>
        <p:cNvGrpSpPr/>
        <p:nvPr/>
      </p:nvGrpSpPr>
      <p:grpSpPr>
        <a:xfrm>
          <a:off x="0" y="0"/>
          <a:ext cx="0" cy="0"/>
          <a:chOff x="0" y="0"/>
          <a:chExt cx="0" cy="0"/>
        </a:xfrm>
      </p:grpSpPr>
      <p:sp>
        <p:nvSpPr>
          <p:cNvPr id="2" name="Correct badge circle 449"/>
          <p:cNvSpPr/>
          <p:nvPr/>
        </p:nvSpPr>
        <p:spPr>
          <a:xfrm>
            <a:off x="548640" y="502920"/>
            <a:ext cx="1005840" cy="1005840"/>
          </a:xfrm>
          <a:prstGeom prst="ellipse">
            <a:avLst/>
          </a:prstGeom>
          <a:solidFill>
            <a:srgbClr val="2E9E5B"/>
          </a:solidFill>
          <a:ln w="12700">
            <a:solidFill>
              <a:srgbClr val="2E9E5B"/>
            </a:solidFill>
            <a:prstDash val="solid"/>
          </a:ln>
        </p:spPr>
      </p:sp>
      <p:pic>
        <p:nvPicPr>
          <p:cNvPr id="3" name="Correct badge glyph 450" descr="preencoded.png">    </p:cNvPr>
          <p:cNvPicPr>
            <a:picLocks noChangeAspect="1"/>
          </p:cNvPicPr>
          <p:nvPr/>
        </p:nvPicPr>
        <p:blipFill>
          <a:blip r:embed="rId1"/>
          <a:stretch>
            <a:fillRect/>
          </a:stretch>
        </p:blipFill>
        <p:spPr>
          <a:xfrm>
            <a:off x="800100" y="754380"/>
            <a:ext cx="502920" cy="502920"/>
          </a:xfrm>
          <a:prstGeom prst="rect">
            <a:avLst/>
          </a:prstGeom>
        </p:spPr>
      </p:pic>
      <p:sp>
        <p:nvSpPr>
          <p:cNvPr id="4" name="Feedback title 451"/>
          <p:cNvSpPr txBox="1"/>
          <p:nvPr/>
        </p:nvSpPr>
        <p:spPr>
          <a:xfrm>
            <a:off x="1783080" y="548640"/>
            <a:ext cx="7315200" cy="914400"/>
          </a:xfrm>
          <a:prstGeom prst="rect">
            <a:avLst/>
          </a:prstGeom>
          <a:noFill/>
          <a:ln/>
        </p:spPr>
        <p:txBody>
          <a:bodyPr wrap="square" lIns="0" tIns="0" rIns="0" bIns="0" rtlCol="0" anchor="ctr"/>
          <a:lstStyle/>
          <a:p>
            <a:pPr indent="0" marL="0">
              <a:buNone/>
            </a:pPr>
            <a:r>
              <a:rPr lang="en-US" sz="4400" b="1" dirty="0">
                <a:solidFill>
                  <a:srgbClr val="1E7543"/>
                </a:solidFill>
                <a:latin typeface="Calibri" pitchFamily="34" charset="0"/>
                <a:ea typeface="Calibri" pitchFamily="34" charset="-122"/>
                <a:cs typeface="Calibri" pitchFamily="34" charset="-120"/>
              </a:rPr>
              <a:t>Correct: it is false!</a:t>
            </a:r>
            <a:endParaRPr lang="en-US" sz="4400" dirty="0"/>
          </a:p>
        </p:txBody>
      </p:sp>
      <p:pic>
        <p:nvPicPr>
          <p:cNvPr id="5" name="Deco star 0 452" descr="preencoded.png">    </p:cNvPr>
          <p:cNvPicPr>
            <a:picLocks noChangeAspect="1"/>
          </p:cNvPicPr>
          <p:nvPr/>
        </p:nvPicPr>
        <p:blipFill>
          <a:blip r:embed="rId2"/>
          <a:stretch>
            <a:fillRect/>
          </a:stretch>
        </p:blipFill>
        <p:spPr>
          <a:xfrm>
            <a:off x="9692640" y="457200"/>
            <a:ext cx="502920" cy="502920"/>
          </a:xfrm>
          <a:prstGeom prst="rect">
            <a:avLst/>
          </a:prstGeom>
        </p:spPr>
      </p:pic>
      <p:pic>
        <p:nvPicPr>
          <p:cNvPr id="6" name="Deco star 1 453" descr="preencoded.png">    </p:cNvPr>
          <p:cNvPicPr>
            <a:picLocks noChangeAspect="1"/>
          </p:cNvPicPr>
          <p:nvPr/>
        </p:nvPicPr>
        <p:blipFill>
          <a:blip r:embed="rId3"/>
          <a:stretch>
            <a:fillRect/>
          </a:stretch>
        </p:blipFill>
        <p:spPr>
          <a:xfrm>
            <a:off x="10424160" y="868680"/>
            <a:ext cx="347472" cy="347472"/>
          </a:xfrm>
          <a:prstGeom prst="rect">
            <a:avLst/>
          </a:prstGeom>
        </p:spPr>
      </p:pic>
      <p:pic>
        <p:nvPicPr>
          <p:cNvPr id="7" name="Deco star 2 454" descr="preencoded.png">    </p:cNvPr>
          <p:cNvPicPr>
            <a:picLocks noChangeAspect="1"/>
          </p:cNvPicPr>
          <p:nvPr/>
        </p:nvPicPr>
        <p:blipFill>
          <a:blip r:embed="rId4"/>
          <a:stretch>
            <a:fillRect/>
          </a:stretch>
        </p:blipFill>
        <p:spPr>
          <a:xfrm>
            <a:off x="11064240" y="411480"/>
            <a:ext cx="411480" cy="411480"/>
          </a:xfrm>
          <a:prstGeom prst="rect">
            <a:avLst/>
          </a:prstGeom>
        </p:spPr>
      </p:pic>
      <p:pic>
        <p:nvPicPr>
          <p:cNvPr id="8" name="Deco star 3 455" descr="preencoded.png">    </p:cNvPr>
          <p:cNvPicPr>
            <a:picLocks noChangeAspect="1"/>
          </p:cNvPicPr>
          <p:nvPr/>
        </p:nvPicPr>
        <p:blipFill>
          <a:blip r:embed="rId5"/>
          <a:stretch>
            <a:fillRect/>
          </a:stretch>
        </p:blipFill>
        <p:spPr>
          <a:xfrm>
            <a:off x="9052560" y="960120"/>
            <a:ext cx="274320" cy="274320"/>
          </a:xfrm>
          <a:prstGeom prst="rect">
            <a:avLst/>
          </a:prstGeom>
        </p:spPr>
      </p:pic>
      <p:sp>
        <p:nvSpPr>
          <p:cNvPr id="9" name="Explanation 456"/>
          <p:cNvSpPr txBox="1"/>
          <p:nvPr/>
        </p:nvSpPr>
        <p:spPr>
          <a:xfrm>
            <a:off x="548640" y="1783080"/>
            <a:ext cx="11094415" cy="1188720"/>
          </a:xfrm>
          <a:prstGeom prst="rect">
            <a:avLst/>
          </a:prstGeom>
          <a:noFill/>
          <a:ln/>
        </p:spPr>
        <p:txBody>
          <a:bodyPr wrap="square" lIns="0" tIns="0" rIns="0" bIns="0" rtlCol="0" anchor="t"/>
          <a:lstStyle/>
          <a:p>
            <a:pPr indent="0" marL="0">
              <a:buNone/>
            </a:pPr>
            <a:r>
              <a:rPr lang="en-US" sz="2400" dirty="0">
                <a:solidFill>
                  <a:srgbClr val="16302E"/>
                </a:solidFill>
                <a:latin typeface="Calibri" pitchFamily="34" charset="0"/>
                <a:ea typeface="Calibri" pitchFamily="34" charset="-122"/>
                <a:cs typeface="Calibri" pitchFamily="34" charset="-120"/>
              </a:rPr>
              <a:t>The two-count hold in this lesson belongs to a noon or meem carrying shaddah. A noon with only a vowel, like the noon of مِنَ, is not doubled, so it has no held ghunnah.</a:t>
            </a:r>
            <a:endParaRPr lang="en-US" sz="2400" dirty="0"/>
          </a:p>
        </p:txBody>
      </p:sp>
      <p:pic>
        <p:nvPicPr>
          <p:cNvPr id="10" name="Nasal wave 457" descr="preencoded.png">    </p:cNvPr>
          <p:cNvPicPr>
            <a:picLocks noChangeAspect="1"/>
          </p:cNvPicPr>
          <p:nvPr/>
        </p:nvPicPr>
        <p:blipFill>
          <a:blip r:embed="rId6"/>
          <a:stretch>
            <a:fillRect/>
          </a:stretch>
        </p:blipFill>
        <p:spPr>
          <a:xfrm>
            <a:off x="3992728" y="3063240"/>
            <a:ext cx="4206240" cy="1024128"/>
          </a:xfrm>
          <a:prstGeom prst="rect">
            <a:avLst/>
          </a:prstGeom>
        </p:spPr>
      </p:pic>
      <p:sp>
        <p:nvSpPr>
          <p:cNvPr id="11" name="Extra challenge 458"/>
          <p:cNvSpPr/>
          <p:nvPr/>
        </p:nvSpPr>
        <p:spPr>
          <a:xfrm>
            <a:off x="548640" y="4343400"/>
            <a:ext cx="11094415" cy="1143000"/>
          </a:xfrm>
          <a:prstGeom prst="roundRect">
            <a:avLst>
              <a:gd name="adj" fmla="val 14400"/>
            </a:avLst>
          </a:prstGeom>
          <a:solidFill>
            <a:srgbClr val="FDF3DC"/>
          </a:solidFill>
          <a:ln w="12700">
            <a:solidFill>
              <a:srgbClr val="F2B134"/>
            </a:solidFill>
            <a:prstDash val="solid"/>
          </a:ln>
        </p:spPr>
      </p:sp>
      <p:sp>
        <p:nvSpPr>
          <p:cNvPr id="12" name="Extra circle 459"/>
          <p:cNvSpPr/>
          <p:nvPr/>
        </p:nvSpPr>
        <p:spPr>
          <a:xfrm>
            <a:off x="777240" y="4590288"/>
            <a:ext cx="640080" cy="640080"/>
          </a:xfrm>
          <a:prstGeom prst="ellipse">
            <a:avLst/>
          </a:prstGeom>
          <a:solidFill>
            <a:srgbClr val="F2B134"/>
          </a:solidFill>
          <a:ln w="12700">
            <a:solidFill>
              <a:srgbClr val="F2B134"/>
            </a:solidFill>
            <a:prstDash val="solid"/>
          </a:ln>
        </p:spPr>
      </p:sp>
      <p:pic>
        <p:nvPicPr>
          <p:cNvPr id="13" name="Extra glyph 460" descr="preencoded.png">    </p:cNvPr>
          <p:cNvPicPr>
            <a:picLocks noChangeAspect="1"/>
          </p:cNvPicPr>
          <p:nvPr/>
        </p:nvPicPr>
        <p:blipFill>
          <a:blip r:embed="rId7"/>
          <a:stretch>
            <a:fillRect/>
          </a:stretch>
        </p:blipFill>
        <p:spPr>
          <a:xfrm>
            <a:off x="937260" y="4750308"/>
            <a:ext cx="320040" cy="320040"/>
          </a:xfrm>
          <a:prstGeom prst="rect">
            <a:avLst/>
          </a:prstGeom>
        </p:spPr>
      </p:pic>
      <p:sp>
        <p:nvSpPr>
          <p:cNvPr id="14" name="Extra text 461"/>
          <p:cNvSpPr txBox="1"/>
          <p:nvPr/>
        </p:nvSpPr>
        <p:spPr>
          <a:xfrm>
            <a:off x="1600200" y="4416552"/>
            <a:ext cx="9814255" cy="1005840"/>
          </a:xfrm>
          <a:prstGeom prst="rect">
            <a:avLst/>
          </a:prstGeom>
          <a:noFill/>
          <a:ln/>
        </p:spPr>
        <p:txBody>
          <a:bodyPr wrap="square" lIns="0" tIns="0" rIns="0" bIns="0" rtlCol="0" anchor="ctr"/>
          <a:lstStyle/>
          <a:p>
            <a:pPr indent="0" marL="0">
              <a:buNone/>
            </a:pPr>
            <a:r>
              <a:rPr lang="en-US" sz="2100" b="1" dirty="0">
                <a:solidFill>
                  <a:srgbClr val="B9770E"/>
                </a:solidFill>
                <a:latin typeface="Calibri" pitchFamily="34" charset="0"/>
                <a:ea typeface="Calibri" pitchFamily="34" charset="-122"/>
                <a:cs typeface="Calibri" pitchFamily="34" charset="-120"/>
              </a:rPr>
              <a:t>Extra challenge  </a:t>
            </a:r>
            <a:pPr indent="0" marL="0">
              <a:buNone/>
            </a:pPr>
            <a:r>
              <a:rPr lang="en-US" sz="2100" dirty="0">
                <a:solidFill>
                  <a:srgbClr val="16302E"/>
                </a:solidFill>
                <a:latin typeface="Calibri" pitchFamily="34" charset="0"/>
                <a:ea typeface="Calibri" pitchFamily="34" charset="-122"/>
                <a:cs typeface="Calibri" pitchFamily="34" charset="-120"/>
              </a:rPr>
              <a:t>Rewrite the claim so that it is true. (Hint: add the word “shaddah”.)</a:t>
            </a:r>
            <a:endParaRPr lang="en-US" sz="2100" dirty="0"/>
          </a:p>
        </p:txBody>
      </p:sp>
      <p:sp>
        <p:nvSpPr>
          <p:cNvPr id="15" name="Back to question 462 LINK:act3">
            <a:hlinkClick r:id="rIdJump1" action="ppaction://hlinksldjump"/>
          </p:cNvPr>
          <p:cNvSpPr/>
          <p:nvPr/>
        </p:nvSpPr>
        <p:spPr>
          <a:xfrm>
            <a:off x="548640" y="6236208"/>
            <a:ext cx="2377440" cy="420624"/>
          </a:xfrm>
          <a:prstGeom prst="roundRect">
            <a:avLst>
              <a:gd name="adj" fmla="val 47826"/>
            </a:avLst>
          </a:prstGeom>
          <a:solidFill>
            <a:srgbClr val="FFFFFF"/>
          </a:solidFill>
          <a:ln w="19050">
            <a:solidFill>
              <a:srgbClr val="1D7A6E"/>
            </a:solidFill>
          </a:ln>
        </p:spPr>
        <p:txBody>
          <a:bodyPr wrap="square" lIns="109728" tIns="0" rIns="109728" bIns="0" rtlCol="0" anchor="ctr"/>
          <a:lstStyle/>
          <a:p>
            <a:pPr algn="ctr" indent="0" marL="0">
              <a:buNone/>
            </a:pPr>
            <a:r>
              <a:rPr lang="en-US" sz="1500" b="1" dirty="0">
                <a:solidFill>
                  <a:srgbClr val="1D7A6E"/>
                </a:solidFill>
                <a:latin typeface="Calibri" pitchFamily="34" charset="0"/>
                <a:ea typeface="Calibri" pitchFamily="34" charset="-122"/>
                <a:cs typeface="Calibri" pitchFamily="34" charset="-120"/>
              </a:rPr>
              <a:t>‹  Back to question</a:t>
            </a:r>
            <a:endParaRPr lang="en-US" sz="1500" dirty="0"/>
          </a:p>
        </p:txBody>
      </p:sp>
      <p:sp>
        <p:nvSpPr>
          <p:cNvPr id="16" name="Feedback next 463 LINK:final">
            <a:hlinkClick r:id="rIdJump2" action="ppaction://hlinksldjump"/>
          </p:cNvPr>
          <p:cNvSpPr/>
          <p:nvPr/>
        </p:nvSpPr>
        <p:spPr>
          <a:xfrm>
            <a:off x="9537192" y="6236208"/>
            <a:ext cx="2103120" cy="420624"/>
          </a:xfrm>
          <a:prstGeom prst="roundRect">
            <a:avLst>
              <a:gd name="adj" fmla="val 47826"/>
            </a:avLst>
          </a:prstGeom>
          <a:solidFill>
            <a:srgbClr val="2E9E5B"/>
          </a:solidFill>
          <a:ln>
            <a:solidFill>
              <a:srgbClr val="2E9E5B"/>
            </a:solidFill>
          </a:ln>
        </p:spPr>
        <p:txBody>
          <a:bodyPr wrap="square" lIns="109728" tIns="0" rIns="109728"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Next  ›</a:t>
            </a:r>
            <a:endParaRPr lang="en-US" sz="1600" dirty="0"/>
          </a:p>
        </p:txBody>
      </p:sp>
    </p:spTree>
  </p:cSld>
  <p:clrMapOvr>
    <a:masterClrMapping/>
  </p:clrMapOvr>
  <p:transition spd="med">
    <p:fade/>
  </p:transition>
</p:sld>
</file>

<file path=ppt/slides/slide24.xml><?xml version="1.0" encoding="utf-8"?>
<p:sld xmlns:a="http://schemas.openxmlformats.org/drawingml/2006/main" xmlns:r="http://schemas.openxmlformats.org/officeDocument/2006/relationships" xmlns:p="http://schemas.openxmlformats.org/presentationml/2006/main" show="0">
  <p:cSld name="Slide 24">
    <p:spTree>
      <p:nvGrpSpPr>
        <p:cNvPr id="1" name=""/>
        <p:cNvGrpSpPr/>
        <p:nvPr/>
      </p:nvGrpSpPr>
      <p:grpSpPr>
        <a:xfrm>
          <a:off x="0" y="0"/>
          <a:ext cx="0" cy="0"/>
          <a:chOff x="0" y="0"/>
          <a:chExt cx="0" cy="0"/>
        </a:xfrm>
      </p:grpSpPr>
      <p:sp>
        <p:nvSpPr>
          <p:cNvPr id="2" name="Try badge circle 464"/>
          <p:cNvSpPr/>
          <p:nvPr/>
        </p:nvSpPr>
        <p:spPr>
          <a:xfrm>
            <a:off x="548640" y="502920"/>
            <a:ext cx="1005840" cy="1005840"/>
          </a:xfrm>
          <a:prstGeom prst="ellipse">
            <a:avLst/>
          </a:prstGeom>
          <a:solidFill>
            <a:srgbClr val="E0674F"/>
          </a:solidFill>
          <a:ln w="12700">
            <a:solidFill>
              <a:srgbClr val="E0674F"/>
            </a:solidFill>
            <a:prstDash val="solid"/>
          </a:ln>
        </p:spPr>
      </p:sp>
      <p:pic>
        <p:nvPicPr>
          <p:cNvPr id="3" name="Try badge glyph 465" descr="preencoded.png">    </p:cNvPr>
          <p:cNvPicPr>
            <a:picLocks noChangeAspect="1"/>
          </p:cNvPicPr>
          <p:nvPr/>
        </p:nvPicPr>
        <p:blipFill>
          <a:blip r:embed="rId1"/>
          <a:stretch>
            <a:fillRect/>
          </a:stretch>
        </p:blipFill>
        <p:spPr>
          <a:xfrm>
            <a:off x="800100" y="754380"/>
            <a:ext cx="502920" cy="502920"/>
          </a:xfrm>
          <a:prstGeom prst="rect">
            <a:avLst/>
          </a:prstGeom>
        </p:spPr>
      </p:pic>
      <p:sp>
        <p:nvSpPr>
          <p:cNvPr id="4" name="Feedback title 466"/>
          <p:cNvSpPr txBox="1"/>
          <p:nvPr/>
        </p:nvSpPr>
        <p:spPr>
          <a:xfrm>
            <a:off x="1783080" y="548640"/>
            <a:ext cx="9144000" cy="914400"/>
          </a:xfrm>
          <a:prstGeom prst="rect">
            <a:avLst/>
          </a:prstGeom>
          <a:noFill/>
          <a:ln/>
        </p:spPr>
        <p:txBody>
          <a:bodyPr wrap="square" lIns="0" tIns="0" rIns="0" bIns="0" rtlCol="0" anchor="ctr"/>
          <a:lstStyle/>
          <a:p>
            <a:pPr indent="0" marL="0">
              <a:buNone/>
            </a:pPr>
            <a:r>
              <a:rPr lang="en-US" sz="4000" b="1" dirty="0">
                <a:solidFill>
                  <a:srgbClr val="B2432E"/>
                </a:solidFill>
                <a:latin typeface="Calibri" pitchFamily="34" charset="0"/>
                <a:ea typeface="Calibri" pitchFamily="34" charset="-122"/>
                <a:cs typeface="Calibri" pitchFamily="34" charset="-120"/>
              </a:rPr>
              <a:t>Not quite. Compare these two.</a:t>
            </a:r>
            <a:endParaRPr lang="en-US" sz="4000" dirty="0"/>
          </a:p>
        </p:txBody>
      </p:sp>
      <p:sp>
        <p:nvSpPr>
          <p:cNvPr id="5" name="Verse panel 467"/>
          <p:cNvSpPr/>
          <p:nvPr/>
        </p:nvSpPr>
        <p:spPr>
          <a:xfrm>
            <a:off x="548640" y="1783080"/>
            <a:ext cx="11094415" cy="1371600"/>
          </a:xfrm>
          <a:prstGeom prst="roundRect">
            <a:avLst>
              <a:gd name="adj" fmla="val 12000"/>
            </a:avLst>
          </a:prstGeom>
          <a:solidFill>
            <a:srgbClr val="FFFFFF"/>
          </a:solidFill>
          <a:ln w="12700">
            <a:solidFill>
              <a:srgbClr val="D5E5E0"/>
            </a:solidFill>
            <a:prstDash val="solid"/>
          </a:ln>
          <a:effectLst>
            <a:outerShdw sx="100000" sy="100000" kx="0" ky="0" algn="bl" rotWithShape="0" blurRad="101600" dist="25400" dir="5400000">
              <a:srgbClr val="0F3D3A">
                <a:alpha val="10000"/>
              </a:srgbClr>
            </a:outerShdw>
          </a:effectLst>
        </p:spPr>
      </p:sp>
      <p:sp>
        <p:nvSpPr>
          <p:cNvPr id="6" name="Verse excerpt 468"/>
          <p:cNvSpPr txBox="1"/>
          <p:nvPr/>
        </p:nvSpPr>
        <p:spPr>
          <a:xfrm>
            <a:off x="822960" y="1810512"/>
            <a:ext cx="10545775" cy="1280160"/>
          </a:xfrm>
          <a:prstGeom prst="rect">
            <a:avLst/>
          </a:prstGeom>
          <a:noFill/>
          <a:ln/>
        </p:spPr>
        <p:txBody>
          <a:bodyPr wrap="square" lIns="0" tIns="0" rIns="0" bIns="0" rtlCol="0" anchor="ctr"/>
          <a:lstStyle/>
          <a:p>
            <a:pPr algn="ctr" indent="0" marL="0">
              <a:buNone/>
            </a:pPr>
            <a:r>
              <a:rPr lang="ar-SA" altLang="en-US" sz="6000" dirty="0">
                <a:solidFill>
                  <a:srgbClr val="0F5148"/>
                </a:solidFill>
                <a:highlight>
                  <a:srgbClr val="FFE08A"/>
                </a:highlight>
                <a:latin typeface="Traditional Arabic" pitchFamily="34" charset="0"/>
                <a:ea typeface="Traditional Arabic" pitchFamily="34" charset="-122"/>
                <a:cs typeface="Traditional Arabic" pitchFamily="34" charset="-120"/>
              </a:rPr>
              <a:t>مِنَ</a:t>
            </a:r>
            <a:pPr algn="ctr" indent="0" marL="0">
              <a:buNone/>
            </a:pPr>
            <a:r>
              <a:rPr lang="ar-SA" altLang="en-US" sz="6000" dirty="0">
                <a:solidFill>
                  <a:srgbClr val="16302E"/>
                </a:solidFill>
                <a:latin typeface="Traditional Arabic" pitchFamily="34" charset="0"/>
                <a:ea typeface="Traditional Arabic" pitchFamily="34" charset="-122"/>
                <a:cs typeface="Traditional Arabic" pitchFamily="34" charset="-120"/>
              </a:rPr>
              <a:t>   ·   </a:t>
            </a:r>
            <a:pPr algn="ctr" indent="0" marL="0">
              <a:buNone/>
            </a:pPr>
            <a:r>
              <a:rPr lang="ar-SA" altLang="en-US" sz="6000" dirty="0">
                <a:solidFill>
                  <a:srgbClr val="0F5148"/>
                </a:solidFill>
                <a:highlight>
                  <a:srgbClr val="FFE08A"/>
                </a:highlight>
                <a:latin typeface="Traditional Arabic" pitchFamily="34" charset="0"/>
                <a:ea typeface="Traditional Arabic" pitchFamily="34" charset="-122"/>
                <a:cs typeface="Traditional Arabic" pitchFamily="34" charset="-120"/>
              </a:rPr>
              <a:t>إِنَّ</a:t>
            </a:r>
            <a:endParaRPr lang="ar-SA" sz="6000" dirty="0"/>
          </a:p>
        </p:txBody>
      </p:sp>
      <p:sp>
        <p:nvSpPr>
          <p:cNvPr id="7" name="Hint circle 469"/>
          <p:cNvSpPr/>
          <p:nvPr/>
        </p:nvSpPr>
        <p:spPr>
          <a:xfrm>
            <a:off x="548640" y="3429000"/>
            <a:ext cx="640080" cy="640080"/>
          </a:xfrm>
          <a:prstGeom prst="ellipse">
            <a:avLst/>
          </a:prstGeom>
          <a:solidFill>
            <a:srgbClr val="F6C552"/>
          </a:solidFill>
          <a:ln w="12700">
            <a:solidFill>
              <a:srgbClr val="F6C552"/>
            </a:solidFill>
            <a:prstDash val="solid"/>
          </a:ln>
        </p:spPr>
      </p:sp>
      <p:pic>
        <p:nvPicPr>
          <p:cNvPr id="8" name="Hint glyph 470" descr="preencoded.png">    </p:cNvPr>
          <p:cNvPicPr>
            <a:picLocks noChangeAspect="1"/>
          </p:cNvPicPr>
          <p:nvPr/>
        </p:nvPicPr>
        <p:blipFill>
          <a:blip r:embed="rId2"/>
          <a:stretch>
            <a:fillRect/>
          </a:stretch>
        </p:blipFill>
        <p:spPr>
          <a:xfrm>
            <a:off x="708660" y="3589020"/>
            <a:ext cx="320040" cy="320040"/>
          </a:xfrm>
          <a:prstGeom prst="rect">
            <a:avLst/>
          </a:prstGeom>
        </p:spPr>
      </p:pic>
      <p:sp>
        <p:nvSpPr>
          <p:cNvPr id="9" name="Hint text 471"/>
          <p:cNvSpPr txBox="1"/>
          <p:nvPr/>
        </p:nvSpPr>
        <p:spPr>
          <a:xfrm>
            <a:off x="1417320" y="3383280"/>
            <a:ext cx="10225735" cy="1280160"/>
          </a:xfrm>
          <a:prstGeom prst="rect">
            <a:avLst/>
          </a:prstGeom>
          <a:noFill/>
          <a:ln/>
        </p:spPr>
        <p:txBody>
          <a:bodyPr wrap="square" lIns="0" tIns="0" rIns="0" bIns="0" rtlCol="0" anchor="t"/>
          <a:lstStyle/>
          <a:p>
            <a:pPr indent="0" marL="0">
              <a:buNone/>
            </a:pPr>
            <a:r>
              <a:rPr lang="en-US" sz="2400" dirty="0">
                <a:solidFill>
                  <a:srgbClr val="16302E"/>
                </a:solidFill>
                <a:latin typeface="Calibri" pitchFamily="34" charset="0"/>
                <a:ea typeface="Calibri" pitchFamily="34" charset="-122"/>
                <a:cs typeface="Calibri" pitchFamily="34" charset="-120"/>
              </a:rPr>
              <a:t>Both have a noon, but only one carries a shaddah. Does the noon of مِنَ get the same two-count hold as إِنَّ?</a:t>
            </a:r>
            <a:endParaRPr lang="en-US" sz="2400" dirty="0"/>
          </a:p>
        </p:txBody>
      </p:sp>
      <p:sp>
        <p:nvSpPr>
          <p:cNvPr id="10" name="Try again 472 LINK:act3">
            <a:hlinkClick r:id="rIdJump1" action="ppaction://hlinksldjump"/>
          </p:cNvPr>
          <p:cNvSpPr/>
          <p:nvPr/>
        </p:nvSpPr>
        <p:spPr>
          <a:xfrm>
            <a:off x="4498848" y="5257800"/>
            <a:ext cx="3200400" cy="731520"/>
          </a:xfrm>
          <a:prstGeom prst="roundRect">
            <a:avLst>
              <a:gd name="adj" fmla="val 27500"/>
            </a:avLst>
          </a:prstGeom>
          <a:solidFill>
            <a:srgbClr val="E0674F"/>
          </a:solidFill>
          <a:ln>
            <a:solidFill>
              <a:srgbClr val="E0674F"/>
            </a:solidFill>
          </a:ln>
          <a:effectLst>
            <a:outerShdw sx="100000" sy="100000" kx="0" ky="0" algn="bl" rotWithShape="0" blurRad="50800" dist="25400" dir="5400000">
              <a:srgbClr val="0F3D3A">
                <a:alpha val="18000"/>
              </a:srgbClr>
            </a:outerShdw>
          </a:effectLst>
        </p:spPr>
        <p:txBody>
          <a:bodyPr wrap="square" lIns="457200" tIns="0" rIns="9144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Try again</a:t>
            </a:r>
            <a:endParaRPr lang="en-US" sz="2600" dirty="0"/>
          </a:p>
        </p:txBody>
      </p:sp>
      <p:pic>
        <p:nvPicPr>
          <p:cNvPr id="11" name="Button icon 473 LINK:act3" descr="preencoded.png">
            <a:hlinkClick r:id="rIdJump2" action="ppaction://hlinksldjump"/>
          </p:cNvPr>
          <p:cNvPicPr>
            <a:picLocks noChangeAspect="1"/>
          </p:cNvPicPr>
          <p:nvPr/>
        </p:nvPicPr>
        <p:blipFill>
          <a:blip r:embed="rId3"/>
          <a:stretch>
            <a:fillRect/>
          </a:stretch>
        </p:blipFill>
        <p:spPr>
          <a:xfrm>
            <a:off x="4864608" y="5458968"/>
            <a:ext cx="329184" cy="329184"/>
          </a:xfrm>
          <a:prstGeom prst="rect">
            <a:avLst/>
          </a:prstGeom>
        </p:spPr>
      </p:pic>
    </p:spTree>
  </p:cSld>
  <p:clrMapOvr>
    <a:masterClrMapping/>
  </p:clrMapOvr>
  <p:transition spd="med">
    <p:fade/>
  </p:transition>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Kicker 474"/>
          <p:cNvSpPr txBox="1"/>
          <p:nvPr/>
        </p:nvSpPr>
        <p:spPr>
          <a:xfrm>
            <a:off x="548640" y="329184"/>
            <a:ext cx="7315200" cy="292608"/>
          </a:xfrm>
          <a:prstGeom prst="rect">
            <a:avLst/>
          </a:prstGeom>
          <a:noFill/>
          <a:ln/>
        </p:spPr>
        <p:txBody>
          <a:bodyPr wrap="square" lIns="0" tIns="0" rIns="0" bIns="0" rtlCol="0" anchor="t"/>
          <a:lstStyle/>
          <a:p>
            <a:pPr indent="0" marL="0">
              <a:buNone/>
            </a:pPr>
            <a:r>
              <a:rPr lang="en-US" sz="1400" b="1" spc="300" kern="0" dirty="0">
                <a:solidFill>
                  <a:srgbClr val="1D7A6E"/>
                </a:solidFill>
                <a:latin typeface="Calibri" pitchFamily="34" charset="0"/>
                <a:ea typeface="Calibri" pitchFamily="34" charset="-122"/>
                <a:cs typeface="Calibri" pitchFamily="34" charset="-120"/>
              </a:rPr>
              <a:t>FINAL CHECK</a:t>
            </a:r>
            <a:endParaRPr lang="en-US" sz="1400" dirty="0"/>
          </a:p>
        </p:txBody>
      </p:sp>
      <p:sp>
        <p:nvSpPr>
          <p:cNvPr id="3" name="Text 0"/>
          <p:cNvSpPr/>
          <p:nvPr>
            <p:ph idx="100" type="title" hasCustomPrompt="1"/>
          </p:nvPr>
        </p:nvSpPr>
        <p:spPr>
          <a:xfrm>
            <a:off x="548640" y="658368"/>
            <a:ext cx="9052560" cy="731520"/>
          </a:xfrm>
          <a:prstGeom prst="rect">
            <a:avLst/>
          </a:prstGeom>
          <a:noFill/>
          <a:ln/>
        </p:spPr>
        <p:txBody>
          <a:bodyPr wrap="square" lIns="0" tIns="0" rIns="0" bIns="0" rtlCol="0" anchor="t"/>
          <a:lstStyle/>
          <a:p>
            <a:pPr algn="l" indent="0" marL="0">
              <a:buNone/>
            </a:pPr>
            <a:r>
              <a:rPr lang="en-US" sz="3600" b="1" dirty="0">
                <a:solidFill>
                  <a:srgbClr val="16302E"/>
                </a:solidFill>
                <a:latin typeface="Calibri" pitchFamily="34" charset="0"/>
                <a:ea typeface="Calibri" pitchFamily="34" charset="-122"/>
                <a:cs typeface="Calibri" pitchFamily="34" charset="-120"/>
              </a:rPr>
              <a:t>How long is the ghunnah?</a:t>
            </a:r>
            <a:endParaRPr lang="en-US" sz="3600" dirty="0"/>
          </a:p>
        </p:txBody>
      </p:sp>
      <p:sp>
        <p:nvSpPr>
          <p:cNvPr id="4" name="Route chip 475"/>
          <p:cNvSpPr/>
          <p:nvPr/>
        </p:nvSpPr>
        <p:spPr>
          <a:xfrm>
            <a:off x="10012680" y="365760"/>
            <a:ext cx="1627632" cy="384048"/>
          </a:xfrm>
          <a:prstGeom prst="roundRect">
            <a:avLst>
              <a:gd name="adj" fmla="val 47619"/>
            </a:avLst>
          </a:prstGeom>
          <a:solidFill>
            <a:srgbClr val="F2B134"/>
          </a:solidFill>
          <a:ln>
            <a:solidFill>
              <a:srgbClr val="F2B134"/>
            </a:solidFill>
          </a:ln>
        </p:spPr>
        <p:txBody>
          <a:bodyPr wrap="square" lIns="0" tIns="0" rIns="0" bIns="0" rtlCol="0" anchor="ctr"/>
          <a:lstStyle/>
          <a:p>
            <a:pPr algn="ctr" indent="0" marL="0">
              <a:buNone/>
            </a:pPr>
            <a:r>
              <a:rPr lang="en-US" sz="1300" b="1" spc="200" kern="0" dirty="0">
                <a:solidFill>
                  <a:srgbClr val="FFFFFF"/>
                </a:solidFill>
                <a:latin typeface="Calibri" pitchFamily="34" charset="0"/>
                <a:ea typeface="Calibri" pitchFamily="34" charset="-122"/>
                <a:cs typeface="Calibri" pitchFamily="34" charset="-120"/>
              </a:rPr>
              <a:t>CHALLENGE</a:t>
            </a:r>
            <a:endParaRPr lang="en-US" sz="1300" dirty="0"/>
          </a:p>
        </p:txBody>
      </p:sp>
      <p:sp>
        <p:nvSpPr>
          <p:cNvPr id="5" name="Question 476"/>
          <p:cNvSpPr txBox="1"/>
          <p:nvPr/>
        </p:nvSpPr>
        <p:spPr>
          <a:xfrm>
            <a:off x="548640" y="1536192"/>
            <a:ext cx="11094415" cy="868680"/>
          </a:xfrm>
          <a:prstGeom prst="rect">
            <a:avLst/>
          </a:prstGeom>
          <a:noFill/>
          <a:ln/>
        </p:spPr>
        <p:txBody>
          <a:bodyPr wrap="square" lIns="0" tIns="0" rIns="0" bIns="0" rtlCol="0" anchor="t"/>
          <a:lstStyle/>
          <a:p>
            <a:pPr indent="0" marL="0">
              <a:buNone/>
            </a:pPr>
            <a:r>
              <a:rPr lang="en-US" sz="2600" dirty="0">
                <a:solidFill>
                  <a:srgbClr val="16302E"/>
                </a:solidFill>
                <a:latin typeface="Calibri" pitchFamily="34" charset="0"/>
                <a:ea typeface="Calibri" pitchFamily="34" charset="-122"/>
                <a:cs typeface="Calibri" pitchFamily="34" charset="-120"/>
              </a:rPr>
              <a:t>On a doubled noon or meem, how long do you hold the ghunnah?</a:t>
            </a:r>
            <a:endParaRPr lang="en-US" sz="2600" dirty="0"/>
          </a:p>
        </p:txBody>
      </p:sp>
      <p:sp>
        <p:nvSpPr>
          <p:cNvPr id="6" name="Choice A 477 LINK:final_ok">
            <a:hlinkClick r:id="rIdJump1" action="ppaction://hlinksldjump"/>
          </p:cNvPr>
          <p:cNvSpPr/>
          <p:nvPr/>
        </p:nvSpPr>
        <p:spPr>
          <a:xfrm>
            <a:off x="548640" y="2514600"/>
            <a:ext cx="3515258" cy="2377440"/>
          </a:xfrm>
          <a:prstGeom prst="roundRect">
            <a:avLst>
              <a:gd name="adj" fmla="val 8462"/>
            </a:avLst>
          </a:prstGeom>
          <a:solidFill>
            <a:srgbClr val="FFFFFF"/>
          </a:solidFill>
          <a:ln w="19050">
            <a:solidFill>
              <a:srgbClr val="1D7A6E"/>
            </a:solidFill>
          </a:ln>
          <a:effectLst>
            <a:outerShdw sx="100000" sy="100000" kx="0" ky="0" algn="bl" rotWithShape="0" blurRad="50800" dist="25400" dir="5400000">
              <a:srgbClr val="0F3D3A">
                <a:alpha val="18000"/>
              </a:srgbClr>
            </a:outerShdw>
          </a:effectLst>
        </p:spPr>
        <p:txBody>
          <a:bodyPr wrap="square" lIns="868680" tIns="91440" rIns="274320" bIns="91440" rtlCol="0" anchor="ctr"/>
          <a:lstStyle/>
          <a:p>
            <a:pPr algn="l" indent="0" marL="0">
              <a:buNone/>
            </a:pPr>
            <a:r>
              <a:rPr lang="en-US" sz="2400" b="1" dirty="0">
                <a:solidFill>
                  <a:srgbClr val="16302E"/>
                </a:solidFill>
                <a:latin typeface="Calibri" pitchFamily="34" charset="0"/>
                <a:ea typeface="Calibri" pitchFamily="34" charset="-122"/>
                <a:cs typeface="Calibri" pitchFamily="34" charset="-120"/>
              </a:rPr>
              <a:t>Two counts, relative to your pace</a:t>
            </a:r>
            <a:endParaRPr lang="en-US" sz="2400" dirty="0"/>
          </a:p>
        </p:txBody>
      </p:sp>
      <p:sp>
        <p:nvSpPr>
          <p:cNvPr id="7" name="Choice letter 478 LINK:final_ok">
            <a:hlinkClick r:id="rIdJump2" action="ppaction://hlinksldjump"/>
          </p:cNvPr>
          <p:cNvSpPr/>
          <p:nvPr/>
        </p:nvSpPr>
        <p:spPr>
          <a:xfrm>
            <a:off x="713232" y="3438144"/>
            <a:ext cx="530352" cy="530352"/>
          </a:xfrm>
          <a:prstGeom prst="ellipse">
            <a:avLst/>
          </a:prstGeom>
          <a:solidFill>
            <a:srgbClr val="1D7A6E"/>
          </a:solidFill>
          <a:ln>
            <a:solidFill>
              <a:srgbClr val="1D7A6E"/>
            </a:solid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a:t>
            </a:r>
            <a:endParaRPr lang="en-US" sz="2000" dirty="0"/>
          </a:p>
        </p:txBody>
      </p:sp>
      <p:sp>
        <p:nvSpPr>
          <p:cNvPr id="8" name="Choice B 479 LINK:final_sec">
            <a:hlinkClick r:id="rIdJump3" action="ppaction://hlinksldjump"/>
          </p:cNvPr>
          <p:cNvSpPr/>
          <p:nvPr/>
        </p:nvSpPr>
        <p:spPr>
          <a:xfrm>
            <a:off x="4338218" y="2514600"/>
            <a:ext cx="3515258" cy="2377440"/>
          </a:xfrm>
          <a:prstGeom prst="roundRect">
            <a:avLst>
              <a:gd name="adj" fmla="val 8462"/>
            </a:avLst>
          </a:prstGeom>
          <a:solidFill>
            <a:srgbClr val="FFFFFF"/>
          </a:solidFill>
          <a:ln w="19050">
            <a:solidFill>
              <a:srgbClr val="1D7A6E"/>
            </a:solidFill>
          </a:ln>
          <a:effectLst>
            <a:outerShdw sx="100000" sy="100000" kx="0" ky="0" algn="bl" rotWithShape="0" blurRad="50800" dist="25400" dir="5400000">
              <a:srgbClr val="0F3D3A">
                <a:alpha val="18000"/>
              </a:srgbClr>
            </a:outerShdw>
          </a:effectLst>
        </p:spPr>
        <p:txBody>
          <a:bodyPr wrap="square" lIns="868680" tIns="91440" rIns="274320" bIns="91440" rtlCol="0" anchor="ctr"/>
          <a:lstStyle/>
          <a:p>
            <a:pPr algn="l" indent="0" marL="0">
              <a:buNone/>
            </a:pPr>
            <a:r>
              <a:rPr lang="en-US" sz="2400" b="1" dirty="0">
                <a:solidFill>
                  <a:srgbClr val="16302E"/>
                </a:solidFill>
                <a:latin typeface="Calibri" pitchFamily="34" charset="0"/>
                <a:ea typeface="Calibri" pitchFamily="34" charset="-122"/>
                <a:cs typeface="Calibri" pitchFamily="34" charset="-120"/>
              </a:rPr>
              <a:t>Exactly two seconds</a:t>
            </a:r>
            <a:endParaRPr lang="en-US" sz="2400" dirty="0"/>
          </a:p>
        </p:txBody>
      </p:sp>
      <p:sp>
        <p:nvSpPr>
          <p:cNvPr id="9" name="Choice letter 480 LINK:final_sec">
            <a:hlinkClick r:id="rIdJump4" action="ppaction://hlinksldjump"/>
          </p:cNvPr>
          <p:cNvSpPr/>
          <p:nvPr/>
        </p:nvSpPr>
        <p:spPr>
          <a:xfrm>
            <a:off x="4502810" y="3438144"/>
            <a:ext cx="530352" cy="530352"/>
          </a:xfrm>
          <a:prstGeom prst="ellipse">
            <a:avLst/>
          </a:prstGeom>
          <a:solidFill>
            <a:srgbClr val="1D7A6E"/>
          </a:solidFill>
          <a:ln>
            <a:solidFill>
              <a:srgbClr val="1D7A6E"/>
            </a:solid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0" name="Choice C 481 LINK:final_one">
            <a:hlinkClick r:id="rIdJump5" action="ppaction://hlinksldjump"/>
          </p:cNvPr>
          <p:cNvSpPr/>
          <p:nvPr/>
        </p:nvSpPr>
        <p:spPr>
          <a:xfrm>
            <a:off x="8127797" y="2514600"/>
            <a:ext cx="3515258" cy="2377440"/>
          </a:xfrm>
          <a:prstGeom prst="roundRect">
            <a:avLst>
              <a:gd name="adj" fmla="val 8462"/>
            </a:avLst>
          </a:prstGeom>
          <a:solidFill>
            <a:srgbClr val="FFFFFF"/>
          </a:solidFill>
          <a:ln w="19050">
            <a:solidFill>
              <a:srgbClr val="1D7A6E"/>
            </a:solidFill>
          </a:ln>
          <a:effectLst>
            <a:outerShdw sx="100000" sy="100000" kx="0" ky="0" algn="bl" rotWithShape="0" blurRad="50800" dist="25400" dir="5400000">
              <a:srgbClr val="0F3D3A">
                <a:alpha val="18000"/>
              </a:srgbClr>
            </a:outerShdw>
          </a:effectLst>
        </p:spPr>
        <p:txBody>
          <a:bodyPr wrap="square" lIns="868680" tIns="91440" rIns="274320" bIns="91440" rtlCol="0" anchor="ctr"/>
          <a:lstStyle/>
          <a:p>
            <a:pPr algn="l" indent="0" marL="0">
              <a:buNone/>
            </a:pPr>
            <a:r>
              <a:rPr lang="en-US" sz="2400" b="1" dirty="0">
                <a:solidFill>
                  <a:srgbClr val="16302E"/>
                </a:solidFill>
                <a:latin typeface="Calibri" pitchFamily="34" charset="0"/>
                <a:ea typeface="Calibri" pitchFamily="34" charset="-122"/>
                <a:cs typeface="Calibri" pitchFamily="34" charset="-120"/>
              </a:rPr>
              <a:t>One quick count, no hold</a:t>
            </a:r>
            <a:endParaRPr lang="en-US" sz="2400" dirty="0"/>
          </a:p>
        </p:txBody>
      </p:sp>
      <p:sp>
        <p:nvSpPr>
          <p:cNvPr id="11" name="Choice letter 482 LINK:final_one">
            <a:hlinkClick r:id="rIdJump6" action="ppaction://hlinksldjump"/>
          </p:cNvPr>
          <p:cNvSpPr/>
          <p:nvPr/>
        </p:nvSpPr>
        <p:spPr>
          <a:xfrm>
            <a:off x="8292389" y="3438144"/>
            <a:ext cx="530352" cy="530352"/>
          </a:xfrm>
          <a:prstGeom prst="ellipse">
            <a:avLst/>
          </a:prstGeom>
          <a:solidFill>
            <a:srgbClr val="1D7A6E"/>
          </a:solidFill>
          <a:ln>
            <a:solidFill>
              <a:srgbClr val="1D7A6E"/>
            </a:solid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C</a:t>
            </a:r>
            <a:endParaRPr lang="en-US" sz="2000" dirty="0"/>
          </a:p>
        </p:txBody>
      </p:sp>
      <p:sp>
        <p:nvSpPr>
          <p:cNvPr id="12" name="Nav Home 483 LINK:title">
            <a:hlinkClick r:id="rIdJump7" action="ppaction://hlinksldjump"/>
          </p:cNvPr>
          <p:cNvSpPr/>
          <p:nvPr/>
        </p:nvSpPr>
        <p:spPr>
          <a:xfrm>
            <a:off x="548640" y="6236208"/>
            <a:ext cx="1234440" cy="420624"/>
          </a:xfrm>
          <a:prstGeom prst="roundRect">
            <a:avLst>
              <a:gd name="adj" fmla="val 47826"/>
            </a:avLst>
          </a:prstGeom>
          <a:solidFill>
            <a:srgbClr val="16302E"/>
          </a:solidFill>
          <a:ln>
            <a:solidFill>
              <a:srgbClr val="16302E"/>
            </a:solidFill>
          </a:ln>
        </p:spPr>
        <p:txBody>
          <a:bodyPr wrap="square" lIns="365760" tIns="0" rIns="9144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Home</a:t>
            </a:r>
            <a:endParaRPr lang="en-US" sz="1500" dirty="0"/>
          </a:p>
        </p:txBody>
      </p:sp>
      <p:pic>
        <p:nvPicPr>
          <p:cNvPr id="13" name="Button icon 484 LINK:title" descr="preencoded.png">
            <a:hlinkClick r:id="rIdJump8" action="ppaction://hlinksldjump"/>
          </p:cNvPr>
          <p:cNvPicPr>
            <a:picLocks noChangeAspect="1"/>
          </p:cNvPicPr>
          <p:nvPr/>
        </p:nvPicPr>
        <p:blipFill>
          <a:blip r:embed="rId1"/>
          <a:stretch>
            <a:fillRect/>
          </a:stretch>
        </p:blipFill>
        <p:spPr>
          <a:xfrm>
            <a:off x="749808" y="6336792"/>
            <a:ext cx="219456" cy="219456"/>
          </a:xfrm>
          <a:prstGeom prst="rect">
            <a:avLst/>
          </a:prstGeom>
        </p:spPr>
      </p:pic>
      <p:sp>
        <p:nvSpPr>
          <p:cNvPr id="14" name="Nav Menu 485 LINK:menu">
            <a:hlinkClick r:id="rIdJump9" action="ppaction://hlinksldjump"/>
          </p:cNvPr>
          <p:cNvSpPr/>
          <p:nvPr/>
        </p:nvSpPr>
        <p:spPr>
          <a:xfrm>
            <a:off x="1901952" y="6236208"/>
            <a:ext cx="1005840" cy="420624"/>
          </a:xfrm>
          <a:prstGeom prst="roundRect">
            <a:avLst>
              <a:gd name="adj" fmla="val 47826"/>
            </a:avLst>
          </a:prstGeom>
          <a:solidFill>
            <a:srgbClr val="FFFFFF"/>
          </a:solidFill>
          <a:ln w="19050">
            <a:solidFill>
              <a:srgbClr val="16302E"/>
            </a:solidFill>
          </a:ln>
        </p:spPr>
        <p:txBody>
          <a:bodyPr wrap="square" lIns="109728" tIns="0" rIns="109728" bIns="0" rtlCol="0" anchor="ctr"/>
          <a:lstStyle/>
          <a:p>
            <a:pPr algn="ctr" indent="0" marL="0">
              <a:buNone/>
            </a:pPr>
            <a:r>
              <a:rPr lang="en-US" sz="1500" b="1" dirty="0">
                <a:solidFill>
                  <a:srgbClr val="16302E"/>
                </a:solidFill>
                <a:latin typeface="Calibri" pitchFamily="34" charset="0"/>
                <a:ea typeface="Calibri" pitchFamily="34" charset="-122"/>
                <a:cs typeface="Calibri" pitchFamily="34" charset="-120"/>
              </a:rPr>
              <a:t>Menu</a:t>
            </a:r>
            <a:endParaRPr lang="en-US" sz="1500" dirty="0"/>
          </a:p>
        </p:txBody>
      </p:sp>
      <p:sp>
        <p:nvSpPr>
          <p:cNvPr id="15" name="Slide counter 486"/>
          <p:cNvSpPr txBox="1"/>
          <p:nvPr/>
        </p:nvSpPr>
        <p:spPr>
          <a:xfrm>
            <a:off x="5184648" y="6236208"/>
            <a:ext cx="1828800" cy="420624"/>
          </a:xfrm>
          <a:prstGeom prst="rect">
            <a:avLst/>
          </a:prstGeom>
          <a:noFill/>
          <a:ln/>
        </p:spPr>
        <p:txBody>
          <a:bodyPr wrap="square" lIns="0" tIns="0" rIns="0" bIns="0" rtlCol="0" anchor="ctr"/>
          <a:lstStyle/>
          <a:p>
            <a:pPr algn="ctr" indent="0" marL="0">
              <a:buNone/>
            </a:pPr>
            <a:r>
              <a:rPr lang="en-US" sz="1400" dirty="0">
                <a:solidFill>
                  <a:srgbClr val="5D7774"/>
                </a:solidFill>
                <a:latin typeface="Calibri" pitchFamily="34" charset="0"/>
                <a:ea typeface="Calibri" pitchFamily="34" charset="-122"/>
                <a:cs typeface="Calibri" pitchFamily="34" charset="-120"/>
              </a:rPr>
              <a:t>16 / 18</a:t>
            </a:r>
            <a:endParaRPr lang="en-US" sz="1400" dirty="0"/>
          </a:p>
        </p:txBody>
      </p:sp>
      <p:sp>
        <p:nvSpPr>
          <p:cNvPr id="16" name="Nav Back 487 LINK:act3">
            <a:hlinkClick r:id="rIdJump10" action="ppaction://hlinksldjump"/>
          </p:cNvPr>
          <p:cNvSpPr/>
          <p:nvPr/>
        </p:nvSpPr>
        <p:spPr>
          <a:xfrm>
            <a:off x="9052560" y="6236208"/>
            <a:ext cx="1234440" cy="420624"/>
          </a:xfrm>
          <a:prstGeom prst="roundRect">
            <a:avLst>
              <a:gd name="adj" fmla="val 47826"/>
            </a:avLst>
          </a:prstGeom>
          <a:solidFill>
            <a:srgbClr val="FFFFFF"/>
          </a:solidFill>
          <a:ln w="19050">
            <a:solidFill>
              <a:srgbClr val="1D7A6E"/>
            </a:solidFill>
          </a:ln>
        </p:spPr>
        <p:txBody>
          <a:bodyPr wrap="square" lIns="109728" tIns="0" rIns="109728" bIns="0" rtlCol="0" anchor="ctr"/>
          <a:lstStyle/>
          <a:p>
            <a:pPr algn="ctr" indent="0" marL="0">
              <a:buNone/>
            </a:pPr>
            <a:r>
              <a:rPr lang="en-US" sz="1500" b="1" dirty="0">
                <a:solidFill>
                  <a:srgbClr val="1D7A6E"/>
                </a:solidFill>
                <a:latin typeface="Calibri" pitchFamily="34" charset="0"/>
                <a:ea typeface="Calibri" pitchFamily="34" charset="-122"/>
                <a:cs typeface="Calibri" pitchFamily="34" charset="-120"/>
              </a:rPr>
              <a:t>‹  Back</a:t>
            </a:r>
            <a:endParaRPr lang="en-US" sz="1500" dirty="0"/>
          </a:p>
        </p:txBody>
      </p:sp>
      <p:sp>
        <p:nvSpPr>
          <p:cNvPr id="17" name="Nav Next 488 LINK:teach">
            <a:hlinkClick r:id="rIdJump11" action="ppaction://hlinksldjump"/>
          </p:cNvPr>
          <p:cNvSpPr/>
          <p:nvPr/>
        </p:nvSpPr>
        <p:spPr>
          <a:xfrm>
            <a:off x="10405872" y="6236208"/>
            <a:ext cx="1234440" cy="420624"/>
          </a:xfrm>
          <a:prstGeom prst="roundRect">
            <a:avLst>
              <a:gd name="adj" fmla="val 47826"/>
            </a:avLst>
          </a:prstGeom>
          <a:solidFill>
            <a:srgbClr val="1D7A6E"/>
          </a:solidFill>
          <a:ln>
            <a:solidFill>
              <a:srgbClr val="1D7A6E"/>
            </a:solidFill>
          </a:ln>
        </p:spPr>
        <p:txBody>
          <a:bodyPr wrap="square" lIns="109728" tIns="0" rIns="109728"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Next  ›</a:t>
            </a:r>
            <a:endParaRPr lang="en-US" sz="1500" dirty="0"/>
          </a:p>
        </p:txBody>
      </p:sp>
    </p:spTree>
  </p:cSld>
  <p:clrMapOvr>
    <a:masterClrMapping/>
  </p:clrMapOvr>
  <p:transition spd="med">
    <p:fade/>
  </p:transition>
</p:sld>
</file>

<file path=ppt/slides/slide26.xml><?xml version="1.0" encoding="utf-8"?>
<p:sld xmlns:a="http://schemas.openxmlformats.org/drawingml/2006/main" xmlns:r="http://schemas.openxmlformats.org/officeDocument/2006/relationships" xmlns:p="http://schemas.openxmlformats.org/presentationml/2006/main" show="0">
  <p:cSld name="Slide 26">
    <p:spTree>
      <p:nvGrpSpPr>
        <p:cNvPr id="1" name=""/>
        <p:cNvGrpSpPr/>
        <p:nvPr/>
      </p:nvGrpSpPr>
      <p:grpSpPr>
        <a:xfrm>
          <a:off x="0" y="0"/>
          <a:ext cx="0" cy="0"/>
          <a:chOff x="0" y="0"/>
          <a:chExt cx="0" cy="0"/>
        </a:xfrm>
      </p:grpSpPr>
      <p:sp>
        <p:nvSpPr>
          <p:cNvPr id="2" name="Correct badge circle 489"/>
          <p:cNvSpPr/>
          <p:nvPr/>
        </p:nvSpPr>
        <p:spPr>
          <a:xfrm>
            <a:off x="548640" y="502920"/>
            <a:ext cx="1005840" cy="1005840"/>
          </a:xfrm>
          <a:prstGeom prst="ellipse">
            <a:avLst/>
          </a:prstGeom>
          <a:solidFill>
            <a:srgbClr val="2E9E5B"/>
          </a:solidFill>
          <a:ln w="12700">
            <a:solidFill>
              <a:srgbClr val="2E9E5B"/>
            </a:solidFill>
            <a:prstDash val="solid"/>
          </a:ln>
        </p:spPr>
      </p:sp>
      <p:pic>
        <p:nvPicPr>
          <p:cNvPr id="3" name="Correct badge glyph 490" descr="preencoded.png">    </p:cNvPr>
          <p:cNvPicPr>
            <a:picLocks noChangeAspect="1"/>
          </p:cNvPicPr>
          <p:nvPr/>
        </p:nvPicPr>
        <p:blipFill>
          <a:blip r:embed="rId1"/>
          <a:stretch>
            <a:fillRect/>
          </a:stretch>
        </p:blipFill>
        <p:spPr>
          <a:xfrm>
            <a:off x="800100" y="754380"/>
            <a:ext cx="502920" cy="502920"/>
          </a:xfrm>
          <a:prstGeom prst="rect">
            <a:avLst/>
          </a:prstGeom>
        </p:spPr>
      </p:pic>
      <p:sp>
        <p:nvSpPr>
          <p:cNvPr id="4" name="Feedback title 491"/>
          <p:cNvSpPr txBox="1"/>
          <p:nvPr/>
        </p:nvSpPr>
        <p:spPr>
          <a:xfrm>
            <a:off x="1783080" y="548640"/>
            <a:ext cx="7315200" cy="914400"/>
          </a:xfrm>
          <a:prstGeom prst="rect">
            <a:avLst/>
          </a:prstGeom>
          <a:noFill/>
          <a:ln/>
        </p:spPr>
        <p:txBody>
          <a:bodyPr wrap="square" lIns="0" tIns="0" rIns="0" bIns="0" rtlCol="0" anchor="ctr"/>
          <a:lstStyle/>
          <a:p>
            <a:pPr indent="0" marL="0">
              <a:buNone/>
            </a:pPr>
            <a:r>
              <a:rPr lang="en-US" sz="4400" b="1" dirty="0">
                <a:solidFill>
                  <a:srgbClr val="1E7543"/>
                </a:solidFill>
                <a:latin typeface="Calibri" pitchFamily="34" charset="0"/>
                <a:ea typeface="Calibri" pitchFamily="34" charset="-122"/>
                <a:cs typeface="Calibri" pitchFamily="34" charset="-120"/>
              </a:rPr>
              <a:t>Correct!</a:t>
            </a:r>
            <a:endParaRPr lang="en-US" sz="4400" dirty="0"/>
          </a:p>
        </p:txBody>
      </p:sp>
      <p:pic>
        <p:nvPicPr>
          <p:cNvPr id="5" name="Deco star 0 492" descr="preencoded.png">    </p:cNvPr>
          <p:cNvPicPr>
            <a:picLocks noChangeAspect="1"/>
          </p:cNvPicPr>
          <p:nvPr/>
        </p:nvPicPr>
        <p:blipFill>
          <a:blip r:embed="rId2"/>
          <a:stretch>
            <a:fillRect/>
          </a:stretch>
        </p:blipFill>
        <p:spPr>
          <a:xfrm>
            <a:off x="9692640" y="457200"/>
            <a:ext cx="502920" cy="502920"/>
          </a:xfrm>
          <a:prstGeom prst="rect">
            <a:avLst/>
          </a:prstGeom>
        </p:spPr>
      </p:pic>
      <p:pic>
        <p:nvPicPr>
          <p:cNvPr id="6" name="Deco star 1 493" descr="preencoded.png">    </p:cNvPr>
          <p:cNvPicPr>
            <a:picLocks noChangeAspect="1"/>
          </p:cNvPicPr>
          <p:nvPr/>
        </p:nvPicPr>
        <p:blipFill>
          <a:blip r:embed="rId3"/>
          <a:stretch>
            <a:fillRect/>
          </a:stretch>
        </p:blipFill>
        <p:spPr>
          <a:xfrm>
            <a:off x="10424160" y="868680"/>
            <a:ext cx="347472" cy="347472"/>
          </a:xfrm>
          <a:prstGeom prst="rect">
            <a:avLst/>
          </a:prstGeom>
        </p:spPr>
      </p:pic>
      <p:pic>
        <p:nvPicPr>
          <p:cNvPr id="7" name="Deco star 2 494" descr="preencoded.png">    </p:cNvPr>
          <p:cNvPicPr>
            <a:picLocks noChangeAspect="1"/>
          </p:cNvPicPr>
          <p:nvPr/>
        </p:nvPicPr>
        <p:blipFill>
          <a:blip r:embed="rId4"/>
          <a:stretch>
            <a:fillRect/>
          </a:stretch>
        </p:blipFill>
        <p:spPr>
          <a:xfrm>
            <a:off x="11064240" y="411480"/>
            <a:ext cx="411480" cy="411480"/>
          </a:xfrm>
          <a:prstGeom prst="rect">
            <a:avLst/>
          </a:prstGeom>
        </p:spPr>
      </p:pic>
      <p:pic>
        <p:nvPicPr>
          <p:cNvPr id="8" name="Deco star 3 495" descr="preencoded.png">    </p:cNvPr>
          <p:cNvPicPr>
            <a:picLocks noChangeAspect="1"/>
          </p:cNvPicPr>
          <p:nvPr/>
        </p:nvPicPr>
        <p:blipFill>
          <a:blip r:embed="rId5"/>
          <a:stretch>
            <a:fillRect/>
          </a:stretch>
        </p:blipFill>
        <p:spPr>
          <a:xfrm>
            <a:off x="9052560" y="960120"/>
            <a:ext cx="274320" cy="274320"/>
          </a:xfrm>
          <a:prstGeom prst="rect">
            <a:avLst/>
          </a:prstGeom>
        </p:spPr>
      </p:pic>
      <p:sp>
        <p:nvSpPr>
          <p:cNvPr id="9" name="Explanation 496"/>
          <p:cNvSpPr txBox="1"/>
          <p:nvPr/>
        </p:nvSpPr>
        <p:spPr>
          <a:xfrm>
            <a:off x="548640" y="1783080"/>
            <a:ext cx="11094415" cy="1188720"/>
          </a:xfrm>
          <a:prstGeom prst="rect">
            <a:avLst/>
          </a:prstGeom>
          <a:noFill/>
          <a:ln/>
        </p:spPr>
        <p:txBody>
          <a:bodyPr wrap="square" lIns="0" tIns="0" rIns="0" bIns="0" rtlCol="0" anchor="t"/>
          <a:lstStyle/>
          <a:p>
            <a:pPr indent="0" marL="0">
              <a:buNone/>
            </a:pPr>
            <a:r>
              <a:rPr lang="en-US" sz="2400" dirty="0">
                <a:solidFill>
                  <a:srgbClr val="16302E"/>
                </a:solidFill>
                <a:latin typeface="Calibri" pitchFamily="34" charset="0"/>
                <a:ea typeface="Calibri" pitchFamily="34" charset="-122"/>
                <a:cs typeface="Calibri" pitchFamily="34" charset="-120"/>
              </a:rPr>
              <a:t>Two counts, measured against two short vowels at your current recitation speed. Counts follow your pace; they are not fixed seconds.</a:t>
            </a:r>
            <a:endParaRPr lang="en-US" sz="2400" dirty="0"/>
          </a:p>
        </p:txBody>
      </p:sp>
      <p:pic>
        <p:nvPicPr>
          <p:cNvPr id="10" name="Nasal wave 497" descr="preencoded.png">    </p:cNvPr>
          <p:cNvPicPr>
            <a:picLocks noChangeAspect="1"/>
          </p:cNvPicPr>
          <p:nvPr/>
        </p:nvPicPr>
        <p:blipFill>
          <a:blip r:embed="rId6"/>
          <a:stretch>
            <a:fillRect/>
          </a:stretch>
        </p:blipFill>
        <p:spPr>
          <a:xfrm>
            <a:off x="3992728" y="3063240"/>
            <a:ext cx="4206240" cy="1024128"/>
          </a:xfrm>
          <a:prstGeom prst="rect">
            <a:avLst/>
          </a:prstGeom>
        </p:spPr>
      </p:pic>
      <p:sp>
        <p:nvSpPr>
          <p:cNvPr id="11" name="Extra challenge 498"/>
          <p:cNvSpPr/>
          <p:nvPr/>
        </p:nvSpPr>
        <p:spPr>
          <a:xfrm>
            <a:off x="548640" y="4343400"/>
            <a:ext cx="11094415" cy="1143000"/>
          </a:xfrm>
          <a:prstGeom prst="roundRect">
            <a:avLst>
              <a:gd name="adj" fmla="val 14400"/>
            </a:avLst>
          </a:prstGeom>
          <a:solidFill>
            <a:srgbClr val="FDF3DC"/>
          </a:solidFill>
          <a:ln w="12700">
            <a:solidFill>
              <a:srgbClr val="F2B134"/>
            </a:solidFill>
            <a:prstDash val="solid"/>
          </a:ln>
        </p:spPr>
      </p:sp>
      <p:sp>
        <p:nvSpPr>
          <p:cNvPr id="12" name="Extra circle 499"/>
          <p:cNvSpPr/>
          <p:nvPr/>
        </p:nvSpPr>
        <p:spPr>
          <a:xfrm>
            <a:off x="777240" y="4590288"/>
            <a:ext cx="640080" cy="640080"/>
          </a:xfrm>
          <a:prstGeom prst="ellipse">
            <a:avLst/>
          </a:prstGeom>
          <a:solidFill>
            <a:srgbClr val="F2B134"/>
          </a:solidFill>
          <a:ln w="12700">
            <a:solidFill>
              <a:srgbClr val="F2B134"/>
            </a:solidFill>
            <a:prstDash val="solid"/>
          </a:ln>
        </p:spPr>
      </p:sp>
      <p:pic>
        <p:nvPicPr>
          <p:cNvPr id="13" name="Extra glyph 500" descr="preencoded.png">    </p:cNvPr>
          <p:cNvPicPr>
            <a:picLocks noChangeAspect="1"/>
          </p:cNvPicPr>
          <p:nvPr/>
        </p:nvPicPr>
        <p:blipFill>
          <a:blip r:embed="rId7"/>
          <a:stretch>
            <a:fillRect/>
          </a:stretch>
        </p:blipFill>
        <p:spPr>
          <a:xfrm>
            <a:off x="937260" y="4750308"/>
            <a:ext cx="320040" cy="320040"/>
          </a:xfrm>
          <a:prstGeom prst="rect">
            <a:avLst/>
          </a:prstGeom>
        </p:spPr>
      </p:pic>
      <p:sp>
        <p:nvSpPr>
          <p:cNvPr id="14" name="Extra text 501"/>
          <p:cNvSpPr txBox="1"/>
          <p:nvPr/>
        </p:nvSpPr>
        <p:spPr>
          <a:xfrm>
            <a:off x="1600200" y="4416552"/>
            <a:ext cx="9814255" cy="1005840"/>
          </a:xfrm>
          <a:prstGeom prst="rect">
            <a:avLst/>
          </a:prstGeom>
          <a:noFill/>
          <a:ln/>
        </p:spPr>
        <p:txBody>
          <a:bodyPr wrap="square" lIns="0" tIns="0" rIns="0" bIns="0" rtlCol="0" anchor="ctr"/>
          <a:lstStyle/>
          <a:p>
            <a:pPr indent="0" marL="0">
              <a:buNone/>
            </a:pPr>
            <a:r>
              <a:rPr lang="en-US" sz="2100" b="1" dirty="0">
                <a:solidFill>
                  <a:srgbClr val="B9770E"/>
                </a:solidFill>
                <a:latin typeface="Calibri" pitchFamily="34" charset="0"/>
                <a:ea typeface="Calibri" pitchFamily="34" charset="-122"/>
                <a:cs typeface="Calibri" pitchFamily="34" charset="-120"/>
              </a:rPr>
              <a:t>Extra challenge  </a:t>
            </a:r>
            <a:pPr indent="0" marL="0">
              <a:buNone/>
            </a:pPr>
            <a:r>
              <a:rPr lang="en-US" sz="2100" dirty="0">
                <a:solidFill>
                  <a:srgbClr val="16302E"/>
                </a:solidFill>
                <a:latin typeface="Calibri" pitchFamily="34" charset="0"/>
                <a:ea typeface="Calibri" pitchFamily="34" charset="-122"/>
                <a:cs typeface="Calibri" pitchFamily="34" charset="-120"/>
              </a:rPr>
              <a:t>Recite Example 2 slowly, then a little faster. Keep the ghunnah at two counts both times.</a:t>
            </a:r>
            <a:endParaRPr lang="en-US" sz="2100" dirty="0"/>
          </a:p>
        </p:txBody>
      </p:sp>
      <p:sp>
        <p:nvSpPr>
          <p:cNvPr id="15" name="Back to question 502 LINK:final">
            <a:hlinkClick r:id="rIdJump1" action="ppaction://hlinksldjump"/>
          </p:cNvPr>
          <p:cNvSpPr/>
          <p:nvPr/>
        </p:nvSpPr>
        <p:spPr>
          <a:xfrm>
            <a:off x="548640" y="6236208"/>
            <a:ext cx="2377440" cy="420624"/>
          </a:xfrm>
          <a:prstGeom prst="roundRect">
            <a:avLst>
              <a:gd name="adj" fmla="val 47826"/>
            </a:avLst>
          </a:prstGeom>
          <a:solidFill>
            <a:srgbClr val="FFFFFF"/>
          </a:solidFill>
          <a:ln w="19050">
            <a:solidFill>
              <a:srgbClr val="1D7A6E"/>
            </a:solidFill>
          </a:ln>
        </p:spPr>
        <p:txBody>
          <a:bodyPr wrap="square" lIns="109728" tIns="0" rIns="109728" bIns="0" rtlCol="0" anchor="ctr"/>
          <a:lstStyle/>
          <a:p>
            <a:pPr algn="ctr" indent="0" marL="0">
              <a:buNone/>
            </a:pPr>
            <a:r>
              <a:rPr lang="en-US" sz="1500" b="1" dirty="0">
                <a:solidFill>
                  <a:srgbClr val="1D7A6E"/>
                </a:solidFill>
                <a:latin typeface="Calibri" pitchFamily="34" charset="0"/>
                <a:ea typeface="Calibri" pitchFamily="34" charset="-122"/>
                <a:cs typeface="Calibri" pitchFamily="34" charset="-120"/>
              </a:rPr>
              <a:t>‹  Back to question</a:t>
            </a:r>
            <a:endParaRPr lang="en-US" sz="1500" dirty="0"/>
          </a:p>
        </p:txBody>
      </p:sp>
      <p:sp>
        <p:nvSpPr>
          <p:cNvPr id="16" name="Feedback next 503 LINK:teach">
            <a:hlinkClick r:id="rIdJump2" action="ppaction://hlinksldjump"/>
          </p:cNvPr>
          <p:cNvSpPr/>
          <p:nvPr/>
        </p:nvSpPr>
        <p:spPr>
          <a:xfrm>
            <a:off x="9537192" y="6236208"/>
            <a:ext cx="2103120" cy="420624"/>
          </a:xfrm>
          <a:prstGeom prst="roundRect">
            <a:avLst>
              <a:gd name="adj" fmla="val 47826"/>
            </a:avLst>
          </a:prstGeom>
          <a:solidFill>
            <a:srgbClr val="2E9E5B"/>
          </a:solidFill>
          <a:ln>
            <a:solidFill>
              <a:srgbClr val="2E9E5B"/>
            </a:solidFill>
          </a:ln>
        </p:spPr>
        <p:txBody>
          <a:bodyPr wrap="square" lIns="109728" tIns="0" rIns="109728"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Extra challenge  ›</a:t>
            </a:r>
            <a:endParaRPr lang="en-US" sz="1600" dirty="0"/>
          </a:p>
        </p:txBody>
      </p:sp>
    </p:spTree>
  </p:cSld>
  <p:clrMapOvr>
    <a:masterClrMapping/>
  </p:clrMapOvr>
  <p:transition spd="med">
    <p:fade/>
  </p:transition>
</p:sld>
</file>

<file path=ppt/slides/slide27.xml><?xml version="1.0" encoding="utf-8"?>
<p:sld xmlns:a="http://schemas.openxmlformats.org/drawingml/2006/main" xmlns:r="http://schemas.openxmlformats.org/officeDocument/2006/relationships" xmlns:p="http://schemas.openxmlformats.org/presentationml/2006/main" show="0">
  <p:cSld name="Slide 27">
    <p:spTree>
      <p:nvGrpSpPr>
        <p:cNvPr id="1" name=""/>
        <p:cNvGrpSpPr/>
        <p:nvPr/>
      </p:nvGrpSpPr>
      <p:grpSpPr>
        <a:xfrm>
          <a:off x="0" y="0"/>
          <a:ext cx="0" cy="0"/>
          <a:chOff x="0" y="0"/>
          <a:chExt cx="0" cy="0"/>
        </a:xfrm>
      </p:grpSpPr>
      <p:sp>
        <p:nvSpPr>
          <p:cNvPr id="2" name="Try badge circle 504"/>
          <p:cNvSpPr/>
          <p:nvPr/>
        </p:nvSpPr>
        <p:spPr>
          <a:xfrm>
            <a:off x="548640" y="502920"/>
            <a:ext cx="1005840" cy="1005840"/>
          </a:xfrm>
          <a:prstGeom prst="ellipse">
            <a:avLst/>
          </a:prstGeom>
          <a:solidFill>
            <a:srgbClr val="E0674F"/>
          </a:solidFill>
          <a:ln w="12700">
            <a:solidFill>
              <a:srgbClr val="E0674F"/>
            </a:solidFill>
            <a:prstDash val="solid"/>
          </a:ln>
        </p:spPr>
      </p:sp>
      <p:pic>
        <p:nvPicPr>
          <p:cNvPr id="3" name="Try badge glyph 505" descr="preencoded.png">    </p:cNvPr>
          <p:cNvPicPr>
            <a:picLocks noChangeAspect="1"/>
          </p:cNvPicPr>
          <p:nvPr/>
        </p:nvPicPr>
        <p:blipFill>
          <a:blip r:embed="rId1"/>
          <a:stretch>
            <a:fillRect/>
          </a:stretch>
        </p:blipFill>
        <p:spPr>
          <a:xfrm>
            <a:off x="800100" y="754380"/>
            <a:ext cx="502920" cy="502920"/>
          </a:xfrm>
          <a:prstGeom prst="rect">
            <a:avLst/>
          </a:prstGeom>
        </p:spPr>
      </p:pic>
      <p:sp>
        <p:nvSpPr>
          <p:cNvPr id="4" name="Feedback title 506"/>
          <p:cNvSpPr txBox="1"/>
          <p:nvPr/>
        </p:nvSpPr>
        <p:spPr>
          <a:xfrm>
            <a:off x="1783080" y="548640"/>
            <a:ext cx="9144000" cy="914400"/>
          </a:xfrm>
          <a:prstGeom prst="rect">
            <a:avLst/>
          </a:prstGeom>
          <a:noFill/>
          <a:ln/>
        </p:spPr>
        <p:txBody>
          <a:bodyPr wrap="square" lIns="0" tIns="0" rIns="0" bIns="0" rtlCol="0" anchor="ctr"/>
          <a:lstStyle/>
          <a:p>
            <a:pPr indent="0" marL="0">
              <a:buNone/>
            </a:pPr>
            <a:r>
              <a:rPr lang="en-US" sz="4000" b="1" dirty="0">
                <a:solidFill>
                  <a:srgbClr val="B2432E"/>
                </a:solidFill>
                <a:latin typeface="Calibri" pitchFamily="34" charset="0"/>
                <a:ea typeface="Calibri" pitchFamily="34" charset="-122"/>
                <a:cs typeface="Calibri" pitchFamily="34" charset="-120"/>
              </a:rPr>
              <a:t>Close, but not seconds.</a:t>
            </a:r>
            <a:endParaRPr lang="en-US" sz="4000" dirty="0"/>
          </a:p>
        </p:txBody>
      </p:sp>
      <p:sp>
        <p:nvSpPr>
          <p:cNvPr id="5" name="Hint circle 507"/>
          <p:cNvSpPr/>
          <p:nvPr/>
        </p:nvSpPr>
        <p:spPr>
          <a:xfrm>
            <a:off x="548640" y="1828800"/>
            <a:ext cx="640080" cy="640080"/>
          </a:xfrm>
          <a:prstGeom prst="ellipse">
            <a:avLst/>
          </a:prstGeom>
          <a:solidFill>
            <a:srgbClr val="F6C552"/>
          </a:solidFill>
          <a:ln w="12700">
            <a:solidFill>
              <a:srgbClr val="F6C552"/>
            </a:solidFill>
            <a:prstDash val="solid"/>
          </a:ln>
        </p:spPr>
      </p:sp>
      <p:pic>
        <p:nvPicPr>
          <p:cNvPr id="6" name="Hint glyph 508" descr="preencoded.png">    </p:cNvPr>
          <p:cNvPicPr>
            <a:picLocks noChangeAspect="1"/>
          </p:cNvPicPr>
          <p:nvPr/>
        </p:nvPicPr>
        <p:blipFill>
          <a:blip r:embed="rId2"/>
          <a:stretch>
            <a:fillRect/>
          </a:stretch>
        </p:blipFill>
        <p:spPr>
          <a:xfrm>
            <a:off x="708660" y="1988820"/>
            <a:ext cx="320040" cy="320040"/>
          </a:xfrm>
          <a:prstGeom prst="rect">
            <a:avLst/>
          </a:prstGeom>
        </p:spPr>
      </p:pic>
      <p:sp>
        <p:nvSpPr>
          <p:cNvPr id="7" name="Hint text 509"/>
          <p:cNvSpPr txBox="1"/>
          <p:nvPr/>
        </p:nvSpPr>
        <p:spPr>
          <a:xfrm>
            <a:off x="1417320" y="1783080"/>
            <a:ext cx="10225735" cy="1280160"/>
          </a:xfrm>
          <a:prstGeom prst="rect">
            <a:avLst/>
          </a:prstGeom>
          <a:noFill/>
          <a:ln/>
        </p:spPr>
        <p:txBody>
          <a:bodyPr wrap="square" lIns="0" tIns="0" rIns="0" bIns="0" rtlCol="0" anchor="t"/>
          <a:lstStyle/>
          <a:p>
            <a:pPr indent="0" marL="0">
              <a:buNone/>
            </a:pPr>
            <a:r>
              <a:rPr lang="en-US" sz="2400" dirty="0">
                <a:solidFill>
                  <a:srgbClr val="16302E"/>
                </a:solidFill>
                <a:latin typeface="Calibri" pitchFamily="34" charset="0"/>
                <a:ea typeface="Calibri" pitchFamily="34" charset="-122"/>
                <a:cs typeface="Calibri" pitchFamily="34" charset="-120"/>
              </a:rPr>
              <a:t>Counts are relative to your recitation pace, not fixed seconds. One count is about the length of one short vowel at your speed.</a:t>
            </a:r>
            <a:endParaRPr lang="en-US" sz="2400" dirty="0"/>
          </a:p>
        </p:txBody>
      </p:sp>
      <p:pic>
        <p:nvPicPr>
          <p:cNvPr id="8" name="Nasal wave 510" descr="preencoded.png">    </p:cNvPr>
          <p:cNvPicPr>
            <a:picLocks noChangeAspect="1"/>
          </p:cNvPicPr>
          <p:nvPr/>
        </p:nvPicPr>
        <p:blipFill>
          <a:blip r:embed="rId3">
            <a:alphaModFix amt="70000"/>
          </a:blip>
          <a:stretch>
            <a:fillRect/>
          </a:stretch>
        </p:blipFill>
        <p:spPr>
          <a:xfrm>
            <a:off x="3992728" y="3520440"/>
            <a:ext cx="4206240" cy="1024128"/>
          </a:xfrm>
          <a:prstGeom prst="rect">
            <a:avLst/>
          </a:prstGeom>
        </p:spPr>
      </p:pic>
      <p:sp>
        <p:nvSpPr>
          <p:cNvPr id="9" name="Try again 511 LINK:final">
            <a:hlinkClick r:id="rIdJump1" action="ppaction://hlinksldjump"/>
          </p:cNvPr>
          <p:cNvSpPr/>
          <p:nvPr/>
        </p:nvSpPr>
        <p:spPr>
          <a:xfrm>
            <a:off x="4498848" y="5257800"/>
            <a:ext cx="3200400" cy="731520"/>
          </a:xfrm>
          <a:prstGeom prst="roundRect">
            <a:avLst>
              <a:gd name="adj" fmla="val 27500"/>
            </a:avLst>
          </a:prstGeom>
          <a:solidFill>
            <a:srgbClr val="E0674F"/>
          </a:solidFill>
          <a:ln>
            <a:solidFill>
              <a:srgbClr val="E0674F"/>
            </a:solidFill>
          </a:ln>
          <a:effectLst>
            <a:outerShdw sx="100000" sy="100000" kx="0" ky="0" algn="bl" rotWithShape="0" blurRad="50800" dist="25400" dir="5400000">
              <a:srgbClr val="0F3D3A">
                <a:alpha val="18000"/>
              </a:srgbClr>
            </a:outerShdw>
          </a:effectLst>
        </p:spPr>
        <p:txBody>
          <a:bodyPr wrap="square" lIns="457200" tIns="0" rIns="9144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Try again</a:t>
            </a:r>
            <a:endParaRPr lang="en-US" sz="2600" dirty="0"/>
          </a:p>
        </p:txBody>
      </p:sp>
      <p:pic>
        <p:nvPicPr>
          <p:cNvPr id="10" name="Button icon 512 LINK:final" descr="preencoded.png">
            <a:hlinkClick r:id="rIdJump2" action="ppaction://hlinksldjump"/>
          </p:cNvPr>
          <p:cNvPicPr>
            <a:picLocks noChangeAspect="1"/>
          </p:cNvPicPr>
          <p:nvPr/>
        </p:nvPicPr>
        <p:blipFill>
          <a:blip r:embed="rId4"/>
          <a:stretch>
            <a:fillRect/>
          </a:stretch>
        </p:blipFill>
        <p:spPr>
          <a:xfrm>
            <a:off x="4864608" y="5458968"/>
            <a:ext cx="329184" cy="329184"/>
          </a:xfrm>
          <a:prstGeom prst="rect">
            <a:avLst/>
          </a:prstGeom>
        </p:spPr>
      </p:pic>
    </p:spTree>
  </p:cSld>
  <p:clrMapOvr>
    <a:masterClrMapping/>
  </p:clrMapOvr>
  <p:transition spd="med">
    <p:fade/>
  </p:transition>
</p:sld>
</file>

<file path=ppt/slides/slide28.xml><?xml version="1.0" encoding="utf-8"?>
<p:sld xmlns:a="http://schemas.openxmlformats.org/drawingml/2006/main" xmlns:r="http://schemas.openxmlformats.org/officeDocument/2006/relationships" xmlns:p="http://schemas.openxmlformats.org/presentationml/2006/main" show="0">
  <p:cSld name="Slide 28">
    <p:spTree>
      <p:nvGrpSpPr>
        <p:cNvPr id="1" name=""/>
        <p:cNvGrpSpPr/>
        <p:nvPr/>
      </p:nvGrpSpPr>
      <p:grpSpPr>
        <a:xfrm>
          <a:off x="0" y="0"/>
          <a:ext cx="0" cy="0"/>
          <a:chOff x="0" y="0"/>
          <a:chExt cx="0" cy="0"/>
        </a:xfrm>
      </p:grpSpPr>
      <p:sp>
        <p:nvSpPr>
          <p:cNvPr id="2" name="Try badge circle 513"/>
          <p:cNvSpPr/>
          <p:nvPr/>
        </p:nvSpPr>
        <p:spPr>
          <a:xfrm>
            <a:off x="548640" y="502920"/>
            <a:ext cx="1005840" cy="1005840"/>
          </a:xfrm>
          <a:prstGeom prst="ellipse">
            <a:avLst/>
          </a:prstGeom>
          <a:solidFill>
            <a:srgbClr val="E0674F"/>
          </a:solidFill>
          <a:ln w="12700">
            <a:solidFill>
              <a:srgbClr val="E0674F"/>
            </a:solidFill>
            <a:prstDash val="solid"/>
          </a:ln>
        </p:spPr>
      </p:sp>
      <p:pic>
        <p:nvPicPr>
          <p:cNvPr id="3" name="Try badge glyph 514" descr="preencoded.png">    </p:cNvPr>
          <p:cNvPicPr>
            <a:picLocks noChangeAspect="1"/>
          </p:cNvPicPr>
          <p:nvPr/>
        </p:nvPicPr>
        <p:blipFill>
          <a:blip r:embed="rId1"/>
          <a:stretch>
            <a:fillRect/>
          </a:stretch>
        </p:blipFill>
        <p:spPr>
          <a:xfrm>
            <a:off x="800100" y="754380"/>
            <a:ext cx="502920" cy="502920"/>
          </a:xfrm>
          <a:prstGeom prst="rect">
            <a:avLst/>
          </a:prstGeom>
        </p:spPr>
      </p:pic>
      <p:sp>
        <p:nvSpPr>
          <p:cNvPr id="4" name="Feedback title 515"/>
          <p:cNvSpPr txBox="1"/>
          <p:nvPr/>
        </p:nvSpPr>
        <p:spPr>
          <a:xfrm>
            <a:off x="1783080" y="548640"/>
            <a:ext cx="9144000" cy="914400"/>
          </a:xfrm>
          <a:prstGeom prst="rect">
            <a:avLst/>
          </a:prstGeom>
          <a:noFill/>
          <a:ln/>
        </p:spPr>
        <p:txBody>
          <a:bodyPr wrap="square" lIns="0" tIns="0" rIns="0" bIns="0" rtlCol="0" anchor="ctr"/>
          <a:lstStyle/>
          <a:p>
            <a:pPr indent="0" marL="0">
              <a:buNone/>
            </a:pPr>
            <a:r>
              <a:rPr lang="en-US" sz="4000" b="1" dirty="0">
                <a:solidFill>
                  <a:srgbClr val="B2432E"/>
                </a:solidFill>
                <a:latin typeface="Calibri" pitchFamily="34" charset="0"/>
                <a:ea typeface="Calibri" pitchFamily="34" charset="-122"/>
                <a:cs typeface="Calibri" pitchFamily="34" charset="-120"/>
              </a:rPr>
              <a:t>A little too short.</a:t>
            </a:r>
            <a:endParaRPr lang="en-US" sz="4000" dirty="0"/>
          </a:p>
        </p:txBody>
      </p:sp>
      <p:sp>
        <p:nvSpPr>
          <p:cNvPr id="5" name="Hint circle 516"/>
          <p:cNvSpPr/>
          <p:nvPr/>
        </p:nvSpPr>
        <p:spPr>
          <a:xfrm>
            <a:off x="548640" y="1828800"/>
            <a:ext cx="640080" cy="640080"/>
          </a:xfrm>
          <a:prstGeom prst="ellipse">
            <a:avLst/>
          </a:prstGeom>
          <a:solidFill>
            <a:srgbClr val="F6C552"/>
          </a:solidFill>
          <a:ln w="12700">
            <a:solidFill>
              <a:srgbClr val="F6C552"/>
            </a:solidFill>
            <a:prstDash val="solid"/>
          </a:ln>
        </p:spPr>
      </p:sp>
      <p:pic>
        <p:nvPicPr>
          <p:cNvPr id="6" name="Hint glyph 517" descr="preencoded.png">    </p:cNvPr>
          <p:cNvPicPr>
            <a:picLocks noChangeAspect="1"/>
          </p:cNvPicPr>
          <p:nvPr/>
        </p:nvPicPr>
        <p:blipFill>
          <a:blip r:embed="rId2"/>
          <a:stretch>
            <a:fillRect/>
          </a:stretch>
        </p:blipFill>
        <p:spPr>
          <a:xfrm>
            <a:off x="708660" y="1988820"/>
            <a:ext cx="320040" cy="320040"/>
          </a:xfrm>
          <a:prstGeom prst="rect">
            <a:avLst/>
          </a:prstGeom>
        </p:spPr>
      </p:pic>
      <p:sp>
        <p:nvSpPr>
          <p:cNvPr id="7" name="Hint text 518"/>
          <p:cNvSpPr txBox="1"/>
          <p:nvPr/>
        </p:nvSpPr>
        <p:spPr>
          <a:xfrm>
            <a:off x="1417320" y="1783080"/>
            <a:ext cx="10225735" cy="1280160"/>
          </a:xfrm>
          <a:prstGeom prst="rect">
            <a:avLst/>
          </a:prstGeom>
          <a:noFill/>
          <a:ln/>
        </p:spPr>
        <p:txBody>
          <a:bodyPr wrap="square" lIns="0" tIns="0" rIns="0" bIns="0" rtlCol="0" anchor="t"/>
          <a:lstStyle/>
          <a:p>
            <a:pPr indent="0" marL="0">
              <a:buNone/>
            </a:pPr>
            <a:r>
              <a:rPr lang="en-US" sz="2400" dirty="0">
                <a:solidFill>
                  <a:srgbClr val="16302E"/>
                </a:solidFill>
                <a:latin typeface="Calibri" pitchFamily="34" charset="0"/>
                <a:ea typeface="Calibri" pitchFamily="34" charset="-122"/>
                <a:cs typeface="Calibri" pitchFamily="34" charset="-120"/>
              </a:rPr>
              <a:t>The ghunnah on a doubled noon or meem is held for two counts, then released into its written vowel. Dropping the hold removes the nasal sound.</a:t>
            </a:r>
            <a:endParaRPr lang="en-US" sz="2400" dirty="0"/>
          </a:p>
        </p:txBody>
      </p:sp>
      <p:pic>
        <p:nvPicPr>
          <p:cNvPr id="8" name="Nasal wave 519" descr="preencoded.png">    </p:cNvPr>
          <p:cNvPicPr>
            <a:picLocks noChangeAspect="1"/>
          </p:cNvPicPr>
          <p:nvPr/>
        </p:nvPicPr>
        <p:blipFill>
          <a:blip r:embed="rId3">
            <a:alphaModFix amt="70000"/>
          </a:blip>
          <a:stretch>
            <a:fillRect/>
          </a:stretch>
        </p:blipFill>
        <p:spPr>
          <a:xfrm>
            <a:off x="3992728" y="3520440"/>
            <a:ext cx="4206240" cy="1024128"/>
          </a:xfrm>
          <a:prstGeom prst="rect">
            <a:avLst/>
          </a:prstGeom>
        </p:spPr>
      </p:pic>
      <p:sp>
        <p:nvSpPr>
          <p:cNvPr id="9" name="Try again 520 LINK:final">
            <a:hlinkClick r:id="rIdJump1" action="ppaction://hlinksldjump"/>
          </p:cNvPr>
          <p:cNvSpPr/>
          <p:nvPr/>
        </p:nvSpPr>
        <p:spPr>
          <a:xfrm>
            <a:off x="4498848" y="5257800"/>
            <a:ext cx="3200400" cy="731520"/>
          </a:xfrm>
          <a:prstGeom prst="roundRect">
            <a:avLst>
              <a:gd name="adj" fmla="val 27500"/>
            </a:avLst>
          </a:prstGeom>
          <a:solidFill>
            <a:srgbClr val="E0674F"/>
          </a:solidFill>
          <a:ln>
            <a:solidFill>
              <a:srgbClr val="E0674F"/>
            </a:solidFill>
          </a:ln>
          <a:effectLst>
            <a:outerShdw sx="100000" sy="100000" kx="0" ky="0" algn="bl" rotWithShape="0" blurRad="50800" dist="25400" dir="5400000">
              <a:srgbClr val="0F3D3A">
                <a:alpha val="18000"/>
              </a:srgbClr>
            </a:outerShdw>
          </a:effectLst>
        </p:spPr>
        <p:txBody>
          <a:bodyPr wrap="square" lIns="457200" tIns="0" rIns="9144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Try again</a:t>
            </a:r>
            <a:endParaRPr lang="en-US" sz="2600" dirty="0"/>
          </a:p>
        </p:txBody>
      </p:sp>
      <p:pic>
        <p:nvPicPr>
          <p:cNvPr id="10" name="Button icon 521 LINK:final" descr="preencoded.png">
            <a:hlinkClick r:id="rIdJump2" action="ppaction://hlinksldjump"/>
          </p:cNvPr>
          <p:cNvPicPr>
            <a:picLocks noChangeAspect="1"/>
          </p:cNvPicPr>
          <p:nvPr/>
        </p:nvPicPr>
        <p:blipFill>
          <a:blip r:embed="rId4"/>
          <a:stretch>
            <a:fillRect/>
          </a:stretch>
        </p:blipFill>
        <p:spPr>
          <a:xfrm>
            <a:off x="4864608" y="5458968"/>
            <a:ext cx="329184" cy="329184"/>
          </a:xfrm>
          <a:prstGeom prst="rect">
            <a:avLst/>
          </a:prstGeom>
        </p:spPr>
      </p:pic>
    </p:spTree>
  </p:cSld>
  <p:clrMapOvr>
    <a:masterClrMapping/>
  </p:clrMapOvr>
  <p:transition spd="med">
    <p:fade/>
  </p:transition>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Kicker 522"/>
          <p:cNvSpPr txBox="1"/>
          <p:nvPr/>
        </p:nvSpPr>
        <p:spPr>
          <a:xfrm>
            <a:off x="548640" y="329184"/>
            <a:ext cx="7315200" cy="292608"/>
          </a:xfrm>
          <a:prstGeom prst="rect">
            <a:avLst/>
          </a:prstGeom>
          <a:noFill/>
          <a:ln/>
        </p:spPr>
        <p:txBody>
          <a:bodyPr wrap="square" lIns="0" tIns="0" rIns="0" bIns="0" rtlCol="0" anchor="t"/>
          <a:lstStyle/>
          <a:p>
            <a:pPr indent="0" marL="0">
              <a:buNone/>
            </a:pPr>
            <a:r>
              <a:rPr lang="en-US" sz="1400" b="1" spc="300" kern="0" dirty="0">
                <a:solidFill>
                  <a:srgbClr val="1D7A6E"/>
                </a:solidFill>
                <a:latin typeface="Calibri" pitchFamily="34" charset="0"/>
                <a:ea typeface="Calibri" pitchFamily="34" charset="-122"/>
                <a:cs typeface="Calibri" pitchFamily="34" charset="-120"/>
              </a:rPr>
              <a:t>EXTRA CHALLENGE  ·  TEACH IT BACK</a:t>
            </a:r>
            <a:endParaRPr lang="en-US" sz="1400" dirty="0"/>
          </a:p>
        </p:txBody>
      </p:sp>
      <p:sp>
        <p:nvSpPr>
          <p:cNvPr id="3" name="Text 0"/>
          <p:cNvSpPr/>
          <p:nvPr>
            <p:ph idx="100" type="title" hasCustomPrompt="1"/>
          </p:nvPr>
        </p:nvSpPr>
        <p:spPr>
          <a:xfrm>
            <a:off x="548640" y="658368"/>
            <a:ext cx="9052560" cy="731520"/>
          </a:xfrm>
          <a:prstGeom prst="rect">
            <a:avLst/>
          </a:prstGeom>
          <a:noFill/>
          <a:ln/>
        </p:spPr>
        <p:txBody>
          <a:bodyPr wrap="square" lIns="0" tIns="0" rIns="0" bIns="0" rtlCol="0" anchor="t"/>
          <a:lstStyle/>
          <a:p>
            <a:pPr algn="l" indent="0" marL="0">
              <a:buNone/>
            </a:pPr>
            <a:r>
              <a:rPr lang="en-US" sz="3600" b="1" dirty="0">
                <a:solidFill>
                  <a:srgbClr val="16302E"/>
                </a:solidFill>
                <a:latin typeface="Calibri" pitchFamily="34" charset="0"/>
                <a:ea typeface="Calibri" pitchFamily="34" charset="-122"/>
                <a:cs typeface="Calibri" pitchFamily="34" charset="-120"/>
              </a:rPr>
              <a:t>Now you be the teacher</a:t>
            </a:r>
            <a:endParaRPr lang="en-US" sz="3600" dirty="0"/>
          </a:p>
        </p:txBody>
      </p:sp>
      <p:sp>
        <p:nvSpPr>
          <p:cNvPr id="4" name="Route chip 523"/>
          <p:cNvSpPr/>
          <p:nvPr/>
        </p:nvSpPr>
        <p:spPr>
          <a:xfrm>
            <a:off x="10012680" y="365760"/>
            <a:ext cx="1627632" cy="384048"/>
          </a:xfrm>
          <a:prstGeom prst="roundRect">
            <a:avLst>
              <a:gd name="adj" fmla="val 47619"/>
            </a:avLst>
          </a:prstGeom>
          <a:solidFill>
            <a:srgbClr val="F2B134"/>
          </a:solidFill>
          <a:ln>
            <a:solidFill>
              <a:srgbClr val="F2B134"/>
            </a:solidFill>
          </a:ln>
        </p:spPr>
        <p:txBody>
          <a:bodyPr wrap="square" lIns="0" tIns="0" rIns="0" bIns="0" rtlCol="0" anchor="ctr"/>
          <a:lstStyle/>
          <a:p>
            <a:pPr algn="ctr" indent="0" marL="0">
              <a:buNone/>
            </a:pPr>
            <a:r>
              <a:rPr lang="en-US" sz="1300" b="1" spc="200" kern="0" dirty="0">
                <a:solidFill>
                  <a:srgbClr val="FFFFFF"/>
                </a:solidFill>
                <a:latin typeface="Calibri" pitchFamily="34" charset="0"/>
                <a:ea typeface="Calibri" pitchFamily="34" charset="-122"/>
                <a:cs typeface="Calibri" pitchFamily="34" charset="-120"/>
              </a:rPr>
              <a:t>CHALLENGE</a:t>
            </a:r>
            <a:endParaRPr lang="en-US" sz="1300" dirty="0"/>
          </a:p>
        </p:txBody>
      </p:sp>
      <p:sp>
        <p:nvSpPr>
          <p:cNvPr id="5" name="Prompt 524"/>
          <p:cNvSpPr txBox="1"/>
          <p:nvPr/>
        </p:nvSpPr>
        <p:spPr>
          <a:xfrm>
            <a:off x="548640" y="1536192"/>
            <a:ext cx="11094415" cy="548640"/>
          </a:xfrm>
          <a:prstGeom prst="rect">
            <a:avLst/>
          </a:prstGeom>
          <a:noFill/>
          <a:ln/>
        </p:spPr>
        <p:txBody>
          <a:bodyPr wrap="square" lIns="0" tIns="0" rIns="0" bIns="0" rtlCol="0" anchor="t"/>
          <a:lstStyle/>
          <a:p>
            <a:pPr indent="0" marL="0">
              <a:buNone/>
            </a:pPr>
            <a:r>
              <a:rPr lang="en-US" sz="2600" dirty="0">
                <a:solidFill>
                  <a:srgbClr val="16302E"/>
                </a:solidFill>
                <a:latin typeface="Calibri" pitchFamily="34" charset="0"/>
                <a:ea typeface="Calibri" pitchFamily="34" charset="-122"/>
                <a:cs typeface="Calibri" pitchFamily="34" charset="-120"/>
              </a:rPr>
              <a:t>Teach the rule to a partner or to the class:</a:t>
            </a:r>
            <a:endParaRPr lang="en-US" sz="2600" dirty="0"/>
          </a:p>
        </p:txBody>
      </p:sp>
      <p:sp>
        <p:nvSpPr>
          <p:cNvPr id="6" name="Task circle 525"/>
          <p:cNvSpPr/>
          <p:nvPr/>
        </p:nvSpPr>
        <p:spPr>
          <a:xfrm>
            <a:off x="548640" y="2286000"/>
            <a:ext cx="594360" cy="594360"/>
          </a:xfrm>
          <a:prstGeom prst="ellipse">
            <a:avLst/>
          </a:prstGeom>
          <a:solidFill>
            <a:srgbClr val="1D7A6E"/>
          </a:solidFill>
          <a:ln w="12700">
            <a:solidFill>
              <a:srgbClr val="1D7A6E"/>
            </a:solidFill>
            <a:prstDash val="solid"/>
          </a:ln>
        </p:spPr>
      </p:sp>
      <p:pic>
        <p:nvPicPr>
          <p:cNvPr id="7" name="Task glyph 526" descr="preencoded.png">    </p:cNvPr>
          <p:cNvPicPr>
            <a:picLocks noChangeAspect="1"/>
          </p:cNvPicPr>
          <p:nvPr/>
        </p:nvPicPr>
        <p:blipFill>
          <a:blip r:embed="rId1"/>
          <a:stretch>
            <a:fillRect/>
          </a:stretch>
        </p:blipFill>
        <p:spPr>
          <a:xfrm>
            <a:off x="697230" y="2434590"/>
            <a:ext cx="297180" cy="297180"/>
          </a:xfrm>
          <a:prstGeom prst="rect">
            <a:avLst/>
          </a:prstGeom>
        </p:spPr>
      </p:pic>
      <p:sp>
        <p:nvSpPr>
          <p:cNvPr id="8" name="Task text 527"/>
          <p:cNvSpPr txBox="1"/>
          <p:nvPr/>
        </p:nvSpPr>
        <p:spPr>
          <a:xfrm>
            <a:off x="1371600" y="2240280"/>
            <a:ext cx="5852160" cy="731520"/>
          </a:xfrm>
          <a:prstGeom prst="rect">
            <a:avLst/>
          </a:prstGeom>
          <a:noFill/>
          <a:ln/>
        </p:spPr>
        <p:txBody>
          <a:bodyPr wrap="square" lIns="0" tIns="0" rIns="0" bIns="0" rtlCol="0" anchor="ctr"/>
          <a:lstStyle/>
          <a:p>
            <a:pPr indent="0" marL="0">
              <a:buNone/>
            </a:pPr>
            <a:r>
              <a:rPr lang="en-US" sz="2400" dirty="0">
                <a:solidFill>
                  <a:srgbClr val="16302E"/>
                </a:solidFill>
                <a:latin typeface="Calibri" pitchFamily="34" charset="0"/>
                <a:ea typeface="Calibri" pitchFamily="34" charset="-122"/>
                <a:cs typeface="Calibri" pitchFamily="34" charset="-120"/>
              </a:rPr>
              <a:t>Explain the three steps.</a:t>
            </a:r>
            <a:endParaRPr lang="en-US" sz="2400" dirty="0"/>
          </a:p>
        </p:txBody>
      </p:sp>
      <p:sp>
        <p:nvSpPr>
          <p:cNvPr id="9" name="Task circle 528"/>
          <p:cNvSpPr/>
          <p:nvPr/>
        </p:nvSpPr>
        <p:spPr>
          <a:xfrm>
            <a:off x="548640" y="3154680"/>
            <a:ext cx="594360" cy="594360"/>
          </a:xfrm>
          <a:prstGeom prst="ellipse">
            <a:avLst/>
          </a:prstGeom>
          <a:solidFill>
            <a:srgbClr val="B9770E"/>
          </a:solidFill>
          <a:ln w="12700">
            <a:solidFill>
              <a:srgbClr val="B9770E"/>
            </a:solidFill>
            <a:prstDash val="solid"/>
          </a:ln>
        </p:spPr>
      </p:sp>
      <p:pic>
        <p:nvPicPr>
          <p:cNvPr id="10" name="Task glyph 529" descr="preencoded.png">    </p:cNvPr>
          <p:cNvPicPr>
            <a:picLocks noChangeAspect="1"/>
          </p:cNvPicPr>
          <p:nvPr/>
        </p:nvPicPr>
        <p:blipFill>
          <a:blip r:embed="rId2"/>
          <a:stretch>
            <a:fillRect/>
          </a:stretch>
        </p:blipFill>
        <p:spPr>
          <a:xfrm>
            <a:off x="697230" y="3303270"/>
            <a:ext cx="297180" cy="297180"/>
          </a:xfrm>
          <a:prstGeom prst="rect">
            <a:avLst/>
          </a:prstGeom>
        </p:spPr>
      </p:pic>
      <p:sp>
        <p:nvSpPr>
          <p:cNvPr id="11" name="Task text 530"/>
          <p:cNvSpPr txBox="1"/>
          <p:nvPr/>
        </p:nvSpPr>
        <p:spPr>
          <a:xfrm>
            <a:off x="1371600" y="3108960"/>
            <a:ext cx="5852160" cy="731520"/>
          </a:xfrm>
          <a:prstGeom prst="rect">
            <a:avLst/>
          </a:prstGeom>
          <a:noFill/>
          <a:ln/>
        </p:spPr>
        <p:txBody>
          <a:bodyPr wrap="square" lIns="0" tIns="0" rIns="0" bIns="0" rtlCol="0" anchor="ctr"/>
          <a:lstStyle/>
          <a:p>
            <a:pPr indent="0" marL="0">
              <a:buNone/>
            </a:pPr>
            <a:r>
              <a:rPr lang="en-US" sz="2400" dirty="0">
                <a:solidFill>
                  <a:srgbClr val="16302E"/>
                </a:solidFill>
                <a:latin typeface="Calibri" pitchFamily="34" charset="0"/>
                <a:ea typeface="Calibri" pitchFamily="34" charset="-122"/>
                <a:cs typeface="Calibri" pitchFamily="34" charset="-120"/>
              </a:rPr>
              <a:t>Give the timing.</a:t>
            </a:r>
            <a:endParaRPr lang="en-US" sz="2400" dirty="0"/>
          </a:p>
        </p:txBody>
      </p:sp>
      <p:sp>
        <p:nvSpPr>
          <p:cNvPr id="12" name="Task circle 531"/>
          <p:cNvSpPr/>
          <p:nvPr/>
        </p:nvSpPr>
        <p:spPr>
          <a:xfrm>
            <a:off x="548640" y="4023360"/>
            <a:ext cx="594360" cy="594360"/>
          </a:xfrm>
          <a:prstGeom prst="ellipse">
            <a:avLst/>
          </a:prstGeom>
          <a:solidFill>
            <a:srgbClr val="16302E"/>
          </a:solidFill>
          <a:ln w="12700">
            <a:solidFill>
              <a:srgbClr val="16302E"/>
            </a:solidFill>
            <a:prstDash val="solid"/>
          </a:ln>
        </p:spPr>
      </p:sp>
      <p:pic>
        <p:nvPicPr>
          <p:cNvPr id="13" name="Task glyph 532" descr="preencoded.png">    </p:cNvPr>
          <p:cNvPicPr>
            <a:picLocks noChangeAspect="1"/>
          </p:cNvPicPr>
          <p:nvPr/>
        </p:nvPicPr>
        <p:blipFill>
          <a:blip r:embed="rId3"/>
          <a:stretch>
            <a:fillRect/>
          </a:stretch>
        </p:blipFill>
        <p:spPr>
          <a:xfrm>
            <a:off x="697230" y="4171950"/>
            <a:ext cx="297180" cy="297180"/>
          </a:xfrm>
          <a:prstGeom prst="rect">
            <a:avLst/>
          </a:prstGeom>
        </p:spPr>
      </p:pic>
      <p:sp>
        <p:nvSpPr>
          <p:cNvPr id="14" name="Task text 533"/>
          <p:cNvSpPr txBox="1"/>
          <p:nvPr/>
        </p:nvSpPr>
        <p:spPr>
          <a:xfrm>
            <a:off x="1371600" y="3977640"/>
            <a:ext cx="5852160" cy="731520"/>
          </a:xfrm>
          <a:prstGeom prst="rect">
            <a:avLst/>
          </a:prstGeom>
          <a:noFill/>
          <a:ln/>
        </p:spPr>
        <p:txBody>
          <a:bodyPr wrap="square" lIns="0" tIns="0" rIns="0" bIns="0" rtlCol="0" anchor="ctr"/>
          <a:lstStyle/>
          <a:p>
            <a:pPr indent="0" marL="0">
              <a:buNone/>
            </a:pPr>
            <a:r>
              <a:rPr lang="en-US" sz="2400" dirty="0">
                <a:solidFill>
                  <a:srgbClr val="16302E"/>
                </a:solidFill>
                <a:latin typeface="Calibri" pitchFamily="34" charset="0"/>
                <a:ea typeface="Calibri" pitchFamily="34" charset="-122"/>
                <a:cs typeface="Calibri" pitchFamily="34" charset="-120"/>
              </a:rPr>
              <a:t>Demonstrate one example.</a:t>
            </a:r>
            <a:endParaRPr lang="en-US" sz="2400" dirty="0"/>
          </a:p>
        </p:txBody>
      </p:sp>
      <p:sp>
        <p:nvSpPr>
          <p:cNvPr id="15" name="Example chip 534"/>
          <p:cNvSpPr/>
          <p:nvPr/>
        </p:nvSpPr>
        <p:spPr>
          <a:xfrm>
            <a:off x="7315200" y="2148840"/>
            <a:ext cx="4325112" cy="1325880"/>
          </a:xfrm>
          <a:prstGeom prst="roundRect">
            <a:avLst>
              <a:gd name="adj" fmla="val 12414"/>
            </a:avLst>
          </a:prstGeom>
          <a:solidFill>
            <a:srgbClr val="FFFFFF"/>
          </a:solidFill>
          <a:ln w="12700">
            <a:solidFill>
              <a:srgbClr val="D5E5E0"/>
            </a:solidFill>
            <a:prstDash val="solid"/>
          </a:ln>
          <a:effectLst>
            <a:outerShdw sx="100000" sy="100000" kx="0" ky="0" algn="bl" rotWithShape="0" blurRad="101600" dist="25400" dir="5400000">
              <a:srgbClr val="0F3D3A">
                <a:alpha val="10000"/>
              </a:srgbClr>
            </a:outerShdw>
          </a:effectLst>
        </p:spPr>
      </p:sp>
      <p:sp>
        <p:nvSpPr>
          <p:cNvPr id="16" name="Example ref 535"/>
          <p:cNvSpPr txBox="1"/>
          <p:nvPr/>
        </p:nvSpPr>
        <p:spPr>
          <a:xfrm>
            <a:off x="7406640" y="2240280"/>
            <a:ext cx="4142232" cy="274320"/>
          </a:xfrm>
          <a:prstGeom prst="rect">
            <a:avLst/>
          </a:prstGeom>
          <a:noFill/>
          <a:ln/>
        </p:spPr>
        <p:txBody>
          <a:bodyPr wrap="square" lIns="0" tIns="0" rIns="0" bIns="0" rtlCol="0" anchor="t"/>
          <a:lstStyle/>
          <a:p>
            <a:pPr algn="ctr" indent="0" marL="0">
              <a:buNone/>
            </a:pPr>
            <a:r>
              <a:rPr lang="en-US" sz="1400" b="1" dirty="0">
                <a:solidFill>
                  <a:srgbClr val="5D7774"/>
                </a:solidFill>
                <a:latin typeface="Calibri" pitchFamily="34" charset="0"/>
                <a:ea typeface="Calibri" pitchFamily="34" charset="-122"/>
                <a:cs typeface="Calibri" pitchFamily="34" charset="-120"/>
              </a:rPr>
              <a:t>Example 1  ·  114:6</a:t>
            </a:r>
            <a:endParaRPr lang="en-US" sz="1400" dirty="0"/>
          </a:p>
        </p:txBody>
      </p:sp>
      <p:sp>
        <p:nvSpPr>
          <p:cNvPr id="17" name="Example 536"/>
          <p:cNvSpPr txBox="1"/>
          <p:nvPr/>
        </p:nvSpPr>
        <p:spPr>
          <a:xfrm>
            <a:off x="7406640" y="2532888"/>
            <a:ext cx="4142232" cy="868680"/>
          </a:xfrm>
          <a:prstGeom prst="rect">
            <a:avLst/>
          </a:prstGeom>
          <a:noFill/>
          <a:ln/>
        </p:spPr>
        <p:txBody>
          <a:bodyPr wrap="square" lIns="0" tIns="0" rIns="0" bIns="0" rtlCol="0" anchor="ctr"/>
          <a:lstStyle/>
          <a:p>
            <a:pPr rtl="1" algn="ctr" indent="0" marL="0">
              <a:buNone/>
            </a:pPr>
            <a:r>
              <a:rPr lang="ar-SA" altLang="en-US" sz="3800" dirty="0">
                <a:solidFill>
                  <a:srgbClr val="16302E"/>
                </a:solidFill>
                <a:latin typeface="Traditional Arabic" pitchFamily="34" charset="0"/>
                <a:ea typeface="Traditional Arabic" pitchFamily="34" charset="-122"/>
                <a:cs typeface="Traditional Arabic" pitchFamily="34" charset="-120"/>
              </a:rPr>
              <a:t>مِنَ ٱلْجِنَّةِ وَٱلنَّاسِ</a:t>
            </a:r>
            <a:endParaRPr lang="ar-SA" sz="3800" dirty="0"/>
          </a:p>
        </p:txBody>
      </p:sp>
      <p:sp>
        <p:nvSpPr>
          <p:cNvPr id="18" name="Example chip 537"/>
          <p:cNvSpPr/>
          <p:nvPr/>
        </p:nvSpPr>
        <p:spPr>
          <a:xfrm>
            <a:off x="7315200" y="3611880"/>
            <a:ext cx="4325112" cy="1325880"/>
          </a:xfrm>
          <a:prstGeom prst="roundRect">
            <a:avLst>
              <a:gd name="adj" fmla="val 12414"/>
            </a:avLst>
          </a:prstGeom>
          <a:solidFill>
            <a:srgbClr val="FFFFFF"/>
          </a:solidFill>
          <a:ln w="12700">
            <a:solidFill>
              <a:srgbClr val="D5E5E0"/>
            </a:solidFill>
            <a:prstDash val="solid"/>
          </a:ln>
          <a:effectLst>
            <a:outerShdw sx="100000" sy="100000" kx="0" ky="0" algn="bl" rotWithShape="0" blurRad="101600" dist="25400" dir="5400000">
              <a:srgbClr val="0F3D3A">
                <a:alpha val="10000"/>
              </a:srgbClr>
            </a:outerShdw>
          </a:effectLst>
        </p:spPr>
      </p:sp>
      <p:sp>
        <p:nvSpPr>
          <p:cNvPr id="19" name="Example ref 538"/>
          <p:cNvSpPr txBox="1"/>
          <p:nvPr/>
        </p:nvSpPr>
        <p:spPr>
          <a:xfrm>
            <a:off x="7406640" y="3703320"/>
            <a:ext cx="4142232" cy="274320"/>
          </a:xfrm>
          <a:prstGeom prst="rect">
            <a:avLst/>
          </a:prstGeom>
          <a:noFill/>
          <a:ln/>
        </p:spPr>
        <p:txBody>
          <a:bodyPr wrap="square" lIns="0" tIns="0" rIns="0" bIns="0" rtlCol="0" anchor="t"/>
          <a:lstStyle/>
          <a:p>
            <a:pPr algn="ctr" indent="0" marL="0">
              <a:buNone/>
            </a:pPr>
            <a:r>
              <a:rPr lang="en-US" sz="1400" b="1" dirty="0">
                <a:solidFill>
                  <a:srgbClr val="5D7774"/>
                </a:solidFill>
                <a:latin typeface="Calibri" pitchFamily="34" charset="0"/>
                <a:ea typeface="Calibri" pitchFamily="34" charset="-122"/>
                <a:cs typeface="Calibri" pitchFamily="34" charset="-120"/>
              </a:rPr>
              <a:t>Example 2  ·  2:6</a:t>
            </a:r>
            <a:endParaRPr lang="en-US" sz="1400" dirty="0"/>
          </a:p>
        </p:txBody>
      </p:sp>
      <p:sp>
        <p:nvSpPr>
          <p:cNvPr id="20" name="Example 539"/>
          <p:cNvSpPr txBox="1"/>
          <p:nvPr/>
        </p:nvSpPr>
        <p:spPr>
          <a:xfrm>
            <a:off x="7406640" y="3995928"/>
            <a:ext cx="4142232" cy="868680"/>
          </a:xfrm>
          <a:prstGeom prst="rect">
            <a:avLst/>
          </a:prstGeom>
          <a:noFill/>
          <a:ln/>
        </p:spPr>
        <p:txBody>
          <a:bodyPr wrap="square" lIns="0" tIns="0" rIns="0" bIns="0" rtlCol="0" anchor="ctr"/>
          <a:lstStyle/>
          <a:p>
            <a:pPr rtl="1" algn="ctr" indent="0" marL="0">
              <a:buNone/>
            </a:pPr>
            <a:r>
              <a:rPr lang="ar-SA" altLang="en-US" sz="3800" dirty="0">
                <a:solidFill>
                  <a:srgbClr val="16302E"/>
                </a:solidFill>
                <a:latin typeface="Traditional Arabic" pitchFamily="34" charset="0"/>
                <a:ea typeface="Traditional Arabic" pitchFamily="34" charset="-122"/>
                <a:cs typeface="Traditional Arabic" pitchFamily="34" charset="-120"/>
              </a:rPr>
              <a:t>إِنَّ ٱلَّذِينَ</a:t>
            </a:r>
            <a:endParaRPr lang="ar-SA" sz="3800" dirty="0"/>
          </a:p>
        </p:txBody>
      </p:sp>
      <p:sp>
        <p:nvSpPr>
          <p:cNvPr id="21" name="Model answer 540 LINK:teachA">
            <a:hlinkClick r:id="rIdJump1" action="ppaction://hlinksldjump"/>
          </p:cNvPr>
          <p:cNvSpPr/>
          <p:nvPr/>
        </p:nvSpPr>
        <p:spPr>
          <a:xfrm>
            <a:off x="3813048" y="5166360"/>
            <a:ext cx="4572000" cy="731520"/>
          </a:xfrm>
          <a:prstGeom prst="roundRect">
            <a:avLst>
              <a:gd name="adj" fmla="val 27500"/>
            </a:avLst>
          </a:prstGeom>
          <a:solidFill>
            <a:srgbClr val="F6C552"/>
          </a:solidFill>
          <a:ln>
            <a:solidFill>
              <a:srgbClr val="F6C552"/>
            </a:solidFill>
          </a:ln>
          <a:effectLst>
            <a:outerShdw sx="100000" sy="100000" kx="0" ky="0" algn="bl" rotWithShape="0" blurRad="50800" dist="25400" dir="5400000">
              <a:srgbClr val="0F3D3A">
                <a:alpha val="18000"/>
              </a:srgbClr>
            </a:outerShdw>
          </a:effectLst>
        </p:spPr>
        <p:txBody>
          <a:bodyPr wrap="square" lIns="457200" tIns="0" rIns="91440" bIns="0" rtlCol="0" anchor="ctr"/>
          <a:lstStyle/>
          <a:p>
            <a:pPr algn="ctr" indent="0" marL="0">
              <a:buNone/>
            </a:pPr>
            <a:r>
              <a:rPr lang="en-US" sz="2400" b="1" dirty="0">
                <a:solidFill>
                  <a:srgbClr val="16302E"/>
                </a:solidFill>
                <a:latin typeface="Calibri" pitchFamily="34" charset="0"/>
                <a:ea typeface="Calibri" pitchFamily="34" charset="-122"/>
                <a:cs typeface="Calibri" pitchFamily="34" charset="-120"/>
              </a:rPr>
              <a:t>Show model answer</a:t>
            </a:r>
            <a:endParaRPr lang="en-US" sz="2400" dirty="0"/>
          </a:p>
        </p:txBody>
      </p:sp>
      <p:pic>
        <p:nvPicPr>
          <p:cNvPr id="22" name="Button icon 541 LINK:teachA" descr="preencoded.png">
            <a:hlinkClick r:id="rIdJump2" action="ppaction://hlinksldjump"/>
          </p:cNvPr>
          <p:cNvPicPr>
            <a:picLocks noChangeAspect="1"/>
          </p:cNvPicPr>
          <p:nvPr/>
        </p:nvPicPr>
        <p:blipFill>
          <a:blip r:embed="rId4"/>
          <a:stretch>
            <a:fillRect/>
          </a:stretch>
        </p:blipFill>
        <p:spPr>
          <a:xfrm>
            <a:off x="4133088" y="5367528"/>
            <a:ext cx="329184" cy="329184"/>
          </a:xfrm>
          <a:prstGeom prst="rect">
            <a:avLst/>
          </a:prstGeom>
        </p:spPr>
      </p:pic>
      <p:sp>
        <p:nvSpPr>
          <p:cNvPr id="23" name="Nav Home 542 LINK:title">
            <a:hlinkClick r:id="rIdJump3" action="ppaction://hlinksldjump"/>
          </p:cNvPr>
          <p:cNvSpPr/>
          <p:nvPr/>
        </p:nvSpPr>
        <p:spPr>
          <a:xfrm>
            <a:off x="548640" y="6236208"/>
            <a:ext cx="1234440" cy="420624"/>
          </a:xfrm>
          <a:prstGeom prst="roundRect">
            <a:avLst>
              <a:gd name="adj" fmla="val 47826"/>
            </a:avLst>
          </a:prstGeom>
          <a:solidFill>
            <a:srgbClr val="16302E"/>
          </a:solidFill>
          <a:ln>
            <a:solidFill>
              <a:srgbClr val="16302E"/>
            </a:solidFill>
          </a:ln>
        </p:spPr>
        <p:txBody>
          <a:bodyPr wrap="square" lIns="365760" tIns="0" rIns="9144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Home</a:t>
            </a:r>
            <a:endParaRPr lang="en-US" sz="1500" dirty="0"/>
          </a:p>
        </p:txBody>
      </p:sp>
      <p:pic>
        <p:nvPicPr>
          <p:cNvPr id="24" name="Button icon 543 LINK:title" descr="preencoded.png">
            <a:hlinkClick r:id="rIdJump4" action="ppaction://hlinksldjump"/>
          </p:cNvPr>
          <p:cNvPicPr>
            <a:picLocks noChangeAspect="1"/>
          </p:cNvPicPr>
          <p:nvPr/>
        </p:nvPicPr>
        <p:blipFill>
          <a:blip r:embed="rId5"/>
          <a:stretch>
            <a:fillRect/>
          </a:stretch>
        </p:blipFill>
        <p:spPr>
          <a:xfrm>
            <a:off x="749808" y="6336792"/>
            <a:ext cx="219456" cy="219456"/>
          </a:xfrm>
          <a:prstGeom prst="rect">
            <a:avLst/>
          </a:prstGeom>
        </p:spPr>
      </p:pic>
      <p:sp>
        <p:nvSpPr>
          <p:cNvPr id="25" name="Nav Menu 544 LINK:menu">
            <a:hlinkClick r:id="rIdJump5" action="ppaction://hlinksldjump"/>
          </p:cNvPr>
          <p:cNvSpPr/>
          <p:nvPr/>
        </p:nvSpPr>
        <p:spPr>
          <a:xfrm>
            <a:off x="1901952" y="6236208"/>
            <a:ext cx="1005840" cy="420624"/>
          </a:xfrm>
          <a:prstGeom prst="roundRect">
            <a:avLst>
              <a:gd name="adj" fmla="val 47826"/>
            </a:avLst>
          </a:prstGeom>
          <a:solidFill>
            <a:srgbClr val="FFFFFF"/>
          </a:solidFill>
          <a:ln w="19050">
            <a:solidFill>
              <a:srgbClr val="16302E"/>
            </a:solidFill>
          </a:ln>
        </p:spPr>
        <p:txBody>
          <a:bodyPr wrap="square" lIns="109728" tIns="0" rIns="109728" bIns="0" rtlCol="0" anchor="ctr"/>
          <a:lstStyle/>
          <a:p>
            <a:pPr algn="ctr" indent="0" marL="0">
              <a:buNone/>
            </a:pPr>
            <a:r>
              <a:rPr lang="en-US" sz="1500" b="1" dirty="0">
                <a:solidFill>
                  <a:srgbClr val="16302E"/>
                </a:solidFill>
                <a:latin typeface="Calibri" pitchFamily="34" charset="0"/>
                <a:ea typeface="Calibri" pitchFamily="34" charset="-122"/>
                <a:cs typeface="Calibri" pitchFamily="34" charset="-120"/>
              </a:rPr>
              <a:t>Menu</a:t>
            </a:r>
            <a:endParaRPr lang="en-US" sz="1500" dirty="0"/>
          </a:p>
        </p:txBody>
      </p:sp>
      <p:sp>
        <p:nvSpPr>
          <p:cNvPr id="26" name="Slide counter 545"/>
          <p:cNvSpPr txBox="1"/>
          <p:nvPr/>
        </p:nvSpPr>
        <p:spPr>
          <a:xfrm>
            <a:off x="5184648" y="6236208"/>
            <a:ext cx="1828800" cy="420624"/>
          </a:xfrm>
          <a:prstGeom prst="rect">
            <a:avLst/>
          </a:prstGeom>
          <a:noFill/>
          <a:ln/>
        </p:spPr>
        <p:txBody>
          <a:bodyPr wrap="square" lIns="0" tIns="0" rIns="0" bIns="0" rtlCol="0" anchor="ctr"/>
          <a:lstStyle/>
          <a:p>
            <a:pPr algn="ctr" indent="0" marL="0">
              <a:buNone/>
            </a:pPr>
            <a:r>
              <a:rPr lang="en-US" sz="1400" dirty="0">
                <a:solidFill>
                  <a:srgbClr val="5D7774"/>
                </a:solidFill>
                <a:latin typeface="Calibri" pitchFamily="34" charset="0"/>
                <a:ea typeface="Calibri" pitchFamily="34" charset="-122"/>
                <a:cs typeface="Calibri" pitchFamily="34" charset="-120"/>
              </a:rPr>
              <a:t>17 / 18</a:t>
            </a:r>
            <a:endParaRPr lang="en-US" sz="1400" dirty="0"/>
          </a:p>
        </p:txBody>
      </p:sp>
      <p:sp>
        <p:nvSpPr>
          <p:cNvPr id="27" name="Nav Back 546 LINK:final">
            <a:hlinkClick r:id="rIdJump6" action="ppaction://hlinksldjump"/>
          </p:cNvPr>
          <p:cNvSpPr/>
          <p:nvPr/>
        </p:nvSpPr>
        <p:spPr>
          <a:xfrm>
            <a:off x="9052560" y="6236208"/>
            <a:ext cx="1234440" cy="420624"/>
          </a:xfrm>
          <a:prstGeom prst="roundRect">
            <a:avLst>
              <a:gd name="adj" fmla="val 47826"/>
            </a:avLst>
          </a:prstGeom>
          <a:solidFill>
            <a:srgbClr val="FFFFFF"/>
          </a:solidFill>
          <a:ln w="19050">
            <a:solidFill>
              <a:srgbClr val="1D7A6E"/>
            </a:solidFill>
          </a:ln>
        </p:spPr>
        <p:txBody>
          <a:bodyPr wrap="square" lIns="109728" tIns="0" rIns="109728" bIns="0" rtlCol="0" anchor="ctr"/>
          <a:lstStyle/>
          <a:p>
            <a:pPr algn="ctr" indent="0" marL="0">
              <a:buNone/>
            </a:pPr>
            <a:r>
              <a:rPr lang="en-US" sz="1500" b="1" dirty="0">
                <a:solidFill>
                  <a:srgbClr val="1D7A6E"/>
                </a:solidFill>
                <a:latin typeface="Calibri" pitchFamily="34" charset="0"/>
                <a:ea typeface="Calibri" pitchFamily="34" charset="-122"/>
                <a:cs typeface="Calibri" pitchFamily="34" charset="-120"/>
              </a:rPr>
              <a:t>‹  Back</a:t>
            </a:r>
            <a:endParaRPr lang="en-US" sz="1500" dirty="0"/>
          </a:p>
        </p:txBody>
      </p:sp>
      <p:sp>
        <p:nvSpPr>
          <p:cNvPr id="28" name="Nav Next 547 LINK:recap">
            <a:hlinkClick r:id="rIdJump7" action="ppaction://hlinksldjump"/>
          </p:cNvPr>
          <p:cNvSpPr/>
          <p:nvPr/>
        </p:nvSpPr>
        <p:spPr>
          <a:xfrm>
            <a:off x="10405872" y="6236208"/>
            <a:ext cx="1234440" cy="420624"/>
          </a:xfrm>
          <a:prstGeom prst="roundRect">
            <a:avLst>
              <a:gd name="adj" fmla="val 47826"/>
            </a:avLst>
          </a:prstGeom>
          <a:solidFill>
            <a:srgbClr val="1D7A6E"/>
          </a:solidFill>
          <a:ln>
            <a:solidFill>
              <a:srgbClr val="1D7A6E"/>
            </a:solidFill>
          </a:ln>
        </p:spPr>
        <p:txBody>
          <a:bodyPr wrap="square" lIns="109728" tIns="0" rIns="109728"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Next  ›</a:t>
            </a:r>
            <a:endParaRPr lang="en-US" sz="1500" dirty="0"/>
          </a:p>
        </p:txBody>
      </p:sp>
    </p:spTree>
  </p:cSld>
  <p:clrMapOvr>
    <a:masterClrMapping/>
  </p:clrMapOvr>
  <p:transition spd="med">
    <p:fade/>
  </p:transition>
</p:sld>
</file>

<file path=ppt/slides/slide30.xml><?xml version="1.0" encoding="utf-8"?>
<p:sld xmlns:a="http://schemas.openxmlformats.org/drawingml/2006/main" xmlns:r="http://schemas.openxmlformats.org/officeDocument/2006/relationships" xmlns:p="http://schemas.openxmlformats.org/presentationml/2006/main" show="0">
  <p:cSld name="Slide 30">
    <p:spTree>
      <p:nvGrpSpPr>
        <p:cNvPr id="1" name=""/>
        <p:cNvGrpSpPr/>
        <p:nvPr/>
      </p:nvGrpSpPr>
      <p:grpSpPr>
        <a:xfrm>
          <a:off x="0" y="0"/>
          <a:ext cx="0" cy="0"/>
          <a:chOff x="0" y="0"/>
          <a:chExt cx="0" cy="0"/>
        </a:xfrm>
      </p:grpSpPr>
      <p:sp>
        <p:nvSpPr>
          <p:cNvPr id="2" name="Kicker 548"/>
          <p:cNvSpPr txBox="1"/>
          <p:nvPr/>
        </p:nvSpPr>
        <p:spPr>
          <a:xfrm>
            <a:off x="548640" y="329184"/>
            <a:ext cx="7315200" cy="292608"/>
          </a:xfrm>
          <a:prstGeom prst="rect">
            <a:avLst/>
          </a:prstGeom>
          <a:noFill/>
          <a:ln/>
        </p:spPr>
        <p:txBody>
          <a:bodyPr wrap="square" lIns="0" tIns="0" rIns="0" bIns="0" rtlCol="0" anchor="t"/>
          <a:lstStyle/>
          <a:p>
            <a:pPr indent="0" marL="0">
              <a:buNone/>
            </a:pPr>
            <a:r>
              <a:rPr lang="en-US" sz="1400" b="1" spc="300" kern="0" dirty="0">
                <a:solidFill>
                  <a:srgbClr val="1D7A6E"/>
                </a:solidFill>
                <a:latin typeface="Calibri" pitchFamily="34" charset="0"/>
                <a:ea typeface="Calibri" pitchFamily="34" charset="-122"/>
                <a:cs typeface="Calibri" pitchFamily="34" charset="-120"/>
              </a:rPr>
              <a:t>EXTRA CHALLENGE · MODEL ANSWER</a:t>
            </a:r>
            <a:endParaRPr lang="en-US" sz="1400" dirty="0"/>
          </a:p>
        </p:txBody>
      </p:sp>
      <p:sp>
        <p:nvSpPr>
          <p:cNvPr id="3" name="Title 549"/>
          <p:cNvSpPr txBox="1"/>
          <p:nvPr/>
        </p:nvSpPr>
        <p:spPr>
          <a:xfrm>
            <a:off x="548640" y="658368"/>
            <a:ext cx="9144000" cy="731520"/>
          </a:xfrm>
          <a:prstGeom prst="rect">
            <a:avLst/>
          </a:prstGeom>
          <a:noFill/>
          <a:ln/>
        </p:spPr>
        <p:txBody>
          <a:bodyPr wrap="square" lIns="0" tIns="0" rIns="0" bIns="0" rtlCol="0" anchor="t"/>
          <a:lstStyle/>
          <a:p>
            <a:pPr indent="0" marL="0">
              <a:buNone/>
            </a:pPr>
            <a:r>
              <a:rPr lang="en-US" sz="3600" b="1" dirty="0">
                <a:solidFill>
                  <a:srgbClr val="16302E"/>
                </a:solidFill>
                <a:latin typeface="Calibri" pitchFamily="34" charset="0"/>
                <a:ea typeface="Calibri" pitchFamily="34" charset="-122"/>
                <a:cs typeface="Calibri" pitchFamily="34" charset="-120"/>
              </a:rPr>
              <a:t>A model explanation</a:t>
            </a:r>
            <a:endParaRPr lang="en-US" sz="3600" dirty="0"/>
          </a:p>
        </p:txBody>
      </p:sp>
      <p:sp>
        <p:nvSpPr>
          <p:cNvPr id="4" name="Card 550"/>
          <p:cNvSpPr/>
          <p:nvPr/>
        </p:nvSpPr>
        <p:spPr>
          <a:xfrm>
            <a:off x="548640" y="1600200"/>
            <a:ext cx="3383280" cy="2331720"/>
          </a:xfrm>
          <a:prstGeom prst="roundRect">
            <a:avLst>
              <a:gd name="adj" fmla="val 7059"/>
            </a:avLst>
          </a:prstGeom>
          <a:solidFill>
            <a:srgbClr val="FFFFFF"/>
          </a:solidFill>
          <a:ln w="12700">
            <a:solidFill>
              <a:srgbClr val="D5E5E0"/>
            </a:solidFill>
            <a:prstDash val="solid"/>
          </a:ln>
          <a:effectLst>
            <a:outerShdw sx="100000" sy="100000" kx="0" ky="0" algn="bl" rotWithShape="0" blurRad="101600" dist="25400" dir="5400000">
              <a:srgbClr val="0F3D3A">
                <a:alpha val="10000"/>
              </a:srgbClr>
            </a:outerShdw>
          </a:effectLst>
        </p:spPr>
      </p:sp>
      <p:sp>
        <p:nvSpPr>
          <p:cNvPr id="5" name="Step number 551"/>
          <p:cNvSpPr/>
          <p:nvPr/>
        </p:nvSpPr>
        <p:spPr>
          <a:xfrm>
            <a:off x="777240" y="1783080"/>
            <a:ext cx="548640" cy="548640"/>
          </a:xfrm>
          <a:prstGeom prst="ellipse">
            <a:avLst/>
          </a:prstGeom>
          <a:solidFill>
            <a:srgbClr val="1D7A6E"/>
          </a:solidFill>
          <a:ln>
            <a:solidFill>
              <a:srgbClr val="1D7A6E"/>
            </a:solid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6" name="Step text 552"/>
          <p:cNvSpPr txBox="1"/>
          <p:nvPr/>
        </p:nvSpPr>
        <p:spPr>
          <a:xfrm>
            <a:off x="777240" y="2468880"/>
            <a:ext cx="2926080" cy="1371600"/>
          </a:xfrm>
          <a:prstGeom prst="rect">
            <a:avLst/>
          </a:prstGeom>
          <a:noFill/>
          <a:ln/>
        </p:spPr>
        <p:txBody>
          <a:bodyPr wrap="square" lIns="0" tIns="0" rIns="0" bIns="0" rtlCol="0" anchor="t"/>
          <a:lstStyle/>
          <a:p>
            <a:pPr indent="0" marL="0">
              <a:buNone/>
            </a:pPr>
            <a:r>
              <a:rPr lang="en-US" sz="2100" dirty="0">
                <a:solidFill>
                  <a:srgbClr val="16302E"/>
                </a:solidFill>
                <a:latin typeface="Calibri" pitchFamily="34" charset="0"/>
                <a:ea typeface="Calibri" pitchFamily="34" charset="-122"/>
                <a:cs typeface="Calibri" pitchFamily="34" charset="-120"/>
              </a:rPr>
              <a:t>Find the shaddah.</a:t>
            </a:r>
            <a:endParaRPr lang="en-US" sz="2100" dirty="0"/>
          </a:p>
        </p:txBody>
      </p:sp>
      <p:sp>
        <p:nvSpPr>
          <p:cNvPr id="7" name="Arrow 553"/>
          <p:cNvSpPr txBox="1"/>
          <p:nvPr/>
        </p:nvSpPr>
        <p:spPr>
          <a:xfrm>
            <a:off x="3931920" y="2468880"/>
            <a:ext cx="470916" cy="457200"/>
          </a:xfrm>
          <a:prstGeom prst="rect">
            <a:avLst/>
          </a:prstGeom>
          <a:noFill/>
          <a:ln/>
        </p:spPr>
        <p:txBody>
          <a:bodyPr wrap="square" lIns="0" tIns="0" rIns="0" bIns="0" rtlCol="0" anchor="t"/>
          <a:lstStyle/>
          <a:p>
            <a:pPr algn="ctr" indent="0" marL="0">
              <a:buNone/>
            </a:pPr>
            <a:r>
              <a:rPr lang="en-US" sz="2800" b="1" dirty="0">
                <a:solidFill>
                  <a:srgbClr val="1D7A6E"/>
                </a:solidFill>
                <a:latin typeface="Calibri" pitchFamily="34" charset="0"/>
                <a:ea typeface="Calibri" pitchFamily="34" charset="-122"/>
                <a:cs typeface="Calibri" pitchFamily="34" charset="-120"/>
              </a:rPr>
              <a:t>→</a:t>
            </a:r>
            <a:endParaRPr lang="en-US" sz="2800" dirty="0"/>
          </a:p>
        </p:txBody>
      </p:sp>
      <p:sp>
        <p:nvSpPr>
          <p:cNvPr id="8" name="Card 554"/>
          <p:cNvSpPr/>
          <p:nvPr/>
        </p:nvSpPr>
        <p:spPr>
          <a:xfrm>
            <a:off x="4402836" y="1600200"/>
            <a:ext cx="3383280" cy="2331720"/>
          </a:xfrm>
          <a:prstGeom prst="roundRect">
            <a:avLst>
              <a:gd name="adj" fmla="val 7059"/>
            </a:avLst>
          </a:prstGeom>
          <a:solidFill>
            <a:srgbClr val="FFFFFF"/>
          </a:solidFill>
          <a:ln w="12700">
            <a:solidFill>
              <a:srgbClr val="D5E5E0"/>
            </a:solidFill>
            <a:prstDash val="solid"/>
          </a:ln>
          <a:effectLst>
            <a:outerShdw sx="100000" sy="100000" kx="0" ky="0" algn="bl" rotWithShape="0" blurRad="101600" dist="25400" dir="5400000">
              <a:srgbClr val="0F3D3A">
                <a:alpha val="10000"/>
              </a:srgbClr>
            </a:outerShdw>
          </a:effectLst>
        </p:spPr>
      </p:sp>
      <p:sp>
        <p:nvSpPr>
          <p:cNvPr id="9" name="Step number 555"/>
          <p:cNvSpPr/>
          <p:nvPr/>
        </p:nvSpPr>
        <p:spPr>
          <a:xfrm>
            <a:off x="4631436" y="1783080"/>
            <a:ext cx="548640" cy="548640"/>
          </a:xfrm>
          <a:prstGeom prst="ellipse">
            <a:avLst/>
          </a:prstGeom>
          <a:solidFill>
            <a:srgbClr val="1D7A6E"/>
          </a:solidFill>
          <a:ln>
            <a:solidFill>
              <a:srgbClr val="1D7A6E"/>
            </a:solid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10" name="Step text 556"/>
          <p:cNvSpPr txBox="1"/>
          <p:nvPr/>
        </p:nvSpPr>
        <p:spPr>
          <a:xfrm>
            <a:off x="4631436" y="2468880"/>
            <a:ext cx="2926080" cy="1371600"/>
          </a:xfrm>
          <a:prstGeom prst="rect">
            <a:avLst/>
          </a:prstGeom>
          <a:noFill/>
          <a:ln/>
        </p:spPr>
        <p:txBody>
          <a:bodyPr wrap="square" lIns="0" tIns="0" rIns="0" bIns="0" rtlCol="0" anchor="t"/>
          <a:lstStyle/>
          <a:p>
            <a:pPr indent="0" marL="0">
              <a:buNone/>
            </a:pPr>
            <a:r>
              <a:rPr lang="en-US" sz="2100" dirty="0">
                <a:solidFill>
                  <a:srgbClr val="16302E"/>
                </a:solidFill>
                <a:latin typeface="Calibri" pitchFamily="34" charset="0"/>
                <a:ea typeface="Calibri" pitchFamily="34" charset="-122"/>
                <a:cs typeface="Calibri" pitchFamily="34" charset="-120"/>
              </a:rPr>
              <a:t>Form the letter at its normal articulation point and keep the nasal passage open.</a:t>
            </a:r>
            <a:endParaRPr lang="en-US" sz="2100" dirty="0"/>
          </a:p>
        </p:txBody>
      </p:sp>
      <p:sp>
        <p:nvSpPr>
          <p:cNvPr id="11" name="Arrow 557"/>
          <p:cNvSpPr txBox="1"/>
          <p:nvPr/>
        </p:nvSpPr>
        <p:spPr>
          <a:xfrm>
            <a:off x="7786116" y="2468880"/>
            <a:ext cx="470916" cy="457200"/>
          </a:xfrm>
          <a:prstGeom prst="rect">
            <a:avLst/>
          </a:prstGeom>
          <a:noFill/>
          <a:ln/>
        </p:spPr>
        <p:txBody>
          <a:bodyPr wrap="square" lIns="0" tIns="0" rIns="0" bIns="0" rtlCol="0" anchor="t"/>
          <a:lstStyle/>
          <a:p>
            <a:pPr algn="ctr" indent="0" marL="0">
              <a:buNone/>
            </a:pPr>
            <a:r>
              <a:rPr lang="en-US" sz="2800" b="1" dirty="0">
                <a:solidFill>
                  <a:srgbClr val="1D7A6E"/>
                </a:solidFill>
                <a:latin typeface="Calibri" pitchFamily="34" charset="0"/>
                <a:ea typeface="Calibri" pitchFamily="34" charset="-122"/>
                <a:cs typeface="Calibri" pitchFamily="34" charset="-120"/>
              </a:rPr>
              <a:t>→</a:t>
            </a:r>
            <a:endParaRPr lang="en-US" sz="2800" dirty="0"/>
          </a:p>
        </p:txBody>
      </p:sp>
      <p:sp>
        <p:nvSpPr>
          <p:cNvPr id="12" name="Card 558"/>
          <p:cNvSpPr/>
          <p:nvPr/>
        </p:nvSpPr>
        <p:spPr>
          <a:xfrm>
            <a:off x="8257032" y="1600200"/>
            <a:ext cx="3383280" cy="2331720"/>
          </a:xfrm>
          <a:prstGeom prst="roundRect">
            <a:avLst>
              <a:gd name="adj" fmla="val 7059"/>
            </a:avLst>
          </a:prstGeom>
          <a:solidFill>
            <a:srgbClr val="FFFFFF"/>
          </a:solidFill>
          <a:ln w="12700">
            <a:solidFill>
              <a:srgbClr val="D5E5E0"/>
            </a:solidFill>
            <a:prstDash val="solid"/>
          </a:ln>
          <a:effectLst>
            <a:outerShdw sx="100000" sy="100000" kx="0" ky="0" algn="bl" rotWithShape="0" blurRad="101600" dist="25400" dir="5400000">
              <a:srgbClr val="0F3D3A">
                <a:alpha val="10000"/>
              </a:srgbClr>
            </a:outerShdw>
          </a:effectLst>
        </p:spPr>
      </p:sp>
      <p:sp>
        <p:nvSpPr>
          <p:cNvPr id="13" name="Step number 559"/>
          <p:cNvSpPr/>
          <p:nvPr/>
        </p:nvSpPr>
        <p:spPr>
          <a:xfrm>
            <a:off x="8485632" y="1783080"/>
            <a:ext cx="548640" cy="548640"/>
          </a:xfrm>
          <a:prstGeom prst="ellipse">
            <a:avLst/>
          </a:prstGeom>
          <a:solidFill>
            <a:srgbClr val="1D7A6E"/>
          </a:solidFill>
          <a:ln>
            <a:solidFill>
              <a:srgbClr val="1D7A6E"/>
            </a:solid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sp>
        <p:nvSpPr>
          <p:cNvPr id="14" name="Step text 560"/>
          <p:cNvSpPr txBox="1"/>
          <p:nvPr/>
        </p:nvSpPr>
        <p:spPr>
          <a:xfrm>
            <a:off x="8485632" y="2468880"/>
            <a:ext cx="2926080" cy="1371600"/>
          </a:xfrm>
          <a:prstGeom prst="rect">
            <a:avLst/>
          </a:prstGeom>
          <a:noFill/>
          <a:ln/>
        </p:spPr>
        <p:txBody>
          <a:bodyPr wrap="square" lIns="0" tIns="0" rIns="0" bIns="0" rtlCol="0" anchor="t"/>
          <a:lstStyle/>
          <a:p>
            <a:pPr indent="0" marL="0">
              <a:buNone/>
            </a:pPr>
            <a:r>
              <a:rPr lang="en-US" sz="2100" dirty="0">
                <a:solidFill>
                  <a:srgbClr val="16302E"/>
                </a:solidFill>
                <a:latin typeface="Calibri" pitchFamily="34" charset="0"/>
                <a:ea typeface="Calibri" pitchFamily="34" charset="-122"/>
                <a:cs typeface="Calibri" pitchFamily="34" charset="-120"/>
              </a:rPr>
              <a:t>Hold the ghunnah for two counts, then release into its written vowel.</a:t>
            </a:r>
            <a:endParaRPr lang="en-US" sz="2100" dirty="0"/>
          </a:p>
        </p:txBody>
      </p:sp>
      <p:sp>
        <p:nvSpPr>
          <p:cNvPr id="15" name="Timing answer 561"/>
          <p:cNvSpPr/>
          <p:nvPr/>
        </p:nvSpPr>
        <p:spPr>
          <a:xfrm>
            <a:off x="548640" y="4160520"/>
            <a:ext cx="11094415" cy="1737360"/>
          </a:xfrm>
          <a:prstGeom prst="roundRect">
            <a:avLst>
              <a:gd name="adj" fmla="val 9474"/>
            </a:avLst>
          </a:prstGeom>
          <a:solidFill>
            <a:srgbClr val="E2F0EC"/>
          </a:solidFill>
          <a:ln w="12700">
            <a:solidFill>
              <a:srgbClr val="E2F0EC"/>
            </a:solidFill>
            <a:prstDash val="solid"/>
          </a:ln>
        </p:spPr>
      </p:sp>
      <p:sp>
        <p:nvSpPr>
          <p:cNvPr id="16" name="Timing text 562"/>
          <p:cNvSpPr txBox="1"/>
          <p:nvPr/>
        </p:nvSpPr>
        <p:spPr>
          <a:xfrm>
            <a:off x="822960" y="4251960"/>
            <a:ext cx="10545775" cy="1554480"/>
          </a:xfrm>
          <a:prstGeom prst="rect">
            <a:avLst/>
          </a:prstGeom>
          <a:noFill/>
          <a:ln/>
        </p:spPr>
        <p:txBody>
          <a:bodyPr wrap="square" lIns="0" tIns="0" rIns="0" bIns="0" rtlCol="0" anchor="ctr"/>
          <a:lstStyle/>
          <a:p>
            <a:pPr indent="0" marL="0">
              <a:spcAft>
                <a:spcPts val="800"/>
              </a:spcAft>
              <a:buNone/>
            </a:pPr>
            <a:r>
              <a:rPr lang="en-US" sz="2200" b="1" dirty="0">
                <a:solidFill>
                  <a:srgbClr val="0F5148"/>
                </a:solidFill>
                <a:latin typeface="Calibri" pitchFamily="34" charset="0"/>
                <a:ea typeface="Calibri" pitchFamily="34" charset="-122"/>
                <a:cs typeface="Calibri" pitchFamily="34" charset="-120"/>
              </a:rPr>
              <a:t>Timing  </a:t>
            </a:r>
            <a:pPr indent="0" marL="0">
              <a:spcAft>
                <a:spcPts val="800"/>
              </a:spcAft>
              <a:buNone/>
            </a:pPr>
            <a:r>
              <a:rPr lang="en-US" sz="2200" dirty="0">
                <a:solidFill>
                  <a:srgbClr val="16302E"/>
                </a:solidFill>
                <a:latin typeface="Calibri" pitchFamily="34" charset="0"/>
                <a:ea typeface="Calibri" pitchFamily="34" charset="-122"/>
                <a:cs typeface="Calibri" pitchFamily="34" charset="-120"/>
              </a:rPr>
              <a:t>Two counts, measured against two short vowels at your current recitation speed; relative to pace, not fixed seconds.</a:t>
            </a:r>
            <a:endParaRPr lang="en-US" sz="2200" dirty="0"/>
          </a:p>
          <a:p>
            <a:pPr indent="0" marL="0">
              <a:spcAft>
                <a:spcPts val="800"/>
              </a:spcAft>
              <a:buNone/>
            </a:pPr>
            <a:r>
              <a:rPr lang="en-US" sz="2200" b="1" dirty="0">
                <a:solidFill>
                  <a:srgbClr val="0F5148"/>
                </a:solidFill>
                <a:latin typeface="Calibri" pitchFamily="34" charset="0"/>
                <a:ea typeface="Calibri" pitchFamily="34" charset="-122"/>
                <a:cs typeface="Calibri" pitchFamily="34" charset="-120"/>
              </a:rPr>
              <a:t>Demonstrate  </a:t>
            </a:r>
            <a:pPr indent="0" marL="0">
              <a:spcAft>
                <a:spcPts val="800"/>
              </a:spcAft>
              <a:buNone/>
            </a:pPr>
            <a:r>
              <a:rPr lang="en-US" sz="2200" dirty="0">
                <a:solidFill>
                  <a:srgbClr val="16302E"/>
                </a:solidFill>
                <a:latin typeface="Calibri" pitchFamily="34" charset="0"/>
                <a:ea typeface="Calibri" pitchFamily="34" charset="-122"/>
                <a:cs typeface="Calibri" pitchFamily="34" charset="-120"/>
              </a:rPr>
              <a:t>Read إِنَّ or ٱلْجِنَّةِ with a two-count ghunnah and no added vowel.</a:t>
            </a:r>
            <a:endParaRPr lang="en-US" sz="2200" dirty="0"/>
          </a:p>
        </p:txBody>
      </p:sp>
      <p:sp>
        <p:nvSpPr>
          <p:cNvPr id="17" name="Back 563 LINK:teach">
            <a:hlinkClick r:id="rIdJump1" action="ppaction://hlinksldjump"/>
          </p:cNvPr>
          <p:cNvSpPr/>
          <p:nvPr/>
        </p:nvSpPr>
        <p:spPr>
          <a:xfrm>
            <a:off x="548640" y="6236208"/>
            <a:ext cx="2468880" cy="420624"/>
          </a:xfrm>
          <a:prstGeom prst="roundRect">
            <a:avLst>
              <a:gd name="adj" fmla="val 47826"/>
            </a:avLst>
          </a:prstGeom>
          <a:solidFill>
            <a:srgbClr val="FFFFFF"/>
          </a:solidFill>
          <a:ln w="19050">
            <a:solidFill>
              <a:srgbClr val="1D7A6E"/>
            </a:solidFill>
          </a:ln>
        </p:spPr>
        <p:txBody>
          <a:bodyPr wrap="square" lIns="109728" tIns="0" rIns="109728" bIns="0" rtlCol="0" anchor="ctr"/>
          <a:lstStyle/>
          <a:p>
            <a:pPr algn="ctr" indent="0" marL="0">
              <a:buNone/>
            </a:pPr>
            <a:r>
              <a:rPr lang="en-US" sz="1500" b="1" dirty="0">
                <a:solidFill>
                  <a:srgbClr val="1D7A6E"/>
                </a:solidFill>
                <a:latin typeface="Calibri" pitchFamily="34" charset="0"/>
                <a:ea typeface="Calibri" pitchFamily="34" charset="-122"/>
                <a:cs typeface="Calibri" pitchFamily="34" charset="-120"/>
              </a:rPr>
              <a:t>‹  Back to challenge</a:t>
            </a:r>
            <a:endParaRPr lang="en-US" sz="1500" dirty="0"/>
          </a:p>
        </p:txBody>
      </p:sp>
      <p:sp>
        <p:nvSpPr>
          <p:cNvPr id="18" name="Continue 564 LINK:recap">
            <a:hlinkClick r:id="rIdJump2" action="ppaction://hlinksldjump"/>
          </p:cNvPr>
          <p:cNvSpPr/>
          <p:nvPr/>
        </p:nvSpPr>
        <p:spPr>
          <a:xfrm>
            <a:off x="9994392" y="6236208"/>
            <a:ext cx="1645920" cy="420624"/>
          </a:xfrm>
          <a:prstGeom prst="roundRect">
            <a:avLst>
              <a:gd name="adj" fmla="val 47826"/>
            </a:avLst>
          </a:prstGeom>
          <a:solidFill>
            <a:srgbClr val="1D7A6E"/>
          </a:solidFill>
          <a:ln>
            <a:solidFill>
              <a:srgbClr val="1D7A6E"/>
            </a:solidFill>
          </a:ln>
        </p:spPr>
        <p:txBody>
          <a:bodyPr wrap="square" lIns="109728" tIns="0" rIns="109728"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Continue  ›</a:t>
            </a:r>
            <a:endParaRPr lang="en-US" sz="1500" dirty="0"/>
          </a:p>
        </p:txBody>
      </p:sp>
      <p:sp>
        <p:nvSpPr>
          <p:cNvPr id="20" name="Text 0"/>
          <p:cNvSpPr/>
          <p:nvPr>
            <p:ph idx="100" type="title" hasCustomPrompt="1"/>
          </p:nvPr>
        </p:nvSpPr>
        <p:spPr>
          <a:xfrm>
            <a:off x="548640" y="658368"/>
            <a:ext cx="9052560" cy="731520"/>
          </a:xfrm>
          <a:prstGeom prst="rect">
            <a:avLst/>
          </a:prstGeom>
          <a:noFill/>
          <a:ln/>
        </p:spPr>
        <p:txBody>
          <a:bodyPr wrap="square" lIns="0" tIns="0" rIns="0" bIns="0" rtlCol="0" anchor="t"/>
          <a:lstStyle/>
          <a:p>
            <a:pPr algn="l" indent="0" marL="0">
              <a:buNone/>
            </a:pPr>
            <a:endParaRPr lang="en-US" sz="3600" dirty="0"/>
          </a:p>
        </p:txBody>
      </p:sp>
    </p:spTree>
  </p:cSld>
  <p:clrMapOvr>
    <a:masterClrMapping/>
  </p:clrMapOvr>
  <p:transition spd="med">
    <p:fade/>
  </p:transition>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pic>
        <p:nvPicPr>
          <p:cNvPr id="2" name="Deco star 0 565" descr="preencoded.png">    </p:cNvPr>
          <p:cNvPicPr>
            <a:picLocks noChangeAspect="1"/>
          </p:cNvPicPr>
          <p:nvPr/>
        </p:nvPicPr>
        <p:blipFill>
          <a:blip r:embed="rId1"/>
          <a:stretch>
            <a:fillRect/>
          </a:stretch>
        </p:blipFill>
        <p:spPr>
          <a:xfrm>
            <a:off x="10332720" y="411480"/>
            <a:ext cx="457200" cy="457200"/>
          </a:xfrm>
          <a:prstGeom prst="rect">
            <a:avLst/>
          </a:prstGeom>
        </p:spPr>
      </p:pic>
      <p:pic>
        <p:nvPicPr>
          <p:cNvPr id="3" name="Deco star 1 566" descr="preencoded.png">    </p:cNvPr>
          <p:cNvPicPr>
            <a:picLocks noChangeAspect="1"/>
          </p:cNvPicPr>
          <p:nvPr/>
        </p:nvPicPr>
        <p:blipFill>
          <a:blip r:embed="rId2"/>
          <a:stretch>
            <a:fillRect/>
          </a:stretch>
        </p:blipFill>
        <p:spPr>
          <a:xfrm>
            <a:off x="11018520" y="822960"/>
            <a:ext cx="310896" cy="310896"/>
          </a:xfrm>
          <a:prstGeom prst="rect">
            <a:avLst/>
          </a:prstGeom>
        </p:spPr>
      </p:pic>
      <p:pic>
        <p:nvPicPr>
          <p:cNvPr id="4" name="Deco star 2 567" descr="preencoded.png">    </p:cNvPr>
          <p:cNvPicPr>
            <a:picLocks noChangeAspect="1"/>
          </p:cNvPicPr>
          <p:nvPr/>
        </p:nvPicPr>
        <p:blipFill>
          <a:blip r:embed="rId3"/>
          <a:stretch>
            <a:fillRect/>
          </a:stretch>
        </p:blipFill>
        <p:spPr>
          <a:xfrm>
            <a:off x="9829800" y="914400"/>
            <a:ext cx="256032" cy="256032"/>
          </a:xfrm>
          <a:prstGeom prst="rect">
            <a:avLst/>
          </a:prstGeom>
        </p:spPr>
      </p:pic>
      <p:sp>
        <p:nvSpPr>
          <p:cNvPr id="5" name="Kicker 568"/>
          <p:cNvSpPr txBox="1"/>
          <p:nvPr/>
        </p:nvSpPr>
        <p:spPr>
          <a:xfrm>
            <a:off x="548640" y="329184"/>
            <a:ext cx="5486400" cy="292608"/>
          </a:xfrm>
          <a:prstGeom prst="rect">
            <a:avLst/>
          </a:prstGeom>
          <a:noFill/>
          <a:ln/>
        </p:spPr>
        <p:txBody>
          <a:bodyPr wrap="square" lIns="0" tIns="0" rIns="0" bIns="0" rtlCol="0" anchor="t"/>
          <a:lstStyle/>
          <a:p>
            <a:pPr indent="0" marL="0">
              <a:buNone/>
            </a:pPr>
            <a:r>
              <a:rPr lang="en-US" sz="1400" b="1" spc="300" kern="0" dirty="0">
                <a:solidFill>
                  <a:srgbClr val="F6C552"/>
                </a:solidFill>
                <a:latin typeface="Calibri" pitchFamily="34" charset="0"/>
                <a:ea typeface="Calibri" pitchFamily="34" charset="-122"/>
                <a:cs typeface="Calibri" pitchFamily="34" charset="-120"/>
              </a:rPr>
              <a:t>RECAP</a:t>
            </a:r>
            <a:endParaRPr lang="en-US" sz="1400" dirty="0"/>
          </a:p>
        </p:txBody>
      </p:sp>
      <p:sp>
        <p:nvSpPr>
          <p:cNvPr id="6" name="Title 569"/>
          <p:cNvSpPr txBox="1"/>
          <p:nvPr/>
        </p:nvSpPr>
        <p:spPr>
          <a:xfrm>
            <a:off x="548640" y="658368"/>
            <a:ext cx="9144000" cy="731520"/>
          </a:xfrm>
          <a:prstGeom prst="rect">
            <a:avLst/>
          </a:prstGeom>
          <a:noFill/>
          <a:ln/>
        </p:spPr>
        <p:txBody>
          <a:bodyPr wrap="square" lIns="0" tIns="0" rIns="0" bIns="0" rtlCol="0" anchor="t"/>
          <a:lstStyle/>
          <a:p>
            <a:pPr indent="0" marL="0">
              <a:buNone/>
            </a:pPr>
            <a:r>
              <a:rPr lang="en-US" sz="3600" b="1" dirty="0">
                <a:solidFill>
                  <a:srgbClr val="FFFFFF"/>
                </a:solidFill>
                <a:latin typeface="Calibri" pitchFamily="34" charset="0"/>
                <a:ea typeface="Calibri" pitchFamily="34" charset="-122"/>
                <a:cs typeface="Calibri" pitchFamily="34" charset="-120"/>
              </a:rPr>
              <a:t>Recognise → Apply → Check</a:t>
            </a:r>
            <a:endParaRPr lang="en-US" sz="3600" dirty="0"/>
          </a:p>
        </p:txBody>
      </p:sp>
      <p:sp>
        <p:nvSpPr>
          <p:cNvPr id="7" name="Card 570"/>
          <p:cNvSpPr/>
          <p:nvPr/>
        </p:nvSpPr>
        <p:spPr>
          <a:xfrm>
            <a:off x="548640" y="1600200"/>
            <a:ext cx="3511296" cy="2606040"/>
          </a:xfrm>
          <a:prstGeom prst="roundRect">
            <a:avLst>
              <a:gd name="adj" fmla="val 6316"/>
            </a:avLst>
          </a:prstGeom>
          <a:solidFill>
            <a:srgbClr val="FFFFFF"/>
          </a:solidFill>
          <a:ln w="12700">
            <a:solidFill>
              <a:srgbClr val="FFFFFF"/>
            </a:solidFill>
            <a:prstDash val="solid"/>
          </a:ln>
          <a:effectLst>
            <a:outerShdw sx="100000" sy="100000" kx="0" ky="0" algn="bl" rotWithShape="0" blurRad="101600" dist="25400" dir="5400000">
              <a:srgbClr val="0F3D3A">
                <a:alpha val="10000"/>
              </a:srgbClr>
            </a:outerShdw>
          </a:effectLst>
        </p:spPr>
      </p:sp>
      <p:sp>
        <p:nvSpPr>
          <p:cNvPr id="8" name="Recap circle 571"/>
          <p:cNvSpPr/>
          <p:nvPr/>
        </p:nvSpPr>
        <p:spPr>
          <a:xfrm>
            <a:off x="822960" y="1810512"/>
            <a:ext cx="685800" cy="685800"/>
          </a:xfrm>
          <a:prstGeom prst="ellipse">
            <a:avLst/>
          </a:prstGeom>
          <a:solidFill>
            <a:srgbClr val="1D7A6E"/>
          </a:solidFill>
          <a:ln w="12700">
            <a:solidFill>
              <a:srgbClr val="1D7A6E"/>
            </a:solidFill>
            <a:prstDash val="solid"/>
          </a:ln>
        </p:spPr>
      </p:sp>
      <p:pic>
        <p:nvPicPr>
          <p:cNvPr id="9" name="Recap glyph 572" descr="preencoded.png">    </p:cNvPr>
          <p:cNvPicPr>
            <a:picLocks noChangeAspect="1"/>
          </p:cNvPicPr>
          <p:nvPr/>
        </p:nvPicPr>
        <p:blipFill>
          <a:blip r:embed="rId4"/>
          <a:stretch>
            <a:fillRect/>
          </a:stretch>
        </p:blipFill>
        <p:spPr>
          <a:xfrm>
            <a:off x="994410" y="1981962"/>
            <a:ext cx="342900" cy="342900"/>
          </a:xfrm>
          <a:prstGeom prst="rect">
            <a:avLst/>
          </a:prstGeom>
        </p:spPr>
      </p:pic>
      <p:sp>
        <p:nvSpPr>
          <p:cNvPr id="10" name="Recap head 573"/>
          <p:cNvSpPr txBox="1"/>
          <p:nvPr/>
        </p:nvSpPr>
        <p:spPr>
          <a:xfrm>
            <a:off x="1645920" y="1828800"/>
            <a:ext cx="2231136" cy="640080"/>
          </a:xfrm>
          <a:prstGeom prst="rect">
            <a:avLst/>
          </a:prstGeom>
          <a:noFill/>
          <a:ln/>
        </p:spPr>
        <p:txBody>
          <a:bodyPr wrap="square" lIns="0" tIns="0" rIns="0" bIns="0" rtlCol="0" anchor="ctr"/>
          <a:lstStyle/>
          <a:p>
            <a:pPr indent="0" marL="0">
              <a:buNone/>
            </a:pPr>
            <a:r>
              <a:rPr lang="en-US" sz="2600" b="1" dirty="0">
                <a:solidFill>
                  <a:srgbClr val="16302E"/>
                </a:solidFill>
                <a:latin typeface="Calibri" pitchFamily="34" charset="0"/>
                <a:ea typeface="Calibri" pitchFamily="34" charset="-122"/>
                <a:cs typeface="Calibri" pitchFamily="34" charset="-120"/>
              </a:rPr>
              <a:t>Recognise</a:t>
            </a:r>
            <a:endParaRPr lang="en-US" sz="2600" dirty="0"/>
          </a:p>
        </p:txBody>
      </p:sp>
      <p:sp>
        <p:nvSpPr>
          <p:cNvPr id="11" name="Recap text 574"/>
          <p:cNvSpPr txBox="1"/>
          <p:nvPr/>
        </p:nvSpPr>
        <p:spPr>
          <a:xfrm>
            <a:off x="822960" y="2651760"/>
            <a:ext cx="2962656" cy="1463040"/>
          </a:xfrm>
          <a:prstGeom prst="rect">
            <a:avLst/>
          </a:prstGeom>
          <a:noFill/>
          <a:ln/>
        </p:spPr>
        <p:txBody>
          <a:bodyPr wrap="square" lIns="0" tIns="0" rIns="0" bIns="0" rtlCol="0" anchor="t"/>
          <a:lstStyle/>
          <a:p>
            <a:pPr indent="0" marL="0">
              <a:buNone/>
            </a:pPr>
            <a:r>
              <a:rPr lang="en-US" sz="2100" dirty="0">
                <a:solidFill>
                  <a:srgbClr val="2C4744"/>
                </a:solidFill>
                <a:latin typeface="Calibri" pitchFamily="34" charset="0"/>
                <a:ea typeface="Calibri" pitchFamily="34" charset="-122"/>
                <a:cs typeface="Calibri" pitchFamily="34" charset="-120"/>
              </a:rPr>
              <a:t>A noon or meem carrying shaddah: a saakin part joined to a vowelled part.</a:t>
            </a:r>
            <a:endParaRPr lang="en-US" sz="2100" dirty="0"/>
          </a:p>
        </p:txBody>
      </p:sp>
      <p:sp>
        <p:nvSpPr>
          <p:cNvPr id="12" name="Card 575"/>
          <p:cNvSpPr/>
          <p:nvPr/>
        </p:nvSpPr>
        <p:spPr>
          <a:xfrm>
            <a:off x="4338828" y="1600200"/>
            <a:ext cx="3511296" cy="2606040"/>
          </a:xfrm>
          <a:prstGeom prst="roundRect">
            <a:avLst>
              <a:gd name="adj" fmla="val 6316"/>
            </a:avLst>
          </a:prstGeom>
          <a:solidFill>
            <a:srgbClr val="FFFFFF"/>
          </a:solidFill>
          <a:ln w="12700">
            <a:solidFill>
              <a:srgbClr val="FFFFFF"/>
            </a:solidFill>
            <a:prstDash val="solid"/>
          </a:ln>
          <a:effectLst>
            <a:outerShdw sx="100000" sy="100000" kx="0" ky="0" algn="bl" rotWithShape="0" blurRad="101600" dist="25400" dir="5400000">
              <a:srgbClr val="0F3D3A">
                <a:alpha val="10000"/>
              </a:srgbClr>
            </a:outerShdw>
          </a:effectLst>
        </p:spPr>
      </p:sp>
      <p:sp>
        <p:nvSpPr>
          <p:cNvPr id="13" name="Recap circle 576"/>
          <p:cNvSpPr/>
          <p:nvPr/>
        </p:nvSpPr>
        <p:spPr>
          <a:xfrm>
            <a:off x="4613148" y="1810512"/>
            <a:ext cx="685800" cy="685800"/>
          </a:xfrm>
          <a:prstGeom prst="ellipse">
            <a:avLst/>
          </a:prstGeom>
          <a:solidFill>
            <a:srgbClr val="B9770E"/>
          </a:solidFill>
          <a:ln w="12700">
            <a:solidFill>
              <a:srgbClr val="B9770E"/>
            </a:solidFill>
            <a:prstDash val="solid"/>
          </a:ln>
        </p:spPr>
      </p:sp>
      <p:pic>
        <p:nvPicPr>
          <p:cNvPr id="14" name="Recap glyph 577" descr="preencoded.png">    </p:cNvPr>
          <p:cNvPicPr>
            <a:picLocks noChangeAspect="1"/>
          </p:cNvPicPr>
          <p:nvPr/>
        </p:nvPicPr>
        <p:blipFill>
          <a:blip r:embed="rId5"/>
          <a:stretch>
            <a:fillRect/>
          </a:stretch>
        </p:blipFill>
        <p:spPr>
          <a:xfrm>
            <a:off x="4784598" y="1981962"/>
            <a:ext cx="342900" cy="342900"/>
          </a:xfrm>
          <a:prstGeom prst="rect">
            <a:avLst/>
          </a:prstGeom>
        </p:spPr>
      </p:pic>
      <p:sp>
        <p:nvSpPr>
          <p:cNvPr id="15" name="Recap head 578"/>
          <p:cNvSpPr txBox="1"/>
          <p:nvPr/>
        </p:nvSpPr>
        <p:spPr>
          <a:xfrm>
            <a:off x="5436108" y="1828800"/>
            <a:ext cx="2231136" cy="640080"/>
          </a:xfrm>
          <a:prstGeom prst="rect">
            <a:avLst/>
          </a:prstGeom>
          <a:noFill/>
          <a:ln/>
        </p:spPr>
        <p:txBody>
          <a:bodyPr wrap="square" lIns="0" tIns="0" rIns="0" bIns="0" rtlCol="0" anchor="ctr"/>
          <a:lstStyle/>
          <a:p>
            <a:pPr indent="0" marL="0">
              <a:buNone/>
            </a:pPr>
            <a:r>
              <a:rPr lang="en-US" sz="2600" b="1" dirty="0">
                <a:solidFill>
                  <a:srgbClr val="16302E"/>
                </a:solidFill>
                <a:latin typeface="Calibri" pitchFamily="34" charset="0"/>
                <a:ea typeface="Calibri" pitchFamily="34" charset="-122"/>
                <a:cs typeface="Calibri" pitchFamily="34" charset="-120"/>
              </a:rPr>
              <a:t>Apply</a:t>
            </a:r>
            <a:endParaRPr lang="en-US" sz="2600" dirty="0"/>
          </a:p>
        </p:txBody>
      </p:sp>
      <p:sp>
        <p:nvSpPr>
          <p:cNvPr id="16" name="Recap text 579"/>
          <p:cNvSpPr txBox="1"/>
          <p:nvPr/>
        </p:nvSpPr>
        <p:spPr>
          <a:xfrm>
            <a:off x="4613148" y="2651760"/>
            <a:ext cx="2962656" cy="1463040"/>
          </a:xfrm>
          <a:prstGeom prst="rect">
            <a:avLst/>
          </a:prstGeom>
          <a:noFill/>
          <a:ln/>
        </p:spPr>
        <p:txBody>
          <a:bodyPr wrap="square" lIns="0" tIns="0" rIns="0" bIns="0" rtlCol="0" anchor="t"/>
          <a:lstStyle/>
          <a:p>
            <a:pPr indent="0" marL="0">
              <a:buNone/>
            </a:pPr>
            <a:r>
              <a:rPr lang="en-US" sz="2100" dirty="0">
                <a:solidFill>
                  <a:srgbClr val="2C4744"/>
                </a:solidFill>
                <a:latin typeface="Calibri" pitchFamily="34" charset="0"/>
                <a:ea typeface="Calibri" pitchFamily="34" charset="-122"/>
                <a:cs typeface="Calibri" pitchFamily="34" charset="-120"/>
              </a:rPr>
              <a:t>Keep the nasal passage open, hold two counts, release into the vowel.</a:t>
            </a:r>
            <a:endParaRPr lang="en-US" sz="2100" dirty="0"/>
          </a:p>
        </p:txBody>
      </p:sp>
      <p:sp>
        <p:nvSpPr>
          <p:cNvPr id="17" name="Card 580"/>
          <p:cNvSpPr/>
          <p:nvPr/>
        </p:nvSpPr>
        <p:spPr>
          <a:xfrm>
            <a:off x="8129016" y="1600200"/>
            <a:ext cx="3511296" cy="2606040"/>
          </a:xfrm>
          <a:prstGeom prst="roundRect">
            <a:avLst>
              <a:gd name="adj" fmla="val 6316"/>
            </a:avLst>
          </a:prstGeom>
          <a:solidFill>
            <a:srgbClr val="FFFFFF"/>
          </a:solidFill>
          <a:ln w="12700">
            <a:solidFill>
              <a:srgbClr val="FFFFFF"/>
            </a:solidFill>
            <a:prstDash val="solid"/>
          </a:ln>
          <a:effectLst>
            <a:outerShdw sx="100000" sy="100000" kx="0" ky="0" algn="bl" rotWithShape="0" blurRad="101600" dist="25400" dir="5400000">
              <a:srgbClr val="0F3D3A">
                <a:alpha val="10000"/>
              </a:srgbClr>
            </a:outerShdw>
          </a:effectLst>
        </p:spPr>
      </p:sp>
      <p:sp>
        <p:nvSpPr>
          <p:cNvPr id="18" name="Recap circle 581"/>
          <p:cNvSpPr/>
          <p:nvPr/>
        </p:nvSpPr>
        <p:spPr>
          <a:xfrm>
            <a:off x="8403336" y="1810512"/>
            <a:ext cx="685800" cy="685800"/>
          </a:xfrm>
          <a:prstGeom prst="ellipse">
            <a:avLst/>
          </a:prstGeom>
          <a:solidFill>
            <a:srgbClr val="16302E"/>
          </a:solidFill>
          <a:ln w="12700">
            <a:solidFill>
              <a:srgbClr val="16302E"/>
            </a:solidFill>
            <a:prstDash val="solid"/>
          </a:ln>
        </p:spPr>
      </p:sp>
      <p:pic>
        <p:nvPicPr>
          <p:cNvPr id="19" name="Recap glyph 582" descr="preencoded.png">    </p:cNvPr>
          <p:cNvPicPr>
            <a:picLocks noChangeAspect="1"/>
          </p:cNvPicPr>
          <p:nvPr/>
        </p:nvPicPr>
        <p:blipFill>
          <a:blip r:embed="rId6"/>
          <a:stretch>
            <a:fillRect/>
          </a:stretch>
        </p:blipFill>
        <p:spPr>
          <a:xfrm>
            <a:off x="8574786" y="1981962"/>
            <a:ext cx="342900" cy="342900"/>
          </a:xfrm>
          <a:prstGeom prst="rect">
            <a:avLst/>
          </a:prstGeom>
        </p:spPr>
      </p:pic>
      <p:sp>
        <p:nvSpPr>
          <p:cNvPr id="20" name="Recap head 583"/>
          <p:cNvSpPr txBox="1"/>
          <p:nvPr/>
        </p:nvSpPr>
        <p:spPr>
          <a:xfrm>
            <a:off x="9226296" y="1828800"/>
            <a:ext cx="2231136" cy="640080"/>
          </a:xfrm>
          <a:prstGeom prst="rect">
            <a:avLst/>
          </a:prstGeom>
          <a:noFill/>
          <a:ln/>
        </p:spPr>
        <p:txBody>
          <a:bodyPr wrap="square" lIns="0" tIns="0" rIns="0" bIns="0" rtlCol="0" anchor="ctr"/>
          <a:lstStyle/>
          <a:p>
            <a:pPr indent="0" marL="0">
              <a:buNone/>
            </a:pPr>
            <a:r>
              <a:rPr lang="en-US" sz="2600" b="1" dirty="0">
                <a:solidFill>
                  <a:srgbClr val="16302E"/>
                </a:solidFill>
                <a:latin typeface="Calibri" pitchFamily="34" charset="0"/>
                <a:ea typeface="Calibri" pitchFamily="34" charset="-122"/>
                <a:cs typeface="Calibri" pitchFamily="34" charset="-120"/>
              </a:rPr>
              <a:t>Check</a:t>
            </a:r>
            <a:endParaRPr lang="en-US" sz="2600" dirty="0"/>
          </a:p>
        </p:txBody>
      </p:sp>
      <p:sp>
        <p:nvSpPr>
          <p:cNvPr id="21" name="Recap text 584"/>
          <p:cNvSpPr txBox="1"/>
          <p:nvPr/>
        </p:nvSpPr>
        <p:spPr>
          <a:xfrm>
            <a:off x="8403336" y="2651760"/>
            <a:ext cx="2962656" cy="1463040"/>
          </a:xfrm>
          <a:prstGeom prst="rect">
            <a:avLst/>
          </a:prstGeom>
          <a:noFill/>
          <a:ln/>
        </p:spPr>
        <p:txBody>
          <a:bodyPr wrap="square" lIns="0" tIns="0" rIns="0" bIns="0" rtlCol="0" anchor="t"/>
          <a:lstStyle/>
          <a:p>
            <a:pPr indent="0" marL="0">
              <a:buNone/>
            </a:pPr>
            <a:r>
              <a:rPr lang="en-US" sz="2100" dirty="0">
                <a:solidFill>
                  <a:srgbClr val="2C4744"/>
                </a:solidFill>
                <a:latin typeface="Calibri" pitchFamily="34" charset="0"/>
                <a:ea typeface="Calibri" pitchFamily="34" charset="-122"/>
                <a:cs typeface="Calibri" pitchFamily="34" charset="-120"/>
              </a:rPr>
              <a:t>No dropped ghunnah, and no extra vowel between the doubled parts.</a:t>
            </a:r>
            <a:endParaRPr lang="en-US" sz="2100" dirty="0"/>
          </a:p>
        </p:txBody>
      </p:sp>
      <p:pic>
        <p:nvPicPr>
          <p:cNvPr id="22" name="Nasal wave 585" descr="preencoded.png">    </p:cNvPr>
          <p:cNvPicPr>
            <a:picLocks noChangeAspect="1"/>
          </p:cNvPicPr>
          <p:nvPr/>
        </p:nvPicPr>
        <p:blipFill>
          <a:blip r:embed="rId7"/>
          <a:stretch>
            <a:fillRect/>
          </a:stretch>
        </p:blipFill>
        <p:spPr>
          <a:xfrm>
            <a:off x="548640" y="4526280"/>
            <a:ext cx="2377440" cy="585216"/>
          </a:xfrm>
          <a:prstGeom prst="rect">
            <a:avLst/>
          </a:prstGeom>
        </p:spPr>
      </p:pic>
      <p:sp>
        <p:nvSpPr>
          <p:cNvPr id="23" name="Celebration 586"/>
          <p:cNvSpPr txBox="1"/>
          <p:nvPr/>
        </p:nvSpPr>
        <p:spPr>
          <a:xfrm>
            <a:off x="3200400" y="4389120"/>
            <a:ext cx="8412480" cy="868680"/>
          </a:xfrm>
          <a:prstGeom prst="rect">
            <a:avLst/>
          </a:prstGeom>
          <a:noFill/>
          <a:ln/>
        </p:spPr>
        <p:txBody>
          <a:bodyPr wrap="square" lIns="0" tIns="0" rIns="0" bIns="0" rtlCol="0" anchor="ctr"/>
          <a:lstStyle/>
          <a:p>
            <a:pPr indent="0" marL="0">
              <a:buNone/>
            </a:pPr>
            <a:r>
              <a:rPr lang="en-US" sz="2600" b="1" dirty="0">
                <a:solidFill>
                  <a:srgbClr val="F6C552"/>
                </a:solidFill>
                <a:latin typeface="Calibri" pitchFamily="34" charset="0"/>
                <a:ea typeface="Calibri" pitchFamily="34" charset="-122"/>
                <a:cs typeface="Calibri" pitchFamily="34" charset="-120"/>
              </a:rPr>
              <a:t>Well done! You can now spot, say and explain the ghunnah of a doubled noon.</a:t>
            </a:r>
            <a:endParaRPr lang="en-US" sz="2600" dirty="0"/>
          </a:p>
        </p:txBody>
      </p:sp>
      <p:sp>
        <p:nvSpPr>
          <p:cNvPr id="24" name="Gallery link 587 LINK:gallery">
            <a:hlinkClick r:id="rIdJump1" action="ppaction://hlinksldjump"/>
          </p:cNvPr>
          <p:cNvSpPr/>
          <p:nvPr/>
        </p:nvSpPr>
        <p:spPr>
          <a:xfrm>
            <a:off x="3813048" y="5440680"/>
            <a:ext cx="4572000" cy="502920"/>
          </a:xfrm>
          <a:prstGeom prst="roundRect">
            <a:avLst>
              <a:gd name="adj" fmla="val 40000"/>
            </a:avLst>
          </a:prstGeom>
          <a:solidFill>
            <a:srgbClr val="0F3D3A"/>
          </a:solidFill>
          <a:ln w="19050">
            <a:solidFill>
              <a:srgbClr val="FFFFFF"/>
            </a:solidFill>
          </a:ln>
        </p:spPr>
        <p:txBody>
          <a:bodyPr wrap="square" lIns="109728" tIns="0" rIns="109728"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Lesson cards and sources</a:t>
            </a:r>
            <a:endParaRPr lang="en-US" sz="1800" dirty="0"/>
          </a:p>
        </p:txBody>
      </p:sp>
      <p:sp>
        <p:nvSpPr>
          <p:cNvPr id="25" name="Nav Home 588 LINK:title">
            <a:hlinkClick r:id="rIdJump2" action="ppaction://hlinksldjump"/>
          </p:cNvPr>
          <p:cNvSpPr/>
          <p:nvPr/>
        </p:nvSpPr>
        <p:spPr>
          <a:xfrm>
            <a:off x="548640" y="6236208"/>
            <a:ext cx="1234440" cy="420624"/>
          </a:xfrm>
          <a:prstGeom prst="roundRect">
            <a:avLst>
              <a:gd name="adj" fmla="val 47826"/>
            </a:avLst>
          </a:prstGeom>
          <a:solidFill>
            <a:srgbClr val="1D7A6E"/>
          </a:solidFill>
          <a:ln>
            <a:solidFill>
              <a:srgbClr val="1D7A6E"/>
            </a:solidFill>
          </a:ln>
        </p:spPr>
        <p:txBody>
          <a:bodyPr wrap="square" lIns="365760" tIns="0" rIns="9144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Home</a:t>
            </a:r>
            <a:endParaRPr lang="en-US" sz="1500" dirty="0"/>
          </a:p>
        </p:txBody>
      </p:sp>
      <p:pic>
        <p:nvPicPr>
          <p:cNvPr id="26" name="Button icon 589 LINK:title" descr="preencoded.png">
            <a:hlinkClick r:id="rIdJump3" action="ppaction://hlinksldjump"/>
          </p:cNvPr>
          <p:cNvPicPr>
            <a:picLocks noChangeAspect="1"/>
          </p:cNvPicPr>
          <p:nvPr/>
        </p:nvPicPr>
        <p:blipFill>
          <a:blip r:embed="rId8"/>
          <a:stretch>
            <a:fillRect/>
          </a:stretch>
        </p:blipFill>
        <p:spPr>
          <a:xfrm>
            <a:off x="749808" y="6336792"/>
            <a:ext cx="219456" cy="219456"/>
          </a:xfrm>
          <a:prstGeom prst="rect">
            <a:avLst/>
          </a:prstGeom>
        </p:spPr>
      </p:pic>
      <p:sp>
        <p:nvSpPr>
          <p:cNvPr id="27" name="Nav Menu 590 LINK:menu">
            <a:hlinkClick r:id="rIdJump4" action="ppaction://hlinksldjump"/>
          </p:cNvPr>
          <p:cNvSpPr/>
          <p:nvPr/>
        </p:nvSpPr>
        <p:spPr>
          <a:xfrm>
            <a:off x="1901952" y="6236208"/>
            <a:ext cx="1005840" cy="420624"/>
          </a:xfrm>
          <a:prstGeom prst="roundRect">
            <a:avLst>
              <a:gd name="adj" fmla="val 47826"/>
            </a:avLst>
          </a:prstGeom>
          <a:solidFill>
            <a:srgbClr val="0F3D3A"/>
          </a:solidFill>
          <a:ln w="19050">
            <a:solidFill>
              <a:srgbClr val="FFFFFF"/>
            </a:solidFill>
          </a:ln>
        </p:spPr>
        <p:txBody>
          <a:bodyPr wrap="square" lIns="109728" tIns="0" rIns="109728"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Menu</a:t>
            </a:r>
            <a:endParaRPr lang="en-US" sz="1500" dirty="0"/>
          </a:p>
        </p:txBody>
      </p:sp>
      <p:sp>
        <p:nvSpPr>
          <p:cNvPr id="28" name="Slide counter 591"/>
          <p:cNvSpPr txBox="1"/>
          <p:nvPr/>
        </p:nvSpPr>
        <p:spPr>
          <a:xfrm>
            <a:off x="5184648" y="6236208"/>
            <a:ext cx="1828800" cy="420624"/>
          </a:xfrm>
          <a:prstGeom prst="rect">
            <a:avLst/>
          </a:prstGeom>
          <a:noFill/>
          <a:ln/>
        </p:spPr>
        <p:txBody>
          <a:bodyPr wrap="square" lIns="0" tIns="0" rIns="0" bIns="0" rtlCol="0" anchor="ctr"/>
          <a:lstStyle/>
          <a:p>
            <a:pPr algn="ctr" indent="0" marL="0">
              <a:buNone/>
            </a:pPr>
            <a:r>
              <a:rPr lang="en-US" sz="1400" dirty="0">
                <a:solidFill>
                  <a:srgbClr val="B9D8D2"/>
                </a:solidFill>
                <a:latin typeface="Calibri" pitchFamily="34" charset="0"/>
                <a:ea typeface="Calibri" pitchFamily="34" charset="-122"/>
                <a:cs typeface="Calibri" pitchFamily="34" charset="-120"/>
              </a:rPr>
              <a:t>18 / 18</a:t>
            </a:r>
            <a:endParaRPr lang="en-US" sz="1400" dirty="0"/>
          </a:p>
        </p:txBody>
      </p:sp>
      <p:sp>
        <p:nvSpPr>
          <p:cNvPr id="29" name="Nav Back 592 LINK:teach">
            <a:hlinkClick r:id="rIdJump5" action="ppaction://hlinksldjump"/>
          </p:cNvPr>
          <p:cNvSpPr/>
          <p:nvPr/>
        </p:nvSpPr>
        <p:spPr>
          <a:xfrm>
            <a:off x="9052560" y="6236208"/>
            <a:ext cx="1234440" cy="420624"/>
          </a:xfrm>
          <a:prstGeom prst="roundRect">
            <a:avLst>
              <a:gd name="adj" fmla="val 47826"/>
            </a:avLst>
          </a:prstGeom>
          <a:solidFill>
            <a:srgbClr val="0F3D3A"/>
          </a:solidFill>
          <a:ln w="19050">
            <a:solidFill>
              <a:srgbClr val="FFFFFF"/>
            </a:solidFill>
          </a:ln>
        </p:spPr>
        <p:txBody>
          <a:bodyPr wrap="square" lIns="109728" tIns="0" rIns="109728"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  Back</a:t>
            </a:r>
            <a:endParaRPr lang="en-US" sz="1500" dirty="0"/>
          </a:p>
        </p:txBody>
      </p:sp>
    </p:spTree>
  </p:cSld>
  <p:clrMapOvr>
    <a:masterClrMapping/>
  </p:clrMapOvr>
  <p:transition spd="med">
    <p:fade/>
  </p:transition>
</p:sld>
</file>

<file path=ppt/slides/slide32.xml><?xml version="1.0" encoding="utf-8"?>
<p:sld xmlns:a="http://schemas.openxmlformats.org/drawingml/2006/main" xmlns:r="http://schemas.openxmlformats.org/officeDocument/2006/relationships" xmlns:p="http://schemas.openxmlformats.org/presentationml/2006/main" show="0">
  <p:cSld name="Slide 32">
    <p:spTree>
      <p:nvGrpSpPr>
        <p:cNvPr id="1" name=""/>
        <p:cNvGrpSpPr/>
        <p:nvPr/>
      </p:nvGrpSpPr>
      <p:grpSpPr>
        <a:xfrm>
          <a:off x="0" y="0"/>
          <a:ext cx="0" cy="0"/>
          <a:chOff x="0" y="0"/>
          <a:chExt cx="0" cy="0"/>
        </a:xfrm>
      </p:grpSpPr>
      <p:sp>
        <p:nvSpPr>
          <p:cNvPr id="2" name="Kicker 593"/>
          <p:cNvSpPr txBox="1"/>
          <p:nvPr/>
        </p:nvSpPr>
        <p:spPr>
          <a:xfrm>
            <a:off x="548640" y="329184"/>
            <a:ext cx="7315200" cy="292608"/>
          </a:xfrm>
          <a:prstGeom prst="rect">
            <a:avLst/>
          </a:prstGeom>
          <a:noFill/>
          <a:ln/>
        </p:spPr>
        <p:txBody>
          <a:bodyPr wrap="square" lIns="0" tIns="0" rIns="0" bIns="0" rtlCol="0" anchor="t"/>
          <a:lstStyle/>
          <a:p>
            <a:pPr indent="0" marL="0">
              <a:buNone/>
            </a:pPr>
            <a:r>
              <a:rPr lang="en-US" sz="1400" b="1" spc="300" kern="0" dirty="0">
                <a:solidFill>
                  <a:srgbClr val="1D7A6E"/>
                </a:solidFill>
                <a:latin typeface="Calibri" pitchFamily="34" charset="0"/>
                <a:ea typeface="Calibri" pitchFamily="34" charset="-122"/>
                <a:cs typeface="Calibri" pitchFamily="34" charset="-120"/>
              </a:rPr>
              <a:t>REFERENCE</a:t>
            </a:r>
            <a:endParaRPr lang="en-US" sz="1400" dirty="0"/>
          </a:p>
        </p:txBody>
      </p:sp>
      <p:sp>
        <p:nvSpPr>
          <p:cNvPr id="3" name="Title 594"/>
          <p:cNvSpPr txBox="1"/>
          <p:nvPr/>
        </p:nvSpPr>
        <p:spPr>
          <a:xfrm>
            <a:off x="548640" y="658368"/>
            <a:ext cx="9144000" cy="731520"/>
          </a:xfrm>
          <a:prstGeom prst="rect">
            <a:avLst/>
          </a:prstGeom>
          <a:noFill/>
          <a:ln/>
        </p:spPr>
        <p:txBody>
          <a:bodyPr wrap="square" lIns="0" tIns="0" rIns="0" bIns="0" rtlCol="0" anchor="t"/>
          <a:lstStyle/>
          <a:p>
            <a:pPr indent="0" marL="0">
              <a:buNone/>
            </a:pPr>
            <a:r>
              <a:rPr lang="en-US" sz="3600" b="1" dirty="0">
                <a:solidFill>
                  <a:srgbClr val="16302E"/>
                </a:solidFill>
                <a:latin typeface="Calibri" pitchFamily="34" charset="0"/>
                <a:ea typeface="Calibri" pitchFamily="34" charset="-122"/>
                <a:cs typeface="Calibri" pitchFamily="34" charset="-120"/>
              </a:rPr>
              <a:t>Lesson cards and sources</a:t>
            </a:r>
            <a:endParaRPr lang="en-US" sz="3600" dirty="0"/>
          </a:p>
        </p:txBody>
      </p:sp>
      <p:sp>
        <p:nvSpPr>
          <p:cNvPr id="4" name="Image frame 595"/>
          <p:cNvSpPr/>
          <p:nvPr/>
        </p:nvSpPr>
        <p:spPr>
          <a:xfrm>
            <a:off x="475488" y="1499616"/>
            <a:ext cx="3346704" cy="1946529"/>
          </a:xfrm>
          <a:prstGeom prst="roundRect">
            <a:avLst>
              <a:gd name="adj" fmla="val 8456"/>
            </a:avLst>
          </a:prstGeom>
          <a:solidFill>
            <a:srgbClr val="FFFFFF"/>
          </a:solidFill>
          <a:ln w="12700">
            <a:solidFill>
              <a:srgbClr val="D5E5E0"/>
            </a:solidFill>
            <a:prstDash val="solid"/>
          </a:ln>
          <a:effectLst>
            <a:outerShdw sx="100000" sy="100000" kx="0" ky="0" algn="bl" rotWithShape="0" blurRad="101600" dist="25400" dir="5400000">
              <a:srgbClr val="0F3D3A">
                <a:alpha val="10000"/>
              </a:srgbClr>
            </a:outerShdw>
          </a:effectLst>
        </p:spPr>
      </p:sp>
      <p:pic>
        <p:nvPicPr>
          <p:cNvPr id="5" name="Card 1: understand the rule 596" descr="Card 1: understand the rule">    </p:cNvPr>
          <p:cNvPicPr>
            <a:picLocks noChangeAspect="1"/>
          </p:cNvPicPr>
          <p:nvPr/>
        </p:nvPicPr>
        <p:blipFill>
          <a:blip r:embed="rId1"/>
          <a:stretch>
            <a:fillRect/>
          </a:stretch>
        </p:blipFill>
        <p:spPr>
          <a:xfrm>
            <a:off x="548640" y="1572768"/>
            <a:ext cx="3200400" cy="1800225"/>
          </a:xfrm>
          <a:prstGeom prst="rect">
            <a:avLst/>
          </a:prstGeom>
        </p:spPr>
      </p:pic>
      <p:sp>
        <p:nvSpPr>
          <p:cNvPr id="6" name="Image caption 597"/>
          <p:cNvSpPr txBox="1"/>
          <p:nvPr/>
        </p:nvSpPr>
        <p:spPr>
          <a:xfrm>
            <a:off x="548640" y="3501009"/>
            <a:ext cx="3200400" cy="274320"/>
          </a:xfrm>
          <a:prstGeom prst="rect">
            <a:avLst/>
          </a:prstGeom>
          <a:noFill/>
          <a:ln/>
        </p:spPr>
        <p:txBody>
          <a:bodyPr wrap="square" lIns="0" tIns="0" rIns="0" bIns="0" rtlCol="0" anchor="t"/>
          <a:lstStyle/>
          <a:p>
            <a:pPr algn="ctr" indent="0" marL="0">
              <a:buNone/>
            </a:pPr>
            <a:r>
              <a:rPr lang="en-US" sz="1400" i="1" dirty="0">
                <a:solidFill>
                  <a:srgbClr val="5D7774"/>
                </a:solidFill>
                <a:latin typeface="Calibri" pitchFamily="34" charset="0"/>
                <a:ea typeface="Calibri" pitchFamily="34" charset="-122"/>
                <a:cs typeface="Calibri" pitchFamily="34" charset="-120"/>
              </a:rPr>
              <a:t>Card 1: understand the rule</a:t>
            </a:r>
            <a:endParaRPr lang="en-US" sz="1400" dirty="0"/>
          </a:p>
        </p:txBody>
      </p:sp>
      <p:sp>
        <p:nvSpPr>
          <p:cNvPr id="7" name="Image frame 598"/>
          <p:cNvSpPr/>
          <p:nvPr/>
        </p:nvSpPr>
        <p:spPr>
          <a:xfrm>
            <a:off x="3995928" y="1499616"/>
            <a:ext cx="3346704" cy="1946529"/>
          </a:xfrm>
          <a:prstGeom prst="roundRect">
            <a:avLst>
              <a:gd name="adj" fmla="val 8456"/>
            </a:avLst>
          </a:prstGeom>
          <a:solidFill>
            <a:srgbClr val="FFFFFF"/>
          </a:solidFill>
          <a:ln w="12700">
            <a:solidFill>
              <a:srgbClr val="D5E5E0"/>
            </a:solidFill>
            <a:prstDash val="solid"/>
          </a:ln>
          <a:effectLst>
            <a:outerShdw sx="100000" sy="100000" kx="0" ky="0" algn="bl" rotWithShape="0" blurRad="101600" dist="25400" dir="5400000">
              <a:srgbClr val="0F3D3A">
                <a:alpha val="10000"/>
              </a:srgbClr>
            </a:outerShdw>
          </a:effectLst>
        </p:spPr>
      </p:sp>
      <p:pic>
        <p:nvPicPr>
          <p:cNvPr id="8" name="Card 2: how to apply it 599" descr="Card 2: how to apply it">    </p:cNvPr>
          <p:cNvPicPr>
            <a:picLocks noChangeAspect="1"/>
          </p:cNvPicPr>
          <p:nvPr/>
        </p:nvPicPr>
        <p:blipFill>
          <a:blip r:embed="rId2"/>
          <a:stretch>
            <a:fillRect/>
          </a:stretch>
        </p:blipFill>
        <p:spPr>
          <a:xfrm>
            <a:off x="4069080" y="1572768"/>
            <a:ext cx="3200400" cy="1800225"/>
          </a:xfrm>
          <a:prstGeom prst="rect">
            <a:avLst/>
          </a:prstGeom>
        </p:spPr>
      </p:pic>
      <p:sp>
        <p:nvSpPr>
          <p:cNvPr id="9" name="Image caption 600"/>
          <p:cNvSpPr txBox="1"/>
          <p:nvPr/>
        </p:nvSpPr>
        <p:spPr>
          <a:xfrm>
            <a:off x="4069080" y="3501009"/>
            <a:ext cx="3200400" cy="274320"/>
          </a:xfrm>
          <a:prstGeom prst="rect">
            <a:avLst/>
          </a:prstGeom>
          <a:noFill/>
          <a:ln/>
        </p:spPr>
        <p:txBody>
          <a:bodyPr wrap="square" lIns="0" tIns="0" rIns="0" bIns="0" rtlCol="0" anchor="t"/>
          <a:lstStyle/>
          <a:p>
            <a:pPr algn="ctr" indent="0" marL="0">
              <a:buNone/>
            </a:pPr>
            <a:r>
              <a:rPr lang="en-US" sz="1400" i="1" dirty="0">
                <a:solidFill>
                  <a:srgbClr val="5D7774"/>
                </a:solidFill>
                <a:latin typeface="Calibri" pitchFamily="34" charset="0"/>
                <a:ea typeface="Calibri" pitchFamily="34" charset="-122"/>
                <a:cs typeface="Calibri" pitchFamily="34" charset="-120"/>
              </a:rPr>
              <a:t>Card 2: how to apply it</a:t>
            </a:r>
            <a:endParaRPr lang="en-US" sz="1400" dirty="0"/>
          </a:p>
        </p:txBody>
      </p:sp>
      <p:sp>
        <p:nvSpPr>
          <p:cNvPr id="10" name="Image frame 601"/>
          <p:cNvSpPr/>
          <p:nvPr/>
        </p:nvSpPr>
        <p:spPr>
          <a:xfrm>
            <a:off x="475488" y="3877056"/>
            <a:ext cx="3346704" cy="1946529"/>
          </a:xfrm>
          <a:prstGeom prst="roundRect">
            <a:avLst>
              <a:gd name="adj" fmla="val 8456"/>
            </a:avLst>
          </a:prstGeom>
          <a:solidFill>
            <a:srgbClr val="FFFFFF"/>
          </a:solidFill>
          <a:ln w="12700">
            <a:solidFill>
              <a:srgbClr val="D5E5E0"/>
            </a:solidFill>
            <a:prstDash val="solid"/>
          </a:ln>
          <a:effectLst>
            <a:outerShdw sx="100000" sy="100000" kx="0" ky="0" algn="bl" rotWithShape="0" blurRad="101600" dist="25400" dir="5400000">
              <a:srgbClr val="0F3D3A">
                <a:alpha val="10000"/>
              </a:srgbClr>
            </a:outerShdw>
          </a:effectLst>
        </p:spPr>
      </p:sp>
      <p:pic>
        <p:nvPicPr>
          <p:cNvPr id="11" name="Card 3: worked examples 602" descr="Card 3: worked examples">    </p:cNvPr>
          <p:cNvPicPr>
            <a:picLocks noChangeAspect="1"/>
          </p:cNvPicPr>
          <p:nvPr/>
        </p:nvPicPr>
        <p:blipFill>
          <a:blip r:embed="rId3"/>
          <a:stretch>
            <a:fillRect/>
          </a:stretch>
        </p:blipFill>
        <p:spPr>
          <a:xfrm>
            <a:off x="548640" y="3950208"/>
            <a:ext cx="3200400" cy="1800225"/>
          </a:xfrm>
          <a:prstGeom prst="rect">
            <a:avLst/>
          </a:prstGeom>
        </p:spPr>
      </p:pic>
      <p:sp>
        <p:nvSpPr>
          <p:cNvPr id="12" name="Image caption 603"/>
          <p:cNvSpPr txBox="1"/>
          <p:nvPr/>
        </p:nvSpPr>
        <p:spPr>
          <a:xfrm>
            <a:off x="548640" y="5878449"/>
            <a:ext cx="3200400" cy="274320"/>
          </a:xfrm>
          <a:prstGeom prst="rect">
            <a:avLst/>
          </a:prstGeom>
          <a:noFill/>
          <a:ln/>
        </p:spPr>
        <p:txBody>
          <a:bodyPr wrap="square" lIns="0" tIns="0" rIns="0" bIns="0" rtlCol="0" anchor="t"/>
          <a:lstStyle/>
          <a:p>
            <a:pPr algn="ctr" indent="0" marL="0">
              <a:buNone/>
            </a:pPr>
            <a:r>
              <a:rPr lang="en-US" sz="1400" i="1" dirty="0">
                <a:solidFill>
                  <a:srgbClr val="5D7774"/>
                </a:solidFill>
                <a:latin typeface="Calibri" pitchFamily="34" charset="0"/>
                <a:ea typeface="Calibri" pitchFamily="34" charset="-122"/>
                <a:cs typeface="Calibri" pitchFamily="34" charset="-120"/>
              </a:rPr>
              <a:t>Card 3: worked examples</a:t>
            </a:r>
            <a:endParaRPr lang="en-US" sz="1400" dirty="0"/>
          </a:p>
        </p:txBody>
      </p:sp>
      <p:sp>
        <p:nvSpPr>
          <p:cNvPr id="13" name="Image frame 604"/>
          <p:cNvSpPr/>
          <p:nvPr/>
        </p:nvSpPr>
        <p:spPr>
          <a:xfrm>
            <a:off x="3995928" y="3877056"/>
            <a:ext cx="3346704" cy="1946529"/>
          </a:xfrm>
          <a:prstGeom prst="roundRect">
            <a:avLst>
              <a:gd name="adj" fmla="val 8456"/>
            </a:avLst>
          </a:prstGeom>
          <a:solidFill>
            <a:srgbClr val="FFFFFF"/>
          </a:solidFill>
          <a:ln w="12700">
            <a:solidFill>
              <a:srgbClr val="D5E5E0"/>
            </a:solidFill>
            <a:prstDash val="solid"/>
          </a:ln>
          <a:effectLst>
            <a:outerShdw sx="100000" sy="100000" kx="0" ky="0" algn="bl" rotWithShape="0" blurRad="101600" dist="25400" dir="5400000">
              <a:srgbClr val="0F3D3A">
                <a:alpha val="10000"/>
              </a:srgbClr>
            </a:outerShdw>
          </a:effectLst>
        </p:spPr>
      </p:sp>
      <p:pic>
        <p:nvPicPr>
          <p:cNvPr id="14" name="Card 4: practice and review 605" descr="Card 4: practice and review">    </p:cNvPr>
          <p:cNvPicPr>
            <a:picLocks noChangeAspect="1"/>
          </p:cNvPicPr>
          <p:nvPr/>
        </p:nvPicPr>
        <p:blipFill>
          <a:blip r:embed="rId4"/>
          <a:stretch>
            <a:fillRect/>
          </a:stretch>
        </p:blipFill>
        <p:spPr>
          <a:xfrm>
            <a:off x="4069080" y="3950208"/>
            <a:ext cx="3200400" cy="1800225"/>
          </a:xfrm>
          <a:prstGeom prst="rect">
            <a:avLst/>
          </a:prstGeom>
        </p:spPr>
      </p:pic>
      <p:sp>
        <p:nvSpPr>
          <p:cNvPr id="15" name="Image caption 606"/>
          <p:cNvSpPr txBox="1"/>
          <p:nvPr/>
        </p:nvSpPr>
        <p:spPr>
          <a:xfrm>
            <a:off x="4069080" y="5878449"/>
            <a:ext cx="3200400" cy="274320"/>
          </a:xfrm>
          <a:prstGeom prst="rect">
            <a:avLst/>
          </a:prstGeom>
          <a:noFill/>
          <a:ln/>
        </p:spPr>
        <p:txBody>
          <a:bodyPr wrap="square" lIns="0" tIns="0" rIns="0" bIns="0" rtlCol="0" anchor="t"/>
          <a:lstStyle/>
          <a:p>
            <a:pPr algn="ctr" indent="0" marL="0">
              <a:buNone/>
            </a:pPr>
            <a:r>
              <a:rPr lang="en-US" sz="1400" i="1" dirty="0">
                <a:solidFill>
                  <a:srgbClr val="5D7774"/>
                </a:solidFill>
                <a:latin typeface="Calibri" pitchFamily="34" charset="0"/>
                <a:ea typeface="Calibri" pitchFamily="34" charset="-122"/>
                <a:cs typeface="Calibri" pitchFamily="34" charset="-120"/>
              </a:rPr>
              <a:t>Card 4: practice and review</a:t>
            </a:r>
            <a:endParaRPr lang="en-US" sz="1400" dirty="0"/>
          </a:p>
        </p:txBody>
      </p:sp>
      <p:sp>
        <p:nvSpPr>
          <p:cNvPr id="16" name="Sources 607"/>
          <p:cNvSpPr txBox="1"/>
          <p:nvPr/>
        </p:nvSpPr>
        <p:spPr>
          <a:xfrm>
            <a:off x="7726680" y="1554480"/>
            <a:ext cx="3913632" cy="4480560"/>
          </a:xfrm>
          <a:prstGeom prst="rect">
            <a:avLst/>
          </a:prstGeom>
          <a:noFill/>
          <a:ln/>
        </p:spPr>
        <p:txBody>
          <a:bodyPr wrap="square" lIns="0" tIns="0" rIns="0" bIns="0" rtlCol="0" anchor="t"/>
          <a:lstStyle/>
          <a:p>
            <a:pPr indent="0" marL="0">
              <a:spcAft>
                <a:spcPts val="800"/>
              </a:spcAft>
              <a:buNone/>
            </a:pPr>
            <a:r>
              <a:rPr lang="en-US" sz="1600" b="1" dirty="0">
                <a:solidFill>
                  <a:srgbClr val="2C4744"/>
                </a:solidFill>
                <a:latin typeface="Calibri" pitchFamily="34" charset="0"/>
                <a:ea typeface="Calibri" pitchFamily="34" charset="-122"/>
                <a:cs typeface="Calibri" pitchFamily="34" charset="-120"/>
              </a:rPr>
              <a:t>Source: </a:t>
            </a:r>
            <a:pPr indent="0" marL="0">
              <a:spcAft>
                <a:spcPts val="800"/>
              </a:spcAft>
              <a:buNone/>
            </a:pPr>
            <a:r>
              <a:rPr lang="en-US" sz="1600" dirty="0">
                <a:solidFill>
                  <a:srgbClr val="2C4744"/>
                </a:solidFill>
                <a:latin typeface="Calibri" pitchFamily="34" charset="0"/>
                <a:ea typeface="Calibri" pitchFamily="34" charset="-122"/>
                <a:cs typeface="Calibri" pitchFamily="34" charset="-120"/>
              </a:rPr>
              <a:t>Tajweed1.pdf, PDF page 11 (page positions include covers).</a:t>
            </a:r>
            <a:endParaRPr lang="en-US" sz="1600" dirty="0"/>
          </a:p>
          <a:p>
            <a:pPr indent="0" marL="0">
              <a:spcAft>
                <a:spcPts val="800"/>
              </a:spcAft>
              <a:buNone/>
            </a:pPr>
            <a:r>
              <a:rPr lang="en-US" sz="1600" b="1" dirty="0">
                <a:solidFill>
                  <a:srgbClr val="2C4744"/>
                </a:solidFill>
                <a:latin typeface="Calibri" pitchFamily="34" charset="0"/>
                <a:ea typeface="Calibri" pitchFamily="34" charset="-122"/>
                <a:cs typeface="Calibri" pitchFamily="34" charset="-120"/>
              </a:rPr>
              <a:t>Reading: </a:t>
            </a:r>
            <a:pPr indent="0" marL="0">
              <a:spcAft>
                <a:spcPts val="800"/>
              </a:spcAft>
              <a:buNone/>
            </a:pPr>
            <a:r>
              <a:rPr lang="en-US" sz="1600" dirty="0">
                <a:solidFill>
                  <a:srgbClr val="2C4744"/>
                </a:solidFill>
                <a:latin typeface="Calibri" pitchFamily="34" charset="0"/>
                <a:ea typeface="Calibri" pitchFamily="34" charset="-122"/>
                <a:cs typeface="Calibri" pitchFamily="34" charset="-120"/>
              </a:rPr>
              <a:t>Hafs through Shatibiyyah, as stated in the source.</a:t>
            </a:r>
            <a:endParaRPr lang="en-US" sz="1600" dirty="0"/>
          </a:p>
          <a:p>
            <a:pPr indent="0" marL="0">
              <a:spcAft>
                <a:spcPts val="800"/>
              </a:spcAft>
              <a:buNone/>
            </a:pPr>
            <a:r>
              <a:rPr lang="en-US" sz="1600" b="1" dirty="0">
                <a:solidFill>
                  <a:srgbClr val="2C4744"/>
                </a:solidFill>
                <a:latin typeface="Calibri" pitchFamily="34" charset="0"/>
                <a:ea typeface="Calibri" pitchFamily="34" charset="-122"/>
                <a:cs typeface="Calibri" pitchFamily="34" charset="-120"/>
              </a:rPr>
              <a:t>Excerpts: </a:t>
            </a:r>
            <a:pPr indent="0" marL="0">
              <a:spcAft>
                <a:spcPts val="800"/>
              </a:spcAft>
              <a:buNone/>
            </a:pPr>
            <a:r>
              <a:rPr lang="en-US" sz="1600" dirty="0">
                <a:solidFill>
                  <a:srgbClr val="2C4744"/>
                </a:solidFill>
                <a:latin typeface="Calibri" pitchFamily="34" charset="0"/>
                <a:ea typeface="Calibri" pitchFamily="34" charset="-122"/>
                <a:cs typeface="Calibri" pitchFamily="34" charset="-120"/>
              </a:rPr>
              <a:t>114:6 and 2:6 (opening words), checked by the source against the Uthmani text (alquran.cloud).</a:t>
            </a:r>
            <a:endParaRPr lang="en-US" sz="1600" dirty="0"/>
          </a:p>
          <a:p>
            <a:pPr indent="0" marL="0">
              <a:spcAft>
                <a:spcPts val="800"/>
              </a:spcAft>
              <a:buNone/>
            </a:pPr>
            <a:r>
              <a:rPr lang="en-US" sz="1600" b="1" dirty="0">
                <a:solidFill>
                  <a:srgbClr val="2C4744"/>
                </a:solidFill>
                <a:latin typeface="Calibri" pitchFamily="34" charset="0"/>
                <a:ea typeface="Calibri" pitchFamily="34" charset="-122"/>
                <a:cs typeface="Calibri" pitchFamily="34" charset="-120"/>
              </a:rPr>
              <a:t>Teaching package: </a:t>
            </a:r>
            <a:pPr indent="0" marL="0">
              <a:spcAft>
                <a:spcPts val="800"/>
              </a:spcAft>
              <a:buNone/>
            </a:pPr>
            <a:r>
              <a:rPr lang="en-US" sz="1600" dirty="0">
                <a:solidFill>
                  <a:srgbClr val="2C4744"/>
                </a:solidFill>
                <a:latin typeface="Calibri" pitchFamily="34" charset="0"/>
                <a:ea typeface="Calibri" pitchFamily="34" charset="-122"/>
                <a:cs typeface="Calibri" pitchFamily="34" charset="-120"/>
              </a:rPr>
              <a:t>Firdaws Academy Source series, Lesson 003.</a:t>
            </a:r>
            <a:endParaRPr lang="en-US" sz="1600" dirty="0"/>
          </a:p>
        </p:txBody>
      </p:sp>
      <p:sp>
        <p:nvSpPr>
          <p:cNvPr id="17" name="Back to recap 608 LINK:recap">
            <a:hlinkClick r:id="rIdJump1" action="ppaction://hlinksldjump"/>
          </p:cNvPr>
          <p:cNvSpPr/>
          <p:nvPr/>
        </p:nvSpPr>
        <p:spPr>
          <a:xfrm>
            <a:off x="548640" y="6236208"/>
            <a:ext cx="2194560" cy="420624"/>
          </a:xfrm>
          <a:prstGeom prst="roundRect">
            <a:avLst>
              <a:gd name="adj" fmla="val 47826"/>
            </a:avLst>
          </a:prstGeom>
          <a:solidFill>
            <a:srgbClr val="FFFFFF"/>
          </a:solidFill>
          <a:ln w="19050">
            <a:solidFill>
              <a:srgbClr val="1D7A6E"/>
            </a:solidFill>
          </a:ln>
        </p:spPr>
        <p:txBody>
          <a:bodyPr wrap="square" lIns="109728" tIns="0" rIns="109728" bIns="0" rtlCol="0" anchor="ctr"/>
          <a:lstStyle/>
          <a:p>
            <a:pPr algn="ctr" indent="0" marL="0">
              <a:buNone/>
            </a:pPr>
            <a:r>
              <a:rPr lang="en-US" sz="1500" b="1" dirty="0">
                <a:solidFill>
                  <a:srgbClr val="1D7A6E"/>
                </a:solidFill>
                <a:latin typeface="Calibri" pitchFamily="34" charset="0"/>
                <a:ea typeface="Calibri" pitchFamily="34" charset="-122"/>
                <a:cs typeface="Calibri" pitchFamily="34" charset="-120"/>
              </a:rPr>
              <a:t>‹  Back to recap</a:t>
            </a:r>
            <a:endParaRPr lang="en-US" sz="1500" dirty="0"/>
          </a:p>
        </p:txBody>
      </p:sp>
      <p:sp>
        <p:nvSpPr>
          <p:cNvPr id="18" name="Menu 609 LINK:menu">
            <a:hlinkClick r:id="rIdJump2" action="ppaction://hlinksldjump"/>
          </p:cNvPr>
          <p:cNvSpPr/>
          <p:nvPr/>
        </p:nvSpPr>
        <p:spPr>
          <a:xfrm>
            <a:off x="10405872" y="6236208"/>
            <a:ext cx="1234440" cy="420624"/>
          </a:xfrm>
          <a:prstGeom prst="roundRect">
            <a:avLst>
              <a:gd name="adj" fmla="val 47826"/>
            </a:avLst>
          </a:prstGeom>
          <a:solidFill>
            <a:srgbClr val="1D7A6E"/>
          </a:solidFill>
          <a:ln>
            <a:solidFill>
              <a:srgbClr val="1D7A6E"/>
            </a:solidFill>
          </a:ln>
        </p:spPr>
        <p:txBody>
          <a:bodyPr wrap="square" lIns="109728" tIns="0" rIns="109728"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Menu</a:t>
            </a:r>
            <a:endParaRPr lang="en-US" sz="1500" dirty="0"/>
          </a:p>
        </p:txBody>
      </p:sp>
      <p:sp>
        <p:nvSpPr>
          <p:cNvPr id="20" name="Text 0"/>
          <p:cNvSpPr/>
          <p:nvPr>
            <p:ph idx="100" type="title" hasCustomPrompt="1"/>
          </p:nvPr>
        </p:nvSpPr>
        <p:spPr>
          <a:xfrm>
            <a:off x="548640" y="658368"/>
            <a:ext cx="9052560" cy="731520"/>
          </a:xfrm>
          <a:prstGeom prst="rect">
            <a:avLst/>
          </a:prstGeom>
          <a:noFill/>
          <a:ln/>
        </p:spPr>
        <p:txBody>
          <a:bodyPr wrap="square" lIns="0" tIns="0" rIns="0" bIns="0" rtlCol="0" anchor="t"/>
          <a:lstStyle/>
          <a:p>
            <a:pPr algn="l" indent="0" marL="0">
              <a:buNone/>
            </a:pPr>
            <a:endParaRPr lang="en-US" sz="3600" dirty="0"/>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Ghunnah on Doubled Noon</dc:title>
  <dc:subject>Tajweed lesson</dc:subject>
  <dc:creator>Firdaws Academy</dc:creator>
  <cp:lastModifiedBy>Firdaws Academy</cp:lastModifiedBy>
  <cp:revision>1</cp:revision>
  <dcterms:created xsi:type="dcterms:W3CDTF">2026-10-12T23:07:47Z</dcterms:created>
  <dcterms:modified xsi:type="dcterms:W3CDTF">2026-10-12T23:07:47Z</dcterms:modified>
</cp:coreProperties>
</file>