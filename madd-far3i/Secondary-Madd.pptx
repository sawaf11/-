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slide colours the madd letter green and the thing that makes it longer red. Count the beats on your fingers with the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madd letters: alif after a fathah, waw after a dammah, yaa after a kasrah. On their own they are stretched 2 counts (natural madd).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secondary madd has one of these two causes. Ask: is there a hamza? Is there a silent letter (written sukun, shaddah, or the silence of stopping)?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madd sign is a helper. Muttasil, munfasil, lazim and as-sila al-kubra carry it. The madd caused by stopping ('arid, leen) and the badal have no 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called connected because the madd and the hamza are in one word. It is obligatory (wajib) to stretch it more than 2: 4 or 5 counts in the reading of Hafs by ash-Shatibiyyah, and 6 is allowed when you stop on a hamza at the end of the word (as-samaa').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jaa'a (he came).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as-samaa' (the sky). Stopping on it: as-samaa' with 4, 5 or 6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Hud 77: see'a bihim. The madd letter here is a yaa.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ulaa'ika. The dagger alif after the lam is a madd letter, followed by a hamza in the same word: muttasil.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called separated because the madd and the hamza are in two words. In the reading of Hafs by ash-Shatibiyyah it is stretched 4 or 5 counts (the same length you choose for muttasil, or less). If you stop on the first word, the hamza is gone and it is a natural madd.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al-Kawthar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at-Tahrim 6. The alif after the waw is not read (small circle).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 anfusikum.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al-Humazah 3. The small waw after the pronoun hu, followed by a hamza: madd as-silah al-kubra, read like munfasil.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Hamza before the madd letter. Do not over-stretch it: 2 counts, like a natural madd.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aamanoo (they believed).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eemaanan (faith).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ootoo (they were given).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Necessary because the sukun is always there. Four kinds: in a word with a shaddah (ad-daalleen), in a word with a sukun (aal-aana), in a letter name with merging (laam-meem), in a letter name without merging (saad, qaaf, noon).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Al-Fatiha 7. Count six with the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al-Haqqah 1. Also at-taammah, as-saakhkhah, daabbah.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word of this kind in the reading of Hafs, twice in Surat Yunus (51, 91). The lam after the long alif is silent: 6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Letter names with a long vowel and a silent last letter are a necessary madd: 6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'Arid means temporary: the sukun exists only because we stop. When we connect, there is no sukun and the madd is natural (2). Choose 2, 4 or 6 and keep the same length in the whole recitation.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Al-Fatiha 3: stopping on ar-raheem.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Al-Fatiha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common at the end of verses: -oon, -een, -aan.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leen letters are waw and yaa with sukun after a fathah (khawf, bayt). They are soft, not real madd letters, so they are stretched only when we stop on the letter after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4 (min khawf).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Quraysh 3 (rabba haadhal-bayt).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stopping on fathatan, the tanween is replaced by a long alif of 2 counts. Not on taa marbutah: rahmatan → rahmah.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two causes meet on one madd letter, the stronger one wins. For example, a badal that is also before a stop becomes 'arid.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before revealing. The dagger alif on yaa is the madd letter; the hamza is in the next word (ayyuhaa).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an-Nazi'at 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ootiya (he was given).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a verse, stopping.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Review: find the madd letter, then look for a hamza (before or after?) or a sukun (permanent or only when stopping?).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Secondary Madd (al-Madd al-Far'i)</a:t>
            </a:r>
            <a:endParaRPr lang="en-US" sz="1800" dirty="0"/>
          </a:p>
        </p:txBody>
      </p:sp>
      <p:sp>
        <p:nvSpPr>
          <p:cNvPr id="13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4" name="C1 line 1"/>
          <p:cNvSpPr txBox="1"/>
          <p:nvPr/>
        </p:nvSpPr>
        <p:spPr>
          <a:xfrm>
            <a:off x="502920" y="16513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= stretching a long vowel.</a:t>
            </a:r>
            <a:endParaRPr lang="en-US" sz="1600" dirty="0"/>
          </a:p>
        </p:txBody>
      </p:sp>
      <p:sp>
        <p:nvSpPr>
          <p:cNvPr id="15" name="C2 line 2"/>
          <p:cNvSpPr txBox="1"/>
          <p:nvPr/>
        </p:nvSpPr>
        <p:spPr>
          <a:xfrm>
            <a:off x="502920" y="230035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madd: 2 counts.</a:t>
            </a:r>
            <a:endParaRPr lang="en-US" sz="1600" dirty="0"/>
          </a:p>
        </p:txBody>
      </p:sp>
      <p:sp>
        <p:nvSpPr>
          <p:cNvPr id="16" name="C3 line 3"/>
          <p:cNvSpPr txBox="1"/>
          <p:nvPr/>
        </p:nvSpPr>
        <p:spPr>
          <a:xfrm>
            <a:off x="502920" y="29086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madd: LONGER, because of a cause.</a:t>
            </a:r>
            <a:endParaRPr lang="en-US" sz="1600" dirty="0"/>
          </a:p>
        </p:txBody>
      </p:sp>
      <p:sp>
        <p:nvSpPr>
          <p:cNvPr id="17" name="C4 line 4"/>
          <p:cNvSpPr txBox="1"/>
          <p:nvPr/>
        </p:nvSpPr>
        <p:spPr>
          <a:xfrm>
            <a:off x="502920" y="355765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= the madd letter.   Red = the cause.</a:t>
            </a:r>
            <a:endParaRPr lang="en-US" sz="1600" dirty="0"/>
          </a:p>
        </p:txBody>
      </p:sp>
      <p:sp>
        <p:nvSpPr>
          <p:cNvPr id="18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9" name="Arabic sample"/>
          <p:cNvSpPr txBox="1"/>
          <p:nvPr/>
        </p:nvSpPr>
        <p:spPr>
          <a:xfrm>
            <a:off x="6035040" y="1578127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pPr algn="ctr" indent="0" marL="0">
              <a:buNone/>
            </a:pPr>
            <a:r>
              <a:rPr lang="ar-SA" altLang="en-US" sz="12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12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</a:t>
            </a:r>
            <a:endParaRPr lang="ar-SA" sz="12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2F9E44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Remember: the natural madd = 2 counts</a:t>
            </a:r>
            <a:endParaRPr lang="en-US" sz="2200" dirty="0"/>
          </a:p>
        </p:txBody>
      </p:sp>
      <p:sp>
        <p:nvSpPr>
          <p:cNvPr id="14" name="C1 circle"/>
          <p:cNvSpPr/>
          <p:nvPr/>
        </p:nvSpPr>
        <p:spPr>
          <a:xfrm>
            <a:off x="640080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15" name="C1 letter"/>
          <p:cNvSpPr txBox="1"/>
          <p:nvPr/>
        </p:nvSpPr>
        <p:spPr>
          <a:xfrm>
            <a:off x="6400800" y="1702753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ـَا</a:t>
            </a:r>
            <a:endParaRPr lang="ar-SA" sz="3500" dirty="0"/>
          </a:p>
        </p:txBody>
      </p:sp>
      <p:sp>
        <p:nvSpPr>
          <p:cNvPr id="16" name="C1 name box"/>
          <p:cNvSpPr/>
          <p:nvPr/>
        </p:nvSpPr>
        <p:spPr>
          <a:xfrm>
            <a:off x="5888736" y="2898648"/>
            <a:ext cx="212140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7" name="C1 name"/>
          <p:cNvSpPr txBox="1"/>
          <p:nvPr/>
        </p:nvSpPr>
        <p:spPr>
          <a:xfrm>
            <a:off x="5888736" y="2906535"/>
            <a:ext cx="212140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قَالَ</a:t>
            </a:r>
            <a:endParaRPr lang="ar-SA" sz="2700" dirty="0"/>
          </a:p>
        </p:txBody>
      </p:sp>
      <p:sp>
        <p:nvSpPr>
          <p:cNvPr id="18" name="C1 badge"/>
          <p:cNvSpPr/>
          <p:nvPr/>
        </p:nvSpPr>
        <p:spPr>
          <a:xfrm>
            <a:off x="722376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1 count"/>
          <p:cNvSpPr txBox="1"/>
          <p:nvPr/>
        </p:nvSpPr>
        <p:spPr>
          <a:xfrm>
            <a:off x="722376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C2 circle"/>
          <p:cNvSpPr/>
          <p:nvPr/>
        </p:nvSpPr>
        <p:spPr>
          <a:xfrm>
            <a:off x="402336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1" name="C2 letter"/>
          <p:cNvSpPr txBox="1"/>
          <p:nvPr/>
        </p:nvSpPr>
        <p:spPr>
          <a:xfrm>
            <a:off x="4023360" y="1676083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ـُو</a:t>
            </a:r>
            <a:endParaRPr lang="ar-SA" sz="3500" dirty="0"/>
          </a:p>
        </p:txBody>
      </p:sp>
      <p:sp>
        <p:nvSpPr>
          <p:cNvPr id="22" name="C2 name box"/>
          <p:cNvSpPr/>
          <p:nvPr/>
        </p:nvSpPr>
        <p:spPr>
          <a:xfrm>
            <a:off x="3511296" y="2898648"/>
            <a:ext cx="212140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3" name="C2 name"/>
          <p:cNvSpPr txBox="1"/>
          <p:nvPr/>
        </p:nvSpPr>
        <p:spPr>
          <a:xfrm>
            <a:off x="3511296" y="2921965"/>
            <a:ext cx="212140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يَقُولُ</a:t>
            </a:r>
            <a:endParaRPr lang="ar-SA" sz="2700" dirty="0"/>
          </a:p>
        </p:txBody>
      </p:sp>
      <p:sp>
        <p:nvSpPr>
          <p:cNvPr id="24" name="C2 badge"/>
          <p:cNvSpPr/>
          <p:nvPr/>
        </p:nvSpPr>
        <p:spPr>
          <a:xfrm>
            <a:off x="484632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2 count"/>
          <p:cNvSpPr txBox="1"/>
          <p:nvPr/>
        </p:nvSpPr>
        <p:spPr>
          <a:xfrm>
            <a:off x="484632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C3 circle"/>
          <p:cNvSpPr/>
          <p:nvPr/>
        </p:nvSpPr>
        <p:spPr>
          <a:xfrm>
            <a:off x="164592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7" name="C3 letter"/>
          <p:cNvSpPr txBox="1"/>
          <p:nvPr/>
        </p:nvSpPr>
        <p:spPr>
          <a:xfrm>
            <a:off x="1645920" y="1500061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ـِي</a:t>
            </a:r>
            <a:endParaRPr lang="ar-SA" sz="3500" dirty="0"/>
          </a:p>
        </p:txBody>
      </p:sp>
      <p:sp>
        <p:nvSpPr>
          <p:cNvPr id="28" name="C3 name box"/>
          <p:cNvSpPr/>
          <p:nvPr/>
        </p:nvSpPr>
        <p:spPr>
          <a:xfrm>
            <a:off x="1133856" y="2898648"/>
            <a:ext cx="212140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9" name="C3 name"/>
          <p:cNvSpPr txBox="1"/>
          <p:nvPr/>
        </p:nvSpPr>
        <p:spPr>
          <a:xfrm>
            <a:off x="1133856" y="2905849"/>
            <a:ext cx="212140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قِيلَ</a:t>
            </a:r>
            <a:endParaRPr lang="ar-SA" sz="2700" dirty="0"/>
          </a:p>
        </p:txBody>
      </p:sp>
      <p:sp>
        <p:nvSpPr>
          <p:cNvPr id="30" name="C3 badge"/>
          <p:cNvSpPr/>
          <p:nvPr/>
        </p:nvSpPr>
        <p:spPr>
          <a:xfrm>
            <a:off x="246888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C3 count"/>
          <p:cNvSpPr txBox="1"/>
          <p:nvPr/>
        </p:nvSpPr>
        <p:spPr>
          <a:xfrm>
            <a:off x="246888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C4 tip box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32051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33" name="C4 tip"/>
          <p:cNvSpPr txBox="1"/>
          <p:nvPr/>
        </p:nvSpPr>
        <p:spPr>
          <a:xfrm>
            <a:off x="502920" y="3528568"/>
            <a:ext cx="8138160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after fathah, waw after dammah, yaa after kasrah: 2 counts</a:t>
            </a:r>
            <a:endParaRPr lang="en-US" sz="1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a madd longer?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46301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causes only:</a:t>
            </a:r>
            <a:endParaRPr lang="en-US" sz="21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274951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a HAMZA  ( ء )  next to the madd letter</a:t>
            </a:r>
            <a:endParaRPr lang="en-US" sz="21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3601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SUKUN (a silent letter) after the madd letter</a:t>
            </a:r>
            <a:endParaRPr lang="en-US" sz="21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40252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cause  →  natural madd, 2 counts.</a:t>
            </a:r>
            <a:endParaRPr lang="en-US" sz="2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madd sign  ~</a:t>
            </a:r>
            <a:endParaRPr lang="en-US" sz="1800" dirty="0"/>
          </a:p>
        </p:txBody>
      </p:sp>
      <p:sp>
        <p:nvSpPr>
          <p:cNvPr id="20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21" name="C1 line 1"/>
          <p:cNvSpPr txBox="1"/>
          <p:nvPr/>
        </p:nvSpPr>
        <p:spPr>
          <a:xfrm>
            <a:off x="502920" y="167119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Mushaf a small wave  ~  over a madd letter</a:t>
            </a:r>
            <a:endParaRPr lang="en-US" sz="1400" dirty="0"/>
          </a:p>
        </p:txBody>
      </p:sp>
      <p:sp>
        <p:nvSpPr>
          <p:cNvPr id="22" name="C2 line 2"/>
          <p:cNvSpPr txBox="1"/>
          <p:nvPr/>
        </p:nvSpPr>
        <p:spPr>
          <a:xfrm>
            <a:off x="502920" y="229984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means: stretch MORE than 2 counts.</a:t>
            </a:r>
            <a:endParaRPr lang="en-US" sz="1400" dirty="0"/>
          </a:p>
        </p:txBody>
      </p:sp>
      <p:sp>
        <p:nvSpPr>
          <p:cNvPr id="23" name="C3 line 3"/>
          <p:cNvSpPr txBox="1"/>
          <p:nvPr/>
        </p:nvSpPr>
        <p:spPr>
          <a:xfrm>
            <a:off x="502920" y="2916047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see it in: Muttasil, Munfasil, Lazim.</a:t>
            </a:r>
            <a:endParaRPr lang="en-US" sz="1400" dirty="0"/>
          </a:p>
        </p:txBody>
      </p:sp>
      <p:sp>
        <p:nvSpPr>
          <p:cNvPr id="24" name="C4 line 4"/>
          <p:cNvSpPr txBox="1"/>
          <p:nvPr/>
        </p:nvSpPr>
        <p:spPr>
          <a:xfrm>
            <a:off x="502920" y="353936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wave on: Badal, 'Arid, Leen (you must know them).</a:t>
            </a:r>
            <a:endParaRPr lang="en-US" sz="1400" dirty="0"/>
          </a:p>
        </p:txBody>
      </p:sp>
      <p:sp>
        <p:nvSpPr>
          <p:cNvPr id="25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26" name="Arabic sample"/>
          <p:cNvSpPr txBox="1"/>
          <p:nvPr/>
        </p:nvSpPr>
        <p:spPr>
          <a:xfrm>
            <a:off x="6035040" y="1733169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pPr algn="ctr" indent="0" marL="0">
              <a:buNone/>
            </a:pPr>
            <a:r>
              <a:rPr lang="ar-SA" altLang="en-US" sz="141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endParaRPr lang="ar-SA" sz="14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5"/>
          </a:solidFill>
          <a:ln w="12700">
            <a:solidFill>
              <a:srgbClr val="4785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Madd Muttasil (connected) — obligatory</a:t>
            </a:r>
            <a:endParaRPr lang="en-US" sz="1800" dirty="0"/>
          </a:p>
        </p:txBody>
      </p:sp>
      <p:sp>
        <p:nvSpPr>
          <p:cNvPr id="17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8" name="C1 line 1"/>
          <p:cNvSpPr txBox="1"/>
          <p:nvPr/>
        </p:nvSpPr>
        <p:spPr>
          <a:xfrm>
            <a:off x="502920" y="167220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letter + hamza in the SAME word.</a:t>
            </a:r>
            <a:endParaRPr lang="en-US" sz="1800" dirty="0"/>
          </a:p>
        </p:txBody>
      </p:sp>
      <p:sp>
        <p:nvSpPr>
          <p:cNvPr id="19" name="C2 line 2"/>
          <p:cNvSpPr txBox="1"/>
          <p:nvPr/>
        </p:nvSpPr>
        <p:spPr>
          <a:xfrm>
            <a:off x="502920" y="230085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4 or 5 counts.</a:t>
            </a:r>
            <a:endParaRPr lang="en-US" sz="1800" dirty="0"/>
          </a:p>
        </p:txBody>
      </p:sp>
      <p:sp>
        <p:nvSpPr>
          <p:cNvPr id="20" name="C3 line 3"/>
          <p:cNvSpPr txBox="1"/>
          <p:nvPr/>
        </p:nvSpPr>
        <p:spPr>
          <a:xfrm>
            <a:off x="502920" y="290664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on the hamza at the end: up to 6.</a:t>
            </a:r>
            <a:endParaRPr lang="en-US" sz="1800" dirty="0"/>
          </a:p>
        </p:txBody>
      </p:sp>
      <p:sp>
        <p:nvSpPr>
          <p:cNvPr id="21" name="C4 line 4"/>
          <p:cNvSpPr txBox="1"/>
          <p:nvPr/>
        </p:nvSpPr>
        <p:spPr>
          <a:xfrm>
            <a:off x="502920" y="3558159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Mushaf shows  ~ .</a:t>
            </a:r>
            <a:endParaRPr lang="en-US" sz="1800" dirty="0"/>
          </a:p>
        </p:txBody>
      </p:sp>
      <p:sp>
        <p:nvSpPr>
          <p:cNvPr id="22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3" name="Arabic sample"/>
          <p:cNvSpPr txBox="1"/>
          <p:nvPr/>
        </p:nvSpPr>
        <p:spPr>
          <a:xfrm>
            <a:off x="6035040" y="1578127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pPr algn="ctr" indent="0" marL="0">
              <a:buNone/>
            </a:pPr>
            <a:r>
              <a:rPr lang="ar-SA" altLang="en-US" sz="12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12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</a:t>
            </a:r>
            <a:endParaRPr lang="ar-SA" sz="12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Muttasil: madd + hamza in one word</a:t>
            </a:r>
            <a:endParaRPr lang="en-US" sz="22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9707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</a:t>
            </a:r>
            <a:endParaRPr lang="ar-SA" sz="58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2130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pPr algn="ctr" indent="0" marL="0">
              <a:buNone/>
            </a:pP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</a:t>
            </a:r>
            <a:endParaRPr lang="ar-SA" sz="38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57907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Jaaaa-'a</a:t>
            </a:r>
            <a:endParaRPr lang="en-US" sz="28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Alif, then hamza in the same word  →  4 or 5 counts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Muttasil: madd + hamza in one word</a:t>
            </a:r>
            <a:endParaRPr lang="en-US" sz="22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70002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ٱلسَّمَآءِ</a:t>
            </a:r>
            <a:endParaRPr lang="ar-SA" sz="58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2323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ٱلسَّمَ</a:t>
            </a:r>
            <a:pPr algn="ctr" indent="0" marL="0">
              <a:buNone/>
            </a:pP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ءِ</a:t>
            </a:r>
            <a:endParaRPr lang="ar-SA" sz="38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As-sa-maaaa-'i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or 5 counts  (6 if you stop on the hamza)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Muttasil: madd + hamza in one word</a:t>
            </a:r>
            <a:endParaRPr lang="en-US" sz="22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52989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سِيٓءَ بِهِمۡ</a:t>
            </a:r>
            <a:endParaRPr lang="ar-SA" sz="57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1267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pPr algn="ctr" indent="0" marL="0">
              <a:buNone/>
            </a:pP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يٓ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بِهِمۡ</a:t>
            </a:r>
            <a:endParaRPr lang="ar-SA" sz="37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Seeee-'a bi-him</a:t>
            </a:r>
            <a:endParaRPr lang="en-US" sz="30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Yaa, then hamza in the same word  →  4 or 5 counts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Muttasil: madd + hamza in one word</a:t>
            </a:r>
            <a:endParaRPr lang="en-US" sz="22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9820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أُو۟لَٰٓئِكَ</a:t>
            </a:r>
            <a:endParaRPr lang="ar-SA" sz="42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9982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أُلَٰٓئِكَ</a:t>
            </a:r>
            <a:endParaRPr lang="ar-SA" sz="28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U-laaaa-'i-ka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alif counts too: small alif + hamza  →  4 or 5</a:t>
            </a:r>
            <a:endParaRPr lang="en-US" sz="2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Madd Munfasil (separated) — permissible</a:t>
            </a:r>
            <a:endParaRPr lang="en-US" sz="1800" dirty="0"/>
          </a:p>
        </p:txBody>
      </p:sp>
      <p:sp>
        <p:nvSpPr>
          <p:cNvPr id="20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1" name="C1 line 1"/>
          <p:cNvSpPr txBox="1"/>
          <p:nvPr/>
        </p:nvSpPr>
        <p:spPr>
          <a:xfrm>
            <a:off x="502920" y="1655572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letter at the END of a word,</a:t>
            </a:r>
            <a:endParaRPr lang="en-US" sz="1900" dirty="0"/>
          </a:p>
        </p:txBody>
      </p:sp>
      <p:sp>
        <p:nvSpPr>
          <p:cNvPr id="22" name="C2 line 2"/>
          <p:cNvSpPr txBox="1"/>
          <p:nvPr/>
        </p:nvSpPr>
        <p:spPr>
          <a:xfrm>
            <a:off x="502920" y="230111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at the START of the next word.</a:t>
            </a:r>
            <a:endParaRPr lang="en-US" sz="1900" dirty="0"/>
          </a:p>
        </p:txBody>
      </p:sp>
      <p:sp>
        <p:nvSpPr>
          <p:cNvPr id="23" name="C3 line 3"/>
          <p:cNvSpPr txBox="1"/>
          <p:nvPr/>
        </p:nvSpPr>
        <p:spPr>
          <a:xfrm>
            <a:off x="502920" y="290563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4 or 5 counts when you connect.</a:t>
            </a:r>
            <a:endParaRPr lang="en-US" sz="1900" dirty="0"/>
          </a:p>
        </p:txBody>
      </p:sp>
      <p:sp>
        <p:nvSpPr>
          <p:cNvPr id="24" name="C4 line 4"/>
          <p:cNvSpPr txBox="1"/>
          <p:nvPr/>
        </p:nvSpPr>
        <p:spPr>
          <a:xfrm>
            <a:off x="502920" y="353428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on the first word  →  only 2.</a:t>
            </a:r>
            <a:endParaRPr lang="en-US" sz="1900" dirty="0"/>
          </a:p>
        </p:txBody>
      </p:sp>
      <p:sp>
        <p:nvSpPr>
          <p:cNvPr id="25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6" name="Arabic sample"/>
          <p:cNvSpPr txBox="1"/>
          <p:nvPr/>
        </p:nvSpPr>
        <p:spPr>
          <a:xfrm>
            <a:off x="6035040" y="1536463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pPr algn="ctr" indent="0" marL="0">
              <a:buNone/>
            </a:pPr>
            <a:r>
              <a:rPr lang="ar-SA" altLang="en-US" sz="9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</a:t>
            </a:r>
            <a:pPr algn="ctr" indent="0" marL="0">
              <a:buNone/>
            </a:pPr>
            <a:r>
              <a:rPr lang="ar-SA" altLang="en-US" sz="9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9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6681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Munfasil: madd | hamza in the next word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7804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إِنَّآ أَعۡطَيۡنَٰكَ</a:t>
            </a:r>
            <a:endParaRPr lang="ar-SA" sz="43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0884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pPr algn="ctr" indent="0" marL="0">
              <a:buNone/>
            </a:pPr>
            <a:r>
              <a:rPr lang="ar-SA" altLang="en-US" sz="2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</a:t>
            </a:r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عۡطَيۡنَٰكَ</a:t>
            </a:r>
            <a:endParaRPr lang="ar-SA" sz="28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451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In-naaaa a'-tay-naa-k</a:t>
            </a:r>
            <a:endParaRPr lang="en-US" sz="25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8886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at the end, hamza at the start of the next word  →  4 or 5</a:t>
            </a:r>
            <a:endParaRPr lang="en-US" sz="2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6681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Munfasil: madd | hamza in the next word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9174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قُوٓا۟ أَنفُسَكُمۡ</a:t>
            </a:r>
            <a:endParaRPr lang="ar-SA" sz="44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pPr algn="ctr" indent="0" marL="0">
              <a:buNone/>
            </a:pPr>
            <a:r>
              <a:rPr lang="ar-SA" altLang="en-US" sz="2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وٓ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</a:t>
            </a:r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نفُسَكُمۡ</a:t>
            </a:r>
            <a:endParaRPr lang="ar-SA" sz="29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71052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Qoooo an-fu-sa-kum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Waw at the end, hamza next  →  4 or 5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6681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Munfasil: madd | hamza in the next word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8542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فِيٓ أَنفُسِكُمۡ</a:t>
            </a:r>
            <a:endParaRPr lang="ar-SA" sz="43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1364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pPr algn="ctr" indent="0" marL="0">
              <a:buNone/>
            </a:pPr>
            <a:r>
              <a:rPr lang="ar-SA" altLang="en-US" sz="2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يٓ</a:t>
            </a:r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</a:t>
            </a:r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نفُسِكُمۡ</a:t>
            </a:r>
            <a:endParaRPr lang="ar-SA" sz="28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277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Feeee an-fu-si-kum</a:t>
            </a:r>
            <a:endParaRPr lang="en-US" sz="29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Yaa at the end, hamza next  →  4 or 5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munfasil: the big silah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82708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مَالَهُۥٓ أَخۡلَدَهُۥ</a:t>
            </a:r>
            <a:endParaRPr lang="ar-SA" sz="56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60731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</a:t>
            </a:r>
            <a:pPr algn="ctr" indent="0" marL="0">
              <a:buNone/>
            </a:pPr>
            <a:r>
              <a:rPr lang="ar-SA" altLang="en-US" sz="3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ۥٓ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خۡلَدَهُۥ</a:t>
            </a:r>
            <a:endParaRPr lang="ar-SA" sz="37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549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Maa-la-hoooo akh-la-dah</a:t>
            </a:r>
            <a:endParaRPr lang="en-US" sz="22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waw / yaa of the pronoun + hamza next  →  4 or 5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Madd Badal (substitute)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762252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HAMZA comes FIRST, then the madd letter.</a:t>
            </a:r>
            <a:endParaRPr lang="en-US" sz="16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594356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 counts (in the reading of Hafs).</a:t>
            </a:r>
            <a:endParaRPr lang="en-US" sz="16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3432556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 in the Mushaf.</a:t>
            </a:r>
            <a:endParaRPr lang="en-US" sz="1600" dirty="0"/>
          </a:p>
        </p:txBody>
      </p:sp>
      <p:sp>
        <p:nvSpPr>
          <p:cNvPr id="16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7" name="Arabic sample"/>
          <p:cNvSpPr txBox="1"/>
          <p:nvPr/>
        </p:nvSpPr>
        <p:spPr>
          <a:xfrm>
            <a:off x="6035040" y="1575905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</a:t>
            </a:r>
            <a:pPr algn="ctr" indent="0" marL="0">
              <a:buNone/>
            </a:pPr>
            <a:r>
              <a:rPr lang="ar-SA" altLang="en-US" sz="5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مَنُوا۟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84047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Badal: hamza, then madd</a:t>
            </a:r>
            <a:endParaRPr lang="en-US" sz="19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1225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ءَامَنُوا۟</a:t>
            </a:r>
            <a:endParaRPr lang="ar-SA" sz="51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31645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</a:t>
            </a:r>
            <a:pPr algn="ctr" indent="0" marL="0">
              <a:buNone/>
            </a:pPr>
            <a:r>
              <a:rPr lang="ar-SA" altLang="en-US" sz="3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مَنُوا۟</a:t>
            </a:r>
            <a:endParaRPr lang="ar-SA" sz="34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181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Aa-ma-noo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then alif  →  2 counts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84047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Badal: hamza, then madd</a:t>
            </a:r>
            <a:endParaRPr lang="en-US" sz="19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584979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إِيمَٰنًا</a:t>
            </a:r>
            <a:endParaRPr lang="ar-SA" sz="51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448619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مَٰنًا</a:t>
            </a:r>
            <a:endParaRPr lang="ar-SA" sz="33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181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Ee-maa-nan</a:t>
            </a:r>
            <a:endParaRPr lang="en-US" sz="30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then yaa  →  2 counts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C2255C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84047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Badal: hamza, then madd</a:t>
            </a:r>
            <a:endParaRPr lang="en-US" sz="19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7880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أُوتُوا۟</a:t>
            </a:r>
            <a:endParaRPr lang="ar-SA" sz="43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76795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pPr algn="ctr" indent="0" marL="0">
              <a:buNone/>
            </a:pPr>
            <a:r>
              <a:rPr lang="ar-SA" altLang="en-US" sz="2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تُوا۟</a:t>
            </a:r>
            <a:endParaRPr lang="ar-SA" sz="29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562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Oo-too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C2255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then waw  →  2 counts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Madd Lazim (necessary) — always 6</a:t>
            </a:r>
            <a:endParaRPr lang="en-US" sz="1800" dirty="0"/>
          </a:p>
        </p:txBody>
      </p:sp>
      <p:sp>
        <p:nvSpPr>
          <p:cNvPr id="13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4" name="C1 line 1"/>
          <p:cNvSpPr txBox="1"/>
          <p:nvPr/>
        </p:nvSpPr>
        <p:spPr>
          <a:xfrm>
            <a:off x="502920" y="1775968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Madd letter + a PERMANENT sukun or shaddah after it.</a:t>
            </a:r>
            <a:endParaRPr lang="en-US" sz="1400" dirty="0"/>
          </a:p>
        </p:txBody>
      </p:sp>
      <p:sp>
        <p:nvSpPr>
          <p:cNvPr id="15" name="C2 line 2"/>
          <p:cNvSpPr txBox="1"/>
          <p:nvPr/>
        </p:nvSpPr>
        <p:spPr>
          <a:xfrm>
            <a:off x="502920" y="2596388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6 counts, connecting or stopping.</a:t>
            </a:r>
            <a:endParaRPr lang="en-US" sz="1400" dirty="0"/>
          </a:p>
        </p:txBody>
      </p:sp>
      <p:sp>
        <p:nvSpPr>
          <p:cNvPr id="16" name="C3 line 3"/>
          <p:cNvSpPr txBox="1"/>
          <p:nvPr/>
        </p:nvSpPr>
        <p:spPr>
          <a:xfrm>
            <a:off x="502920" y="3452368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Mushaf shows  ~ .</a:t>
            </a:r>
            <a:endParaRPr lang="en-US" sz="1400" dirty="0"/>
          </a:p>
        </p:txBody>
      </p:sp>
      <p:sp>
        <p:nvSpPr>
          <p:cNvPr id="17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8" name="Arabic sample"/>
          <p:cNvSpPr txBox="1"/>
          <p:nvPr/>
        </p:nvSpPr>
        <p:spPr>
          <a:xfrm>
            <a:off x="6035040" y="1635539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</a:t>
            </a:r>
            <a:pPr algn="ctr" indent="0" marL="0">
              <a:buNone/>
            </a:pPr>
            <a:r>
              <a:rPr lang="ar-SA" altLang="en-US" sz="5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لِّ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ينَ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Lazim: madd + shaddah</a:t>
            </a:r>
            <a:endParaRPr lang="en-US" sz="22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762553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6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6395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</a:t>
            </a:r>
            <a:pPr algn="ctr" indent="0" marL="0">
              <a:buNone/>
            </a:pPr>
            <a:r>
              <a:rPr lang="ar-SA" altLang="en-US" sz="3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لِّ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ينَ</a:t>
            </a:r>
            <a:endParaRPr lang="ar-SA" sz="30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626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Wa-lad-daaaaaal-leen</a:t>
            </a:r>
            <a:endParaRPr lang="en-US" sz="25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Alif, then a doubled lam  →  6 counts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Lazim: madd + shaddah</a:t>
            </a:r>
            <a:endParaRPr lang="en-US" sz="22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82365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54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605915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</a:t>
            </a:r>
            <a:pPr algn="ctr" indent="0" marL="0">
              <a:buNone/>
            </a:pPr>
            <a:r>
              <a:rPr lang="ar-SA" altLang="en-US" sz="3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قَّ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36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Al-haaaaaaq-qah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Alif, then a doubled qaaf  →  6 counts</a:t>
            </a:r>
            <a:endParaRPr lang="en-US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Lazim: madd + sukun</a:t>
            </a:r>
            <a:endParaRPr lang="en-US" sz="22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17929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ءَآلۡـَٰٔنَ</a:t>
            </a:r>
            <a:endParaRPr lang="ar-SA" sz="5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3516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ءَآلۡـَٰٔنَ</a:t>
            </a:r>
            <a:endParaRPr lang="ar-SA" sz="3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Aaaaaaal-aa-na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0232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Alif, then a silent lam  →  6 counts  (only Yunus 51 and 91)</a:t>
            </a:r>
            <a:endParaRPr lang="en-US" sz="2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170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Lazim in the letter names</a:t>
            </a:r>
            <a:endParaRPr lang="en-US" sz="22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2703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الٓمٓ</a:t>
            </a:r>
            <a:endParaRPr lang="ar-SA" sz="50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</a:t>
            </a:r>
            <a:pPr algn="ctr" indent="0" marL="0">
              <a:buNone/>
            </a:pPr>
            <a:r>
              <a:rPr lang="ar-SA" altLang="en-US" sz="2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مِّ</a:t>
            </a:r>
            <a:pPr algn="ctr" indent="0" marL="0">
              <a:buNone/>
            </a:pPr>
            <a:r>
              <a:rPr lang="ar-SA" altLang="en-US" sz="2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29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499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 Laaaaaam Meeeeeem</a:t>
            </a:r>
            <a:endParaRPr lang="en-US" sz="20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83280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Laam and Meem: 6 counts each  (see the Disjointed Letters lesson)</a:t>
            </a:r>
            <a:endParaRPr lang="en-US" sz="1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Madd 'Arid lis-Sukun (because of stopping)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513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STOP, the last letter becomes silent.</a:t>
            </a:r>
            <a:endParaRPr lang="en-US" sz="16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2800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madd letter just before it may be stretched:</a:t>
            </a:r>
            <a:endParaRPr lang="en-US" sz="16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86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 4 or 6 counts (choose one and stay with it).</a:t>
            </a:r>
            <a:endParaRPr lang="en-US" sz="16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373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sign: the stopping sukun is not written.</a:t>
            </a:r>
            <a:endParaRPr lang="en-US" sz="1600" dirty="0"/>
          </a:p>
        </p:txBody>
      </p:sp>
      <p:sp>
        <p:nvSpPr>
          <p:cNvPr id="17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8" name="Arabic sample"/>
          <p:cNvSpPr txBox="1"/>
          <p:nvPr/>
        </p:nvSpPr>
        <p:spPr>
          <a:xfrm>
            <a:off x="6035040" y="1480109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</a:t>
            </a:r>
            <a:pPr algn="ctr" indent="0" marL="0">
              <a:buNone/>
            </a:pPr>
            <a:r>
              <a:rPr lang="ar-SA" altLang="en-US" sz="4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'Arid: stretch before the stop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0903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50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7020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3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3495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Ar-ra-heeeem  (stop)</a:t>
            </a:r>
            <a:endParaRPr lang="en-US" sz="26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Stopping: 2, 4 or 6.   Connecting: 2.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'Arid: stretch before the stop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5140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نَسۡتَعِينُ</a:t>
            </a:r>
            <a:endParaRPr lang="ar-SA" sz="58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91386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نَسۡتَعِ</a:t>
            </a:r>
            <a:pPr algn="ctr" indent="0" marL="0">
              <a:buNone/>
            </a:pPr>
            <a:r>
              <a:rPr lang="ar-SA" altLang="en-US" sz="3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8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63495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Nas-ta-'eeeen  (stop)</a:t>
            </a:r>
            <a:endParaRPr lang="en-US" sz="26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Stopping: 2, 4 or 6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'Arid: stretch before the stop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9026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يَعۡلَمُونَ</a:t>
            </a:r>
            <a:endParaRPr lang="ar-SA" sz="54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676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يَعۡلَمُ</a:t>
            </a:r>
            <a:pPr algn="ctr" indent="0" marL="0">
              <a:buNone/>
            </a:pPr>
            <a:r>
              <a:rPr lang="ar-SA" altLang="en-US" sz="35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5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Ya'-la-mooon  (stop)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Stopping: 2, 4 or 6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Madd al-Leen (soft)</a:t>
            </a:r>
            <a:endParaRPr lang="en-US" sz="1800" dirty="0"/>
          </a:p>
        </p:txBody>
      </p:sp>
      <p:sp>
        <p:nvSpPr>
          <p:cNvPr id="20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1" name="C1 line 1"/>
          <p:cNvSpPr txBox="1"/>
          <p:nvPr/>
        </p:nvSpPr>
        <p:spPr>
          <a:xfrm>
            <a:off x="502920" y="1733334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 or ي with a sukun after a FATHAH:  aw / ay.</a:t>
            </a:r>
            <a:endParaRPr lang="en-US" sz="1700" dirty="0"/>
          </a:p>
        </p:txBody>
      </p:sp>
      <p:sp>
        <p:nvSpPr>
          <p:cNvPr id="22" name="C2 line 2"/>
          <p:cNvSpPr txBox="1"/>
          <p:nvPr/>
        </p:nvSpPr>
        <p:spPr>
          <a:xfrm>
            <a:off x="502920" y="2593340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on the next letter: 2, 4 or 6 counts.</a:t>
            </a:r>
            <a:endParaRPr lang="en-US" sz="1700" dirty="0"/>
          </a:p>
        </p:txBody>
      </p:sp>
      <p:sp>
        <p:nvSpPr>
          <p:cNvPr id="23" name="C3 line 3"/>
          <p:cNvSpPr txBox="1"/>
          <p:nvPr/>
        </p:nvSpPr>
        <p:spPr>
          <a:xfrm>
            <a:off x="502920" y="3431540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Connecting: no madd at all.</a:t>
            </a:r>
            <a:endParaRPr lang="en-US" sz="1700" dirty="0"/>
          </a:p>
        </p:txBody>
      </p:sp>
      <p:sp>
        <p:nvSpPr>
          <p:cNvPr id="24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5" name="Arabic sample"/>
          <p:cNvSpPr txBox="1"/>
          <p:nvPr/>
        </p:nvSpPr>
        <p:spPr>
          <a:xfrm>
            <a:off x="6035040" y="1572705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Leen: aw / ay before the stop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3479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قُرَيۡشٍ</a:t>
            </a:r>
            <a:endParaRPr lang="ar-SA" sz="43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3495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قُرَ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3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Qu-raaysh  (stop)</a:t>
            </a:r>
            <a:endParaRPr lang="en-US" sz="27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Stopping: 2, 4 or 6.   Connecting: no madd.</a:t>
            </a:r>
            <a:endParaRPr lang="en-US" sz="2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Leen: aw / ay before the stop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01315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خَوۡفٍ</a:t>
            </a:r>
            <a:endParaRPr lang="ar-SA" sz="57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3285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Khaawf  (stop)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Stopping: 2, 4 or 6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Leen: aw / ay before the stop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73166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ٱلۡبَيۡتِ</a:t>
            </a:r>
            <a:endParaRPr lang="ar-SA" sz="52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4783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ٱلۡبَ</a:t>
            </a:r>
            <a:pPr algn="ctr" indent="0" marL="0">
              <a:buNone/>
            </a:pPr>
            <a:r>
              <a:rPr lang="ar-SA" altLang="en-US" sz="3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4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Al-baayt  (stop)</a:t>
            </a:r>
            <a:endParaRPr lang="en-US" sz="27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Stopping: 2, 4 or 6</a:t>
            </a:r>
            <a:endParaRPr lang="en-US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Madd al-'Iwad: stopping on fathatan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2048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عَلِيمًا</a:t>
            </a:r>
            <a:endParaRPr lang="ar-SA" sz="67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47104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عَلِيمَ</a:t>
            </a:r>
            <a:pPr algn="ctr" indent="0" marL="0">
              <a:buNone/>
            </a:pPr>
            <a:r>
              <a:rPr lang="ar-SA" altLang="en-US" sz="4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'A-lee-maa  (stop)</a:t>
            </a:r>
            <a:endParaRPr lang="en-US" sz="27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tanween goes; say a long aa: 2 counts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madd is strongest?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59359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Lazim  (6)</a:t>
            </a:r>
            <a:endParaRPr lang="en-US" sz="20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09651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Muttasil  (4-5)</a:t>
            </a:r>
            <a:endParaRPr lang="en-US" sz="20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5994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'Arid lis-Sukun  (2 / 4 / 6)</a:t>
            </a:r>
            <a:endParaRPr lang="en-US" sz="20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10235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Munfasil  (4-5)</a:t>
            </a:r>
            <a:endParaRPr lang="en-US" sz="2000" dirty="0"/>
          </a:p>
        </p:txBody>
      </p:sp>
      <p:sp>
        <p:nvSpPr>
          <p:cNvPr id="17" name="C5 line 5"/>
          <p:cNvSpPr txBox="1"/>
          <p:nvPr/>
        </p:nvSpPr>
        <p:spPr>
          <a:xfrm>
            <a:off x="502920" y="360527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Badal  (2)</a:t>
            </a:r>
            <a:endParaRPr lang="en-US" sz="2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8284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which madd?</a:t>
            </a:r>
            <a:endParaRPr lang="en-US" sz="19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52024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يَٰٓأَيُّهَا</a:t>
            </a:r>
            <a:endParaRPr lang="ar-SA" sz="47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13641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 </a:t>
            </a:r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يُّهَا</a:t>
            </a:r>
            <a:endParaRPr lang="ar-SA" sz="28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Yaaaa ay-yu-haa</a:t>
            </a:r>
            <a:endParaRPr lang="en-US" sz="27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3280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Munfasil: madd at the end, hamza at the start of the next word (4-5)</a:t>
            </a:r>
            <a:endParaRPr lang="en-US" sz="1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8284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which madd?</a:t>
            </a:r>
            <a:endParaRPr lang="en-US" sz="19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83633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52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61233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</a:t>
            </a:r>
            <a:pPr algn="ctr" indent="0" marL="0">
              <a:buNone/>
            </a:pPr>
            <a:r>
              <a:rPr lang="ar-SA" altLang="en-US" sz="3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آ</a:t>
            </a:r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مَّ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34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At-taaaaaam-mah</a:t>
            </a:r>
            <a:endParaRPr lang="en-US" sz="30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Lazim: madd + shaddah (6)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8284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which madd?</a:t>
            </a:r>
            <a:endParaRPr lang="en-US" sz="19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72807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أُوتِيَ</a:t>
            </a:r>
            <a:endParaRPr lang="ar-SA" sz="40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41360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pPr algn="ctr" indent="0" marL="0">
              <a:buNone/>
            </a:pPr>
            <a:r>
              <a:rPr lang="ar-SA" altLang="en-US" sz="26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pPr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تِيَ</a:t>
            </a:r>
            <a:endParaRPr lang="ar-SA" sz="26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Oo-ti-ya</a:t>
            </a:r>
            <a:endParaRPr lang="en-US" sz="27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Badal: hamza then madd (2)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E8590C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which madd? (stopping)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717929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ٱلۡمُفۡلِحُونَ</a:t>
            </a:r>
            <a:endParaRPr lang="ar-SA" sz="50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3516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ٱلۡمُفۡلِحُ</a:t>
            </a:r>
            <a:pPr algn="ctr" indent="0" marL="0">
              <a:buNone/>
            </a:pPr>
            <a:r>
              <a:rPr lang="ar-SA" altLang="en-US" sz="3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3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5527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Al-muf-li-hooon  (stop)</a:t>
            </a:r>
            <a:endParaRPr lang="en-US" sz="24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E8590C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'Arid lis-Sukun (2, 4 or 6)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560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900" dirty="0"/>
          </a:p>
        </p:txBody>
      </p:sp>
      <p:sp>
        <p:nvSpPr>
          <p:cNvPr id="14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5" name="C1 line 1"/>
          <p:cNvSpPr txBox="1"/>
          <p:nvPr/>
        </p:nvSpPr>
        <p:spPr>
          <a:xfrm>
            <a:off x="502920" y="160121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after, same word  →  Muttasil 4-5  ~</a:t>
            </a:r>
            <a:endParaRPr lang="en-US" sz="2000" dirty="0"/>
          </a:p>
        </p:txBody>
      </p:sp>
      <p:sp>
        <p:nvSpPr>
          <p:cNvPr id="16" name="C2 line 2"/>
          <p:cNvSpPr txBox="1"/>
          <p:nvPr/>
        </p:nvSpPr>
        <p:spPr>
          <a:xfrm>
            <a:off x="502920" y="21041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after, next word  →  Munfasil 4-5  ~</a:t>
            </a:r>
            <a:endParaRPr lang="en-US" sz="2000" dirty="0"/>
          </a:p>
        </p:txBody>
      </p:sp>
      <p:sp>
        <p:nvSpPr>
          <p:cNvPr id="17" name="C3 line 3"/>
          <p:cNvSpPr txBox="1"/>
          <p:nvPr/>
        </p:nvSpPr>
        <p:spPr>
          <a:xfrm>
            <a:off x="502920" y="262483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Hamza before  →  Badal 2</a:t>
            </a:r>
            <a:endParaRPr lang="en-US" sz="2000" dirty="0"/>
          </a:p>
        </p:txBody>
      </p:sp>
      <p:sp>
        <p:nvSpPr>
          <p:cNvPr id="18" name="C4 line 4"/>
          <p:cNvSpPr txBox="1"/>
          <p:nvPr/>
        </p:nvSpPr>
        <p:spPr>
          <a:xfrm>
            <a:off x="502920" y="311759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sukun / shaddah  →  Lazim 6  ~</a:t>
            </a:r>
            <a:endParaRPr lang="en-US" sz="2000" dirty="0"/>
          </a:p>
        </p:txBody>
      </p:sp>
      <p:sp>
        <p:nvSpPr>
          <p:cNvPr id="19" name="C5 line 5"/>
          <p:cNvSpPr txBox="1"/>
          <p:nvPr/>
        </p:nvSpPr>
        <p:spPr>
          <a:xfrm>
            <a:off x="502920" y="3605276"/>
            <a:ext cx="813816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 →  'Arid 2/4/6,  Leen 2/4/6,  'Iwad 2</a:t>
            </a:r>
            <a:endParaRPr lang="en-US" sz="2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Secondary Madd</dc:title>
  <dc:subject>PptxGenJS Presentation</dc:subject>
  <dc:creator>PptxGenJS</dc:creator>
  <cp:lastModifiedBy>PptxGenJS</cp:lastModifiedBy>
  <cp:revision>1</cp:revision>
  <dcterms:created xsi:type="dcterms:W3CDTF">2026-10-21T19:39:42Z</dcterms:created>
  <dcterms:modified xsi:type="dcterms:W3CDTF">2026-10-21T19:39:42Z</dcterms:modified>
</cp:coreProperties>
</file>