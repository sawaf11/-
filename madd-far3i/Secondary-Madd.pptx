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slide colours the madd letter green and the thing that makes it longer red. Count the beats on your fingers with the learners.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three madd letters: alif after a fathah, waw after a dammah, yaa after a kasrah. On their own they are stretched 2 counts (natural madd).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secondary madd has one of these two causes. Ask: is there a hamza? Is there a silent letter (written sukun, shaddah, or the silence of stopping)?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madd sign is a helper. Muttasil, munfasil, lazim and as-sila al-kubra carry it. The madd caused by stopping ('arid, leen) and the badal have no 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is called connected because the madd and the hamza are in one word. It is obligatory (wajib) to stretch it more than 2: 4 or 5 counts in the reading of Hafs by ash-Shatibiyyah, and 6 is allowed when you stop on a hamza at the end of the word (as-samaa').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jaa'a (he came).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as-samaa' (the sky). Stopping on it: as-samaa' with 4, 5 or 6 counts.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Surat Hud 77: see'a bihim. The madd letter here is a yaa.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ulaa'ika. The dagger alif after the lam is a madd letter, followed by a hamza in the same word: muttasil.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is called separated because the madd and the hamza are in two words. In the reading of Hafs by ash-Shatibiyyah it is stretched 4 or 5 counts (the same length you choose for muttasil, or less). If you stop on the first word, the hamza is gone and it is a natural madd.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Surat al-Kawthar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Surat at-Tahrim 6. The alif after the waw is not read (small circle).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fee anfusikum.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Surat al-Humazah 3. The small waw after the pronoun hu, followed by a hamza: madd as-silah al-kubra, read like munfasil.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Hamza before the madd letter. Do not over-stretch it: 2 counts, like a natural madd.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aamanoo (they believed).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eemaanan (faith).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ootoo (they were given).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Necessary because the sukun is always there. Four kinds: in a word with a shaddah (ad-daalleen), in a word with a sukun (aal-aana), in a letter name with merging (laam-meem), in a letter name without merging (saad, qaaf, noon).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Al-Fatiha 7. Count six with the learners.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Surat al-Haqqah 1. Also at-taammah, as-saakhkhah, daabbah.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only word of this kind in the reading of Hafs, twice in Surat Yunus (51, 91). The lam after the long alif is silent: 6 counts.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Letter names with a long vowel and a silent last letter are a necessary madd: 6 counts.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'Arid means temporary: the sukun exists only because we stop. When we connect, there is no sukun and the madd is natural (2). Choose 2, 4 or 6 and keep the same length in the whole recitation.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Al-Fatiha 3: stopping on ar-raheem.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Al-Fatiha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Very common at the end of verses: -oon, -een, -aan.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leen letters are waw and yaa with sukun after a fathah (khawf, bayt). They are soft, not real madd letters, so they are stretched only when we stop on the letter after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Surat Quraysh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Surat Quraysh 4 (min khawf).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Surat Quraysh 3 (rabba haadhal-bayt).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stopping on fathatan, the tanween is replaced by a long alif of 2 counts. Not on taa marbutah: rahmatan → rahmah.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two causes meet on one madd letter, the stronger one wins. For example, a badal that is also before a stop becomes 'arid.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before revealing. The dagger alif on yaa is the madd letter; the hamza is in the next word (ayyuhaa).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Surat an-Nazi'at 34.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ootiya (he was given).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of a verse, stopping.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Review: find the madd letter, then look for a hamza (before or after?) or a sukun (permanent or only when stopping?).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Title box"/>
          <p:cNvSpPr/>
          <p:nvPr/>
        </p:nvSpPr>
        <p:spPr>
          <a:xfrm>
            <a:off x="365760" y="896112"/>
            <a:ext cx="8412480" cy="502920"/>
          </a:xfrm>
          <a:prstGeom prst="roundRect">
            <a:avLst>
              <a:gd name="adj" fmla="val 45455"/>
            </a:avLst>
          </a:prstGeom>
          <a:solidFill>
            <a:srgbClr val="1971C2"/>
          </a:solidFill>
          <a:ln w="76200">
            <a:solidFill>
              <a:srgbClr val="1971C2"/>
            </a:solidFill>
            <a:prstDash val="solid"/>
          </a:ln>
        </p:spPr>
      </p:sp>
      <p:sp>
        <p:nvSpPr>
          <p:cNvPr id="12" name="Title"/>
          <p:cNvSpPr txBox="1"/>
          <p:nvPr/>
        </p:nvSpPr>
        <p:spPr>
          <a:xfrm>
            <a:off x="365760" y="877824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Secondary Madd (al-Madd al-Far'i)</a:t>
            </a:r>
            <a:endParaRPr lang="en-US" sz="1800" dirty="0"/>
          </a:p>
        </p:txBody>
      </p:sp>
      <p:sp>
        <p:nvSpPr>
          <p:cNvPr id="13" name="Lines panel"/>
          <p:cNvSpPr/>
          <p:nvPr/>
        </p:nvSpPr>
        <p:spPr>
          <a:xfrm>
            <a:off x="365760" y="1536192"/>
            <a:ext cx="5486400" cy="2697480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76200">
            <a:solidFill>
              <a:srgbClr val="1971C2"/>
            </a:solidFill>
            <a:prstDash val="solid"/>
          </a:ln>
        </p:spPr>
      </p:sp>
      <p:sp>
        <p:nvSpPr>
          <p:cNvPr id="14" name="C1 line 1"/>
          <p:cNvSpPr txBox="1"/>
          <p:nvPr/>
        </p:nvSpPr>
        <p:spPr>
          <a:xfrm>
            <a:off x="502920" y="1651381"/>
            <a:ext cx="521208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Madd = stretching a long vowel.</a:t>
            </a:r>
            <a:endParaRPr lang="en-US" sz="1600" dirty="0"/>
          </a:p>
        </p:txBody>
      </p:sp>
      <p:sp>
        <p:nvSpPr>
          <p:cNvPr id="15" name="C2 line 2"/>
          <p:cNvSpPr txBox="1"/>
          <p:nvPr/>
        </p:nvSpPr>
        <p:spPr>
          <a:xfrm>
            <a:off x="502920" y="2300351"/>
            <a:ext cx="521208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madd: 2 counts.</a:t>
            </a:r>
            <a:endParaRPr lang="en-US" sz="1600" dirty="0"/>
          </a:p>
        </p:txBody>
      </p:sp>
      <p:sp>
        <p:nvSpPr>
          <p:cNvPr id="16" name="C3 line 3"/>
          <p:cNvSpPr txBox="1"/>
          <p:nvPr/>
        </p:nvSpPr>
        <p:spPr>
          <a:xfrm>
            <a:off x="502920" y="2908681"/>
            <a:ext cx="521208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madd: LONGER, because of a cause.</a:t>
            </a:r>
            <a:endParaRPr lang="en-US" sz="1600" dirty="0"/>
          </a:p>
        </p:txBody>
      </p:sp>
      <p:sp>
        <p:nvSpPr>
          <p:cNvPr id="17" name="C4 line 4"/>
          <p:cNvSpPr txBox="1"/>
          <p:nvPr/>
        </p:nvSpPr>
        <p:spPr>
          <a:xfrm>
            <a:off x="502920" y="3557651"/>
            <a:ext cx="521208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= the madd letter.   Red = the cause.</a:t>
            </a:r>
            <a:endParaRPr lang="en-US" sz="1600" dirty="0"/>
          </a:p>
        </p:txBody>
      </p:sp>
      <p:sp>
        <p:nvSpPr>
          <p:cNvPr id="18" name="Arabic panel"/>
          <p:cNvSpPr/>
          <p:nvPr/>
        </p:nvSpPr>
        <p:spPr>
          <a:xfrm>
            <a:off x="6035040" y="1536192"/>
            <a:ext cx="2743200" cy="2697480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76200">
            <a:solidFill>
              <a:srgbClr val="1971C2"/>
            </a:solidFill>
            <a:prstDash val="solid"/>
          </a:ln>
        </p:spPr>
      </p:sp>
      <p:sp>
        <p:nvSpPr>
          <p:cNvPr id="19" name="Arabic sample"/>
          <p:cNvSpPr txBox="1"/>
          <p:nvPr/>
        </p:nvSpPr>
        <p:spPr>
          <a:xfrm>
            <a:off x="6035040" y="1578127"/>
            <a:ext cx="2743200" cy="2697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1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r>
              <a:rPr lang="ar-SA" altLang="en-US" sz="12700" dirty="0">
                <a:solidFill>
                  <a:srgbClr val="2F9E44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آ</a:t>
            </a:r>
            <a:r>
              <a:rPr lang="ar-SA" altLang="en-US" sz="12700" dirty="0">
                <a:solidFill>
                  <a:srgbClr val="E03131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ءَ</a:t>
            </a:r>
            <a:endParaRPr lang="ar-SA" sz="127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D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C2B64"/>
          </a:solidFill>
          <a:ln w="12700">
            <a:solidFill>
              <a:srgbClr val="3C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B3479"/>
          </a:solidFill>
          <a:ln w="12700">
            <a:solidFill>
              <a:srgbClr val="6B3479"/>
            </a:solidFill>
            <a:prstDash val="solid"/>
          </a:ln>
        </p:spPr>
      </p:sp>
      <p:sp>
        <p:nvSpPr>
          <p:cNvPr id="12" name="Title box"/>
          <p:cNvSpPr/>
          <p:nvPr/>
        </p:nvSpPr>
        <p:spPr>
          <a:xfrm>
            <a:off x="365760" y="896112"/>
            <a:ext cx="8412480" cy="502920"/>
          </a:xfrm>
          <a:prstGeom prst="roundRect">
            <a:avLst>
              <a:gd name="adj" fmla="val 45455"/>
            </a:avLst>
          </a:prstGeom>
          <a:solidFill>
            <a:srgbClr val="2F9E44"/>
          </a:solidFill>
          <a:ln w="76200">
            <a:solidFill>
              <a:srgbClr val="2F9E44"/>
            </a:solidFill>
            <a:prstDash val="solid"/>
          </a:ln>
        </p:spPr>
      </p:sp>
      <p:sp>
        <p:nvSpPr>
          <p:cNvPr id="13" name="Title"/>
          <p:cNvSpPr txBox="1"/>
          <p:nvPr/>
        </p:nvSpPr>
        <p:spPr>
          <a:xfrm>
            <a:off x="365760" y="901700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Remember: the natural madd = 2 counts</a:t>
            </a:r>
            <a:endParaRPr lang="en-US" sz="2200" dirty="0"/>
          </a:p>
        </p:txBody>
      </p:sp>
      <p:sp>
        <p:nvSpPr>
          <p:cNvPr id="14" name="C1 circle"/>
          <p:cNvSpPr/>
          <p:nvPr/>
        </p:nvSpPr>
        <p:spPr>
          <a:xfrm>
            <a:off x="6400800" y="1691640"/>
            <a:ext cx="1097280" cy="1097280"/>
          </a:xfrm>
          <a:prstGeom prst="ellipse">
            <a:avLst/>
          </a:prstGeom>
          <a:solidFill>
            <a:srgbClr val="FFFFFF"/>
          </a:solidFill>
          <a:ln w="88900">
            <a:solidFill>
              <a:srgbClr val="2F9E44"/>
            </a:solidFill>
            <a:prstDash val="solid"/>
          </a:ln>
        </p:spPr>
      </p:sp>
      <p:sp>
        <p:nvSpPr>
          <p:cNvPr id="15" name="C1 letter"/>
          <p:cNvSpPr txBox="1"/>
          <p:nvPr/>
        </p:nvSpPr>
        <p:spPr>
          <a:xfrm>
            <a:off x="6400800" y="1702753"/>
            <a:ext cx="1097280" cy="1097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ـَا</a:t>
            </a:r>
            <a:endParaRPr lang="ar-SA" sz="3500" dirty="0"/>
          </a:p>
        </p:txBody>
      </p:sp>
      <p:sp>
        <p:nvSpPr>
          <p:cNvPr id="16" name="C1 name box"/>
          <p:cNvSpPr/>
          <p:nvPr/>
        </p:nvSpPr>
        <p:spPr>
          <a:xfrm>
            <a:off x="5888736" y="2898648"/>
            <a:ext cx="2121408" cy="59436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38100">
            <a:solidFill>
              <a:srgbClr val="F2B134"/>
            </a:solidFill>
            <a:prstDash val="solid"/>
          </a:ln>
        </p:spPr>
      </p:sp>
      <p:sp>
        <p:nvSpPr>
          <p:cNvPr id="17" name="C1 name"/>
          <p:cNvSpPr txBox="1"/>
          <p:nvPr/>
        </p:nvSpPr>
        <p:spPr>
          <a:xfrm>
            <a:off x="5888736" y="2906535"/>
            <a:ext cx="2121408" cy="594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قَالَ</a:t>
            </a:r>
            <a:endParaRPr lang="ar-SA" sz="2700" dirty="0"/>
          </a:p>
        </p:txBody>
      </p:sp>
      <p:sp>
        <p:nvSpPr>
          <p:cNvPr id="18" name="C1 badge"/>
          <p:cNvSpPr/>
          <p:nvPr/>
        </p:nvSpPr>
        <p:spPr>
          <a:xfrm>
            <a:off x="7223760" y="1581912"/>
            <a:ext cx="384048" cy="384048"/>
          </a:xfrm>
          <a:prstGeom prst="ellipse">
            <a:avLst/>
          </a:prstGeom>
          <a:solidFill>
            <a:srgbClr val="2F9E4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C1 count"/>
          <p:cNvSpPr txBox="1"/>
          <p:nvPr/>
        </p:nvSpPr>
        <p:spPr>
          <a:xfrm>
            <a:off x="7223760" y="1586040"/>
            <a:ext cx="384048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C2 circle"/>
          <p:cNvSpPr/>
          <p:nvPr/>
        </p:nvSpPr>
        <p:spPr>
          <a:xfrm>
            <a:off x="4023360" y="1691640"/>
            <a:ext cx="1097280" cy="1097280"/>
          </a:xfrm>
          <a:prstGeom prst="ellipse">
            <a:avLst/>
          </a:prstGeom>
          <a:solidFill>
            <a:srgbClr val="FFFFFF"/>
          </a:solidFill>
          <a:ln w="88900">
            <a:solidFill>
              <a:srgbClr val="2F9E44"/>
            </a:solidFill>
            <a:prstDash val="solid"/>
          </a:ln>
        </p:spPr>
      </p:sp>
      <p:sp>
        <p:nvSpPr>
          <p:cNvPr id="21" name="C2 letter"/>
          <p:cNvSpPr txBox="1"/>
          <p:nvPr/>
        </p:nvSpPr>
        <p:spPr>
          <a:xfrm>
            <a:off x="4023360" y="1676083"/>
            <a:ext cx="1097280" cy="1097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ـُو</a:t>
            </a:r>
            <a:endParaRPr lang="ar-SA" sz="3500" dirty="0"/>
          </a:p>
        </p:txBody>
      </p:sp>
      <p:sp>
        <p:nvSpPr>
          <p:cNvPr id="22" name="C2 name box"/>
          <p:cNvSpPr/>
          <p:nvPr/>
        </p:nvSpPr>
        <p:spPr>
          <a:xfrm>
            <a:off x="3511296" y="2898648"/>
            <a:ext cx="2121408" cy="59436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38100">
            <a:solidFill>
              <a:srgbClr val="F2B134"/>
            </a:solidFill>
            <a:prstDash val="solid"/>
          </a:ln>
        </p:spPr>
      </p:sp>
      <p:sp>
        <p:nvSpPr>
          <p:cNvPr id="23" name="C2 name"/>
          <p:cNvSpPr txBox="1"/>
          <p:nvPr/>
        </p:nvSpPr>
        <p:spPr>
          <a:xfrm>
            <a:off x="3511296" y="2921965"/>
            <a:ext cx="2121408" cy="594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يَقُولُ</a:t>
            </a:r>
            <a:endParaRPr lang="ar-SA" sz="2700" dirty="0"/>
          </a:p>
        </p:txBody>
      </p:sp>
      <p:sp>
        <p:nvSpPr>
          <p:cNvPr id="24" name="C2 badge"/>
          <p:cNvSpPr/>
          <p:nvPr/>
        </p:nvSpPr>
        <p:spPr>
          <a:xfrm>
            <a:off x="4846320" y="1581912"/>
            <a:ext cx="384048" cy="384048"/>
          </a:xfrm>
          <a:prstGeom prst="ellipse">
            <a:avLst/>
          </a:prstGeom>
          <a:solidFill>
            <a:srgbClr val="2F9E4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C2 count"/>
          <p:cNvSpPr txBox="1"/>
          <p:nvPr/>
        </p:nvSpPr>
        <p:spPr>
          <a:xfrm>
            <a:off x="4846320" y="1586040"/>
            <a:ext cx="384048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26" name="C3 circle"/>
          <p:cNvSpPr/>
          <p:nvPr/>
        </p:nvSpPr>
        <p:spPr>
          <a:xfrm>
            <a:off x="1645920" y="1691640"/>
            <a:ext cx="1097280" cy="1097280"/>
          </a:xfrm>
          <a:prstGeom prst="ellipse">
            <a:avLst/>
          </a:prstGeom>
          <a:solidFill>
            <a:srgbClr val="FFFFFF"/>
          </a:solidFill>
          <a:ln w="88900">
            <a:solidFill>
              <a:srgbClr val="2F9E44"/>
            </a:solidFill>
            <a:prstDash val="solid"/>
          </a:ln>
        </p:spPr>
      </p:sp>
      <p:sp>
        <p:nvSpPr>
          <p:cNvPr id="27" name="C3 letter"/>
          <p:cNvSpPr txBox="1"/>
          <p:nvPr/>
        </p:nvSpPr>
        <p:spPr>
          <a:xfrm>
            <a:off x="1645920" y="1500061"/>
            <a:ext cx="1097280" cy="1097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ـِي</a:t>
            </a:r>
            <a:endParaRPr lang="ar-SA" sz="3500" dirty="0"/>
          </a:p>
        </p:txBody>
      </p:sp>
      <p:sp>
        <p:nvSpPr>
          <p:cNvPr id="28" name="C3 name box"/>
          <p:cNvSpPr/>
          <p:nvPr/>
        </p:nvSpPr>
        <p:spPr>
          <a:xfrm>
            <a:off x="1133856" y="2898648"/>
            <a:ext cx="2121408" cy="59436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38100">
            <a:solidFill>
              <a:srgbClr val="F2B134"/>
            </a:solidFill>
            <a:prstDash val="solid"/>
          </a:ln>
        </p:spPr>
      </p:sp>
      <p:sp>
        <p:nvSpPr>
          <p:cNvPr id="29" name="C3 name"/>
          <p:cNvSpPr txBox="1"/>
          <p:nvPr/>
        </p:nvSpPr>
        <p:spPr>
          <a:xfrm>
            <a:off x="1133856" y="2905849"/>
            <a:ext cx="2121408" cy="594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قِيلَ</a:t>
            </a:r>
            <a:endParaRPr lang="ar-SA" sz="2700" dirty="0"/>
          </a:p>
        </p:txBody>
      </p:sp>
      <p:sp>
        <p:nvSpPr>
          <p:cNvPr id="30" name="C3 badge"/>
          <p:cNvSpPr/>
          <p:nvPr/>
        </p:nvSpPr>
        <p:spPr>
          <a:xfrm>
            <a:off x="2468880" y="1581912"/>
            <a:ext cx="384048" cy="384048"/>
          </a:xfrm>
          <a:prstGeom prst="ellipse">
            <a:avLst/>
          </a:prstGeom>
          <a:solidFill>
            <a:srgbClr val="2F9E4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C3 count"/>
          <p:cNvSpPr txBox="1"/>
          <p:nvPr/>
        </p:nvSpPr>
        <p:spPr>
          <a:xfrm>
            <a:off x="2468880" y="1586040"/>
            <a:ext cx="384048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32" name="C4 tip box"/>
          <p:cNvSpPr/>
          <p:nvPr/>
        </p:nvSpPr>
        <p:spPr>
          <a:xfrm>
            <a:off x="365760" y="3520440"/>
            <a:ext cx="8412480" cy="713232"/>
          </a:xfrm>
          <a:prstGeom prst="roundRect">
            <a:avLst>
              <a:gd name="adj" fmla="val 32051"/>
            </a:avLst>
          </a:prstGeom>
          <a:solidFill>
            <a:srgbClr val="FFFFFF"/>
          </a:solidFill>
          <a:ln w="76200">
            <a:solidFill>
              <a:srgbClr val="2F9E44"/>
            </a:solidFill>
            <a:prstDash val="solid"/>
          </a:ln>
        </p:spPr>
      </p:sp>
      <p:sp>
        <p:nvSpPr>
          <p:cNvPr id="33" name="C4 tip"/>
          <p:cNvSpPr txBox="1"/>
          <p:nvPr/>
        </p:nvSpPr>
        <p:spPr>
          <a:xfrm>
            <a:off x="502920" y="3528568"/>
            <a:ext cx="8138160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Alif after fathah, waw after dammah, yaa after kasrah: 2 counts</a:t>
            </a:r>
            <a:endParaRPr lang="en-US" sz="19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C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Title box"/>
          <p:cNvSpPr/>
          <p:nvPr/>
        </p:nvSpPr>
        <p:spPr>
          <a:xfrm>
            <a:off x="365760" y="896112"/>
            <a:ext cx="8412480" cy="502920"/>
          </a:xfrm>
          <a:prstGeom prst="roundRect">
            <a:avLst>
              <a:gd name="adj" fmla="val 45455"/>
            </a:avLst>
          </a:prstGeom>
          <a:solidFill>
            <a:srgbClr val="1971C2"/>
          </a:solidFill>
          <a:ln w="76200">
            <a:solidFill>
              <a:srgbClr val="1971C2"/>
            </a:solidFill>
            <a:prstDash val="solid"/>
          </a:ln>
        </p:spPr>
      </p:sp>
      <p:sp>
        <p:nvSpPr>
          <p:cNvPr id="11" name="Title"/>
          <p:cNvSpPr txBox="1"/>
          <p:nvPr/>
        </p:nvSpPr>
        <p:spPr>
          <a:xfrm>
            <a:off x="365760" y="877824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a madd longer?</a:t>
            </a:r>
            <a:endParaRPr lang="en-US" sz="1800" dirty="0"/>
          </a:p>
        </p:txBody>
      </p:sp>
      <p:sp>
        <p:nvSpPr>
          <p:cNvPr id="12" name="Lines panel"/>
          <p:cNvSpPr/>
          <p:nvPr/>
        </p:nvSpPr>
        <p:spPr>
          <a:xfrm>
            <a:off x="365760" y="1536192"/>
            <a:ext cx="8412480" cy="2697480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76200">
            <a:solidFill>
              <a:srgbClr val="1971C2"/>
            </a:solidFill>
            <a:prstDash val="solid"/>
          </a:ln>
        </p:spPr>
      </p:sp>
      <p:sp>
        <p:nvSpPr>
          <p:cNvPr id="13" name="C1 line 1"/>
          <p:cNvSpPr txBox="1"/>
          <p:nvPr/>
        </p:nvSpPr>
        <p:spPr>
          <a:xfrm>
            <a:off x="502920" y="1646301"/>
            <a:ext cx="813816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causes only:</a:t>
            </a:r>
            <a:endParaRPr lang="en-US" sz="2100" dirty="0"/>
          </a:p>
        </p:txBody>
      </p:sp>
      <p:sp>
        <p:nvSpPr>
          <p:cNvPr id="14" name="C2 line 2"/>
          <p:cNvSpPr txBox="1"/>
          <p:nvPr/>
        </p:nvSpPr>
        <p:spPr>
          <a:xfrm>
            <a:off x="502920" y="2274951"/>
            <a:ext cx="813816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a HAMZA  ( ء )  next to the madd letter</a:t>
            </a:r>
            <a:endParaRPr lang="en-US" sz="2100" dirty="0"/>
          </a:p>
        </p:txBody>
      </p:sp>
      <p:sp>
        <p:nvSpPr>
          <p:cNvPr id="15" name="C3 line 3"/>
          <p:cNvSpPr txBox="1"/>
          <p:nvPr/>
        </p:nvSpPr>
        <p:spPr>
          <a:xfrm>
            <a:off x="502920" y="2903601"/>
            <a:ext cx="813816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a SUKUN (a silent letter) after the madd letter</a:t>
            </a:r>
            <a:endParaRPr lang="en-US" sz="2100" dirty="0"/>
          </a:p>
        </p:txBody>
      </p:sp>
      <p:sp>
        <p:nvSpPr>
          <p:cNvPr id="16" name="C4 line 4"/>
          <p:cNvSpPr txBox="1"/>
          <p:nvPr/>
        </p:nvSpPr>
        <p:spPr>
          <a:xfrm>
            <a:off x="502920" y="3540252"/>
            <a:ext cx="813816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cause  →  natural madd, 2 counts.</a:t>
            </a:r>
            <a:endParaRPr lang="en-US" sz="21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5F7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64"/>
          </a:solidFill>
          <a:ln w="12700">
            <a:solidFill>
              <a:srgbClr val="5EED64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Title box"/>
          <p:cNvSpPr/>
          <p:nvPr/>
        </p:nvSpPr>
        <p:spPr>
          <a:xfrm>
            <a:off x="365760" y="896112"/>
            <a:ext cx="8412480" cy="502920"/>
          </a:xfrm>
          <a:prstGeom prst="roundRect">
            <a:avLst>
              <a:gd name="adj" fmla="val 45455"/>
            </a:avLst>
          </a:prstGeom>
          <a:solidFill>
            <a:srgbClr val="1971C2"/>
          </a:solidFill>
          <a:ln w="76200">
            <a:solidFill>
              <a:srgbClr val="1971C2"/>
            </a:solidFill>
            <a:prstDash val="solid"/>
          </a:ln>
        </p:spPr>
      </p:sp>
      <p:sp>
        <p:nvSpPr>
          <p:cNvPr id="19" name="Title"/>
          <p:cNvSpPr txBox="1"/>
          <p:nvPr/>
        </p:nvSpPr>
        <p:spPr>
          <a:xfrm>
            <a:off x="365760" y="877824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madd sign  ~</a:t>
            </a:r>
            <a:endParaRPr lang="en-US" sz="1800" dirty="0"/>
          </a:p>
        </p:txBody>
      </p:sp>
      <p:sp>
        <p:nvSpPr>
          <p:cNvPr id="20" name="Lines panel"/>
          <p:cNvSpPr/>
          <p:nvPr/>
        </p:nvSpPr>
        <p:spPr>
          <a:xfrm>
            <a:off x="365760" y="1536192"/>
            <a:ext cx="5486400" cy="2697480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76200">
            <a:solidFill>
              <a:srgbClr val="1971C2"/>
            </a:solidFill>
            <a:prstDash val="solid"/>
          </a:ln>
        </p:spPr>
      </p:sp>
      <p:sp>
        <p:nvSpPr>
          <p:cNvPr id="21" name="C1 line 1"/>
          <p:cNvSpPr txBox="1"/>
          <p:nvPr/>
        </p:nvSpPr>
        <p:spPr>
          <a:xfrm>
            <a:off x="502920" y="1671193"/>
            <a:ext cx="521208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Mushaf a small wave  ~  over a madd letter</a:t>
            </a:r>
            <a:endParaRPr lang="en-US" sz="1400" dirty="0"/>
          </a:p>
        </p:txBody>
      </p:sp>
      <p:sp>
        <p:nvSpPr>
          <p:cNvPr id="22" name="C2 line 2"/>
          <p:cNvSpPr txBox="1"/>
          <p:nvPr/>
        </p:nvSpPr>
        <p:spPr>
          <a:xfrm>
            <a:off x="502920" y="2299843"/>
            <a:ext cx="521208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means: stretch MORE than 2 counts.</a:t>
            </a:r>
            <a:endParaRPr lang="en-US" sz="1400" dirty="0"/>
          </a:p>
        </p:txBody>
      </p:sp>
      <p:sp>
        <p:nvSpPr>
          <p:cNvPr id="23" name="C3 line 3"/>
          <p:cNvSpPr txBox="1"/>
          <p:nvPr/>
        </p:nvSpPr>
        <p:spPr>
          <a:xfrm>
            <a:off x="502920" y="2916047"/>
            <a:ext cx="521208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will see it in: Muttasil, Munfasil, Lazim.</a:t>
            </a:r>
            <a:endParaRPr lang="en-US" sz="1400" dirty="0"/>
          </a:p>
        </p:txBody>
      </p:sp>
      <p:sp>
        <p:nvSpPr>
          <p:cNvPr id="24" name="C4 line 4"/>
          <p:cNvSpPr txBox="1"/>
          <p:nvPr/>
        </p:nvSpPr>
        <p:spPr>
          <a:xfrm>
            <a:off x="502920" y="3539363"/>
            <a:ext cx="521208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wave on: Badal, 'Arid, Leen (you must know them).</a:t>
            </a:r>
            <a:endParaRPr lang="en-US" sz="1400" dirty="0"/>
          </a:p>
        </p:txBody>
      </p:sp>
      <p:sp>
        <p:nvSpPr>
          <p:cNvPr id="25" name="Arabic panel"/>
          <p:cNvSpPr/>
          <p:nvPr/>
        </p:nvSpPr>
        <p:spPr>
          <a:xfrm>
            <a:off x="6035040" y="1536192"/>
            <a:ext cx="2743200" cy="2697480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76200">
            <a:solidFill>
              <a:srgbClr val="1971C2"/>
            </a:solidFill>
            <a:prstDash val="solid"/>
          </a:ln>
        </p:spPr>
      </p:sp>
      <p:sp>
        <p:nvSpPr>
          <p:cNvPr id="26" name="Arabic sample"/>
          <p:cNvSpPr txBox="1"/>
          <p:nvPr/>
        </p:nvSpPr>
        <p:spPr>
          <a:xfrm>
            <a:off x="6035040" y="1733169"/>
            <a:ext cx="2743200" cy="2697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14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r>
              <a:rPr lang="ar-SA" altLang="en-US" sz="14100" dirty="0">
                <a:solidFill>
                  <a:srgbClr val="2F9E44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آ</a:t>
            </a:r>
            <a:endParaRPr lang="ar-SA" sz="141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3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C9"/>
          </a:solidFill>
          <a:ln w="12700">
            <a:solidFill>
              <a:srgbClr val="E052C9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AE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4DB70"/>
          </a:solidFill>
          <a:ln w="12700">
            <a:solidFill>
              <a:srgbClr val="94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85"/>
          </a:solidFill>
          <a:ln w="12700">
            <a:solidFill>
              <a:srgbClr val="478585"/>
            </a:solidFill>
            <a:prstDash val="solid"/>
          </a:ln>
        </p:spPr>
      </p:sp>
      <p:sp>
        <p:nvSpPr>
          <p:cNvPr id="15" name="Title box"/>
          <p:cNvSpPr/>
          <p:nvPr/>
        </p:nvSpPr>
        <p:spPr>
          <a:xfrm>
            <a:off x="365760" y="896112"/>
            <a:ext cx="8412480" cy="502920"/>
          </a:xfrm>
          <a:prstGeom prst="roundRect">
            <a:avLst>
              <a:gd name="adj" fmla="val 45455"/>
            </a:avLst>
          </a:prstGeom>
          <a:solidFill>
            <a:srgbClr val="C2255C"/>
          </a:solidFill>
          <a:ln w="76200">
            <a:solidFill>
              <a:srgbClr val="C2255C"/>
            </a:solidFill>
            <a:prstDash val="solid"/>
          </a:ln>
        </p:spPr>
      </p:sp>
      <p:sp>
        <p:nvSpPr>
          <p:cNvPr id="16" name="Title"/>
          <p:cNvSpPr txBox="1"/>
          <p:nvPr/>
        </p:nvSpPr>
        <p:spPr>
          <a:xfrm>
            <a:off x="365760" y="877824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Madd Muttasil (connected) — obligatory</a:t>
            </a:r>
            <a:endParaRPr lang="en-US" sz="1800" dirty="0"/>
          </a:p>
        </p:txBody>
      </p:sp>
      <p:sp>
        <p:nvSpPr>
          <p:cNvPr id="17" name="Lines panel"/>
          <p:cNvSpPr/>
          <p:nvPr/>
        </p:nvSpPr>
        <p:spPr>
          <a:xfrm>
            <a:off x="365760" y="1536192"/>
            <a:ext cx="5486400" cy="2697480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76200">
            <a:solidFill>
              <a:srgbClr val="C2255C"/>
            </a:solidFill>
            <a:prstDash val="solid"/>
          </a:ln>
        </p:spPr>
      </p:sp>
      <p:sp>
        <p:nvSpPr>
          <p:cNvPr id="18" name="C1 line 1"/>
          <p:cNvSpPr txBox="1"/>
          <p:nvPr/>
        </p:nvSpPr>
        <p:spPr>
          <a:xfrm>
            <a:off x="502920" y="1672209"/>
            <a:ext cx="521208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Madd letter + hamza in the SAME word.</a:t>
            </a:r>
            <a:endParaRPr lang="en-US" sz="1800" dirty="0"/>
          </a:p>
        </p:txBody>
      </p:sp>
      <p:sp>
        <p:nvSpPr>
          <p:cNvPr id="19" name="C2 line 2"/>
          <p:cNvSpPr txBox="1"/>
          <p:nvPr/>
        </p:nvSpPr>
        <p:spPr>
          <a:xfrm>
            <a:off x="502920" y="2300859"/>
            <a:ext cx="521208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Stretch 4 or 5 counts.</a:t>
            </a:r>
            <a:endParaRPr lang="en-US" sz="1800" dirty="0"/>
          </a:p>
        </p:txBody>
      </p:sp>
      <p:sp>
        <p:nvSpPr>
          <p:cNvPr id="20" name="C3 line 3"/>
          <p:cNvSpPr txBox="1"/>
          <p:nvPr/>
        </p:nvSpPr>
        <p:spPr>
          <a:xfrm>
            <a:off x="502920" y="2906649"/>
            <a:ext cx="521208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Stopping on the hamza at the end: up to 6.</a:t>
            </a:r>
            <a:endParaRPr lang="en-US" sz="1800" dirty="0"/>
          </a:p>
        </p:txBody>
      </p:sp>
      <p:sp>
        <p:nvSpPr>
          <p:cNvPr id="21" name="C4 line 4"/>
          <p:cNvSpPr txBox="1"/>
          <p:nvPr/>
        </p:nvSpPr>
        <p:spPr>
          <a:xfrm>
            <a:off x="502920" y="3558159"/>
            <a:ext cx="521208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Mushaf shows  ~ .</a:t>
            </a:r>
            <a:endParaRPr lang="en-US" sz="1800" dirty="0"/>
          </a:p>
        </p:txBody>
      </p:sp>
      <p:sp>
        <p:nvSpPr>
          <p:cNvPr id="22" name="Arabic panel"/>
          <p:cNvSpPr/>
          <p:nvPr/>
        </p:nvSpPr>
        <p:spPr>
          <a:xfrm>
            <a:off x="6035040" y="1536192"/>
            <a:ext cx="2743200" cy="2697480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76200">
            <a:solidFill>
              <a:srgbClr val="C2255C"/>
            </a:solidFill>
            <a:prstDash val="solid"/>
          </a:ln>
        </p:spPr>
      </p:sp>
      <p:sp>
        <p:nvSpPr>
          <p:cNvPr id="23" name="Arabic sample"/>
          <p:cNvSpPr txBox="1"/>
          <p:nvPr/>
        </p:nvSpPr>
        <p:spPr>
          <a:xfrm>
            <a:off x="6035040" y="1578127"/>
            <a:ext cx="2743200" cy="2697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1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r>
              <a:rPr lang="ar-SA" altLang="en-US" sz="12700" dirty="0">
                <a:solidFill>
                  <a:srgbClr val="2F9E44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آ</a:t>
            </a:r>
            <a:r>
              <a:rPr lang="ar-SA" altLang="en-US" sz="12700" dirty="0">
                <a:solidFill>
                  <a:srgbClr val="E03131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ءَ</a:t>
            </a:r>
            <a:endParaRPr lang="ar-SA" sz="127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DD864"/>
          </a:solidFill>
          <a:ln w="12700">
            <a:solidFill>
              <a:srgbClr val="AD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4D147"/>
          </a:solidFill>
          <a:ln w="12700">
            <a:solidFill>
              <a:srgbClr val="B4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Title box"/>
          <p:cNvSpPr/>
          <p:nvPr/>
        </p:nvSpPr>
        <p:spPr>
          <a:xfrm>
            <a:off x="365760" y="896112"/>
            <a:ext cx="8412480" cy="502920"/>
          </a:xfrm>
          <a:prstGeom prst="roundRect">
            <a:avLst>
              <a:gd name="adj" fmla="val 45455"/>
            </a:avLst>
          </a:prstGeom>
          <a:solidFill>
            <a:srgbClr val="C2255C"/>
          </a:solidFill>
          <a:ln w="76200">
            <a:solidFill>
              <a:srgbClr val="C2255C"/>
            </a:solidFill>
            <a:prstDash val="solid"/>
          </a:ln>
        </p:spPr>
      </p:sp>
      <p:sp>
        <p:nvSpPr>
          <p:cNvPr id="11" name="Title"/>
          <p:cNvSpPr txBox="1"/>
          <p:nvPr/>
        </p:nvSpPr>
        <p:spPr>
          <a:xfrm>
            <a:off x="365760" y="901700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Muttasil: madd + hamza in one word</a:t>
            </a:r>
            <a:endParaRPr lang="en-US" sz="2200" dirty="0"/>
          </a:p>
        </p:txBody>
      </p:sp>
      <p:sp>
        <p:nvSpPr>
          <p:cNvPr id="12" name="Mushaf panel"/>
          <p:cNvSpPr/>
          <p:nvPr/>
        </p:nvSpPr>
        <p:spPr>
          <a:xfrm>
            <a:off x="489204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76200">
            <a:solidFill>
              <a:srgbClr val="2F9E44"/>
            </a:solidFill>
            <a:prstDash val="solid"/>
          </a:ln>
        </p:spPr>
      </p:sp>
      <p:sp>
        <p:nvSpPr>
          <p:cNvPr id="13" name="Read panel"/>
          <p:cNvSpPr/>
          <p:nvPr/>
        </p:nvSpPr>
        <p:spPr>
          <a:xfrm>
            <a:off x="36576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mushaf"/>
          <p:cNvSpPr txBox="1"/>
          <p:nvPr/>
        </p:nvSpPr>
        <p:spPr>
          <a:xfrm>
            <a:off x="4892040" y="1697076"/>
            <a:ext cx="3886200" cy="1353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جَآءَ</a:t>
            </a:r>
            <a:endParaRPr lang="ar-SA" sz="5800" dirty="0"/>
          </a:p>
        </p:txBody>
      </p:sp>
      <p:sp>
        <p:nvSpPr>
          <p:cNvPr id="15" name="C2 arrow"/>
          <p:cNvSpPr/>
          <p:nvPr/>
        </p:nvSpPr>
        <p:spPr>
          <a:xfrm>
            <a:off x="4315968" y="2125980"/>
            <a:ext cx="512064" cy="457200"/>
          </a:xfrm>
          <a:prstGeom prst="leftArrow">
            <a:avLst/>
          </a:prstGeom>
          <a:solidFill>
            <a:srgbClr val="8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2 read arabic"/>
          <p:cNvSpPr txBox="1"/>
          <p:nvPr/>
        </p:nvSpPr>
        <p:spPr>
          <a:xfrm>
            <a:off x="365760" y="1521308"/>
            <a:ext cx="3886200" cy="9811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r>
              <a:rPr lang="ar-SA" altLang="en-US" sz="3800" dirty="0">
                <a:solidFill>
                  <a:srgbClr val="2F9E44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آ</a:t>
            </a:r>
            <a:r>
              <a:rPr lang="ar-SA" altLang="en-US" sz="3800" dirty="0">
                <a:solidFill>
                  <a:srgbClr val="E03131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ءَ</a:t>
            </a:r>
            <a:endParaRPr lang="ar-SA" sz="3800" dirty="0"/>
          </a:p>
        </p:txBody>
      </p:sp>
      <p:sp>
        <p:nvSpPr>
          <p:cNvPr id="17" name="C2 read sounds"/>
          <p:cNvSpPr txBox="1"/>
          <p:nvPr/>
        </p:nvSpPr>
        <p:spPr>
          <a:xfrm>
            <a:off x="457200" y="2457907"/>
            <a:ext cx="3703320" cy="637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Jaaaa-'a</a:t>
            </a:r>
            <a:endParaRPr lang="en-US" sz="2800" dirty="0"/>
          </a:p>
        </p:txBody>
      </p:sp>
      <p:sp>
        <p:nvSpPr>
          <p:cNvPr id="18" name="C3 tip box"/>
          <p:cNvSpPr/>
          <p:nvPr/>
        </p:nvSpPr>
        <p:spPr>
          <a:xfrm>
            <a:off x="365760" y="3364992"/>
            <a:ext cx="8412480" cy="841248"/>
          </a:xfrm>
          <a:prstGeom prst="roundRect">
            <a:avLst>
              <a:gd name="adj" fmla="val 27174"/>
            </a:avLst>
          </a:prstGeom>
          <a:solidFill>
            <a:srgbClr val="FFFFFF"/>
          </a:solidFill>
          <a:ln w="76200">
            <a:solidFill>
              <a:srgbClr val="C2255C"/>
            </a:solidFill>
            <a:prstDash val="solid"/>
          </a:ln>
        </p:spPr>
      </p:sp>
      <p:sp>
        <p:nvSpPr>
          <p:cNvPr id="19" name="C3 tip"/>
          <p:cNvSpPr txBox="1"/>
          <p:nvPr/>
        </p:nvSpPr>
        <p:spPr>
          <a:xfrm>
            <a:off x="502920" y="3387598"/>
            <a:ext cx="8138160" cy="7680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Alif, then hamza in the same word  →  4 or 5 counts</a:t>
            </a:r>
            <a:endParaRPr lang="en-US" sz="2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5E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Title box"/>
          <p:cNvSpPr/>
          <p:nvPr/>
        </p:nvSpPr>
        <p:spPr>
          <a:xfrm>
            <a:off x="365760" y="896112"/>
            <a:ext cx="8412480" cy="502920"/>
          </a:xfrm>
          <a:prstGeom prst="roundRect">
            <a:avLst>
              <a:gd name="adj" fmla="val 45455"/>
            </a:avLst>
          </a:prstGeom>
          <a:solidFill>
            <a:srgbClr val="C2255C"/>
          </a:solidFill>
          <a:ln w="76200">
            <a:solidFill>
              <a:srgbClr val="C2255C"/>
            </a:solidFill>
            <a:prstDash val="solid"/>
          </a:ln>
        </p:spPr>
      </p:sp>
      <p:sp>
        <p:nvSpPr>
          <p:cNvPr id="12" name="Title"/>
          <p:cNvSpPr txBox="1"/>
          <p:nvPr/>
        </p:nvSpPr>
        <p:spPr>
          <a:xfrm>
            <a:off x="365760" y="901700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Muttasil: madd + hamza in one word</a:t>
            </a:r>
            <a:endParaRPr lang="en-US" sz="2200" dirty="0"/>
          </a:p>
        </p:txBody>
      </p:sp>
      <p:sp>
        <p:nvSpPr>
          <p:cNvPr id="13" name="Mushaf panel"/>
          <p:cNvSpPr/>
          <p:nvPr/>
        </p:nvSpPr>
        <p:spPr>
          <a:xfrm>
            <a:off x="489204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76200">
            <a:solidFill>
              <a:srgbClr val="2F9E44"/>
            </a:solidFill>
            <a:prstDash val="solid"/>
          </a:ln>
        </p:spPr>
      </p:sp>
      <p:sp>
        <p:nvSpPr>
          <p:cNvPr id="14" name="Read panel"/>
          <p:cNvSpPr/>
          <p:nvPr/>
        </p:nvSpPr>
        <p:spPr>
          <a:xfrm>
            <a:off x="36576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mushaf"/>
          <p:cNvSpPr txBox="1"/>
          <p:nvPr/>
        </p:nvSpPr>
        <p:spPr>
          <a:xfrm>
            <a:off x="4892040" y="1700022"/>
            <a:ext cx="3886200" cy="1353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ٱلسَّمَآءِ</a:t>
            </a:r>
            <a:endParaRPr lang="ar-SA" sz="5800" dirty="0"/>
          </a:p>
        </p:txBody>
      </p:sp>
      <p:sp>
        <p:nvSpPr>
          <p:cNvPr id="16" name="C2 arrow"/>
          <p:cNvSpPr/>
          <p:nvPr/>
        </p:nvSpPr>
        <p:spPr>
          <a:xfrm>
            <a:off x="4315968" y="2125980"/>
            <a:ext cx="512064" cy="457200"/>
          </a:xfrm>
          <a:prstGeom prst="leftArrow">
            <a:avLst/>
          </a:prstGeom>
          <a:solidFill>
            <a:srgbClr val="B8A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2 read arabic"/>
          <p:cNvSpPr txBox="1"/>
          <p:nvPr/>
        </p:nvSpPr>
        <p:spPr>
          <a:xfrm>
            <a:off x="365760" y="1523238"/>
            <a:ext cx="3886200" cy="9811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ٱلسَّمَ</a:t>
            </a:r>
            <a:r>
              <a:rPr lang="ar-SA" altLang="en-US" sz="3800" dirty="0">
                <a:solidFill>
                  <a:srgbClr val="2F9E44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آ</a:t>
            </a:r>
            <a:r>
              <a:rPr lang="ar-SA" altLang="en-US" sz="3800" dirty="0">
                <a:solidFill>
                  <a:srgbClr val="E03131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ءِ</a:t>
            </a:r>
            <a:endParaRPr lang="ar-SA" sz="3800" dirty="0"/>
          </a:p>
        </p:txBody>
      </p:sp>
      <p:sp>
        <p:nvSpPr>
          <p:cNvPr id="18" name="C2 read sounds"/>
          <p:cNvSpPr txBox="1"/>
          <p:nvPr/>
        </p:nvSpPr>
        <p:spPr>
          <a:xfrm>
            <a:off x="457200" y="2497531"/>
            <a:ext cx="3703320" cy="637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As-sa-maaaa-'i</a:t>
            </a:r>
            <a:endParaRPr lang="en-US" sz="3000" dirty="0"/>
          </a:p>
        </p:txBody>
      </p:sp>
      <p:sp>
        <p:nvSpPr>
          <p:cNvPr id="19" name="C3 tip box"/>
          <p:cNvSpPr/>
          <p:nvPr/>
        </p:nvSpPr>
        <p:spPr>
          <a:xfrm>
            <a:off x="365760" y="3364992"/>
            <a:ext cx="8412480" cy="841248"/>
          </a:xfrm>
          <a:prstGeom prst="roundRect">
            <a:avLst>
              <a:gd name="adj" fmla="val 27174"/>
            </a:avLst>
          </a:prstGeom>
          <a:solidFill>
            <a:srgbClr val="FFFFFF"/>
          </a:solidFill>
          <a:ln w="76200">
            <a:solidFill>
              <a:srgbClr val="C2255C"/>
            </a:solidFill>
            <a:prstDash val="solid"/>
          </a:ln>
        </p:spPr>
      </p:sp>
      <p:sp>
        <p:nvSpPr>
          <p:cNvPr id="20" name="C3 tip"/>
          <p:cNvSpPr txBox="1"/>
          <p:nvPr/>
        </p:nvSpPr>
        <p:spPr>
          <a:xfrm>
            <a:off x="502920" y="3379216"/>
            <a:ext cx="8138160" cy="7680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or 5 counts  (6 if you stop on the hamza)</a:t>
            </a:r>
            <a:endParaRPr lang="en-US" sz="22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314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D2B"/>
          </a:solidFill>
          <a:ln w="12700">
            <a:solidFill>
              <a:srgbClr val="642D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A34"/>
          </a:solidFill>
          <a:ln w="12700">
            <a:solidFill>
              <a:srgbClr val="795A34"/>
            </a:solidFill>
            <a:prstDash val="solid"/>
          </a:ln>
        </p:spPr>
      </p:sp>
      <p:sp>
        <p:nvSpPr>
          <p:cNvPr id="12" name="Title box"/>
          <p:cNvSpPr/>
          <p:nvPr/>
        </p:nvSpPr>
        <p:spPr>
          <a:xfrm>
            <a:off x="365760" y="896112"/>
            <a:ext cx="8412480" cy="502920"/>
          </a:xfrm>
          <a:prstGeom prst="roundRect">
            <a:avLst>
              <a:gd name="adj" fmla="val 45455"/>
            </a:avLst>
          </a:prstGeom>
          <a:solidFill>
            <a:srgbClr val="C2255C"/>
          </a:solidFill>
          <a:ln w="76200">
            <a:solidFill>
              <a:srgbClr val="C2255C"/>
            </a:solidFill>
            <a:prstDash val="solid"/>
          </a:ln>
        </p:spPr>
      </p:sp>
      <p:sp>
        <p:nvSpPr>
          <p:cNvPr id="13" name="Title"/>
          <p:cNvSpPr txBox="1"/>
          <p:nvPr/>
        </p:nvSpPr>
        <p:spPr>
          <a:xfrm>
            <a:off x="365760" y="901700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Muttasil: madd + hamza in one word</a:t>
            </a:r>
            <a:endParaRPr lang="en-US" sz="2200" dirty="0"/>
          </a:p>
        </p:txBody>
      </p:sp>
      <p:sp>
        <p:nvSpPr>
          <p:cNvPr id="14" name="Mushaf panel"/>
          <p:cNvSpPr/>
          <p:nvPr/>
        </p:nvSpPr>
        <p:spPr>
          <a:xfrm>
            <a:off x="489204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76200">
            <a:solidFill>
              <a:srgbClr val="2F9E44"/>
            </a:solidFill>
            <a:prstDash val="solid"/>
          </a:ln>
        </p:spPr>
      </p:sp>
      <p:sp>
        <p:nvSpPr>
          <p:cNvPr id="15" name="Read panel"/>
          <p:cNvSpPr/>
          <p:nvPr/>
        </p:nvSpPr>
        <p:spPr>
          <a:xfrm>
            <a:off x="36576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mushaf"/>
          <p:cNvSpPr txBox="1"/>
          <p:nvPr/>
        </p:nvSpPr>
        <p:spPr>
          <a:xfrm>
            <a:off x="4892040" y="1529898"/>
            <a:ext cx="3886200" cy="1353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سِيٓءَ بِهِمۡ</a:t>
            </a:r>
            <a:endParaRPr lang="ar-SA" sz="5700" dirty="0"/>
          </a:p>
        </p:txBody>
      </p:sp>
      <p:sp>
        <p:nvSpPr>
          <p:cNvPr id="17" name="C2 arrow"/>
          <p:cNvSpPr/>
          <p:nvPr/>
        </p:nvSpPr>
        <p:spPr>
          <a:xfrm>
            <a:off x="4315968" y="2125980"/>
            <a:ext cx="512064" cy="457200"/>
          </a:xfrm>
          <a:prstGeom prst="leftArrow">
            <a:avLst/>
          </a:prstGeom>
          <a:solidFill>
            <a:srgbClr val="2E9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2 read arabic"/>
          <p:cNvSpPr txBox="1"/>
          <p:nvPr/>
        </p:nvSpPr>
        <p:spPr>
          <a:xfrm>
            <a:off x="365760" y="1412673"/>
            <a:ext cx="3886200" cy="9811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سِ</a:t>
            </a:r>
            <a:r>
              <a:rPr lang="ar-SA" altLang="en-US" sz="3700" dirty="0">
                <a:solidFill>
                  <a:srgbClr val="2F9E44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يٓ</a:t>
            </a:r>
            <a:r>
              <a:rPr lang="ar-SA" altLang="en-US" sz="3700" dirty="0">
                <a:solidFill>
                  <a:srgbClr val="E03131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ءَ</a:t>
            </a: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 بِهِمۡ</a:t>
            </a:r>
            <a:endParaRPr lang="ar-SA" sz="3700" dirty="0"/>
          </a:p>
        </p:txBody>
      </p:sp>
      <p:sp>
        <p:nvSpPr>
          <p:cNvPr id="19" name="C2 read sounds"/>
          <p:cNvSpPr txBox="1"/>
          <p:nvPr/>
        </p:nvSpPr>
        <p:spPr>
          <a:xfrm>
            <a:off x="457200" y="2497531"/>
            <a:ext cx="3703320" cy="637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Seeee-'a bi-him</a:t>
            </a:r>
            <a:endParaRPr lang="en-US" sz="3000" dirty="0"/>
          </a:p>
        </p:txBody>
      </p:sp>
      <p:sp>
        <p:nvSpPr>
          <p:cNvPr id="20" name="C3 tip box"/>
          <p:cNvSpPr/>
          <p:nvPr/>
        </p:nvSpPr>
        <p:spPr>
          <a:xfrm>
            <a:off x="365760" y="3364992"/>
            <a:ext cx="8412480" cy="841248"/>
          </a:xfrm>
          <a:prstGeom prst="roundRect">
            <a:avLst>
              <a:gd name="adj" fmla="val 27174"/>
            </a:avLst>
          </a:prstGeom>
          <a:solidFill>
            <a:srgbClr val="FFFFFF"/>
          </a:solidFill>
          <a:ln w="76200">
            <a:solidFill>
              <a:srgbClr val="C2255C"/>
            </a:solidFill>
            <a:prstDash val="solid"/>
          </a:ln>
        </p:spPr>
      </p:sp>
      <p:sp>
        <p:nvSpPr>
          <p:cNvPr id="21" name="C3 tip"/>
          <p:cNvSpPr txBox="1"/>
          <p:nvPr/>
        </p:nvSpPr>
        <p:spPr>
          <a:xfrm>
            <a:off x="502920" y="3387598"/>
            <a:ext cx="8138160" cy="7680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Yaa, then hamza in the same word  →  4 or 5 counts</a:t>
            </a:r>
            <a:endParaRPr lang="en-US" sz="2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C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Title box"/>
          <p:cNvSpPr/>
          <p:nvPr/>
        </p:nvSpPr>
        <p:spPr>
          <a:xfrm>
            <a:off x="365760" y="896112"/>
            <a:ext cx="8412480" cy="502920"/>
          </a:xfrm>
          <a:prstGeom prst="roundRect">
            <a:avLst>
              <a:gd name="adj" fmla="val 45455"/>
            </a:avLst>
          </a:prstGeom>
          <a:solidFill>
            <a:srgbClr val="C2255C"/>
          </a:solidFill>
          <a:ln w="76200">
            <a:solidFill>
              <a:srgbClr val="C2255C"/>
            </a:solidFill>
            <a:prstDash val="solid"/>
          </a:ln>
        </p:spPr>
      </p:sp>
      <p:sp>
        <p:nvSpPr>
          <p:cNvPr id="11" name="Title"/>
          <p:cNvSpPr txBox="1"/>
          <p:nvPr/>
        </p:nvSpPr>
        <p:spPr>
          <a:xfrm>
            <a:off x="365760" y="901700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Muttasil: madd + hamza in one word</a:t>
            </a:r>
            <a:endParaRPr lang="en-US" sz="2200" dirty="0"/>
          </a:p>
        </p:txBody>
      </p:sp>
      <p:sp>
        <p:nvSpPr>
          <p:cNvPr id="12" name="Mushaf panel"/>
          <p:cNvSpPr/>
          <p:nvPr/>
        </p:nvSpPr>
        <p:spPr>
          <a:xfrm>
            <a:off x="489204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76200">
            <a:solidFill>
              <a:srgbClr val="2F9E44"/>
            </a:solidFill>
            <a:prstDash val="solid"/>
          </a:ln>
        </p:spPr>
      </p:sp>
      <p:sp>
        <p:nvSpPr>
          <p:cNvPr id="13" name="Read panel"/>
          <p:cNvSpPr/>
          <p:nvPr/>
        </p:nvSpPr>
        <p:spPr>
          <a:xfrm>
            <a:off x="36576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mushaf"/>
          <p:cNvSpPr txBox="1"/>
          <p:nvPr/>
        </p:nvSpPr>
        <p:spPr>
          <a:xfrm>
            <a:off x="4892040" y="1798206"/>
            <a:ext cx="3886200" cy="1353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أُو۟لَٰٓئِكَ</a:t>
            </a:r>
            <a:endParaRPr lang="ar-SA" sz="4200" dirty="0"/>
          </a:p>
        </p:txBody>
      </p:sp>
      <p:sp>
        <p:nvSpPr>
          <p:cNvPr id="15" name="C2 arrow"/>
          <p:cNvSpPr/>
          <p:nvPr/>
        </p:nvSpPr>
        <p:spPr>
          <a:xfrm>
            <a:off x="4315968" y="2125980"/>
            <a:ext cx="512064" cy="457200"/>
          </a:xfrm>
          <a:prstGeom prst="leftArrow">
            <a:avLst/>
          </a:prstGeom>
          <a:solidFill>
            <a:srgbClr val="B82E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2 read arabic"/>
          <p:cNvSpPr txBox="1"/>
          <p:nvPr/>
        </p:nvSpPr>
        <p:spPr>
          <a:xfrm>
            <a:off x="365760" y="1599824"/>
            <a:ext cx="3886200" cy="9811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أُلَٰٓئِكَ</a:t>
            </a:r>
            <a:endParaRPr lang="ar-SA" sz="2800" dirty="0"/>
          </a:p>
        </p:txBody>
      </p:sp>
      <p:sp>
        <p:nvSpPr>
          <p:cNvPr id="17" name="C2 read sounds"/>
          <p:cNvSpPr txBox="1"/>
          <p:nvPr/>
        </p:nvSpPr>
        <p:spPr>
          <a:xfrm>
            <a:off x="457200" y="2497531"/>
            <a:ext cx="3703320" cy="637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U-laaaa-'i-ka</a:t>
            </a:r>
            <a:endParaRPr lang="en-US" sz="3000" dirty="0"/>
          </a:p>
        </p:txBody>
      </p:sp>
      <p:sp>
        <p:nvSpPr>
          <p:cNvPr id="18" name="C3 tip box"/>
          <p:cNvSpPr/>
          <p:nvPr/>
        </p:nvSpPr>
        <p:spPr>
          <a:xfrm>
            <a:off x="365760" y="3364992"/>
            <a:ext cx="8412480" cy="841248"/>
          </a:xfrm>
          <a:prstGeom prst="roundRect">
            <a:avLst>
              <a:gd name="adj" fmla="val 27174"/>
            </a:avLst>
          </a:prstGeom>
          <a:solidFill>
            <a:srgbClr val="FFFFFF"/>
          </a:solidFill>
          <a:ln w="76200">
            <a:solidFill>
              <a:srgbClr val="C2255C"/>
            </a:solidFill>
            <a:prstDash val="solid"/>
          </a:ln>
        </p:spPr>
      </p:sp>
      <p:sp>
        <p:nvSpPr>
          <p:cNvPr id="19" name="C3 tip"/>
          <p:cNvSpPr txBox="1"/>
          <p:nvPr/>
        </p:nvSpPr>
        <p:spPr>
          <a:xfrm>
            <a:off x="502920" y="3407156"/>
            <a:ext cx="8138160" cy="7680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small alif counts too: small alif + hamza  →  4 or 5</a:t>
            </a:r>
            <a:endParaRPr lang="en-US" sz="22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7CED"/>
          </a:solidFill>
          <a:ln w="12700">
            <a:solidFill>
              <a:srgbClr val="5E7C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Title box"/>
          <p:cNvSpPr/>
          <p:nvPr/>
        </p:nvSpPr>
        <p:spPr>
          <a:xfrm>
            <a:off x="365760" y="896112"/>
            <a:ext cx="8412480" cy="502920"/>
          </a:xfrm>
          <a:prstGeom prst="roundRect">
            <a:avLst>
              <a:gd name="adj" fmla="val 45455"/>
            </a:avLst>
          </a:prstGeom>
          <a:solidFill>
            <a:srgbClr val="C2255C"/>
          </a:solidFill>
          <a:ln w="76200">
            <a:solidFill>
              <a:srgbClr val="C2255C"/>
            </a:solidFill>
            <a:prstDash val="solid"/>
          </a:ln>
        </p:spPr>
      </p:sp>
      <p:sp>
        <p:nvSpPr>
          <p:cNvPr id="19" name="Title"/>
          <p:cNvSpPr txBox="1"/>
          <p:nvPr/>
        </p:nvSpPr>
        <p:spPr>
          <a:xfrm>
            <a:off x="365760" y="877824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Madd Munfasil (separated) — permissible</a:t>
            </a:r>
            <a:endParaRPr lang="en-US" sz="1800" dirty="0"/>
          </a:p>
        </p:txBody>
      </p:sp>
      <p:sp>
        <p:nvSpPr>
          <p:cNvPr id="20" name="Lines panel"/>
          <p:cNvSpPr/>
          <p:nvPr/>
        </p:nvSpPr>
        <p:spPr>
          <a:xfrm>
            <a:off x="365760" y="1536192"/>
            <a:ext cx="5486400" cy="2697480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76200">
            <a:solidFill>
              <a:srgbClr val="C2255C"/>
            </a:solidFill>
            <a:prstDash val="solid"/>
          </a:ln>
        </p:spPr>
      </p:sp>
      <p:sp>
        <p:nvSpPr>
          <p:cNvPr id="21" name="C1 line 1"/>
          <p:cNvSpPr txBox="1"/>
          <p:nvPr/>
        </p:nvSpPr>
        <p:spPr>
          <a:xfrm>
            <a:off x="502920" y="1655572"/>
            <a:ext cx="521208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Madd letter at the END of a word,</a:t>
            </a:r>
            <a:endParaRPr lang="en-US" sz="1900" dirty="0"/>
          </a:p>
        </p:txBody>
      </p:sp>
      <p:sp>
        <p:nvSpPr>
          <p:cNvPr id="22" name="C2 line 2"/>
          <p:cNvSpPr txBox="1"/>
          <p:nvPr/>
        </p:nvSpPr>
        <p:spPr>
          <a:xfrm>
            <a:off x="502920" y="2301113"/>
            <a:ext cx="521208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hamza at the START of the next word.</a:t>
            </a:r>
            <a:endParaRPr lang="en-US" sz="1900" dirty="0"/>
          </a:p>
        </p:txBody>
      </p:sp>
      <p:sp>
        <p:nvSpPr>
          <p:cNvPr id="23" name="C3 line 3"/>
          <p:cNvSpPr txBox="1"/>
          <p:nvPr/>
        </p:nvSpPr>
        <p:spPr>
          <a:xfrm>
            <a:off x="502920" y="2905633"/>
            <a:ext cx="521208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Stretch 4 or 5 counts when you connect.</a:t>
            </a:r>
            <a:endParaRPr lang="en-US" sz="1900" dirty="0"/>
          </a:p>
        </p:txBody>
      </p:sp>
      <p:sp>
        <p:nvSpPr>
          <p:cNvPr id="24" name="C4 line 4"/>
          <p:cNvSpPr txBox="1"/>
          <p:nvPr/>
        </p:nvSpPr>
        <p:spPr>
          <a:xfrm>
            <a:off x="502920" y="3534283"/>
            <a:ext cx="521208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on the first word  →  only 2.</a:t>
            </a:r>
            <a:endParaRPr lang="en-US" sz="1900" dirty="0"/>
          </a:p>
        </p:txBody>
      </p:sp>
      <p:sp>
        <p:nvSpPr>
          <p:cNvPr id="25" name="Arabic panel"/>
          <p:cNvSpPr/>
          <p:nvPr/>
        </p:nvSpPr>
        <p:spPr>
          <a:xfrm>
            <a:off x="6035040" y="1536192"/>
            <a:ext cx="2743200" cy="2697480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76200">
            <a:solidFill>
              <a:srgbClr val="C2255C"/>
            </a:solidFill>
            <a:prstDash val="solid"/>
          </a:ln>
        </p:spPr>
      </p:sp>
      <p:sp>
        <p:nvSpPr>
          <p:cNvPr id="26" name="Arabic sample"/>
          <p:cNvSpPr txBox="1"/>
          <p:nvPr/>
        </p:nvSpPr>
        <p:spPr>
          <a:xfrm>
            <a:off x="6035040" y="1536463"/>
            <a:ext cx="2743200" cy="2697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إِنَّ</a:t>
            </a:r>
            <a:r>
              <a:rPr lang="ar-SA" altLang="en-US" sz="9400" dirty="0">
                <a:solidFill>
                  <a:srgbClr val="2F9E44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آ</a:t>
            </a:r>
            <a:r>
              <a:rPr lang="ar-SA" altLang="en-US" sz="9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 </a:t>
            </a:r>
            <a:r>
              <a:rPr lang="ar-SA" altLang="en-US" sz="9400" dirty="0">
                <a:solidFill>
                  <a:srgbClr val="E03131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94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432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D552"/>
          </a:solidFill>
          <a:ln w="12700">
            <a:solidFill>
              <a:srgbClr val="E0D5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8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AFDB"/>
          </a:solidFill>
          <a:ln w="12700">
            <a:solidFill>
              <a:srgbClr val="70AF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54785"/>
          </a:solidFill>
          <a:ln w="12700">
            <a:solidFill>
              <a:srgbClr val="754785"/>
            </a:solidFill>
            <a:prstDash val="solid"/>
          </a:ln>
        </p:spPr>
      </p:sp>
      <p:sp>
        <p:nvSpPr>
          <p:cNvPr id="15" name="Title box"/>
          <p:cNvSpPr/>
          <p:nvPr/>
        </p:nvSpPr>
        <p:spPr>
          <a:xfrm>
            <a:off x="365760" y="896112"/>
            <a:ext cx="8412480" cy="502920"/>
          </a:xfrm>
          <a:prstGeom prst="roundRect">
            <a:avLst>
              <a:gd name="adj" fmla="val 45455"/>
            </a:avLst>
          </a:prstGeom>
          <a:solidFill>
            <a:srgbClr val="C2255C"/>
          </a:solidFill>
          <a:ln w="76200">
            <a:solidFill>
              <a:srgbClr val="C2255C"/>
            </a:solidFill>
            <a:prstDash val="solid"/>
          </a:ln>
        </p:spPr>
      </p:sp>
      <p:sp>
        <p:nvSpPr>
          <p:cNvPr id="16" name="Title"/>
          <p:cNvSpPr txBox="1"/>
          <p:nvPr/>
        </p:nvSpPr>
        <p:spPr>
          <a:xfrm>
            <a:off x="365760" y="876681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Munfasil: madd | hamza in the next word</a:t>
            </a:r>
            <a:endParaRPr lang="en-US" sz="1800" dirty="0"/>
          </a:p>
        </p:txBody>
      </p:sp>
      <p:sp>
        <p:nvSpPr>
          <p:cNvPr id="17" name="Mushaf panel"/>
          <p:cNvSpPr/>
          <p:nvPr/>
        </p:nvSpPr>
        <p:spPr>
          <a:xfrm>
            <a:off x="489204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76200">
            <a:solidFill>
              <a:srgbClr val="2F9E44"/>
            </a:solidFill>
            <a:prstDash val="solid"/>
          </a:ln>
        </p:spPr>
      </p:sp>
      <p:sp>
        <p:nvSpPr>
          <p:cNvPr id="18" name="Read panel"/>
          <p:cNvSpPr/>
          <p:nvPr/>
        </p:nvSpPr>
        <p:spPr>
          <a:xfrm>
            <a:off x="36576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mushaf"/>
          <p:cNvSpPr txBox="1"/>
          <p:nvPr/>
        </p:nvSpPr>
        <p:spPr>
          <a:xfrm>
            <a:off x="4892040" y="1678048"/>
            <a:ext cx="3886200" cy="1353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إِنَّآ أَعۡطَيۡنَٰكَ</a:t>
            </a:r>
            <a:endParaRPr lang="ar-SA" sz="4300" dirty="0"/>
          </a:p>
        </p:txBody>
      </p:sp>
      <p:sp>
        <p:nvSpPr>
          <p:cNvPr id="20" name="C2 arrow"/>
          <p:cNvSpPr/>
          <p:nvPr/>
        </p:nvSpPr>
        <p:spPr>
          <a:xfrm>
            <a:off x="4315968" y="2125980"/>
            <a:ext cx="512064" cy="457200"/>
          </a:xfrm>
          <a:prstGeom prst="leftArrow">
            <a:avLst/>
          </a:prstGeom>
          <a:solidFill>
            <a:srgbClr val="3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2 read arabic"/>
          <p:cNvSpPr txBox="1"/>
          <p:nvPr/>
        </p:nvSpPr>
        <p:spPr>
          <a:xfrm>
            <a:off x="365760" y="1508841"/>
            <a:ext cx="3886200" cy="9811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إِنَّ</a:t>
            </a:r>
            <a:r>
              <a:rPr lang="ar-SA" altLang="en-US" sz="2800" dirty="0">
                <a:solidFill>
                  <a:srgbClr val="2F9E44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آ</a:t>
            </a: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 </a:t>
            </a:r>
            <a:r>
              <a:rPr lang="ar-SA" altLang="en-US" sz="2800" dirty="0">
                <a:solidFill>
                  <a:srgbClr val="E03131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عۡطَيۡنَٰكَ</a:t>
            </a:r>
            <a:endParaRPr lang="ar-SA" sz="2800" dirty="0"/>
          </a:p>
        </p:txBody>
      </p:sp>
      <p:sp>
        <p:nvSpPr>
          <p:cNvPr id="22" name="C2 read sounds"/>
          <p:cNvSpPr txBox="1"/>
          <p:nvPr/>
        </p:nvSpPr>
        <p:spPr>
          <a:xfrm>
            <a:off x="457200" y="2464511"/>
            <a:ext cx="3703320" cy="637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In-naaaa a'-tay-naa-k</a:t>
            </a:r>
            <a:endParaRPr lang="en-US" sz="2500" dirty="0"/>
          </a:p>
        </p:txBody>
      </p:sp>
      <p:sp>
        <p:nvSpPr>
          <p:cNvPr id="23" name="C3 tip box"/>
          <p:cNvSpPr/>
          <p:nvPr/>
        </p:nvSpPr>
        <p:spPr>
          <a:xfrm>
            <a:off x="365760" y="3364992"/>
            <a:ext cx="8412480" cy="841248"/>
          </a:xfrm>
          <a:prstGeom prst="roundRect">
            <a:avLst>
              <a:gd name="adj" fmla="val 27174"/>
            </a:avLst>
          </a:prstGeom>
          <a:solidFill>
            <a:srgbClr val="FFFFFF"/>
          </a:solidFill>
          <a:ln w="76200">
            <a:solidFill>
              <a:srgbClr val="C2255C"/>
            </a:solidFill>
            <a:prstDash val="solid"/>
          </a:ln>
        </p:spPr>
      </p:sp>
      <p:sp>
        <p:nvSpPr>
          <p:cNvPr id="24" name="C3 tip"/>
          <p:cNvSpPr txBox="1"/>
          <p:nvPr/>
        </p:nvSpPr>
        <p:spPr>
          <a:xfrm>
            <a:off x="502920" y="3388868"/>
            <a:ext cx="8138160" cy="7680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Alif at the end, hamza at the start of the next word  →  4 or 5</a:t>
            </a:r>
            <a:endParaRPr lang="en-US" sz="2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5F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CAD8"/>
          </a:solidFill>
          <a:ln w="12700">
            <a:solidFill>
              <a:srgbClr val="64CA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CC"/>
          </a:solidFill>
          <a:ln w="12700">
            <a:solidFill>
              <a:srgbClr val="47D1C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Title box"/>
          <p:cNvSpPr/>
          <p:nvPr/>
        </p:nvSpPr>
        <p:spPr>
          <a:xfrm>
            <a:off x="365760" y="896112"/>
            <a:ext cx="8412480" cy="502920"/>
          </a:xfrm>
          <a:prstGeom prst="roundRect">
            <a:avLst>
              <a:gd name="adj" fmla="val 45455"/>
            </a:avLst>
          </a:prstGeom>
          <a:solidFill>
            <a:srgbClr val="C2255C"/>
          </a:solidFill>
          <a:ln w="76200">
            <a:solidFill>
              <a:srgbClr val="C2255C"/>
            </a:solidFill>
            <a:prstDash val="solid"/>
          </a:ln>
        </p:spPr>
      </p:sp>
      <p:sp>
        <p:nvSpPr>
          <p:cNvPr id="11" name="Title"/>
          <p:cNvSpPr txBox="1"/>
          <p:nvPr/>
        </p:nvSpPr>
        <p:spPr>
          <a:xfrm>
            <a:off x="365760" y="876681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Munfasil: madd | hamza in the next word</a:t>
            </a:r>
            <a:endParaRPr lang="en-US" sz="1800" dirty="0"/>
          </a:p>
        </p:txBody>
      </p:sp>
      <p:sp>
        <p:nvSpPr>
          <p:cNvPr id="12" name="Mushaf panel"/>
          <p:cNvSpPr/>
          <p:nvPr/>
        </p:nvSpPr>
        <p:spPr>
          <a:xfrm>
            <a:off x="489204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76200">
            <a:solidFill>
              <a:srgbClr val="2F9E44"/>
            </a:solidFill>
            <a:prstDash val="solid"/>
          </a:ln>
        </p:spPr>
      </p:sp>
      <p:sp>
        <p:nvSpPr>
          <p:cNvPr id="13" name="Read panel"/>
          <p:cNvSpPr/>
          <p:nvPr/>
        </p:nvSpPr>
        <p:spPr>
          <a:xfrm>
            <a:off x="36576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mushaf"/>
          <p:cNvSpPr txBox="1"/>
          <p:nvPr/>
        </p:nvSpPr>
        <p:spPr>
          <a:xfrm>
            <a:off x="4892040" y="1691741"/>
            <a:ext cx="3886200" cy="1353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قُوٓا۟ أَنفُسَكُمۡ</a:t>
            </a:r>
            <a:endParaRPr lang="ar-SA" sz="4400" dirty="0"/>
          </a:p>
        </p:txBody>
      </p:sp>
      <p:sp>
        <p:nvSpPr>
          <p:cNvPr id="15" name="C2 arrow"/>
          <p:cNvSpPr/>
          <p:nvPr/>
        </p:nvSpPr>
        <p:spPr>
          <a:xfrm>
            <a:off x="4315968" y="2125980"/>
            <a:ext cx="512064" cy="457200"/>
          </a:xfrm>
          <a:prstGeom prst="leftArrow">
            <a:avLst/>
          </a:prstGeom>
          <a:solidFill>
            <a:srgbClr val="B86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2 read arabic"/>
          <p:cNvSpPr txBox="1"/>
          <p:nvPr/>
        </p:nvSpPr>
        <p:spPr>
          <a:xfrm>
            <a:off x="365760" y="1517867"/>
            <a:ext cx="3886200" cy="9811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</a:t>
            </a:r>
            <a:r>
              <a:rPr lang="ar-SA" altLang="en-US" sz="2900" dirty="0">
                <a:solidFill>
                  <a:srgbClr val="2F9E44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وٓ</a:t>
            </a: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 </a:t>
            </a:r>
            <a:r>
              <a:rPr lang="ar-SA" altLang="en-US" sz="2900" dirty="0">
                <a:solidFill>
                  <a:srgbClr val="E03131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نفُسَكُمۡ</a:t>
            </a:r>
            <a:endParaRPr lang="ar-SA" sz="2900" dirty="0"/>
          </a:p>
        </p:txBody>
      </p:sp>
      <p:sp>
        <p:nvSpPr>
          <p:cNvPr id="17" name="C2 read sounds"/>
          <p:cNvSpPr txBox="1"/>
          <p:nvPr/>
        </p:nvSpPr>
        <p:spPr>
          <a:xfrm>
            <a:off x="457200" y="2471052"/>
            <a:ext cx="3703320" cy="637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Qoooo an-fu-sa-kum</a:t>
            </a:r>
            <a:endParaRPr lang="en-US" sz="2700" dirty="0"/>
          </a:p>
        </p:txBody>
      </p:sp>
      <p:sp>
        <p:nvSpPr>
          <p:cNvPr id="18" name="C3 tip box"/>
          <p:cNvSpPr/>
          <p:nvPr/>
        </p:nvSpPr>
        <p:spPr>
          <a:xfrm>
            <a:off x="365760" y="3364992"/>
            <a:ext cx="8412480" cy="841248"/>
          </a:xfrm>
          <a:prstGeom prst="roundRect">
            <a:avLst>
              <a:gd name="adj" fmla="val 27174"/>
            </a:avLst>
          </a:prstGeom>
          <a:solidFill>
            <a:srgbClr val="FFFFFF"/>
          </a:solidFill>
          <a:ln w="76200">
            <a:solidFill>
              <a:srgbClr val="C2255C"/>
            </a:solidFill>
            <a:prstDash val="solid"/>
          </a:ln>
        </p:spPr>
      </p:sp>
      <p:sp>
        <p:nvSpPr>
          <p:cNvPr id="19" name="C3 tip"/>
          <p:cNvSpPr txBox="1"/>
          <p:nvPr/>
        </p:nvSpPr>
        <p:spPr>
          <a:xfrm>
            <a:off x="502920" y="3387598"/>
            <a:ext cx="8138160" cy="7680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Waw at the end, hamza next  →  4 or 5</a:t>
            </a:r>
            <a:endParaRPr lang="en-US" sz="22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Title box"/>
          <p:cNvSpPr/>
          <p:nvPr/>
        </p:nvSpPr>
        <p:spPr>
          <a:xfrm>
            <a:off x="365760" y="896112"/>
            <a:ext cx="8412480" cy="502920"/>
          </a:xfrm>
          <a:prstGeom prst="roundRect">
            <a:avLst>
              <a:gd name="adj" fmla="val 45455"/>
            </a:avLst>
          </a:prstGeom>
          <a:solidFill>
            <a:srgbClr val="C2255C"/>
          </a:solidFill>
          <a:ln w="76200">
            <a:solidFill>
              <a:srgbClr val="C2255C"/>
            </a:solidFill>
            <a:prstDash val="solid"/>
          </a:ln>
        </p:spPr>
      </p:sp>
      <p:sp>
        <p:nvSpPr>
          <p:cNvPr id="12" name="Title"/>
          <p:cNvSpPr txBox="1"/>
          <p:nvPr/>
        </p:nvSpPr>
        <p:spPr>
          <a:xfrm>
            <a:off x="365760" y="876681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Munfasil: madd | hamza in the next word</a:t>
            </a:r>
            <a:endParaRPr lang="en-US" sz="1800" dirty="0"/>
          </a:p>
        </p:txBody>
      </p:sp>
      <p:sp>
        <p:nvSpPr>
          <p:cNvPr id="13" name="Mushaf panel"/>
          <p:cNvSpPr/>
          <p:nvPr/>
        </p:nvSpPr>
        <p:spPr>
          <a:xfrm>
            <a:off x="489204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76200">
            <a:solidFill>
              <a:srgbClr val="2F9E44"/>
            </a:solidFill>
            <a:prstDash val="solid"/>
          </a:ln>
        </p:spPr>
      </p:sp>
      <p:sp>
        <p:nvSpPr>
          <p:cNvPr id="14" name="Read panel"/>
          <p:cNvSpPr/>
          <p:nvPr/>
        </p:nvSpPr>
        <p:spPr>
          <a:xfrm>
            <a:off x="36576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mushaf"/>
          <p:cNvSpPr txBox="1"/>
          <p:nvPr/>
        </p:nvSpPr>
        <p:spPr>
          <a:xfrm>
            <a:off x="4892040" y="1685420"/>
            <a:ext cx="3886200" cy="1353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فِيٓ أَنفُسِكُمۡ</a:t>
            </a:r>
            <a:endParaRPr lang="ar-SA" sz="4300" dirty="0"/>
          </a:p>
        </p:txBody>
      </p:sp>
      <p:sp>
        <p:nvSpPr>
          <p:cNvPr id="16" name="C2 arrow"/>
          <p:cNvSpPr/>
          <p:nvPr/>
        </p:nvSpPr>
        <p:spPr>
          <a:xfrm>
            <a:off x="4315968" y="2125980"/>
            <a:ext cx="512064" cy="457200"/>
          </a:xfrm>
          <a:prstGeom prst="leftArrow">
            <a:avLst/>
          </a:prstGeom>
          <a:solidFill>
            <a:srgbClr val="2EB8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2 read arabic"/>
          <p:cNvSpPr txBox="1"/>
          <p:nvPr/>
        </p:nvSpPr>
        <p:spPr>
          <a:xfrm>
            <a:off x="365760" y="1513641"/>
            <a:ext cx="3886200" cy="9811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فِ</a:t>
            </a:r>
            <a:r>
              <a:rPr lang="ar-SA" altLang="en-US" sz="2800" dirty="0">
                <a:solidFill>
                  <a:srgbClr val="2F9E44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يٓ</a:t>
            </a: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 </a:t>
            </a:r>
            <a:r>
              <a:rPr lang="ar-SA" altLang="en-US" sz="2800" dirty="0">
                <a:solidFill>
                  <a:srgbClr val="E03131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نفُسِكُمۡ</a:t>
            </a:r>
            <a:endParaRPr lang="ar-SA" sz="2800" dirty="0"/>
          </a:p>
        </p:txBody>
      </p:sp>
      <p:sp>
        <p:nvSpPr>
          <p:cNvPr id="18" name="C2 read sounds"/>
          <p:cNvSpPr txBox="1"/>
          <p:nvPr/>
        </p:nvSpPr>
        <p:spPr>
          <a:xfrm>
            <a:off x="457200" y="2497277"/>
            <a:ext cx="3703320" cy="637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Feeee an-fu-si-kum</a:t>
            </a:r>
            <a:endParaRPr lang="en-US" sz="2900" dirty="0"/>
          </a:p>
        </p:txBody>
      </p:sp>
      <p:sp>
        <p:nvSpPr>
          <p:cNvPr id="19" name="C3 tip box"/>
          <p:cNvSpPr/>
          <p:nvPr/>
        </p:nvSpPr>
        <p:spPr>
          <a:xfrm>
            <a:off x="365760" y="3364992"/>
            <a:ext cx="8412480" cy="841248"/>
          </a:xfrm>
          <a:prstGeom prst="roundRect">
            <a:avLst>
              <a:gd name="adj" fmla="val 27174"/>
            </a:avLst>
          </a:prstGeom>
          <a:solidFill>
            <a:srgbClr val="FFFFFF"/>
          </a:solidFill>
          <a:ln w="76200">
            <a:solidFill>
              <a:srgbClr val="C2255C"/>
            </a:solidFill>
            <a:prstDash val="solid"/>
          </a:ln>
        </p:spPr>
      </p:sp>
      <p:sp>
        <p:nvSpPr>
          <p:cNvPr id="20" name="C3 tip"/>
          <p:cNvSpPr txBox="1"/>
          <p:nvPr/>
        </p:nvSpPr>
        <p:spPr>
          <a:xfrm>
            <a:off x="502920" y="3387598"/>
            <a:ext cx="8138160" cy="7680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Yaa at the end, hamza next  →  4 or 5</a:t>
            </a:r>
            <a:endParaRPr lang="en-US" sz="22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35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7642B"/>
          </a:solidFill>
          <a:ln w="12700">
            <a:solidFill>
              <a:srgbClr val="37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8"/>
          </a:solidFill>
          <a:ln w="12700">
            <a:solidFill>
              <a:srgbClr val="347948"/>
            </a:solidFill>
            <a:prstDash val="solid"/>
          </a:ln>
        </p:spPr>
      </p:sp>
      <p:sp>
        <p:nvSpPr>
          <p:cNvPr id="12" name="Title box"/>
          <p:cNvSpPr/>
          <p:nvPr/>
        </p:nvSpPr>
        <p:spPr>
          <a:xfrm>
            <a:off x="365760" y="896112"/>
            <a:ext cx="8412480" cy="502920"/>
          </a:xfrm>
          <a:prstGeom prst="roundRect">
            <a:avLst>
              <a:gd name="adj" fmla="val 45455"/>
            </a:avLst>
          </a:prstGeom>
          <a:solidFill>
            <a:srgbClr val="C2255C"/>
          </a:solidFill>
          <a:ln w="76200">
            <a:solidFill>
              <a:srgbClr val="C2255C"/>
            </a:solidFill>
            <a:prstDash val="solid"/>
          </a:ln>
        </p:spPr>
      </p:sp>
      <p:sp>
        <p:nvSpPr>
          <p:cNvPr id="13" name="Title"/>
          <p:cNvSpPr txBox="1"/>
          <p:nvPr/>
        </p:nvSpPr>
        <p:spPr>
          <a:xfrm>
            <a:off x="365760" y="877824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munfasil: the big silah</a:t>
            </a:r>
            <a:endParaRPr lang="en-US" sz="1800" dirty="0"/>
          </a:p>
        </p:txBody>
      </p:sp>
      <p:sp>
        <p:nvSpPr>
          <p:cNvPr id="14" name="Mushaf panel"/>
          <p:cNvSpPr/>
          <p:nvPr/>
        </p:nvSpPr>
        <p:spPr>
          <a:xfrm>
            <a:off x="489204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76200">
            <a:solidFill>
              <a:srgbClr val="2F9E44"/>
            </a:solidFill>
            <a:prstDash val="solid"/>
          </a:ln>
        </p:spPr>
      </p:sp>
      <p:sp>
        <p:nvSpPr>
          <p:cNvPr id="15" name="Read panel"/>
          <p:cNvSpPr/>
          <p:nvPr/>
        </p:nvSpPr>
        <p:spPr>
          <a:xfrm>
            <a:off x="36576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mushaf"/>
          <p:cNvSpPr txBox="1"/>
          <p:nvPr/>
        </p:nvSpPr>
        <p:spPr>
          <a:xfrm>
            <a:off x="4892040" y="1827082"/>
            <a:ext cx="3886200" cy="1353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مَالَهُۥٓ أَخۡلَدَهُۥ</a:t>
            </a:r>
            <a:endParaRPr lang="ar-SA" sz="5600" dirty="0"/>
          </a:p>
        </p:txBody>
      </p:sp>
      <p:sp>
        <p:nvSpPr>
          <p:cNvPr id="17" name="C2 arrow"/>
          <p:cNvSpPr/>
          <p:nvPr/>
        </p:nvSpPr>
        <p:spPr>
          <a:xfrm>
            <a:off x="4315968" y="2125980"/>
            <a:ext cx="512064" cy="457200"/>
          </a:xfrm>
          <a:prstGeom prst="leftArrow">
            <a:avLst/>
          </a:prstGeom>
          <a:solidFill>
            <a:srgbClr val="B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2 read arabic"/>
          <p:cNvSpPr txBox="1"/>
          <p:nvPr/>
        </p:nvSpPr>
        <p:spPr>
          <a:xfrm>
            <a:off x="365760" y="1607311"/>
            <a:ext cx="3886200" cy="9811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مَالَهُ</a:t>
            </a:r>
            <a:r>
              <a:rPr lang="ar-SA" altLang="en-US" sz="3700" dirty="0">
                <a:solidFill>
                  <a:srgbClr val="2F9E44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ۥٓ</a:t>
            </a: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 </a:t>
            </a:r>
            <a:r>
              <a:rPr lang="ar-SA" altLang="en-US" sz="3700" dirty="0">
                <a:solidFill>
                  <a:srgbClr val="E03131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خۡلَدَهُۥ</a:t>
            </a:r>
            <a:endParaRPr lang="ar-SA" sz="3700" dirty="0"/>
          </a:p>
        </p:txBody>
      </p:sp>
      <p:sp>
        <p:nvSpPr>
          <p:cNvPr id="19" name="C2 read sounds"/>
          <p:cNvSpPr txBox="1"/>
          <p:nvPr/>
        </p:nvSpPr>
        <p:spPr>
          <a:xfrm>
            <a:off x="457200" y="2495499"/>
            <a:ext cx="3703320" cy="637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Maa-la-hoooo akh-la-dah</a:t>
            </a:r>
            <a:endParaRPr lang="en-US" sz="2200" dirty="0"/>
          </a:p>
        </p:txBody>
      </p:sp>
      <p:sp>
        <p:nvSpPr>
          <p:cNvPr id="20" name="C3 tip box"/>
          <p:cNvSpPr/>
          <p:nvPr/>
        </p:nvSpPr>
        <p:spPr>
          <a:xfrm>
            <a:off x="365760" y="3364992"/>
            <a:ext cx="8412480" cy="841248"/>
          </a:xfrm>
          <a:prstGeom prst="roundRect">
            <a:avLst>
              <a:gd name="adj" fmla="val 27174"/>
            </a:avLst>
          </a:prstGeom>
          <a:solidFill>
            <a:srgbClr val="FFFFFF"/>
          </a:solidFill>
          <a:ln w="76200">
            <a:solidFill>
              <a:srgbClr val="C2255C"/>
            </a:solidFill>
            <a:prstDash val="solid"/>
          </a:ln>
        </p:spPr>
      </p:sp>
      <p:sp>
        <p:nvSpPr>
          <p:cNvPr id="21" name="C3 tip"/>
          <p:cNvSpPr txBox="1"/>
          <p:nvPr/>
        </p:nvSpPr>
        <p:spPr>
          <a:xfrm>
            <a:off x="502920" y="3379216"/>
            <a:ext cx="8138160" cy="7680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waw / yaa of the pronoun + hamza next  →  4 or 5</a:t>
            </a:r>
            <a:endParaRPr lang="en-US" sz="22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C5D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Title box"/>
          <p:cNvSpPr/>
          <p:nvPr/>
        </p:nvSpPr>
        <p:spPr>
          <a:xfrm>
            <a:off x="365760" y="896112"/>
            <a:ext cx="8412480" cy="502920"/>
          </a:xfrm>
          <a:prstGeom prst="roundRect">
            <a:avLst>
              <a:gd name="adj" fmla="val 45455"/>
            </a:avLst>
          </a:prstGeom>
          <a:solidFill>
            <a:srgbClr val="C2255C"/>
          </a:solidFill>
          <a:ln w="76200">
            <a:solidFill>
              <a:srgbClr val="C2255C"/>
            </a:solidFill>
            <a:prstDash val="solid"/>
          </a:ln>
        </p:spPr>
      </p:sp>
      <p:sp>
        <p:nvSpPr>
          <p:cNvPr id="11" name="Title"/>
          <p:cNvSpPr txBox="1"/>
          <p:nvPr/>
        </p:nvSpPr>
        <p:spPr>
          <a:xfrm>
            <a:off x="365760" y="877824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Madd Badal (substitute)</a:t>
            </a:r>
            <a:endParaRPr lang="en-US" sz="1800" dirty="0"/>
          </a:p>
        </p:txBody>
      </p:sp>
      <p:sp>
        <p:nvSpPr>
          <p:cNvPr id="12" name="Lines panel"/>
          <p:cNvSpPr/>
          <p:nvPr/>
        </p:nvSpPr>
        <p:spPr>
          <a:xfrm>
            <a:off x="365760" y="1536192"/>
            <a:ext cx="5486400" cy="2697480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76200">
            <a:solidFill>
              <a:srgbClr val="C2255C"/>
            </a:solidFill>
            <a:prstDash val="solid"/>
          </a:ln>
        </p:spPr>
      </p:sp>
      <p:sp>
        <p:nvSpPr>
          <p:cNvPr id="13" name="C1 line 1"/>
          <p:cNvSpPr txBox="1"/>
          <p:nvPr/>
        </p:nvSpPr>
        <p:spPr>
          <a:xfrm>
            <a:off x="502920" y="1762252"/>
            <a:ext cx="521208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HAMZA comes FIRST, then the madd letter.</a:t>
            </a:r>
            <a:endParaRPr lang="en-US" sz="1600" dirty="0"/>
          </a:p>
        </p:txBody>
      </p:sp>
      <p:sp>
        <p:nvSpPr>
          <p:cNvPr id="14" name="C2 line 2"/>
          <p:cNvSpPr txBox="1"/>
          <p:nvPr/>
        </p:nvSpPr>
        <p:spPr>
          <a:xfrm>
            <a:off x="502920" y="2594356"/>
            <a:ext cx="521208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2 counts (in the reading of Hafs).</a:t>
            </a:r>
            <a:endParaRPr lang="en-US" sz="1600" dirty="0"/>
          </a:p>
        </p:txBody>
      </p:sp>
      <p:sp>
        <p:nvSpPr>
          <p:cNvPr id="15" name="C3 line 3"/>
          <p:cNvSpPr txBox="1"/>
          <p:nvPr/>
        </p:nvSpPr>
        <p:spPr>
          <a:xfrm>
            <a:off x="502920" y="3432556"/>
            <a:ext cx="521208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sign in the Mushaf.</a:t>
            </a:r>
            <a:endParaRPr lang="en-US" sz="1600" dirty="0"/>
          </a:p>
        </p:txBody>
      </p:sp>
      <p:sp>
        <p:nvSpPr>
          <p:cNvPr id="16" name="Arabic panel"/>
          <p:cNvSpPr/>
          <p:nvPr/>
        </p:nvSpPr>
        <p:spPr>
          <a:xfrm>
            <a:off x="6035040" y="1536192"/>
            <a:ext cx="2743200" cy="2697480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76200">
            <a:solidFill>
              <a:srgbClr val="C2255C"/>
            </a:solidFill>
            <a:prstDash val="solid"/>
          </a:ln>
        </p:spPr>
      </p:sp>
      <p:sp>
        <p:nvSpPr>
          <p:cNvPr id="17" name="Arabic sample"/>
          <p:cNvSpPr txBox="1"/>
          <p:nvPr/>
        </p:nvSpPr>
        <p:spPr>
          <a:xfrm>
            <a:off x="6035040" y="1575905"/>
            <a:ext cx="2743200" cy="2697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900" dirty="0">
                <a:solidFill>
                  <a:srgbClr val="E03131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ءَ</a:t>
            </a:r>
            <a:r>
              <a:rPr lang="ar-SA" altLang="en-US" sz="5900" dirty="0">
                <a:solidFill>
                  <a:srgbClr val="2F9E44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مَنُوا۟</a:t>
            </a:r>
            <a:endParaRPr lang="ar-SA" sz="59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C5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A0"/>
          </a:solidFill>
          <a:ln w="12700">
            <a:solidFill>
              <a:srgbClr val="ED5EA0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Title box"/>
          <p:cNvSpPr/>
          <p:nvPr/>
        </p:nvSpPr>
        <p:spPr>
          <a:xfrm>
            <a:off x="365760" y="896112"/>
            <a:ext cx="8412480" cy="502920"/>
          </a:xfrm>
          <a:prstGeom prst="roundRect">
            <a:avLst>
              <a:gd name="adj" fmla="val 45455"/>
            </a:avLst>
          </a:prstGeom>
          <a:solidFill>
            <a:srgbClr val="C2255C"/>
          </a:solidFill>
          <a:ln w="76200">
            <a:solidFill>
              <a:srgbClr val="C2255C"/>
            </a:solidFill>
            <a:prstDash val="solid"/>
          </a:ln>
        </p:spPr>
      </p:sp>
      <p:sp>
        <p:nvSpPr>
          <p:cNvPr id="19" name="Title"/>
          <p:cNvSpPr txBox="1"/>
          <p:nvPr/>
        </p:nvSpPr>
        <p:spPr>
          <a:xfrm>
            <a:off x="365760" y="884047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Badal: hamza, then madd</a:t>
            </a:r>
            <a:endParaRPr lang="en-US" sz="1900" dirty="0"/>
          </a:p>
        </p:txBody>
      </p:sp>
      <p:sp>
        <p:nvSpPr>
          <p:cNvPr id="20" name="Mushaf panel"/>
          <p:cNvSpPr/>
          <p:nvPr/>
        </p:nvSpPr>
        <p:spPr>
          <a:xfrm>
            <a:off x="489204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76200">
            <a:solidFill>
              <a:srgbClr val="2F9E44"/>
            </a:solidFill>
            <a:prstDash val="solid"/>
          </a:ln>
        </p:spPr>
      </p:sp>
      <p:sp>
        <p:nvSpPr>
          <p:cNvPr id="21" name="Read panel"/>
          <p:cNvSpPr/>
          <p:nvPr/>
        </p:nvSpPr>
        <p:spPr>
          <a:xfrm>
            <a:off x="36576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mushaf"/>
          <p:cNvSpPr txBox="1"/>
          <p:nvPr/>
        </p:nvSpPr>
        <p:spPr>
          <a:xfrm>
            <a:off x="4892040" y="1712252"/>
            <a:ext cx="3886200" cy="1353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ءَامَنُوا۟</a:t>
            </a:r>
            <a:endParaRPr lang="ar-SA" sz="5100" dirty="0"/>
          </a:p>
        </p:txBody>
      </p:sp>
      <p:sp>
        <p:nvSpPr>
          <p:cNvPr id="23" name="C2 arrow"/>
          <p:cNvSpPr/>
          <p:nvPr/>
        </p:nvSpPr>
        <p:spPr>
          <a:xfrm>
            <a:off x="4315968" y="2125980"/>
            <a:ext cx="512064" cy="457200"/>
          </a:xfrm>
          <a:prstGeom prst="leftArrow">
            <a:avLst/>
          </a:prstGeom>
          <a:solidFill>
            <a:srgbClr val="2E6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2 read arabic"/>
          <p:cNvSpPr txBox="1"/>
          <p:nvPr/>
        </p:nvSpPr>
        <p:spPr>
          <a:xfrm>
            <a:off x="365760" y="1531645"/>
            <a:ext cx="3886200" cy="9811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400" dirty="0">
                <a:solidFill>
                  <a:srgbClr val="E03131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ءَ</a:t>
            </a:r>
            <a:r>
              <a:rPr lang="ar-SA" altLang="en-US" sz="3400" dirty="0">
                <a:solidFill>
                  <a:srgbClr val="2F9E44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مَنُوا۟</a:t>
            </a:r>
            <a:endParaRPr lang="ar-SA" sz="3400" dirty="0"/>
          </a:p>
        </p:txBody>
      </p:sp>
      <p:sp>
        <p:nvSpPr>
          <p:cNvPr id="25" name="C2 read sounds"/>
          <p:cNvSpPr txBox="1"/>
          <p:nvPr/>
        </p:nvSpPr>
        <p:spPr>
          <a:xfrm>
            <a:off x="457200" y="2491816"/>
            <a:ext cx="3703320" cy="637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Aa-ma-noo</a:t>
            </a:r>
            <a:endParaRPr lang="en-US" sz="3000" dirty="0"/>
          </a:p>
        </p:txBody>
      </p:sp>
      <p:sp>
        <p:nvSpPr>
          <p:cNvPr id="26" name="C3 tip box"/>
          <p:cNvSpPr/>
          <p:nvPr/>
        </p:nvSpPr>
        <p:spPr>
          <a:xfrm>
            <a:off x="365760" y="3364992"/>
            <a:ext cx="8412480" cy="841248"/>
          </a:xfrm>
          <a:prstGeom prst="roundRect">
            <a:avLst>
              <a:gd name="adj" fmla="val 27174"/>
            </a:avLst>
          </a:prstGeom>
          <a:solidFill>
            <a:srgbClr val="FFFFFF"/>
          </a:solidFill>
          <a:ln w="76200">
            <a:solidFill>
              <a:srgbClr val="C2255C"/>
            </a:solidFill>
            <a:prstDash val="solid"/>
          </a:ln>
        </p:spPr>
      </p:sp>
      <p:sp>
        <p:nvSpPr>
          <p:cNvPr id="27" name="C3 tip"/>
          <p:cNvSpPr txBox="1"/>
          <p:nvPr/>
        </p:nvSpPr>
        <p:spPr>
          <a:xfrm>
            <a:off x="502920" y="3407156"/>
            <a:ext cx="8138160" cy="7680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Hamza then alif  →  2 counts</a:t>
            </a:r>
            <a:endParaRPr lang="en-US" sz="2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4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B1"/>
          </a:solidFill>
          <a:ln w="12700">
            <a:solidFill>
              <a:srgbClr val="52E0B1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1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C9"/>
          </a:solidFill>
          <a:ln w="12700">
            <a:solidFill>
              <a:srgbClr val="DB70C9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647"/>
          </a:solidFill>
          <a:ln w="12700">
            <a:solidFill>
              <a:srgbClr val="856647"/>
            </a:solidFill>
            <a:prstDash val="solid"/>
          </a:ln>
        </p:spPr>
      </p:sp>
      <p:sp>
        <p:nvSpPr>
          <p:cNvPr id="15" name="Title box"/>
          <p:cNvSpPr/>
          <p:nvPr/>
        </p:nvSpPr>
        <p:spPr>
          <a:xfrm>
            <a:off x="365760" y="896112"/>
            <a:ext cx="8412480" cy="502920"/>
          </a:xfrm>
          <a:prstGeom prst="roundRect">
            <a:avLst>
              <a:gd name="adj" fmla="val 45455"/>
            </a:avLst>
          </a:prstGeom>
          <a:solidFill>
            <a:srgbClr val="C2255C"/>
          </a:solidFill>
          <a:ln w="76200">
            <a:solidFill>
              <a:srgbClr val="C2255C"/>
            </a:solidFill>
            <a:prstDash val="solid"/>
          </a:ln>
        </p:spPr>
      </p:sp>
      <p:sp>
        <p:nvSpPr>
          <p:cNvPr id="16" name="Title"/>
          <p:cNvSpPr txBox="1"/>
          <p:nvPr/>
        </p:nvSpPr>
        <p:spPr>
          <a:xfrm>
            <a:off x="365760" y="884047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Badal: hamza, then madd</a:t>
            </a:r>
            <a:endParaRPr lang="en-US" sz="1900" dirty="0"/>
          </a:p>
        </p:txBody>
      </p:sp>
      <p:sp>
        <p:nvSpPr>
          <p:cNvPr id="17" name="Mushaf panel"/>
          <p:cNvSpPr/>
          <p:nvPr/>
        </p:nvSpPr>
        <p:spPr>
          <a:xfrm>
            <a:off x="489204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76200">
            <a:solidFill>
              <a:srgbClr val="2F9E44"/>
            </a:solidFill>
            <a:prstDash val="solid"/>
          </a:ln>
        </p:spPr>
      </p:sp>
      <p:sp>
        <p:nvSpPr>
          <p:cNvPr id="18" name="Read panel"/>
          <p:cNvSpPr/>
          <p:nvPr/>
        </p:nvSpPr>
        <p:spPr>
          <a:xfrm>
            <a:off x="36576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mushaf"/>
          <p:cNvSpPr txBox="1"/>
          <p:nvPr/>
        </p:nvSpPr>
        <p:spPr>
          <a:xfrm>
            <a:off x="4892040" y="1584979"/>
            <a:ext cx="3886200" cy="1353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إِيمَٰنًا</a:t>
            </a:r>
            <a:endParaRPr lang="ar-SA" sz="5100" dirty="0"/>
          </a:p>
        </p:txBody>
      </p:sp>
      <p:sp>
        <p:nvSpPr>
          <p:cNvPr id="20" name="C2 arrow"/>
          <p:cNvSpPr/>
          <p:nvPr/>
        </p:nvSpPr>
        <p:spPr>
          <a:xfrm>
            <a:off x="4315968" y="2125980"/>
            <a:ext cx="512064" cy="457200"/>
          </a:xfrm>
          <a:prstGeom prst="leftArrow">
            <a:avLst/>
          </a:prstGeom>
          <a:solidFill>
            <a:srgbClr val="B82E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2 read arabic"/>
          <p:cNvSpPr txBox="1"/>
          <p:nvPr/>
        </p:nvSpPr>
        <p:spPr>
          <a:xfrm>
            <a:off x="365760" y="1448619"/>
            <a:ext cx="3886200" cy="9811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</a:t>
            </a:r>
            <a:r>
              <a:rPr lang="ar-SA" altLang="en-US" sz="3300" dirty="0">
                <a:solidFill>
                  <a:srgbClr val="2F9E44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مَٰنًا</a:t>
            </a:r>
            <a:endParaRPr lang="ar-SA" sz="3300" dirty="0"/>
          </a:p>
        </p:txBody>
      </p:sp>
      <p:sp>
        <p:nvSpPr>
          <p:cNvPr id="22" name="C2 read sounds"/>
          <p:cNvSpPr txBox="1"/>
          <p:nvPr/>
        </p:nvSpPr>
        <p:spPr>
          <a:xfrm>
            <a:off x="457200" y="2491816"/>
            <a:ext cx="3703320" cy="637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Ee-maa-nan</a:t>
            </a:r>
            <a:endParaRPr lang="en-US" sz="3000" dirty="0"/>
          </a:p>
        </p:txBody>
      </p:sp>
      <p:sp>
        <p:nvSpPr>
          <p:cNvPr id="23" name="C3 tip box"/>
          <p:cNvSpPr/>
          <p:nvPr/>
        </p:nvSpPr>
        <p:spPr>
          <a:xfrm>
            <a:off x="365760" y="3364992"/>
            <a:ext cx="8412480" cy="841248"/>
          </a:xfrm>
          <a:prstGeom prst="roundRect">
            <a:avLst>
              <a:gd name="adj" fmla="val 27174"/>
            </a:avLst>
          </a:prstGeom>
          <a:solidFill>
            <a:srgbClr val="FFFFFF"/>
          </a:solidFill>
          <a:ln w="76200">
            <a:solidFill>
              <a:srgbClr val="C2255C"/>
            </a:solidFill>
            <a:prstDash val="solid"/>
          </a:ln>
        </p:spPr>
      </p:sp>
      <p:sp>
        <p:nvSpPr>
          <p:cNvPr id="24" name="C3 tip"/>
          <p:cNvSpPr txBox="1"/>
          <p:nvPr/>
        </p:nvSpPr>
        <p:spPr>
          <a:xfrm>
            <a:off x="502920" y="3379216"/>
            <a:ext cx="8138160" cy="7680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Hamza then yaa  →  2 counts</a:t>
            </a:r>
            <a:endParaRPr lang="en-US" sz="22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D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A64D8"/>
          </a:solidFill>
          <a:ln w="12700">
            <a:solidFill>
              <a:srgbClr val="CA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947D1"/>
          </a:solidFill>
          <a:ln w="12700">
            <a:solidFill>
              <a:srgbClr val="A9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Title box"/>
          <p:cNvSpPr/>
          <p:nvPr/>
        </p:nvSpPr>
        <p:spPr>
          <a:xfrm>
            <a:off x="365760" y="896112"/>
            <a:ext cx="8412480" cy="502920"/>
          </a:xfrm>
          <a:prstGeom prst="roundRect">
            <a:avLst>
              <a:gd name="adj" fmla="val 45455"/>
            </a:avLst>
          </a:prstGeom>
          <a:solidFill>
            <a:srgbClr val="C2255C"/>
          </a:solidFill>
          <a:ln w="76200">
            <a:solidFill>
              <a:srgbClr val="C2255C"/>
            </a:solidFill>
            <a:prstDash val="solid"/>
          </a:ln>
        </p:spPr>
      </p:sp>
      <p:sp>
        <p:nvSpPr>
          <p:cNvPr id="11" name="Title"/>
          <p:cNvSpPr txBox="1"/>
          <p:nvPr/>
        </p:nvSpPr>
        <p:spPr>
          <a:xfrm>
            <a:off x="365760" y="884047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Badal: hamza, then madd</a:t>
            </a:r>
            <a:endParaRPr lang="en-US" sz="1900" dirty="0"/>
          </a:p>
        </p:txBody>
      </p:sp>
      <p:sp>
        <p:nvSpPr>
          <p:cNvPr id="12" name="Mushaf panel"/>
          <p:cNvSpPr/>
          <p:nvPr/>
        </p:nvSpPr>
        <p:spPr>
          <a:xfrm>
            <a:off x="489204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76200">
            <a:solidFill>
              <a:srgbClr val="2F9E44"/>
            </a:solidFill>
            <a:prstDash val="solid"/>
          </a:ln>
        </p:spPr>
      </p:sp>
      <p:sp>
        <p:nvSpPr>
          <p:cNvPr id="13" name="Read panel"/>
          <p:cNvSpPr/>
          <p:nvPr/>
        </p:nvSpPr>
        <p:spPr>
          <a:xfrm>
            <a:off x="36576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mushaf"/>
          <p:cNvSpPr txBox="1"/>
          <p:nvPr/>
        </p:nvSpPr>
        <p:spPr>
          <a:xfrm>
            <a:off x="4892040" y="1778803"/>
            <a:ext cx="3886200" cy="1353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أُوتُوا۟</a:t>
            </a:r>
            <a:endParaRPr lang="ar-SA" sz="4300" dirty="0"/>
          </a:p>
        </p:txBody>
      </p:sp>
      <p:sp>
        <p:nvSpPr>
          <p:cNvPr id="15" name="C2 arrow"/>
          <p:cNvSpPr/>
          <p:nvPr/>
        </p:nvSpPr>
        <p:spPr>
          <a:xfrm>
            <a:off x="4315968" y="2125980"/>
            <a:ext cx="512064" cy="457200"/>
          </a:xfrm>
          <a:prstGeom prst="leftArrow">
            <a:avLst/>
          </a:prstGeom>
          <a:solidFill>
            <a:srgbClr val="2EB8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2 read arabic"/>
          <p:cNvSpPr txBox="1"/>
          <p:nvPr/>
        </p:nvSpPr>
        <p:spPr>
          <a:xfrm>
            <a:off x="365760" y="1576795"/>
            <a:ext cx="3886200" cy="9811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2900" dirty="0">
                <a:solidFill>
                  <a:srgbClr val="E03131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أُ</a:t>
            </a:r>
            <a:r>
              <a:rPr lang="ar-SA" altLang="en-US" sz="2900" dirty="0">
                <a:solidFill>
                  <a:srgbClr val="2F9E44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تُوا۟</a:t>
            </a:r>
            <a:endParaRPr lang="ar-SA" sz="2900" dirty="0"/>
          </a:p>
        </p:txBody>
      </p:sp>
      <p:sp>
        <p:nvSpPr>
          <p:cNvPr id="17" name="C2 read sounds"/>
          <p:cNvSpPr txBox="1"/>
          <p:nvPr/>
        </p:nvSpPr>
        <p:spPr>
          <a:xfrm>
            <a:off x="457200" y="2495626"/>
            <a:ext cx="3703320" cy="637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Oo-too</a:t>
            </a:r>
            <a:endParaRPr lang="en-US" sz="3000" dirty="0"/>
          </a:p>
        </p:txBody>
      </p:sp>
      <p:sp>
        <p:nvSpPr>
          <p:cNvPr id="18" name="C3 tip box"/>
          <p:cNvSpPr/>
          <p:nvPr/>
        </p:nvSpPr>
        <p:spPr>
          <a:xfrm>
            <a:off x="365760" y="3364992"/>
            <a:ext cx="8412480" cy="841248"/>
          </a:xfrm>
          <a:prstGeom prst="roundRect">
            <a:avLst>
              <a:gd name="adj" fmla="val 27174"/>
            </a:avLst>
          </a:prstGeom>
          <a:solidFill>
            <a:srgbClr val="FFFFFF"/>
          </a:solidFill>
          <a:ln w="76200">
            <a:solidFill>
              <a:srgbClr val="C2255C"/>
            </a:solidFill>
            <a:prstDash val="solid"/>
          </a:ln>
        </p:spPr>
      </p:sp>
      <p:sp>
        <p:nvSpPr>
          <p:cNvPr id="19" name="C3 tip"/>
          <p:cNvSpPr txBox="1"/>
          <p:nvPr/>
        </p:nvSpPr>
        <p:spPr>
          <a:xfrm>
            <a:off x="502920" y="3407156"/>
            <a:ext cx="8138160" cy="7680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Hamza then waw  →  2 counts</a:t>
            </a:r>
            <a:endParaRPr lang="en-US" sz="2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E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Title box"/>
          <p:cNvSpPr/>
          <p:nvPr/>
        </p:nvSpPr>
        <p:spPr>
          <a:xfrm>
            <a:off x="365760" y="896112"/>
            <a:ext cx="8412480" cy="502920"/>
          </a:xfrm>
          <a:prstGeom prst="roundRect">
            <a:avLst>
              <a:gd name="adj" fmla="val 45455"/>
            </a:avLst>
          </a:prstGeom>
          <a:solidFill>
            <a:srgbClr val="5F3DC4"/>
          </a:solidFill>
          <a:ln w="76200">
            <a:solidFill>
              <a:srgbClr val="5F3DC4"/>
            </a:solidFill>
            <a:prstDash val="solid"/>
          </a:ln>
        </p:spPr>
      </p:sp>
      <p:sp>
        <p:nvSpPr>
          <p:cNvPr id="12" name="Title"/>
          <p:cNvSpPr txBox="1"/>
          <p:nvPr/>
        </p:nvSpPr>
        <p:spPr>
          <a:xfrm>
            <a:off x="365760" y="877824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Madd Lazim (necessary) — always 6</a:t>
            </a:r>
            <a:endParaRPr lang="en-US" sz="1800" dirty="0"/>
          </a:p>
        </p:txBody>
      </p:sp>
      <p:sp>
        <p:nvSpPr>
          <p:cNvPr id="13" name="Lines panel"/>
          <p:cNvSpPr/>
          <p:nvPr/>
        </p:nvSpPr>
        <p:spPr>
          <a:xfrm>
            <a:off x="365760" y="1536192"/>
            <a:ext cx="5486400" cy="2697480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76200">
            <a:solidFill>
              <a:srgbClr val="5F3DC4"/>
            </a:solidFill>
            <a:prstDash val="solid"/>
          </a:ln>
        </p:spPr>
      </p:sp>
      <p:sp>
        <p:nvSpPr>
          <p:cNvPr id="14" name="C1 line 1"/>
          <p:cNvSpPr txBox="1"/>
          <p:nvPr/>
        </p:nvSpPr>
        <p:spPr>
          <a:xfrm>
            <a:off x="502920" y="1775968"/>
            <a:ext cx="521208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Madd letter + a PERMANENT sukun or shaddah after it.</a:t>
            </a:r>
            <a:endParaRPr lang="en-US" sz="1400" dirty="0"/>
          </a:p>
        </p:txBody>
      </p:sp>
      <p:sp>
        <p:nvSpPr>
          <p:cNvPr id="15" name="C2 line 2"/>
          <p:cNvSpPr txBox="1"/>
          <p:nvPr/>
        </p:nvSpPr>
        <p:spPr>
          <a:xfrm>
            <a:off x="502920" y="2596388"/>
            <a:ext cx="521208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6 counts, connecting or stopping.</a:t>
            </a:r>
            <a:endParaRPr lang="en-US" sz="1400" dirty="0"/>
          </a:p>
        </p:txBody>
      </p:sp>
      <p:sp>
        <p:nvSpPr>
          <p:cNvPr id="16" name="C3 line 3"/>
          <p:cNvSpPr txBox="1"/>
          <p:nvPr/>
        </p:nvSpPr>
        <p:spPr>
          <a:xfrm>
            <a:off x="502920" y="3452368"/>
            <a:ext cx="521208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Mushaf shows  ~ .</a:t>
            </a:r>
            <a:endParaRPr lang="en-US" sz="1400" dirty="0"/>
          </a:p>
        </p:txBody>
      </p:sp>
      <p:sp>
        <p:nvSpPr>
          <p:cNvPr id="17" name="Arabic panel"/>
          <p:cNvSpPr/>
          <p:nvPr/>
        </p:nvSpPr>
        <p:spPr>
          <a:xfrm>
            <a:off x="6035040" y="1536192"/>
            <a:ext cx="2743200" cy="2697480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76200">
            <a:solidFill>
              <a:srgbClr val="5F3DC4"/>
            </a:solidFill>
            <a:prstDash val="solid"/>
          </a:ln>
        </p:spPr>
      </p:sp>
      <p:sp>
        <p:nvSpPr>
          <p:cNvPr id="18" name="Arabic sample"/>
          <p:cNvSpPr txBox="1"/>
          <p:nvPr/>
        </p:nvSpPr>
        <p:spPr>
          <a:xfrm>
            <a:off x="6035040" y="1635539"/>
            <a:ext cx="2743200" cy="2697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ٱلضَّ</a:t>
            </a:r>
            <a:r>
              <a:rPr lang="ar-SA" altLang="en-US" sz="5400" dirty="0">
                <a:solidFill>
                  <a:srgbClr val="2F9E44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آ</a:t>
            </a:r>
            <a:r>
              <a:rPr lang="ar-SA" altLang="en-US" sz="5400" dirty="0">
                <a:solidFill>
                  <a:srgbClr val="E03131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لِّ</a:t>
            </a: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ينَ</a:t>
            </a:r>
            <a:endParaRPr lang="ar-SA" sz="54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41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564"/>
          </a:solidFill>
          <a:ln w="12700">
            <a:solidFill>
              <a:srgbClr val="2B45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73479"/>
          </a:solidFill>
          <a:ln w="12700">
            <a:solidFill>
              <a:srgbClr val="373479"/>
            </a:solidFill>
            <a:prstDash val="solid"/>
          </a:ln>
        </p:spPr>
      </p:sp>
      <p:sp>
        <p:nvSpPr>
          <p:cNvPr id="12" name="Title box"/>
          <p:cNvSpPr/>
          <p:nvPr/>
        </p:nvSpPr>
        <p:spPr>
          <a:xfrm>
            <a:off x="365760" y="896112"/>
            <a:ext cx="8412480" cy="502920"/>
          </a:xfrm>
          <a:prstGeom prst="roundRect">
            <a:avLst>
              <a:gd name="adj" fmla="val 45455"/>
            </a:avLst>
          </a:prstGeom>
          <a:solidFill>
            <a:srgbClr val="5F3DC4"/>
          </a:solidFill>
          <a:ln w="76200">
            <a:solidFill>
              <a:srgbClr val="5F3DC4"/>
            </a:solidFill>
            <a:prstDash val="solid"/>
          </a:ln>
        </p:spPr>
      </p:sp>
      <p:sp>
        <p:nvSpPr>
          <p:cNvPr id="13" name="Title"/>
          <p:cNvSpPr txBox="1"/>
          <p:nvPr/>
        </p:nvSpPr>
        <p:spPr>
          <a:xfrm>
            <a:off x="365760" y="901700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Lazim: madd + shaddah</a:t>
            </a:r>
            <a:endParaRPr lang="en-US" sz="2200" dirty="0"/>
          </a:p>
        </p:txBody>
      </p:sp>
      <p:sp>
        <p:nvSpPr>
          <p:cNvPr id="14" name="Mushaf panel"/>
          <p:cNvSpPr/>
          <p:nvPr/>
        </p:nvSpPr>
        <p:spPr>
          <a:xfrm>
            <a:off x="489204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76200">
            <a:solidFill>
              <a:srgbClr val="2F9E44"/>
            </a:solidFill>
            <a:prstDash val="solid"/>
          </a:ln>
        </p:spPr>
      </p:sp>
      <p:sp>
        <p:nvSpPr>
          <p:cNvPr id="15" name="Read panel"/>
          <p:cNvSpPr/>
          <p:nvPr/>
        </p:nvSpPr>
        <p:spPr>
          <a:xfrm>
            <a:off x="36576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mushaf"/>
          <p:cNvSpPr txBox="1"/>
          <p:nvPr/>
        </p:nvSpPr>
        <p:spPr>
          <a:xfrm>
            <a:off x="4892040" y="1762553"/>
            <a:ext cx="3886200" cy="1353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وَلَا ٱلضَّآلِّينَ</a:t>
            </a:r>
            <a:endParaRPr lang="ar-SA" sz="4600" dirty="0"/>
          </a:p>
        </p:txBody>
      </p:sp>
      <p:sp>
        <p:nvSpPr>
          <p:cNvPr id="17" name="C2 arrow"/>
          <p:cNvSpPr/>
          <p:nvPr/>
        </p:nvSpPr>
        <p:spPr>
          <a:xfrm>
            <a:off x="4315968" y="2125980"/>
            <a:ext cx="512064" cy="457200"/>
          </a:xfrm>
          <a:prstGeom prst="leftArrow">
            <a:avLst/>
          </a:prstGeom>
          <a:solidFill>
            <a:srgbClr val="B89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2 read arabic"/>
          <p:cNvSpPr txBox="1"/>
          <p:nvPr/>
        </p:nvSpPr>
        <p:spPr>
          <a:xfrm>
            <a:off x="365760" y="1563953"/>
            <a:ext cx="3886200" cy="9811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وَلَا ٱلضَّ</a:t>
            </a:r>
            <a:r>
              <a:rPr lang="ar-SA" altLang="en-US" sz="3000" dirty="0">
                <a:solidFill>
                  <a:srgbClr val="2F9E44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آ</a:t>
            </a:r>
            <a:r>
              <a:rPr lang="ar-SA" altLang="en-US" sz="3000" dirty="0">
                <a:solidFill>
                  <a:srgbClr val="E03131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لِّ</a:t>
            </a: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ينَ</a:t>
            </a:r>
            <a:endParaRPr lang="ar-SA" sz="3000" dirty="0"/>
          </a:p>
        </p:txBody>
      </p:sp>
      <p:sp>
        <p:nvSpPr>
          <p:cNvPr id="19" name="C2 read sounds"/>
          <p:cNvSpPr txBox="1"/>
          <p:nvPr/>
        </p:nvSpPr>
        <p:spPr>
          <a:xfrm>
            <a:off x="457200" y="2496261"/>
            <a:ext cx="3703320" cy="637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Wa-lad-daaaaaal-leen</a:t>
            </a:r>
            <a:endParaRPr lang="en-US" sz="2500" dirty="0"/>
          </a:p>
        </p:txBody>
      </p:sp>
      <p:sp>
        <p:nvSpPr>
          <p:cNvPr id="20" name="C3 tip box"/>
          <p:cNvSpPr/>
          <p:nvPr/>
        </p:nvSpPr>
        <p:spPr>
          <a:xfrm>
            <a:off x="365760" y="3364992"/>
            <a:ext cx="8412480" cy="841248"/>
          </a:xfrm>
          <a:prstGeom prst="roundRect">
            <a:avLst>
              <a:gd name="adj" fmla="val 27174"/>
            </a:avLst>
          </a:prstGeom>
          <a:solidFill>
            <a:srgbClr val="FFFFFF"/>
          </a:solidFill>
          <a:ln w="76200">
            <a:solidFill>
              <a:srgbClr val="5F3DC4"/>
            </a:solidFill>
            <a:prstDash val="solid"/>
          </a:ln>
        </p:spPr>
      </p:sp>
      <p:sp>
        <p:nvSpPr>
          <p:cNvPr id="21" name="C3 tip"/>
          <p:cNvSpPr txBox="1"/>
          <p:nvPr/>
        </p:nvSpPr>
        <p:spPr>
          <a:xfrm>
            <a:off x="502920" y="3387598"/>
            <a:ext cx="8138160" cy="7680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Alif, then a doubled lam  →  6 counts</a:t>
            </a:r>
            <a:endParaRPr lang="en-US" sz="22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C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Title box"/>
          <p:cNvSpPr/>
          <p:nvPr/>
        </p:nvSpPr>
        <p:spPr>
          <a:xfrm>
            <a:off x="365760" y="896112"/>
            <a:ext cx="8412480" cy="502920"/>
          </a:xfrm>
          <a:prstGeom prst="roundRect">
            <a:avLst>
              <a:gd name="adj" fmla="val 45455"/>
            </a:avLst>
          </a:prstGeom>
          <a:solidFill>
            <a:srgbClr val="5F3DC4"/>
          </a:solidFill>
          <a:ln w="76200">
            <a:solidFill>
              <a:srgbClr val="5F3DC4"/>
            </a:solidFill>
            <a:prstDash val="solid"/>
          </a:ln>
        </p:spPr>
      </p:sp>
      <p:sp>
        <p:nvSpPr>
          <p:cNvPr id="11" name="Title"/>
          <p:cNvSpPr txBox="1"/>
          <p:nvPr/>
        </p:nvSpPr>
        <p:spPr>
          <a:xfrm>
            <a:off x="365760" y="901700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Lazim: madd + shaddah</a:t>
            </a:r>
            <a:endParaRPr lang="en-US" sz="2200" dirty="0"/>
          </a:p>
        </p:txBody>
      </p:sp>
      <p:sp>
        <p:nvSpPr>
          <p:cNvPr id="12" name="Mushaf panel"/>
          <p:cNvSpPr/>
          <p:nvPr/>
        </p:nvSpPr>
        <p:spPr>
          <a:xfrm>
            <a:off x="489204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76200">
            <a:solidFill>
              <a:srgbClr val="2F9E44"/>
            </a:solidFill>
            <a:prstDash val="solid"/>
          </a:ln>
        </p:spPr>
      </p:sp>
      <p:sp>
        <p:nvSpPr>
          <p:cNvPr id="13" name="Read panel"/>
          <p:cNvSpPr/>
          <p:nvPr/>
        </p:nvSpPr>
        <p:spPr>
          <a:xfrm>
            <a:off x="36576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mushaf"/>
          <p:cNvSpPr txBox="1"/>
          <p:nvPr/>
        </p:nvSpPr>
        <p:spPr>
          <a:xfrm>
            <a:off x="4892040" y="1823657"/>
            <a:ext cx="3886200" cy="1353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ٱلۡحَآقَّةُ</a:t>
            </a:r>
            <a:endParaRPr lang="ar-SA" sz="5400" dirty="0"/>
          </a:p>
        </p:txBody>
      </p:sp>
      <p:sp>
        <p:nvSpPr>
          <p:cNvPr id="15" name="C2 arrow"/>
          <p:cNvSpPr/>
          <p:nvPr/>
        </p:nvSpPr>
        <p:spPr>
          <a:xfrm>
            <a:off x="4315968" y="2125980"/>
            <a:ext cx="512064" cy="457200"/>
          </a:xfrm>
          <a:prstGeom prst="leftArrow">
            <a:avLst/>
          </a:prstGeom>
          <a:solidFill>
            <a:srgbClr val="2EB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2 read arabic"/>
          <p:cNvSpPr txBox="1"/>
          <p:nvPr/>
        </p:nvSpPr>
        <p:spPr>
          <a:xfrm>
            <a:off x="365760" y="1605915"/>
            <a:ext cx="3886200" cy="9811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ٱلۡحَ</a:t>
            </a:r>
            <a:r>
              <a:rPr lang="ar-SA" altLang="en-US" sz="3600" dirty="0">
                <a:solidFill>
                  <a:srgbClr val="2F9E44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آ</a:t>
            </a:r>
            <a:r>
              <a:rPr lang="ar-SA" altLang="en-US" sz="3600" dirty="0">
                <a:solidFill>
                  <a:srgbClr val="E03131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قَّ</a:t>
            </a: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ةُ</a:t>
            </a:r>
            <a:endParaRPr lang="ar-SA" sz="3600" dirty="0"/>
          </a:p>
        </p:txBody>
      </p:sp>
      <p:sp>
        <p:nvSpPr>
          <p:cNvPr id="17" name="C2 read sounds"/>
          <p:cNvSpPr txBox="1"/>
          <p:nvPr/>
        </p:nvSpPr>
        <p:spPr>
          <a:xfrm>
            <a:off x="457200" y="2462479"/>
            <a:ext cx="3703320" cy="637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Al-haaaaaaq-qah</a:t>
            </a:r>
            <a:endParaRPr lang="en-US" sz="2700" dirty="0"/>
          </a:p>
        </p:txBody>
      </p:sp>
      <p:sp>
        <p:nvSpPr>
          <p:cNvPr id="18" name="C3 tip box"/>
          <p:cNvSpPr/>
          <p:nvPr/>
        </p:nvSpPr>
        <p:spPr>
          <a:xfrm>
            <a:off x="365760" y="3364992"/>
            <a:ext cx="8412480" cy="841248"/>
          </a:xfrm>
          <a:prstGeom prst="roundRect">
            <a:avLst>
              <a:gd name="adj" fmla="val 27174"/>
            </a:avLst>
          </a:prstGeom>
          <a:solidFill>
            <a:srgbClr val="FFFFFF"/>
          </a:solidFill>
          <a:ln w="76200">
            <a:solidFill>
              <a:srgbClr val="5F3DC4"/>
            </a:solidFill>
            <a:prstDash val="solid"/>
          </a:ln>
        </p:spPr>
      </p:sp>
      <p:sp>
        <p:nvSpPr>
          <p:cNvPr id="19" name="C3 tip"/>
          <p:cNvSpPr txBox="1"/>
          <p:nvPr/>
        </p:nvSpPr>
        <p:spPr>
          <a:xfrm>
            <a:off x="502920" y="3379216"/>
            <a:ext cx="8138160" cy="7680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Alif, then a doubled qaaf  →  6 counts</a:t>
            </a:r>
            <a:endParaRPr lang="en-US" sz="22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D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3ED5E"/>
          </a:solidFill>
          <a:ln w="12700">
            <a:solidFill>
              <a:srgbClr val="C3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Title box"/>
          <p:cNvSpPr/>
          <p:nvPr/>
        </p:nvSpPr>
        <p:spPr>
          <a:xfrm>
            <a:off x="365760" y="896112"/>
            <a:ext cx="8412480" cy="502920"/>
          </a:xfrm>
          <a:prstGeom prst="roundRect">
            <a:avLst>
              <a:gd name="adj" fmla="val 45455"/>
            </a:avLst>
          </a:prstGeom>
          <a:solidFill>
            <a:srgbClr val="5F3DC4"/>
          </a:solidFill>
          <a:ln w="76200">
            <a:solidFill>
              <a:srgbClr val="5F3DC4"/>
            </a:solidFill>
            <a:prstDash val="solid"/>
          </a:ln>
        </p:spPr>
      </p:sp>
      <p:sp>
        <p:nvSpPr>
          <p:cNvPr id="19" name="Title"/>
          <p:cNvSpPr txBox="1"/>
          <p:nvPr/>
        </p:nvSpPr>
        <p:spPr>
          <a:xfrm>
            <a:off x="365760" y="901700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Lazim: madd + sukun</a:t>
            </a:r>
            <a:endParaRPr lang="en-US" sz="2200" dirty="0"/>
          </a:p>
        </p:txBody>
      </p:sp>
      <p:sp>
        <p:nvSpPr>
          <p:cNvPr id="20" name="Mushaf panel"/>
          <p:cNvSpPr/>
          <p:nvPr/>
        </p:nvSpPr>
        <p:spPr>
          <a:xfrm>
            <a:off x="489204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76200">
            <a:solidFill>
              <a:srgbClr val="2F9E44"/>
            </a:solidFill>
            <a:prstDash val="solid"/>
          </a:ln>
        </p:spPr>
      </p:sp>
      <p:sp>
        <p:nvSpPr>
          <p:cNvPr id="21" name="Read panel"/>
          <p:cNvSpPr/>
          <p:nvPr/>
        </p:nvSpPr>
        <p:spPr>
          <a:xfrm>
            <a:off x="36576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mushaf"/>
          <p:cNvSpPr txBox="1"/>
          <p:nvPr/>
        </p:nvSpPr>
        <p:spPr>
          <a:xfrm>
            <a:off x="4892040" y="1717929"/>
            <a:ext cx="3886200" cy="1353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ءَآلۡـَٰٔنَ</a:t>
            </a:r>
            <a:endParaRPr lang="ar-SA" sz="5000" dirty="0"/>
          </a:p>
        </p:txBody>
      </p:sp>
      <p:sp>
        <p:nvSpPr>
          <p:cNvPr id="23" name="C2 arrow"/>
          <p:cNvSpPr/>
          <p:nvPr/>
        </p:nvSpPr>
        <p:spPr>
          <a:xfrm>
            <a:off x="4315968" y="2125980"/>
            <a:ext cx="512064" cy="457200"/>
          </a:xfrm>
          <a:prstGeom prst="leftArrow">
            <a:avLst/>
          </a:prstGeom>
          <a:solidFill>
            <a:srgbClr val="B82E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2 read arabic"/>
          <p:cNvSpPr txBox="1"/>
          <p:nvPr/>
        </p:nvSpPr>
        <p:spPr>
          <a:xfrm>
            <a:off x="365760" y="1535163"/>
            <a:ext cx="3886200" cy="9811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ءَآلۡـَٰٔنَ</a:t>
            </a:r>
            <a:endParaRPr lang="ar-SA" sz="3300" dirty="0"/>
          </a:p>
        </p:txBody>
      </p:sp>
      <p:sp>
        <p:nvSpPr>
          <p:cNvPr id="25" name="C2 read sounds"/>
          <p:cNvSpPr txBox="1"/>
          <p:nvPr/>
        </p:nvSpPr>
        <p:spPr>
          <a:xfrm>
            <a:off x="457200" y="2497531"/>
            <a:ext cx="3703320" cy="637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Aaaaaaal-aa-na</a:t>
            </a:r>
            <a:endParaRPr lang="en-US" sz="3000" dirty="0"/>
          </a:p>
        </p:txBody>
      </p:sp>
      <p:sp>
        <p:nvSpPr>
          <p:cNvPr id="26" name="C3 tip box"/>
          <p:cNvSpPr/>
          <p:nvPr/>
        </p:nvSpPr>
        <p:spPr>
          <a:xfrm>
            <a:off x="365760" y="3364992"/>
            <a:ext cx="8412480" cy="841248"/>
          </a:xfrm>
          <a:prstGeom prst="roundRect">
            <a:avLst>
              <a:gd name="adj" fmla="val 27174"/>
            </a:avLst>
          </a:prstGeom>
          <a:solidFill>
            <a:srgbClr val="FFFFFF"/>
          </a:solidFill>
          <a:ln w="76200">
            <a:solidFill>
              <a:srgbClr val="5F3DC4"/>
            </a:solidFill>
            <a:prstDash val="solid"/>
          </a:ln>
        </p:spPr>
      </p:sp>
      <p:sp>
        <p:nvSpPr>
          <p:cNvPr id="27" name="C3 tip"/>
          <p:cNvSpPr txBox="1"/>
          <p:nvPr/>
        </p:nvSpPr>
        <p:spPr>
          <a:xfrm>
            <a:off x="502920" y="3380232"/>
            <a:ext cx="8138160" cy="7680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Alif, then a silent lam  →  6 counts  (only Yunus 51 and 91)</a:t>
            </a:r>
            <a:endParaRPr lang="en-US" sz="21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17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E52E0"/>
          </a:solidFill>
          <a:ln w="12700">
            <a:solidFill>
              <a:srgbClr val="8E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A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D370"/>
          </a:solidFill>
          <a:ln w="12700">
            <a:solidFill>
              <a:srgbClr val="DBD3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7"/>
          </a:solidFill>
          <a:ln w="12700">
            <a:solidFill>
              <a:srgbClr val="478557"/>
            </a:solidFill>
            <a:prstDash val="solid"/>
          </a:ln>
        </p:spPr>
      </p:sp>
      <p:sp>
        <p:nvSpPr>
          <p:cNvPr id="15" name="Title box"/>
          <p:cNvSpPr/>
          <p:nvPr/>
        </p:nvSpPr>
        <p:spPr>
          <a:xfrm>
            <a:off x="365760" y="896112"/>
            <a:ext cx="8412480" cy="502920"/>
          </a:xfrm>
          <a:prstGeom prst="roundRect">
            <a:avLst>
              <a:gd name="adj" fmla="val 45455"/>
            </a:avLst>
          </a:prstGeom>
          <a:solidFill>
            <a:srgbClr val="5F3DC4"/>
          </a:solidFill>
          <a:ln w="76200">
            <a:solidFill>
              <a:srgbClr val="5F3DC4"/>
            </a:solidFill>
            <a:prstDash val="solid"/>
          </a:ln>
        </p:spPr>
      </p:sp>
      <p:sp>
        <p:nvSpPr>
          <p:cNvPr id="16" name="Title"/>
          <p:cNvSpPr txBox="1"/>
          <p:nvPr/>
        </p:nvSpPr>
        <p:spPr>
          <a:xfrm>
            <a:off x="365760" y="901700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Lazim in the letter names</a:t>
            </a:r>
            <a:endParaRPr lang="en-US" sz="2200" dirty="0"/>
          </a:p>
        </p:txBody>
      </p:sp>
      <p:sp>
        <p:nvSpPr>
          <p:cNvPr id="17" name="Mushaf panel"/>
          <p:cNvSpPr/>
          <p:nvPr/>
        </p:nvSpPr>
        <p:spPr>
          <a:xfrm>
            <a:off x="489204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76200">
            <a:solidFill>
              <a:srgbClr val="2F9E44"/>
            </a:solidFill>
            <a:prstDash val="solid"/>
          </a:ln>
        </p:spPr>
      </p:sp>
      <p:sp>
        <p:nvSpPr>
          <p:cNvPr id="18" name="Read panel"/>
          <p:cNvSpPr/>
          <p:nvPr/>
        </p:nvSpPr>
        <p:spPr>
          <a:xfrm>
            <a:off x="36576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mushaf"/>
          <p:cNvSpPr txBox="1"/>
          <p:nvPr/>
        </p:nvSpPr>
        <p:spPr>
          <a:xfrm>
            <a:off x="4892040" y="1627037"/>
            <a:ext cx="3886200" cy="1353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الٓمٓ</a:t>
            </a:r>
            <a:endParaRPr lang="ar-SA" sz="5000" dirty="0"/>
          </a:p>
        </p:txBody>
      </p:sp>
      <p:sp>
        <p:nvSpPr>
          <p:cNvPr id="20" name="C2 arrow"/>
          <p:cNvSpPr/>
          <p:nvPr/>
        </p:nvSpPr>
        <p:spPr>
          <a:xfrm>
            <a:off x="4315968" y="2125980"/>
            <a:ext cx="512064" cy="457200"/>
          </a:xfrm>
          <a:prstGeom prst="leftArrow">
            <a:avLst/>
          </a:prstGeom>
          <a:solidFill>
            <a:srgbClr val="6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2 read arabic"/>
          <p:cNvSpPr txBox="1"/>
          <p:nvPr/>
        </p:nvSpPr>
        <p:spPr>
          <a:xfrm>
            <a:off x="365760" y="1517867"/>
            <a:ext cx="3886200" cy="9811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أَلِفۡ لَ</a:t>
            </a:r>
            <a:r>
              <a:rPr lang="ar-SA" altLang="en-US" sz="2900" dirty="0">
                <a:solidFill>
                  <a:srgbClr val="2F9E44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آ</a:t>
            </a:r>
            <a:r>
              <a:rPr lang="ar-SA" altLang="en-US" sz="2900" dirty="0">
                <a:solidFill>
                  <a:srgbClr val="E03131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 مِّ</a:t>
            </a:r>
            <a:r>
              <a:rPr lang="ar-SA" altLang="en-US" sz="2900" dirty="0">
                <a:solidFill>
                  <a:srgbClr val="2F9E44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r>
              <a:rPr lang="ar-SA" altLang="en-US" sz="2900" dirty="0">
                <a:solidFill>
                  <a:srgbClr val="E03131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2900" dirty="0"/>
          </a:p>
        </p:txBody>
      </p:sp>
      <p:sp>
        <p:nvSpPr>
          <p:cNvPr id="22" name="C2 read sounds"/>
          <p:cNvSpPr txBox="1"/>
          <p:nvPr/>
        </p:nvSpPr>
        <p:spPr>
          <a:xfrm>
            <a:off x="457200" y="2494991"/>
            <a:ext cx="3703320" cy="637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A-lif Laaaaaam Meeeeeem</a:t>
            </a:r>
            <a:endParaRPr lang="en-US" sz="2000" dirty="0"/>
          </a:p>
        </p:txBody>
      </p:sp>
      <p:sp>
        <p:nvSpPr>
          <p:cNvPr id="23" name="C3 tip box"/>
          <p:cNvSpPr/>
          <p:nvPr/>
        </p:nvSpPr>
        <p:spPr>
          <a:xfrm>
            <a:off x="365760" y="3364992"/>
            <a:ext cx="8412480" cy="841248"/>
          </a:xfrm>
          <a:prstGeom prst="roundRect">
            <a:avLst>
              <a:gd name="adj" fmla="val 27174"/>
            </a:avLst>
          </a:prstGeom>
          <a:solidFill>
            <a:srgbClr val="FFFFFF"/>
          </a:solidFill>
          <a:ln w="76200">
            <a:solidFill>
              <a:srgbClr val="5F3DC4"/>
            </a:solidFill>
            <a:prstDash val="solid"/>
          </a:ln>
        </p:spPr>
      </p:sp>
      <p:sp>
        <p:nvSpPr>
          <p:cNvPr id="24" name="C3 tip"/>
          <p:cNvSpPr txBox="1"/>
          <p:nvPr/>
        </p:nvSpPr>
        <p:spPr>
          <a:xfrm>
            <a:off x="502920" y="3383280"/>
            <a:ext cx="8138160" cy="7680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Laam and Meem: 6 counts each  (see the Disjointed Letters lesson)</a:t>
            </a:r>
            <a:endParaRPr lang="en-US" sz="18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C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AD64"/>
          </a:solidFill>
          <a:ln w="12700">
            <a:solidFill>
              <a:srgbClr val="D8AD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8747"/>
          </a:solidFill>
          <a:ln w="12700">
            <a:solidFill>
              <a:srgbClr val="D187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Title box"/>
          <p:cNvSpPr/>
          <p:nvPr/>
        </p:nvSpPr>
        <p:spPr>
          <a:xfrm>
            <a:off x="365760" y="896112"/>
            <a:ext cx="8412480" cy="502920"/>
          </a:xfrm>
          <a:prstGeom prst="roundRect">
            <a:avLst>
              <a:gd name="adj" fmla="val 45455"/>
            </a:avLst>
          </a:prstGeom>
          <a:solidFill>
            <a:srgbClr val="0B7285"/>
          </a:solidFill>
          <a:ln w="76200">
            <a:solidFill>
              <a:srgbClr val="0B7285"/>
            </a:solidFill>
            <a:prstDash val="solid"/>
          </a:ln>
        </p:spPr>
      </p:sp>
      <p:sp>
        <p:nvSpPr>
          <p:cNvPr id="11" name="Title"/>
          <p:cNvSpPr txBox="1"/>
          <p:nvPr/>
        </p:nvSpPr>
        <p:spPr>
          <a:xfrm>
            <a:off x="365760" y="877824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Madd 'Arid lis-Sukun (because of stopping)</a:t>
            </a:r>
            <a:endParaRPr lang="en-US" sz="1800" dirty="0"/>
          </a:p>
        </p:txBody>
      </p:sp>
      <p:sp>
        <p:nvSpPr>
          <p:cNvPr id="12" name="Lines panel"/>
          <p:cNvSpPr/>
          <p:nvPr/>
        </p:nvSpPr>
        <p:spPr>
          <a:xfrm>
            <a:off x="365760" y="1536192"/>
            <a:ext cx="5486400" cy="2697480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76200">
            <a:solidFill>
              <a:srgbClr val="0B7285"/>
            </a:solidFill>
            <a:prstDash val="solid"/>
          </a:ln>
        </p:spPr>
      </p:sp>
      <p:sp>
        <p:nvSpPr>
          <p:cNvPr id="13" name="C1 line 1"/>
          <p:cNvSpPr txBox="1"/>
          <p:nvPr/>
        </p:nvSpPr>
        <p:spPr>
          <a:xfrm>
            <a:off x="502920" y="1651381"/>
            <a:ext cx="521208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you STOP, the last letter becomes silent.</a:t>
            </a:r>
            <a:endParaRPr lang="en-US" sz="1600" dirty="0"/>
          </a:p>
        </p:txBody>
      </p:sp>
      <p:sp>
        <p:nvSpPr>
          <p:cNvPr id="14" name="C2 line 2"/>
          <p:cNvSpPr txBox="1"/>
          <p:nvPr/>
        </p:nvSpPr>
        <p:spPr>
          <a:xfrm>
            <a:off x="502920" y="2280031"/>
            <a:ext cx="521208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madd letter just before it may be stretched:</a:t>
            </a:r>
            <a:endParaRPr lang="en-US" sz="1600" dirty="0"/>
          </a:p>
        </p:txBody>
      </p:sp>
      <p:sp>
        <p:nvSpPr>
          <p:cNvPr id="15" name="C3 line 3"/>
          <p:cNvSpPr txBox="1"/>
          <p:nvPr/>
        </p:nvSpPr>
        <p:spPr>
          <a:xfrm>
            <a:off x="502920" y="2908681"/>
            <a:ext cx="521208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 4 or 6 counts (choose one and stay with it).</a:t>
            </a:r>
            <a:endParaRPr lang="en-US" sz="1600" dirty="0"/>
          </a:p>
        </p:txBody>
      </p:sp>
      <p:sp>
        <p:nvSpPr>
          <p:cNvPr id="16" name="C4 line 4"/>
          <p:cNvSpPr txBox="1"/>
          <p:nvPr/>
        </p:nvSpPr>
        <p:spPr>
          <a:xfrm>
            <a:off x="502920" y="3537331"/>
            <a:ext cx="521208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sign: the stopping sukun is not written.</a:t>
            </a:r>
            <a:endParaRPr lang="en-US" sz="1600" dirty="0"/>
          </a:p>
        </p:txBody>
      </p:sp>
      <p:sp>
        <p:nvSpPr>
          <p:cNvPr id="17" name="Arabic panel"/>
          <p:cNvSpPr/>
          <p:nvPr/>
        </p:nvSpPr>
        <p:spPr>
          <a:xfrm>
            <a:off x="6035040" y="1536192"/>
            <a:ext cx="2743200" cy="2697480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76200">
            <a:solidFill>
              <a:srgbClr val="0B7285"/>
            </a:solidFill>
            <a:prstDash val="solid"/>
          </a:ln>
        </p:spPr>
      </p:sp>
      <p:sp>
        <p:nvSpPr>
          <p:cNvPr id="18" name="Arabic sample"/>
          <p:cNvSpPr txBox="1"/>
          <p:nvPr/>
        </p:nvSpPr>
        <p:spPr>
          <a:xfrm>
            <a:off x="6035040" y="1480109"/>
            <a:ext cx="2743200" cy="2697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ٱلرَّحِ</a:t>
            </a:r>
            <a:r>
              <a:rPr lang="ar-SA" altLang="en-US" sz="4800" dirty="0">
                <a:solidFill>
                  <a:srgbClr val="2F9E44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r>
              <a:rPr lang="ar-SA" altLang="en-US" sz="4800" dirty="0">
                <a:solidFill>
                  <a:srgbClr val="E03131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8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C5F7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Title box"/>
          <p:cNvSpPr/>
          <p:nvPr/>
        </p:nvSpPr>
        <p:spPr>
          <a:xfrm>
            <a:off x="365760" y="896112"/>
            <a:ext cx="8412480" cy="502920"/>
          </a:xfrm>
          <a:prstGeom prst="roundRect">
            <a:avLst>
              <a:gd name="adj" fmla="val 45455"/>
            </a:avLst>
          </a:prstGeom>
          <a:solidFill>
            <a:srgbClr val="0B7285"/>
          </a:solidFill>
          <a:ln w="76200">
            <a:solidFill>
              <a:srgbClr val="0B7285"/>
            </a:solidFill>
            <a:prstDash val="solid"/>
          </a:ln>
        </p:spPr>
      </p:sp>
      <p:sp>
        <p:nvSpPr>
          <p:cNvPr id="12" name="Title"/>
          <p:cNvSpPr txBox="1"/>
          <p:nvPr/>
        </p:nvSpPr>
        <p:spPr>
          <a:xfrm>
            <a:off x="365760" y="877824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'Arid: stretch before the stop</a:t>
            </a:r>
            <a:endParaRPr lang="en-US" sz="1800" dirty="0"/>
          </a:p>
        </p:txBody>
      </p:sp>
      <p:sp>
        <p:nvSpPr>
          <p:cNvPr id="13" name="Mushaf panel"/>
          <p:cNvSpPr/>
          <p:nvPr/>
        </p:nvSpPr>
        <p:spPr>
          <a:xfrm>
            <a:off x="489204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76200">
            <a:solidFill>
              <a:srgbClr val="2F9E44"/>
            </a:solidFill>
            <a:prstDash val="solid"/>
          </a:ln>
        </p:spPr>
      </p:sp>
      <p:sp>
        <p:nvSpPr>
          <p:cNvPr id="14" name="Read panel"/>
          <p:cNvSpPr/>
          <p:nvPr/>
        </p:nvSpPr>
        <p:spPr>
          <a:xfrm>
            <a:off x="36576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mushaf"/>
          <p:cNvSpPr txBox="1"/>
          <p:nvPr/>
        </p:nvSpPr>
        <p:spPr>
          <a:xfrm>
            <a:off x="4892040" y="1609036"/>
            <a:ext cx="3886200" cy="1353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ٱلرَّحِيمِ</a:t>
            </a:r>
            <a:endParaRPr lang="ar-SA" sz="5000" dirty="0"/>
          </a:p>
        </p:txBody>
      </p:sp>
      <p:sp>
        <p:nvSpPr>
          <p:cNvPr id="16" name="C2 arrow"/>
          <p:cNvSpPr/>
          <p:nvPr/>
        </p:nvSpPr>
        <p:spPr>
          <a:xfrm>
            <a:off x="4315968" y="2125980"/>
            <a:ext cx="512064" cy="457200"/>
          </a:xfrm>
          <a:prstGeom prst="leftArrow">
            <a:avLst/>
          </a:prstGeom>
          <a:solidFill>
            <a:srgbClr val="B84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2 read arabic"/>
          <p:cNvSpPr txBox="1"/>
          <p:nvPr/>
        </p:nvSpPr>
        <p:spPr>
          <a:xfrm>
            <a:off x="365760" y="1470203"/>
            <a:ext cx="3886200" cy="9811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ٱلرَّحِ</a:t>
            </a:r>
            <a:r>
              <a:rPr lang="ar-SA" altLang="en-US" sz="3300" dirty="0">
                <a:solidFill>
                  <a:srgbClr val="2F9E44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r>
              <a:rPr lang="ar-SA" altLang="en-US" sz="3300" dirty="0">
                <a:solidFill>
                  <a:srgbClr val="E03131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300" dirty="0"/>
          </a:p>
        </p:txBody>
      </p:sp>
      <p:sp>
        <p:nvSpPr>
          <p:cNvPr id="18" name="C2 read sounds"/>
          <p:cNvSpPr txBox="1"/>
          <p:nvPr/>
        </p:nvSpPr>
        <p:spPr>
          <a:xfrm>
            <a:off x="457200" y="2463495"/>
            <a:ext cx="3703320" cy="637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Ar-ra-heeeem  (stop)</a:t>
            </a:r>
            <a:endParaRPr lang="en-US" sz="2600" dirty="0"/>
          </a:p>
        </p:txBody>
      </p:sp>
      <p:sp>
        <p:nvSpPr>
          <p:cNvPr id="19" name="C3 tip box"/>
          <p:cNvSpPr/>
          <p:nvPr/>
        </p:nvSpPr>
        <p:spPr>
          <a:xfrm>
            <a:off x="365760" y="3364992"/>
            <a:ext cx="8412480" cy="841248"/>
          </a:xfrm>
          <a:prstGeom prst="roundRect">
            <a:avLst>
              <a:gd name="adj" fmla="val 27174"/>
            </a:avLst>
          </a:prstGeom>
          <a:solidFill>
            <a:srgbClr val="FFFFFF"/>
          </a:solidFill>
          <a:ln w="76200">
            <a:solidFill>
              <a:srgbClr val="0B7285"/>
            </a:solidFill>
            <a:prstDash val="solid"/>
          </a:ln>
        </p:spPr>
      </p:sp>
      <p:sp>
        <p:nvSpPr>
          <p:cNvPr id="20" name="C3 tip"/>
          <p:cNvSpPr txBox="1"/>
          <p:nvPr/>
        </p:nvSpPr>
        <p:spPr>
          <a:xfrm>
            <a:off x="502920" y="3379216"/>
            <a:ext cx="8138160" cy="7680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Stopping: 2, 4 or 6.   Connecting: 2.</a:t>
            </a:r>
            <a:endParaRPr lang="en-US" sz="22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39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3"/>
          </a:solidFill>
          <a:ln w="12700">
            <a:solidFill>
              <a:srgbClr val="642B53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2"/>
          </a:solidFill>
          <a:ln w="12700">
            <a:solidFill>
              <a:srgbClr val="793442"/>
            </a:solidFill>
            <a:prstDash val="solid"/>
          </a:ln>
        </p:spPr>
      </p:sp>
      <p:sp>
        <p:nvSpPr>
          <p:cNvPr id="12" name="Title box"/>
          <p:cNvSpPr/>
          <p:nvPr/>
        </p:nvSpPr>
        <p:spPr>
          <a:xfrm>
            <a:off x="365760" y="896112"/>
            <a:ext cx="8412480" cy="502920"/>
          </a:xfrm>
          <a:prstGeom prst="roundRect">
            <a:avLst>
              <a:gd name="adj" fmla="val 45455"/>
            </a:avLst>
          </a:prstGeom>
          <a:solidFill>
            <a:srgbClr val="0B7285"/>
          </a:solidFill>
          <a:ln w="76200">
            <a:solidFill>
              <a:srgbClr val="0B7285"/>
            </a:solidFill>
            <a:prstDash val="solid"/>
          </a:ln>
        </p:spPr>
      </p:sp>
      <p:sp>
        <p:nvSpPr>
          <p:cNvPr id="13" name="Title"/>
          <p:cNvSpPr txBox="1"/>
          <p:nvPr/>
        </p:nvSpPr>
        <p:spPr>
          <a:xfrm>
            <a:off x="365760" y="877824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'Arid: stretch before the stop</a:t>
            </a:r>
            <a:endParaRPr lang="en-US" sz="1800" dirty="0"/>
          </a:p>
        </p:txBody>
      </p:sp>
      <p:sp>
        <p:nvSpPr>
          <p:cNvPr id="14" name="Mushaf panel"/>
          <p:cNvSpPr/>
          <p:nvPr/>
        </p:nvSpPr>
        <p:spPr>
          <a:xfrm>
            <a:off x="489204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76200">
            <a:solidFill>
              <a:srgbClr val="2F9E44"/>
            </a:solidFill>
            <a:prstDash val="solid"/>
          </a:ln>
        </p:spPr>
      </p:sp>
      <p:sp>
        <p:nvSpPr>
          <p:cNvPr id="15" name="Read panel"/>
          <p:cNvSpPr/>
          <p:nvPr/>
        </p:nvSpPr>
        <p:spPr>
          <a:xfrm>
            <a:off x="36576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mushaf"/>
          <p:cNvSpPr txBox="1"/>
          <p:nvPr/>
        </p:nvSpPr>
        <p:spPr>
          <a:xfrm>
            <a:off x="4892040" y="1651406"/>
            <a:ext cx="3886200" cy="1353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نَسۡتَعِينُ</a:t>
            </a:r>
            <a:endParaRPr lang="ar-SA" sz="5800" dirty="0"/>
          </a:p>
        </p:txBody>
      </p:sp>
      <p:sp>
        <p:nvSpPr>
          <p:cNvPr id="17" name="C2 arrow"/>
          <p:cNvSpPr/>
          <p:nvPr/>
        </p:nvSpPr>
        <p:spPr>
          <a:xfrm>
            <a:off x="4315968" y="2125980"/>
            <a:ext cx="512064" cy="457200"/>
          </a:xfrm>
          <a:prstGeom prst="leftArrow">
            <a:avLst/>
          </a:prstGeom>
          <a:solidFill>
            <a:srgbClr val="2EB8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2 read arabic"/>
          <p:cNvSpPr txBox="1"/>
          <p:nvPr/>
        </p:nvSpPr>
        <p:spPr>
          <a:xfrm>
            <a:off x="365760" y="1491386"/>
            <a:ext cx="3886200" cy="9811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نَسۡتَعِ</a:t>
            </a:r>
            <a:r>
              <a:rPr lang="ar-SA" altLang="en-US" sz="3800" dirty="0">
                <a:solidFill>
                  <a:srgbClr val="2F9E44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r>
              <a:rPr lang="ar-SA" altLang="en-US" sz="3800" dirty="0">
                <a:solidFill>
                  <a:srgbClr val="E03131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800" dirty="0"/>
          </a:p>
        </p:txBody>
      </p:sp>
      <p:sp>
        <p:nvSpPr>
          <p:cNvPr id="19" name="C2 read sounds"/>
          <p:cNvSpPr txBox="1"/>
          <p:nvPr/>
        </p:nvSpPr>
        <p:spPr>
          <a:xfrm>
            <a:off x="457200" y="2463495"/>
            <a:ext cx="3703320" cy="637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Nas-ta-'eeeen  (stop)</a:t>
            </a:r>
            <a:endParaRPr lang="en-US" sz="2600" dirty="0"/>
          </a:p>
        </p:txBody>
      </p:sp>
      <p:sp>
        <p:nvSpPr>
          <p:cNvPr id="20" name="C3 tip box"/>
          <p:cNvSpPr/>
          <p:nvPr/>
        </p:nvSpPr>
        <p:spPr>
          <a:xfrm>
            <a:off x="365760" y="3364992"/>
            <a:ext cx="8412480" cy="841248"/>
          </a:xfrm>
          <a:prstGeom prst="roundRect">
            <a:avLst>
              <a:gd name="adj" fmla="val 27174"/>
            </a:avLst>
          </a:prstGeom>
          <a:solidFill>
            <a:srgbClr val="FFFFFF"/>
          </a:solidFill>
          <a:ln w="76200">
            <a:solidFill>
              <a:srgbClr val="0B7285"/>
            </a:solidFill>
            <a:prstDash val="solid"/>
          </a:ln>
        </p:spPr>
      </p:sp>
      <p:sp>
        <p:nvSpPr>
          <p:cNvPr id="21" name="C3 tip"/>
          <p:cNvSpPr txBox="1"/>
          <p:nvPr/>
        </p:nvSpPr>
        <p:spPr>
          <a:xfrm>
            <a:off x="502920" y="3379216"/>
            <a:ext cx="8138160" cy="7680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Stopping: 2, 4 or 6</a:t>
            </a:r>
            <a:endParaRPr lang="en-US" sz="2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Title box"/>
          <p:cNvSpPr/>
          <p:nvPr/>
        </p:nvSpPr>
        <p:spPr>
          <a:xfrm>
            <a:off x="365760" y="896112"/>
            <a:ext cx="8412480" cy="502920"/>
          </a:xfrm>
          <a:prstGeom prst="roundRect">
            <a:avLst>
              <a:gd name="adj" fmla="val 45455"/>
            </a:avLst>
          </a:prstGeom>
          <a:solidFill>
            <a:srgbClr val="0B7285"/>
          </a:solidFill>
          <a:ln w="76200">
            <a:solidFill>
              <a:srgbClr val="0B7285"/>
            </a:solidFill>
            <a:prstDash val="solid"/>
          </a:ln>
        </p:spPr>
      </p:sp>
      <p:sp>
        <p:nvSpPr>
          <p:cNvPr id="11" name="Title"/>
          <p:cNvSpPr txBox="1"/>
          <p:nvPr/>
        </p:nvSpPr>
        <p:spPr>
          <a:xfrm>
            <a:off x="365760" y="877824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'Arid: stretch before the stop</a:t>
            </a:r>
            <a:endParaRPr lang="en-US" sz="1800" dirty="0"/>
          </a:p>
        </p:txBody>
      </p:sp>
      <p:sp>
        <p:nvSpPr>
          <p:cNvPr id="12" name="Mushaf panel"/>
          <p:cNvSpPr/>
          <p:nvPr/>
        </p:nvSpPr>
        <p:spPr>
          <a:xfrm>
            <a:off x="489204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76200">
            <a:solidFill>
              <a:srgbClr val="2F9E44"/>
            </a:solidFill>
            <a:prstDash val="solid"/>
          </a:ln>
        </p:spPr>
      </p:sp>
      <p:sp>
        <p:nvSpPr>
          <p:cNvPr id="13" name="Read panel"/>
          <p:cNvSpPr/>
          <p:nvPr/>
        </p:nvSpPr>
        <p:spPr>
          <a:xfrm>
            <a:off x="36576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mushaf"/>
          <p:cNvSpPr txBox="1"/>
          <p:nvPr/>
        </p:nvSpPr>
        <p:spPr>
          <a:xfrm>
            <a:off x="4892040" y="1690268"/>
            <a:ext cx="3886200" cy="1353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يَعۡلَمُونَ</a:t>
            </a:r>
            <a:endParaRPr lang="ar-SA" sz="5400" dirty="0"/>
          </a:p>
        </p:txBody>
      </p:sp>
      <p:sp>
        <p:nvSpPr>
          <p:cNvPr id="15" name="C2 arrow"/>
          <p:cNvSpPr/>
          <p:nvPr/>
        </p:nvSpPr>
        <p:spPr>
          <a:xfrm>
            <a:off x="4315968" y="2125980"/>
            <a:ext cx="512064" cy="457200"/>
          </a:xfrm>
          <a:prstGeom prst="leftArrow">
            <a:avLst/>
          </a:prstGeom>
          <a:solidFill>
            <a:srgbClr val="9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2 read arabic"/>
          <p:cNvSpPr txBox="1"/>
          <p:nvPr/>
        </p:nvSpPr>
        <p:spPr>
          <a:xfrm>
            <a:off x="365760" y="1516761"/>
            <a:ext cx="3886200" cy="9811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يَعۡلَمُ</a:t>
            </a:r>
            <a:r>
              <a:rPr lang="ar-SA" altLang="en-US" sz="3500" dirty="0">
                <a:solidFill>
                  <a:srgbClr val="2F9E44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r>
              <a:rPr lang="ar-SA" altLang="en-US" sz="3500" dirty="0">
                <a:solidFill>
                  <a:srgbClr val="E03131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500" dirty="0"/>
          </a:p>
        </p:txBody>
      </p:sp>
      <p:sp>
        <p:nvSpPr>
          <p:cNvPr id="17" name="C2 read sounds"/>
          <p:cNvSpPr txBox="1"/>
          <p:nvPr/>
        </p:nvSpPr>
        <p:spPr>
          <a:xfrm>
            <a:off x="457200" y="2462479"/>
            <a:ext cx="3703320" cy="637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Ya'-la-mooon  (stop)</a:t>
            </a:r>
            <a:endParaRPr lang="en-US" sz="2700" dirty="0"/>
          </a:p>
        </p:txBody>
      </p:sp>
      <p:sp>
        <p:nvSpPr>
          <p:cNvPr id="18" name="C3 tip box"/>
          <p:cNvSpPr/>
          <p:nvPr/>
        </p:nvSpPr>
        <p:spPr>
          <a:xfrm>
            <a:off x="365760" y="3364992"/>
            <a:ext cx="8412480" cy="841248"/>
          </a:xfrm>
          <a:prstGeom prst="roundRect">
            <a:avLst>
              <a:gd name="adj" fmla="val 27174"/>
            </a:avLst>
          </a:prstGeom>
          <a:solidFill>
            <a:srgbClr val="FFFFFF"/>
          </a:solidFill>
          <a:ln w="76200">
            <a:solidFill>
              <a:srgbClr val="0B7285"/>
            </a:solidFill>
            <a:prstDash val="solid"/>
          </a:ln>
        </p:spPr>
      </p:sp>
      <p:sp>
        <p:nvSpPr>
          <p:cNvPr id="19" name="C3 tip"/>
          <p:cNvSpPr txBox="1"/>
          <p:nvPr/>
        </p:nvSpPr>
        <p:spPr>
          <a:xfrm>
            <a:off x="502920" y="3379216"/>
            <a:ext cx="8138160" cy="7680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Stopping: 2, 4 or 6</a:t>
            </a:r>
            <a:endParaRPr lang="en-US" sz="22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C5E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7ED"/>
          </a:solidFill>
          <a:ln w="12700">
            <a:solidFill>
              <a:srgbClr val="5EE7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Title box"/>
          <p:cNvSpPr/>
          <p:nvPr/>
        </p:nvSpPr>
        <p:spPr>
          <a:xfrm>
            <a:off x="365760" y="896112"/>
            <a:ext cx="8412480" cy="502920"/>
          </a:xfrm>
          <a:prstGeom prst="roundRect">
            <a:avLst>
              <a:gd name="adj" fmla="val 45455"/>
            </a:avLst>
          </a:prstGeom>
          <a:solidFill>
            <a:srgbClr val="0B7285"/>
          </a:solidFill>
          <a:ln w="76200">
            <a:solidFill>
              <a:srgbClr val="0B7285"/>
            </a:solidFill>
            <a:prstDash val="solid"/>
          </a:ln>
        </p:spPr>
      </p:sp>
      <p:sp>
        <p:nvSpPr>
          <p:cNvPr id="19" name="Title"/>
          <p:cNvSpPr txBox="1"/>
          <p:nvPr/>
        </p:nvSpPr>
        <p:spPr>
          <a:xfrm>
            <a:off x="365760" y="877824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Madd al-Leen (soft)</a:t>
            </a:r>
            <a:endParaRPr lang="en-US" sz="1800" dirty="0"/>
          </a:p>
        </p:txBody>
      </p:sp>
      <p:sp>
        <p:nvSpPr>
          <p:cNvPr id="20" name="Lines panel"/>
          <p:cNvSpPr/>
          <p:nvPr/>
        </p:nvSpPr>
        <p:spPr>
          <a:xfrm>
            <a:off x="365760" y="1536192"/>
            <a:ext cx="5486400" cy="2697480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76200">
            <a:solidFill>
              <a:srgbClr val="0B7285"/>
            </a:solidFill>
            <a:prstDash val="solid"/>
          </a:ln>
        </p:spPr>
      </p:sp>
      <p:sp>
        <p:nvSpPr>
          <p:cNvPr id="21" name="C1 line 1"/>
          <p:cNvSpPr txBox="1"/>
          <p:nvPr/>
        </p:nvSpPr>
        <p:spPr>
          <a:xfrm>
            <a:off x="502920" y="1733334"/>
            <a:ext cx="521208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 or ي with a sukun after a FATHAH:  aw / ay.</a:t>
            </a:r>
            <a:endParaRPr lang="en-US" sz="1700" dirty="0"/>
          </a:p>
        </p:txBody>
      </p:sp>
      <p:sp>
        <p:nvSpPr>
          <p:cNvPr id="22" name="C2 line 2"/>
          <p:cNvSpPr txBox="1"/>
          <p:nvPr/>
        </p:nvSpPr>
        <p:spPr>
          <a:xfrm>
            <a:off x="502920" y="2593340"/>
            <a:ext cx="521208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Stopping on the next letter: 2, 4 or 6 counts.</a:t>
            </a:r>
            <a:endParaRPr lang="en-US" sz="1700" dirty="0"/>
          </a:p>
        </p:txBody>
      </p:sp>
      <p:sp>
        <p:nvSpPr>
          <p:cNvPr id="23" name="C3 line 3"/>
          <p:cNvSpPr txBox="1"/>
          <p:nvPr/>
        </p:nvSpPr>
        <p:spPr>
          <a:xfrm>
            <a:off x="502920" y="3431540"/>
            <a:ext cx="521208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Connecting: no madd at all.</a:t>
            </a:r>
            <a:endParaRPr lang="en-US" sz="1700" dirty="0"/>
          </a:p>
        </p:txBody>
      </p:sp>
      <p:sp>
        <p:nvSpPr>
          <p:cNvPr id="24" name="Arabic panel"/>
          <p:cNvSpPr/>
          <p:nvPr/>
        </p:nvSpPr>
        <p:spPr>
          <a:xfrm>
            <a:off x="6035040" y="1536192"/>
            <a:ext cx="2743200" cy="2697480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76200">
            <a:solidFill>
              <a:srgbClr val="0B7285"/>
            </a:solidFill>
            <a:prstDash val="solid"/>
          </a:ln>
        </p:spPr>
      </p:sp>
      <p:sp>
        <p:nvSpPr>
          <p:cNvPr id="25" name="Arabic sample"/>
          <p:cNvSpPr txBox="1"/>
          <p:nvPr/>
        </p:nvSpPr>
        <p:spPr>
          <a:xfrm>
            <a:off x="6035040" y="1572705"/>
            <a:ext cx="2743200" cy="2697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قُرَ</a:t>
            </a:r>
            <a:r>
              <a:rPr lang="ar-SA" altLang="en-US" sz="4600" dirty="0">
                <a:solidFill>
                  <a:srgbClr val="2F9E44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r>
              <a:rPr lang="ar-SA" altLang="en-US" sz="4600" dirty="0">
                <a:solidFill>
                  <a:srgbClr val="E03131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4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43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6A52"/>
          </a:solidFill>
          <a:ln w="12700">
            <a:solidFill>
              <a:srgbClr val="E06A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D1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8"/>
          </a:solidFill>
          <a:ln w="12700">
            <a:solidFill>
              <a:srgbClr val="70DBB8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84785"/>
          </a:solidFill>
          <a:ln w="12700">
            <a:solidFill>
              <a:srgbClr val="484785"/>
            </a:solidFill>
            <a:prstDash val="solid"/>
          </a:ln>
        </p:spPr>
      </p:sp>
      <p:sp>
        <p:nvSpPr>
          <p:cNvPr id="15" name="Title box"/>
          <p:cNvSpPr/>
          <p:nvPr/>
        </p:nvSpPr>
        <p:spPr>
          <a:xfrm>
            <a:off x="365760" y="896112"/>
            <a:ext cx="8412480" cy="502920"/>
          </a:xfrm>
          <a:prstGeom prst="roundRect">
            <a:avLst>
              <a:gd name="adj" fmla="val 45455"/>
            </a:avLst>
          </a:prstGeom>
          <a:solidFill>
            <a:srgbClr val="0B7285"/>
          </a:solidFill>
          <a:ln w="76200">
            <a:solidFill>
              <a:srgbClr val="0B7285"/>
            </a:solidFill>
            <a:prstDash val="solid"/>
          </a:ln>
        </p:spPr>
      </p:sp>
      <p:sp>
        <p:nvSpPr>
          <p:cNvPr id="16" name="Title"/>
          <p:cNvSpPr txBox="1"/>
          <p:nvPr/>
        </p:nvSpPr>
        <p:spPr>
          <a:xfrm>
            <a:off x="365760" y="877824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Leen: aw / ay before the stop</a:t>
            </a:r>
            <a:endParaRPr lang="en-US" sz="1800" dirty="0"/>
          </a:p>
        </p:txBody>
      </p:sp>
      <p:sp>
        <p:nvSpPr>
          <p:cNvPr id="17" name="Mushaf panel"/>
          <p:cNvSpPr/>
          <p:nvPr/>
        </p:nvSpPr>
        <p:spPr>
          <a:xfrm>
            <a:off x="489204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76200">
            <a:solidFill>
              <a:srgbClr val="2F9E44"/>
            </a:solidFill>
            <a:prstDash val="solid"/>
          </a:ln>
        </p:spPr>
      </p:sp>
      <p:sp>
        <p:nvSpPr>
          <p:cNvPr id="18" name="Read panel"/>
          <p:cNvSpPr/>
          <p:nvPr/>
        </p:nvSpPr>
        <p:spPr>
          <a:xfrm>
            <a:off x="36576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mushaf"/>
          <p:cNvSpPr txBox="1"/>
          <p:nvPr/>
        </p:nvSpPr>
        <p:spPr>
          <a:xfrm>
            <a:off x="4892040" y="1634791"/>
            <a:ext cx="3886200" cy="1353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قُرَيۡشٍ</a:t>
            </a:r>
            <a:endParaRPr lang="ar-SA" sz="4300" dirty="0"/>
          </a:p>
        </p:txBody>
      </p:sp>
      <p:sp>
        <p:nvSpPr>
          <p:cNvPr id="20" name="C2 arrow"/>
          <p:cNvSpPr/>
          <p:nvPr/>
        </p:nvSpPr>
        <p:spPr>
          <a:xfrm>
            <a:off x="4315968" y="2125980"/>
            <a:ext cx="512064" cy="457200"/>
          </a:xfrm>
          <a:prstGeom prst="leftArrow">
            <a:avLst/>
          </a:prstGeom>
          <a:solidFill>
            <a:srgbClr val="2E8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2 read arabic"/>
          <p:cNvSpPr txBox="1"/>
          <p:nvPr/>
        </p:nvSpPr>
        <p:spPr>
          <a:xfrm>
            <a:off x="365760" y="1534954"/>
            <a:ext cx="3886200" cy="9811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قُرَ</a:t>
            </a:r>
            <a:r>
              <a:rPr lang="ar-SA" altLang="en-US" sz="3300" dirty="0">
                <a:solidFill>
                  <a:srgbClr val="2F9E44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r>
              <a:rPr lang="ar-SA" altLang="en-US" sz="3300" dirty="0">
                <a:solidFill>
                  <a:srgbClr val="E03131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300" dirty="0"/>
          </a:p>
        </p:txBody>
      </p:sp>
      <p:sp>
        <p:nvSpPr>
          <p:cNvPr id="22" name="C2 read sounds"/>
          <p:cNvSpPr txBox="1"/>
          <p:nvPr/>
        </p:nvSpPr>
        <p:spPr>
          <a:xfrm>
            <a:off x="457200" y="2462479"/>
            <a:ext cx="3703320" cy="637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Qu-raaysh  (stop)</a:t>
            </a:r>
            <a:endParaRPr lang="en-US" sz="2700" dirty="0"/>
          </a:p>
        </p:txBody>
      </p:sp>
      <p:sp>
        <p:nvSpPr>
          <p:cNvPr id="23" name="C3 tip box"/>
          <p:cNvSpPr/>
          <p:nvPr/>
        </p:nvSpPr>
        <p:spPr>
          <a:xfrm>
            <a:off x="365760" y="3364992"/>
            <a:ext cx="8412480" cy="841248"/>
          </a:xfrm>
          <a:prstGeom prst="roundRect">
            <a:avLst>
              <a:gd name="adj" fmla="val 27174"/>
            </a:avLst>
          </a:prstGeom>
          <a:solidFill>
            <a:srgbClr val="FFFFFF"/>
          </a:solidFill>
          <a:ln w="76200">
            <a:solidFill>
              <a:srgbClr val="0B7285"/>
            </a:solidFill>
            <a:prstDash val="solid"/>
          </a:ln>
        </p:spPr>
      </p:sp>
      <p:sp>
        <p:nvSpPr>
          <p:cNvPr id="24" name="C3 tip"/>
          <p:cNvSpPr txBox="1"/>
          <p:nvPr/>
        </p:nvSpPr>
        <p:spPr>
          <a:xfrm>
            <a:off x="502920" y="3379216"/>
            <a:ext cx="8138160" cy="7680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Stopping: 2, 4 or 6.   Connecting: no madd.</a:t>
            </a:r>
            <a:endParaRPr lang="en-US" sz="22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C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90"/>
          </a:solidFill>
          <a:ln w="12700">
            <a:solidFill>
              <a:srgbClr val="64D890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65"/>
          </a:solidFill>
          <a:ln w="12700">
            <a:solidFill>
              <a:srgbClr val="47D16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Title box"/>
          <p:cNvSpPr/>
          <p:nvPr/>
        </p:nvSpPr>
        <p:spPr>
          <a:xfrm>
            <a:off x="365760" y="896112"/>
            <a:ext cx="8412480" cy="502920"/>
          </a:xfrm>
          <a:prstGeom prst="roundRect">
            <a:avLst>
              <a:gd name="adj" fmla="val 45455"/>
            </a:avLst>
          </a:prstGeom>
          <a:solidFill>
            <a:srgbClr val="0B7285"/>
          </a:solidFill>
          <a:ln w="76200">
            <a:solidFill>
              <a:srgbClr val="0B7285"/>
            </a:solidFill>
            <a:prstDash val="solid"/>
          </a:ln>
        </p:spPr>
      </p:sp>
      <p:sp>
        <p:nvSpPr>
          <p:cNvPr id="11" name="Title"/>
          <p:cNvSpPr txBox="1"/>
          <p:nvPr/>
        </p:nvSpPr>
        <p:spPr>
          <a:xfrm>
            <a:off x="365760" y="877824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Leen: aw / ay before the stop</a:t>
            </a:r>
            <a:endParaRPr lang="en-US" sz="1800" dirty="0"/>
          </a:p>
        </p:txBody>
      </p:sp>
      <p:sp>
        <p:nvSpPr>
          <p:cNvPr id="12" name="Mushaf panel"/>
          <p:cNvSpPr/>
          <p:nvPr/>
        </p:nvSpPr>
        <p:spPr>
          <a:xfrm>
            <a:off x="489204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76200">
            <a:solidFill>
              <a:srgbClr val="2F9E44"/>
            </a:solidFill>
            <a:prstDash val="solid"/>
          </a:ln>
        </p:spPr>
      </p:sp>
      <p:sp>
        <p:nvSpPr>
          <p:cNvPr id="13" name="Read panel"/>
          <p:cNvSpPr/>
          <p:nvPr/>
        </p:nvSpPr>
        <p:spPr>
          <a:xfrm>
            <a:off x="36576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mushaf"/>
          <p:cNvSpPr txBox="1"/>
          <p:nvPr/>
        </p:nvSpPr>
        <p:spPr>
          <a:xfrm>
            <a:off x="4892040" y="1601315"/>
            <a:ext cx="3886200" cy="1353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خَوۡفٍ</a:t>
            </a:r>
            <a:endParaRPr lang="ar-SA" sz="5700" dirty="0"/>
          </a:p>
        </p:txBody>
      </p:sp>
      <p:sp>
        <p:nvSpPr>
          <p:cNvPr id="15" name="C2 arrow"/>
          <p:cNvSpPr/>
          <p:nvPr/>
        </p:nvSpPr>
        <p:spPr>
          <a:xfrm>
            <a:off x="4315968" y="2125980"/>
            <a:ext cx="512064" cy="457200"/>
          </a:xfrm>
          <a:prstGeom prst="leftArrow">
            <a:avLst/>
          </a:prstGeom>
          <a:solidFill>
            <a:srgbClr val="B82E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2 read arabic"/>
          <p:cNvSpPr txBox="1"/>
          <p:nvPr/>
        </p:nvSpPr>
        <p:spPr>
          <a:xfrm>
            <a:off x="365760" y="1532858"/>
            <a:ext cx="3886200" cy="9811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r>
              <a:rPr lang="ar-SA" altLang="en-US" sz="3300" dirty="0">
                <a:solidFill>
                  <a:srgbClr val="2F9E44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r>
              <a:rPr lang="ar-SA" altLang="en-US" sz="3300" dirty="0">
                <a:solidFill>
                  <a:srgbClr val="E03131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17" name="C2 read sounds"/>
          <p:cNvSpPr txBox="1"/>
          <p:nvPr/>
        </p:nvSpPr>
        <p:spPr>
          <a:xfrm>
            <a:off x="457200" y="2462479"/>
            <a:ext cx="3703320" cy="637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Khaawf  (stop)</a:t>
            </a:r>
            <a:endParaRPr lang="en-US" sz="2700" dirty="0"/>
          </a:p>
        </p:txBody>
      </p:sp>
      <p:sp>
        <p:nvSpPr>
          <p:cNvPr id="18" name="C3 tip box"/>
          <p:cNvSpPr/>
          <p:nvPr/>
        </p:nvSpPr>
        <p:spPr>
          <a:xfrm>
            <a:off x="365760" y="3364992"/>
            <a:ext cx="8412480" cy="841248"/>
          </a:xfrm>
          <a:prstGeom prst="roundRect">
            <a:avLst>
              <a:gd name="adj" fmla="val 27174"/>
            </a:avLst>
          </a:prstGeom>
          <a:solidFill>
            <a:srgbClr val="FFFFFF"/>
          </a:solidFill>
          <a:ln w="76200">
            <a:solidFill>
              <a:srgbClr val="0B7285"/>
            </a:solidFill>
            <a:prstDash val="solid"/>
          </a:ln>
        </p:spPr>
      </p:sp>
      <p:sp>
        <p:nvSpPr>
          <p:cNvPr id="19" name="C3 tip"/>
          <p:cNvSpPr txBox="1"/>
          <p:nvPr/>
        </p:nvSpPr>
        <p:spPr>
          <a:xfrm>
            <a:off x="502920" y="3379216"/>
            <a:ext cx="8138160" cy="7680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Stopping: 2, 4 or 6</a:t>
            </a:r>
            <a:endParaRPr lang="en-US" sz="22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D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Title box"/>
          <p:cNvSpPr/>
          <p:nvPr/>
        </p:nvSpPr>
        <p:spPr>
          <a:xfrm>
            <a:off x="365760" y="896112"/>
            <a:ext cx="8412480" cy="502920"/>
          </a:xfrm>
          <a:prstGeom prst="roundRect">
            <a:avLst>
              <a:gd name="adj" fmla="val 45455"/>
            </a:avLst>
          </a:prstGeom>
          <a:solidFill>
            <a:srgbClr val="0B7285"/>
          </a:solidFill>
          <a:ln w="76200">
            <a:solidFill>
              <a:srgbClr val="0B7285"/>
            </a:solidFill>
            <a:prstDash val="solid"/>
          </a:ln>
        </p:spPr>
      </p:sp>
      <p:sp>
        <p:nvSpPr>
          <p:cNvPr id="12" name="Title"/>
          <p:cNvSpPr txBox="1"/>
          <p:nvPr/>
        </p:nvSpPr>
        <p:spPr>
          <a:xfrm>
            <a:off x="365760" y="877824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Leen: aw / ay before the stop</a:t>
            </a:r>
            <a:endParaRPr lang="en-US" sz="1800" dirty="0"/>
          </a:p>
        </p:txBody>
      </p:sp>
      <p:sp>
        <p:nvSpPr>
          <p:cNvPr id="13" name="Mushaf panel"/>
          <p:cNvSpPr/>
          <p:nvPr/>
        </p:nvSpPr>
        <p:spPr>
          <a:xfrm>
            <a:off x="489204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76200">
            <a:solidFill>
              <a:srgbClr val="2F9E44"/>
            </a:solidFill>
            <a:prstDash val="solid"/>
          </a:ln>
        </p:spPr>
      </p:sp>
      <p:sp>
        <p:nvSpPr>
          <p:cNvPr id="14" name="Read panel"/>
          <p:cNvSpPr/>
          <p:nvPr/>
        </p:nvSpPr>
        <p:spPr>
          <a:xfrm>
            <a:off x="36576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mushaf"/>
          <p:cNvSpPr txBox="1"/>
          <p:nvPr/>
        </p:nvSpPr>
        <p:spPr>
          <a:xfrm>
            <a:off x="4892040" y="1731667"/>
            <a:ext cx="3886200" cy="1353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ٱلۡبَيۡتِ</a:t>
            </a:r>
            <a:endParaRPr lang="ar-SA" sz="5200" dirty="0"/>
          </a:p>
        </p:txBody>
      </p:sp>
      <p:sp>
        <p:nvSpPr>
          <p:cNvPr id="16" name="C2 arrow"/>
          <p:cNvSpPr/>
          <p:nvPr/>
        </p:nvSpPr>
        <p:spPr>
          <a:xfrm>
            <a:off x="4315968" y="2125980"/>
            <a:ext cx="512064" cy="457200"/>
          </a:xfrm>
          <a:prstGeom prst="leftArrow">
            <a:avLst/>
          </a:prstGeom>
          <a:solidFill>
            <a:srgbClr val="3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2 read arabic"/>
          <p:cNvSpPr txBox="1"/>
          <p:nvPr/>
        </p:nvSpPr>
        <p:spPr>
          <a:xfrm>
            <a:off x="365760" y="1547838"/>
            <a:ext cx="3886200" cy="9811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ٱلۡبَ</a:t>
            </a:r>
            <a:r>
              <a:rPr lang="ar-SA" altLang="en-US" sz="3400" dirty="0">
                <a:solidFill>
                  <a:srgbClr val="2F9E44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r>
              <a:rPr lang="ar-SA" altLang="en-US" sz="3400" dirty="0">
                <a:solidFill>
                  <a:srgbClr val="E03131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400" dirty="0"/>
          </a:p>
        </p:txBody>
      </p:sp>
      <p:sp>
        <p:nvSpPr>
          <p:cNvPr id="18" name="C2 read sounds"/>
          <p:cNvSpPr txBox="1"/>
          <p:nvPr/>
        </p:nvSpPr>
        <p:spPr>
          <a:xfrm>
            <a:off x="457200" y="2462479"/>
            <a:ext cx="3703320" cy="637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Al-baayt  (stop)</a:t>
            </a:r>
            <a:endParaRPr lang="en-US" sz="2700" dirty="0"/>
          </a:p>
        </p:txBody>
      </p:sp>
      <p:sp>
        <p:nvSpPr>
          <p:cNvPr id="19" name="C3 tip box"/>
          <p:cNvSpPr/>
          <p:nvPr/>
        </p:nvSpPr>
        <p:spPr>
          <a:xfrm>
            <a:off x="365760" y="3364992"/>
            <a:ext cx="8412480" cy="841248"/>
          </a:xfrm>
          <a:prstGeom prst="roundRect">
            <a:avLst>
              <a:gd name="adj" fmla="val 27174"/>
            </a:avLst>
          </a:prstGeom>
          <a:solidFill>
            <a:srgbClr val="FFFFFF"/>
          </a:solidFill>
          <a:ln w="76200">
            <a:solidFill>
              <a:srgbClr val="0B7285"/>
            </a:solidFill>
            <a:prstDash val="solid"/>
          </a:ln>
        </p:spPr>
      </p:sp>
      <p:sp>
        <p:nvSpPr>
          <p:cNvPr id="20" name="C3 tip"/>
          <p:cNvSpPr txBox="1"/>
          <p:nvPr/>
        </p:nvSpPr>
        <p:spPr>
          <a:xfrm>
            <a:off x="502920" y="3379216"/>
            <a:ext cx="8138160" cy="7680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Stopping: 2, 4 or 6</a:t>
            </a:r>
            <a:endParaRPr lang="en-US" sz="22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432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1642B"/>
          </a:solidFill>
          <a:ln w="12700">
            <a:solidFill>
              <a:srgbClr val="61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47934"/>
          </a:solidFill>
          <a:ln w="12700">
            <a:solidFill>
              <a:srgbClr val="547934"/>
            </a:solidFill>
            <a:prstDash val="solid"/>
          </a:ln>
        </p:spPr>
      </p:sp>
      <p:sp>
        <p:nvSpPr>
          <p:cNvPr id="12" name="Title box"/>
          <p:cNvSpPr/>
          <p:nvPr/>
        </p:nvSpPr>
        <p:spPr>
          <a:xfrm>
            <a:off x="365760" y="896112"/>
            <a:ext cx="8412480" cy="502920"/>
          </a:xfrm>
          <a:prstGeom prst="roundRect">
            <a:avLst>
              <a:gd name="adj" fmla="val 45455"/>
            </a:avLst>
          </a:prstGeom>
          <a:solidFill>
            <a:srgbClr val="0B7285"/>
          </a:solidFill>
          <a:ln w="76200">
            <a:solidFill>
              <a:srgbClr val="0B7285"/>
            </a:solidFill>
            <a:prstDash val="solid"/>
          </a:ln>
        </p:spPr>
      </p:sp>
      <p:sp>
        <p:nvSpPr>
          <p:cNvPr id="13" name="Title"/>
          <p:cNvSpPr txBox="1"/>
          <p:nvPr/>
        </p:nvSpPr>
        <p:spPr>
          <a:xfrm>
            <a:off x="365760" y="877824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Madd al-'Iwad: stopping on fathatan</a:t>
            </a:r>
            <a:endParaRPr lang="en-US" sz="1800" dirty="0"/>
          </a:p>
        </p:txBody>
      </p:sp>
      <p:sp>
        <p:nvSpPr>
          <p:cNvPr id="14" name="Mushaf panel"/>
          <p:cNvSpPr/>
          <p:nvPr/>
        </p:nvSpPr>
        <p:spPr>
          <a:xfrm>
            <a:off x="489204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76200">
            <a:solidFill>
              <a:srgbClr val="2F9E44"/>
            </a:solidFill>
            <a:prstDash val="solid"/>
          </a:ln>
        </p:spPr>
      </p:sp>
      <p:sp>
        <p:nvSpPr>
          <p:cNvPr id="15" name="Read panel"/>
          <p:cNvSpPr/>
          <p:nvPr/>
        </p:nvSpPr>
        <p:spPr>
          <a:xfrm>
            <a:off x="36576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mushaf"/>
          <p:cNvSpPr txBox="1"/>
          <p:nvPr/>
        </p:nvSpPr>
        <p:spPr>
          <a:xfrm>
            <a:off x="4892040" y="1620488"/>
            <a:ext cx="3886200" cy="1353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عَلِيمًا</a:t>
            </a:r>
            <a:endParaRPr lang="ar-SA" sz="6700" dirty="0"/>
          </a:p>
        </p:txBody>
      </p:sp>
      <p:sp>
        <p:nvSpPr>
          <p:cNvPr id="17" name="C2 arrow"/>
          <p:cNvSpPr/>
          <p:nvPr/>
        </p:nvSpPr>
        <p:spPr>
          <a:xfrm>
            <a:off x="4315968" y="2125980"/>
            <a:ext cx="512064" cy="457200"/>
          </a:xfrm>
          <a:prstGeom prst="leftArrow">
            <a:avLst/>
          </a:prstGeom>
          <a:solidFill>
            <a:srgbClr val="4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2 read arabic"/>
          <p:cNvSpPr txBox="1"/>
          <p:nvPr/>
        </p:nvSpPr>
        <p:spPr>
          <a:xfrm>
            <a:off x="365760" y="1471041"/>
            <a:ext cx="3886200" cy="9811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عَلِيمَ</a:t>
            </a:r>
            <a:r>
              <a:rPr lang="ar-SA" altLang="en-US" sz="4400" dirty="0">
                <a:solidFill>
                  <a:srgbClr val="2F9E44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4400" dirty="0"/>
          </a:p>
        </p:txBody>
      </p:sp>
      <p:sp>
        <p:nvSpPr>
          <p:cNvPr id="19" name="C2 read sounds"/>
          <p:cNvSpPr txBox="1"/>
          <p:nvPr/>
        </p:nvSpPr>
        <p:spPr>
          <a:xfrm>
            <a:off x="457200" y="2462479"/>
            <a:ext cx="3703320" cy="637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'A-lee-maa  (stop)</a:t>
            </a:r>
            <a:endParaRPr lang="en-US" sz="2700" dirty="0"/>
          </a:p>
        </p:txBody>
      </p:sp>
      <p:sp>
        <p:nvSpPr>
          <p:cNvPr id="20" name="C3 tip box"/>
          <p:cNvSpPr/>
          <p:nvPr/>
        </p:nvSpPr>
        <p:spPr>
          <a:xfrm>
            <a:off x="365760" y="3364992"/>
            <a:ext cx="8412480" cy="841248"/>
          </a:xfrm>
          <a:prstGeom prst="roundRect">
            <a:avLst>
              <a:gd name="adj" fmla="val 27174"/>
            </a:avLst>
          </a:prstGeom>
          <a:solidFill>
            <a:srgbClr val="FFFFFF"/>
          </a:solidFill>
          <a:ln w="76200">
            <a:solidFill>
              <a:srgbClr val="0B7285"/>
            </a:solidFill>
            <a:prstDash val="solid"/>
          </a:ln>
        </p:spPr>
      </p:sp>
      <p:sp>
        <p:nvSpPr>
          <p:cNvPr id="21" name="C3 tip"/>
          <p:cNvSpPr txBox="1"/>
          <p:nvPr/>
        </p:nvSpPr>
        <p:spPr>
          <a:xfrm>
            <a:off x="502920" y="3379216"/>
            <a:ext cx="8138160" cy="7680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tanween goes; say a long aa: 2 counts</a:t>
            </a:r>
            <a:endParaRPr lang="en-US" sz="22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C5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Title box"/>
          <p:cNvSpPr/>
          <p:nvPr/>
        </p:nvSpPr>
        <p:spPr>
          <a:xfrm>
            <a:off x="365760" y="896112"/>
            <a:ext cx="8412480" cy="502920"/>
          </a:xfrm>
          <a:prstGeom prst="roundRect">
            <a:avLst>
              <a:gd name="adj" fmla="val 45455"/>
            </a:avLst>
          </a:prstGeom>
          <a:solidFill>
            <a:srgbClr val="1971C2"/>
          </a:solidFill>
          <a:ln w="76200">
            <a:solidFill>
              <a:srgbClr val="1971C2"/>
            </a:solidFill>
            <a:prstDash val="solid"/>
          </a:ln>
        </p:spPr>
      </p:sp>
      <p:sp>
        <p:nvSpPr>
          <p:cNvPr id="11" name="Title"/>
          <p:cNvSpPr txBox="1"/>
          <p:nvPr/>
        </p:nvSpPr>
        <p:spPr>
          <a:xfrm>
            <a:off x="365760" y="877824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madd is strongest?</a:t>
            </a:r>
            <a:endParaRPr lang="en-US" sz="1800" dirty="0"/>
          </a:p>
        </p:txBody>
      </p:sp>
      <p:sp>
        <p:nvSpPr>
          <p:cNvPr id="12" name="Lines panel"/>
          <p:cNvSpPr/>
          <p:nvPr/>
        </p:nvSpPr>
        <p:spPr>
          <a:xfrm>
            <a:off x="365760" y="1536192"/>
            <a:ext cx="8412480" cy="2697480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76200">
            <a:solidFill>
              <a:srgbClr val="1971C2"/>
            </a:solidFill>
            <a:prstDash val="solid"/>
          </a:ln>
        </p:spPr>
      </p:sp>
      <p:sp>
        <p:nvSpPr>
          <p:cNvPr id="13" name="C1 line 1"/>
          <p:cNvSpPr txBox="1"/>
          <p:nvPr/>
        </p:nvSpPr>
        <p:spPr>
          <a:xfrm>
            <a:off x="502920" y="1593596"/>
            <a:ext cx="8138160" cy="5303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Lazim  (6)</a:t>
            </a:r>
            <a:endParaRPr lang="en-US" sz="2000" dirty="0"/>
          </a:p>
        </p:txBody>
      </p:sp>
      <p:sp>
        <p:nvSpPr>
          <p:cNvPr id="14" name="C2 line 2"/>
          <p:cNvSpPr txBox="1"/>
          <p:nvPr/>
        </p:nvSpPr>
        <p:spPr>
          <a:xfrm>
            <a:off x="502920" y="2096516"/>
            <a:ext cx="8138160" cy="5303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Muttasil  (4-5)</a:t>
            </a:r>
            <a:endParaRPr lang="en-US" sz="2000" dirty="0"/>
          </a:p>
        </p:txBody>
      </p:sp>
      <p:sp>
        <p:nvSpPr>
          <p:cNvPr id="15" name="C3 line 3"/>
          <p:cNvSpPr txBox="1"/>
          <p:nvPr/>
        </p:nvSpPr>
        <p:spPr>
          <a:xfrm>
            <a:off x="502920" y="2599436"/>
            <a:ext cx="8138160" cy="5303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'Arid lis-Sukun  (2 / 4 / 6)</a:t>
            </a:r>
            <a:endParaRPr lang="en-US" sz="2000" dirty="0"/>
          </a:p>
        </p:txBody>
      </p:sp>
      <p:sp>
        <p:nvSpPr>
          <p:cNvPr id="16" name="C4 line 4"/>
          <p:cNvSpPr txBox="1"/>
          <p:nvPr/>
        </p:nvSpPr>
        <p:spPr>
          <a:xfrm>
            <a:off x="502920" y="3102356"/>
            <a:ext cx="8138160" cy="5303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Munfasil  (4-5)</a:t>
            </a:r>
            <a:endParaRPr lang="en-US" sz="2000" dirty="0"/>
          </a:p>
        </p:txBody>
      </p:sp>
      <p:sp>
        <p:nvSpPr>
          <p:cNvPr id="17" name="C5 line 5"/>
          <p:cNvSpPr txBox="1"/>
          <p:nvPr/>
        </p:nvSpPr>
        <p:spPr>
          <a:xfrm>
            <a:off x="502920" y="3605276"/>
            <a:ext cx="8138160" cy="5303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Badal  (2)</a:t>
            </a:r>
            <a:endParaRPr lang="en-US" sz="2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C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05EED"/>
          </a:solidFill>
          <a:ln w="12700">
            <a:solidFill>
              <a:srgbClr val="D0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Title box"/>
          <p:cNvSpPr/>
          <p:nvPr/>
        </p:nvSpPr>
        <p:spPr>
          <a:xfrm>
            <a:off x="365760" y="896112"/>
            <a:ext cx="8412480" cy="502920"/>
          </a:xfrm>
          <a:prstGeom prst="roundRect">
            <a:avLst>
              <a:gd name="adj" fmla="val 45455"/>
            </a:avLst>
          </a:prstGeom>
          <a:solidFill>
            <a:srgbClr val="E8590C"/>
          </a:solidFill>
          <a:ln w="76200">
            <a:solidFill>
              <a:srgbClr val="E8590C"/>
            </a:solidFill>
            <a:prstDash val="solid"/>
          </a:ln>
        </p:spPr>
      </p:sp>
      <p:sp>
        <p:nvSpPr>
          <p:cNvPr id="19" name="Title"/>
          <p:cNvSpPr txBox="1"/>
          <p:nvPr/>
        </p:nvSpPr>
        <p:spPr>
          <a:xfrm>
            <a:off x="365760" y="882840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Quiz: which madd?</a:t>
            </a:r>
            <a:endParaRPr lang="en-US" sz="1900" dirty="0"/>
          </a:p>
        </p:txBody>
      </p:sp>
      <p:sp>
        <p:nvSpPr>
          <p:cNvPr id="20" name="Mushaf panel"/>
          <p:cNvSpPr/>
          <p:nvPr/>
        </p:nvSpPr>
        <p:spPr>
          <a:xfrm>
            <a:off x="489204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76200">
            <a:solidFill>
              <a:srgbClr val="2F9E44"/>
            </a:solidFill>
            <a:prstDash val="solid"/>
          </a:ln>
        </p:spPr>
      </p:sp>
      <p:sp>
        <p:nvSpPr>
          <p:cNvPr id="21" name="Read panel"/>
          <p:cNvSpPr/>
          <p:nvPr/>
        </p:nvSpPr>
        <p:spPr>
          <a:xfrm>
            <a:off x="36576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mushaf"/>
          <p:cNvSpPr txBox="1"/>
          <p:nvPr/>
        </p:nvSpPr>
        <p:spPr>
          <a:xfrm>
            <a:off x="4892040" y="1752024"/>
            <a:ext cx="3886200" cy="1353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يَٰٓأَيُّهَا</a:t>
            </a:r>
            <a:endParaRPr lang="ar-SA" sz="4700" dirty="0"/>
          </a:p>
        </p:txBody>
      </p:sp>
      <p:sp>
        <p:nvSpPr>
          <p:cNvPr id="23" name="C2 arrow"/>
          <p:cNvSpPr/>
          <p:nvPr/>
        </p:nvSpPr>
        <p:spPr>
          <a:xfrm>
            <a:off x="4315968" y="2125980"/>
            <a:ext cx="512064" cy="457200"/>
          </a:xfrm>
          <a:prstGeom prst="leftArrow">
            <a:avLst/>
          </a:prstGeom>
          <a:solidFill>
            <a:srgbClr val="2EB8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2 read arabic"/>
          <p:cNvSpPr txBox="1"/>
          <p:nvPr/>
        </p:nvSpPr>
        <p:spPr>
          <a:xfrm>
            <a:off x="365760" y="1513641"/>
            <a:ext cx="3886200" cy="9811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يَٰٓ </a:t>
            </a:r>
            <a:r>
              <a:rPr lang="ar-SA" altLang="en-US" sz="2800" dirty="0">
                <a:solidFill>
                  <a:srgbClr val="E03131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يُّهَا</a:t>
            </a:r>
            <a:endParaRPr lang="ar-SA" sz="2800" dirty="0"/>
          </a:p>
        </p:txBody>
      </p:sp>
      <p:sp>
        <p:nvSpPr>
          <p:cNvPr id="25" name="C2 read sounds"/>
          <p:cNvSpPr txBox="1"/>
          <p:nvPr/>
        </p:nvSpPr>
        <p:spPr>
          <a:xfrm>
            <a:off x="457200" y="2462479"/>
            <a:ext cx="3703320" cy="637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Yaaaa ay-yu-haa</a:t>
            </a:r>
            <a:endParaRPr lang="en-US" sz="2700" dirty="0"/>
          </a:p>
        </p:txBody>
      </p:sp>
      <p:sp>
        <p:nvSpPr>
          <p:cNvPr id="26" name="C3 tip box"/>
          <p:cNvSpPr/>
          <p:nvPr/>
        </p:nvSpPr>
        <p:spPr>
          <a:xfrm>
            <a:off x="365760" y="3364992"/>
            <a:ext cx="8412480" cy="841248"/>
          </a:xfrm>
          <a:prstGeom prst="roundRect">
            <a:avLst>
              <a:gd name="adj" fmla="val 27174"/>
            </a:avLst>
          </a:prstGeom>
          <a:solidFill>
            <a:srgbClr val="FFFFFF"/>
          </a:solidFill>
          <a:ln w="76200">
            <a:solidFill>
              <a:srgbClr val="E8590C"/>
            </a:solidFill>
            <a:prstDash val="solid"/>
          </a:ln>
        </p:spPr>
      </p:sp>
      <p:sp>
        <p:nvSpPr>
          <p:cNvPr id="27" name="C3 tip"/>
          <p:cNvSpPr txBox="1"/>
          <p:nvPr/>
        </p:nvSpPr>
        <p:spPr>
          <a:xfrm>
            <a:off x="502920" y="3383280"/>
            <a:ext cx="8138160" cy="7680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Munfasil: madd at the end, hamza at the start of the next word (4-5)</a:t>
            </a:r>
            <a:endParaRPr lang="en-US" sz="18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2F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DE052"/>
          </a:solidFill>
          <a:ln w="12700">
            <a:solidFill>
              <a:srgbClr val="5D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7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D70DB"/>
          </a:solidFill>
          <a:ln w="12700">
            <a:solidFill>
              <a:srgbClr val="9D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6"/>
          </a:solidFill>
          <a:ln w="12700">
            <a:solidFill>
              <a:srgbClr val="854756"/>
            </a:solidFill>
            <a:prstDash val="solid"/>
          </a:ln>
        </p:spPr>
      </p:sp>
      <p:sp>
        <p:nvSpPr>
          <p:cNvPr id="15" name="Title box"/>
          <p:cNvSpPr/>
          <p:nvPr/>
        </p:nvSpPr>
        <p:spPr>
          <a:xfrm>
            <a:off x="365760" y="896112"/>
            <a:ext cx="8412480" cy="502920"/>
          </a:xfrm>
          <a:prstGeom prst="roundRect">
            <a:avLst>
              <a:gd name="adj" fmla="val 45455"/>
            </a:avLst>
          </a:prstGeom>
          <a:solidFill>
            <a:srgbClr val="E8590C"/>
          </a:solidFill>
          <a:ln w="76200">
            <a:solidFill>
              <a:srgbClr val="E8590C"/>
            </a:solidFill>
            <a:prstDash val="solid"/>
          </a:ln>
        </p:spPr>
      </p:sp>
      <p:sp>
        <p:nvSpPr>
          <p:cNvPr id="16" name="Title"/>
          <p:cNvSpPr txBox="1"/>
          <p:nvPr/>
        </p:nvSpPr>
        <p:spPr>
          <a:xfrm>
            <a:off x="365760" y="882840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Quiz: which madd?</a:t>
            </a:r>
            <a:endParaRPr lang="en-US" sz="1900" dirty="0"/>
          </a:p>
        </p:txBody>
      </p:sp>
      <p:sp>
        <p:nvSpPr>
          <p:cNvPr id="17" name="Mushaf panel"/>
          <p:cNvSpPr/>
          <p:nvPr/>
        </p:nvSpPr>
        <p:spPr>
          <a:xfrm>
            <a:off x="489204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76200">
            <a:solidFill>
              <a:srgbClr val="2F9E44"/>
            </a:solidFill>
            <a:prstDash val="solid"/>
          </a:ln>
        </p:spPr>
      </p:sp>
      <p:sp>
        <p:nvSpPr>
          <p:cNvPr id="18" name="Read panel"/>
          <p:cNvSpPr/>
          <p:nvPr/>
        </p:nvSpPr>
        <p:spPr>
          <a:xfrm>
            <a:off x="36576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mushaf"/>
          <p:cNvSpPr txBox="1"/>
          <p:nvPr/>
        </p:nvSpPr>
        <p:spPr>
          <a:xfrm>
            <a:off x="4892040" y="1836330"/>
            <a:ext cx="3886200" cy="1353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ٱلطَّآمَّةُ</a:t>
            </a:r>
            <a:endParaRPr lang="ar-SA" sz="5200" dirty="0"/>
          </a:p>
        </p:txBody>
      </p:sp>
      <p:sp>
        <p:nvSpPr>
          <p:cNvPr id="20" name="C2 arrow"/>
          <p:cNvSpPr/>
          <p:nvPr/>
        </p:nvSpPr>
        <p:spPr>
          <a:xfrm>
            <a:off x="4315968" y="2125980"/>
            <a:ext cx="512064" cy="457200"/>
          </a:xfrm>
          <a:prstGeom prst="leftArrow">
            <a:avLst/>
          </a:prstGeom>
          <a:solidFill>
            <a:srgbClr val="B82E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2 read arabic"/>
          <p:cNvSpPr txBox="1"/>
          <p:nvPr/>
        </p:nvSpPr>
        <p:spPr>
          <a:xfrm>
            <a:off x="365760" y="1612333"/>
            <a:ext cx="3886200" cy="9811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ٱلطَّ</a:t>
            </a:r>
            <a:r>
              <a:rPr lang="ar-SA" altLang="en-US" sz="3400" dirty="0">
                <a:solidFill>
                  <a:srgbClr val="2F9E44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آ</a:t>
            </a:r>
            <a:r>
              <a:rPr lang="ar-SA" altLang="en-US" sz="3400" dirty="0">
                <a:solidFill>
                  <a:srgbClr val="E03131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مَّ</a:t>
            </a: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ةُ</a:t>
            </a:r>
            <a:endParaRPr lang="ar-SA" sz="3400" dirty="0"/>
          </a:p>
        </p:txBody>
      </p:sp>
      <p:sp>
        <p:nvSpPr>
          <p:cNvPr id="22" name="C2 read sounds"/>
          <p:cNvSpPr txBox="1"/>
          <p:nvPr/>
        </p:nvSpPr>
        <p:spPr>
          <a:xfrm>
            <a:off x="457200" y="2497531"/>
            <a:ext cx="3703320" cy="637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At-taaaaaam-mah</a:t>
            </a:r>
            <a:endParaRPr lang="en-US" sz="3000" dirty="0"/>
          </a:p>
        </p:txBody>
      </p:sp>
      <p:sp>
        <p:nvSpPr>
          <p:cNvPr id="23" name="C3 tip box"/>
          <p:cNvSpPr/>
          <p:nvPr/>
        </p:nvSpPr>
        <p:spPr>
          <a:xfrm>
            <a:off x="365760" y="3364992"/>
            <a:ext cx="8412480" cy="841248"/>
          </a:xfrm>
          <a:prstGeom prst="roundRect">
            <a:avLst>
              <a:gd name="adj" fmla="val 27174"/>
            </a:avLst>
          </a:prstGeom>
          <a:solidFill>
            <a:srgbClr val="FFFFFF"/>
          </a:solidFill>
          <a:ln w="76200">
            <a:solidFill>
              <a:srgbClr val="E8590C"/>
            </a:solidFill>
            <a:prstDash val="solid"/>
          </a:ln>
        </p:spPr>
      </p:sp>
      <p:sp>
        <p:nvSpPr>
          <p:cNvPr id="24" name="C3 tip"/>
          <p:cNvSpPr txBox="1"/>
          <p:nvPr/>
        </p:nvSpPr>
        <p:spPr>
          <a:xfrm>
            <a:off x="502920" y="3379216"/>
            <a:ext cx="8138160" cy="7680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Lazim: madd + shaddah (6)</a:t>
            </a:r>
            <a:endParaRPr lang="en-US" sz="22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C5D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364D8"/>
          </a:solidFill>
          <a:ln w="12700">
            <a:solidFill>
              <a:srgbClr val="73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4CD1"/>
          </a:solidFill>
          <a:ln w="12700">
            <a:solidFill>
              <a:srgbClr val="474C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Title box"/>
          <p:cNvSpPr/>
          <p:nvPr/>
        </p:nvSpPr>
        <p:spPr>
          <a:xfrm>
            <a:off x="365760" y="896112"/>
            <a:ext cx="8412480" cy="502920"/>
          </a:xfrm>
          <a:prstGeom prst="roundRect">
            <a:avLst>
              <a:gd name="adj" fmla="val 45455"/>
            </a:avLst>
          </a:prstGeom>
          <a:solidFill>
            <a:srgbClr val="E8590C"/>
          </a:solidFill>
          <a:ln w="76200">
            <a:solidFill>
              <a:srgbClr val="E8590C"/>
            </a:solidFill>
            <a:prstDash val="solid"/>
          </a:ln>
        </p:spPr>
      </p:sp>
      <p:sp>
        <p:nvSpPr>
          <p:cNvPr id="11" name="Title"/>
          <p:cNvSpPr txBox="1"/>
          <p:nvPr/>
        </p:nvSpPr>
        <p:spPr>
          <a:xfrm>
            <a:off x="365760" y="882840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Quiz: which madd?</a:t>
            </a:r>
            <a:endParaRPr lang="en-US" sz="1900" dirty="0"/>
          </a:p>
        </p:txBody>
      </p:sp>
      <p:sp>
        <p:nvSpPr>
          <p:cNvPr id="12" name="Mushaf panel"/>
          <p:cNvSpPr/>
          <p:nvPr/>
        </p:nvSpPr>
        <p:spPr>
          <a:xfrm>
            <a:off x="489204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76200">
            <a:solidFill>
              <a:srgbClr val="2F9E44"/>
            </a:solidFill>
            <a:prstDash val="solid"/>
          </a:ln>
        </p:spPr>
      </p:sp>
      <p:sp>
        <p:nvSpPr>
          <p:cNvPr id="13" name="Read panel"/>
          <p:cNvSpPr/>
          <p:nvPr/>
        </p:nvSpPr>
        <p:spPr>
          <a:xfrm>
            <a:off x="36576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mushaf"/>
          <p:cNvSpPr txBox="1"/>
          <p:nvPr/>
        </p:nvSpPr>
        <p:spPr>
          <a:xfrm>
            <a:off x="4892040" y="1728077"/>
            <a:ext cx="3886200" cy="1353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أُوتِيَ</a:t>
            </a:r>
            <a:endParaRPr lang="ar-SA" sz="4000" dirty="0"/>
          </a:p>
        </p:txBody>
      </p:sp>
      <p:sp>
        <p:nvSpPr>
          <p:cNvPr id="15" name="C2 arrow"/>
          <p:cNvSpPr/>
          <p:nvPr/>
        </p:nvSpPr>
        <p:spPr>
          <a:xfrm>
            <a:off x="4315968" y="2125980"/>
            <a:ext cx="512064" cy="457200"/>
          </a:xfrm>
          <a:prstGeom prst="leftArrow">
            <a:avLst/>
          </a:prstGeom>
          <a:solidFill>
            <a:srgbClr val="8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2 read arabic"/>
          <p:cNvSpPr txBox="1"/>
          <p:nvPr/>
        </p:nvSpPr>
        <p:spPr>
          <a:xfrm>
            <a:off x="365760" y="1541360"/>
            <a:ext cx="3886200" cy="9811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2600" dirty="0">
                <a:solidFill>
                  <a:srgbClr val="E03131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أُ</a:t>
            </a:r>
            <a:r>
              <a:rPr lang="ar-SA" altLang="en-US" sz="2600" dirty="0">
                <a:solidFill>
                  <a:srgbClr val="2F9E44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r>
              <a:rPr lang="ar-SA" altLang="en-US" sz="2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تِيَ</a:t>
            </a:r>
            <a:endParaRPr lang="ar-SA" sz="2600" dirty="0"/>
          </a:p>
        </p:txBody>
      </p:sp>
      <p:sp>
        <p:nvSpPr>
          <p:cNvPr id="17" name="C2 read sounds"/>
          <p:cNvSpPr txBox="1"/>
          <p:nvPr/>
        </p:nvSpPr>
        <p:spPr>
          <a:xfrm>
            <a:off x="457200" y="2462479"/>
            <a:ext cx="3703320" cy="637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Oo-ti-ya</a:t>
            </a:r>
            <a:endParaRPr lang="en-US" sz="2700" dirty="0"/>
          </a:p>
        </p:txBody>
      </p:sp>
      <p:sp>
        <p:nvSpPr>
          <p:cNvPr id="18" name="C3 tip box"/>
          <p:cNvSpPr/>
          <p:nvPr/>
        </p:nvSpPr>
        <p:spPr>
          <a:xfrm>
            <a:off x="365760" y="3364992"/>
            <a:ext cx="8412480" cy="841248"/>
          </a:xfrm>
          <a:prstGeom prst="roundRect">
            <a:avLst>
              <a:gd name="adj" fmla="val 27174"/>
            </a:avLst>
          </a:prstGeom>
          <a:solidFill>
            <a:srgbClr val="FFFFFF"/>
          </a:solidFill>
          <a:ln w="76200">
            <a:solidFill>
              <a:srgbClr val="E8590C"/>
            </a:solidFill>
            <a:prstDash val="solid"/>
          </a:ln>
        </p:spPr>
      </p:sp>
      <p:sp>
        <p:nvSpPr>
          <p:cNvPr id="19" name="C3 tip"/>
          <p:cNvSpPr txBox="1"/>
          <p:nvPr/>
        </p:nvSpPr>
        <p:spPr>
          <a:xfrm>
            <a:off x="502920" y="3379216"/>
            <a:ext cx="8138160" cy="7680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Badal: hamza then madd (2)</a:t>
            </a:r>
            <a:endParaRPr lang="en-US" sz="2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C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Title box"/>
          <p:cNvSpPr/>
          <p:nvPr/>
        </p:nvSpPr>
        <p:spPr>
          <a:xfrm>
            <a:off x="365760" y="896112"/>
            <a:ext cx="8412480" cy="502920"/>
          </a:xfrm>
          <a:prstGeom prst="roundRect">
            <a:avLst>
              <a:gd name="adj" fmla="val 45455"/>
            </a:avLst>
          </a:prstGeom>
          <a:solidFill>
            <a:srgbClr val="E8590C"/>
          </a:solidFill>
          <a:ln w="76200">
            <a:solidFill>
              <a:srgbClr val="E8590C"/>
            </a:solidFill>
            <a:prstDash val="solid"/>
          </a:ln>
        </p:spPr>
      </p:sp>
      <p:sp>
        <p:nvSpPr>
          <p:cNvPr id="12" name="Title"/>
          <p:cNvSpPr txBox="1"/>
          <p:nvPr/>
        </p:nvSpPr>
        <p:spPr>
          <a:xfrm>
            <a:off x="365760" y="877824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Quiz: which madd? (stopping)</a:t>
            </a:r>
            <a:endParaRPr lang="en-US" sz="1800" dirty="0"/>
          </a:p>
        </p:txBody>
      </p:sp>
      <p:sp>
        <p:nvSpPr>
          <p:cNvPr id="13" name="Mushaf panel"/>
          <p:cNvSpPr/>
          <p:nvPr/>
        </p:nvSpPr>
        <p:spPr>
          <a:xfrm>
            <a:off x="489204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76200">
            <a:solidFill>
              <a:srgbClr val="2F9E44"/>
            </a:solidFill>
            <a:prstDash val="solid"/>
          </a:ln>
        </p:spPr>
      </p:sp>
      <p:sp>
        <p:nvSpPr>
          <p:cNvPr id="14" name="Read panel"/>
          <p:cNvSpPr/>
          <p:nvPr/>
        </p:nvSpPr>
        <p:spPr>
          <a:xfrm>
            <a:off x="36576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mushaf"/>
          <p:cNvSpPr txBox="1"/>
          <p:nvPr/>
        </p:nvSpPr>
        <p:spPr>
          <a:xfrm>
            <a:off x="4892040" y="1717929"/>
            <a:ext cx="3886200" cy="1353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ٱلۡمُفۡلِحُونَ</a:t>
            </a:r>
            <a:endParaRPr lang="ar-SA" sz="5000" dirty="0"/>
          </a:p>
        </p:txBody>
      </p:sp>
      <p:sp>
        <p:nvSpPr>
          <p:cNvPr id="16" name="C2 arrow"/>
          <p:cNvSpPr/>
          <p:nvPr/>
        </p:nvSpPr>
        <p:spPr>
          <a:xfrm>
            <a:off x="4315968" y="2125980"/>
            <a:ext cx="512064" cy="457200"/>
          </a:xfrm>
          <a:prstGeom prst="leftArrow">
            <a:avLst/>
          </a:prstGeom>
          <a:solidFill>
            <a:srgbClr val="2E5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2 read arabic"/>
          <p:cNvSpPr txBox="1"/>
          <p:nvPr/>
        </p:nvSpPr>
        <p:spPr>
          <a:xfrm>
            <a:off x="365760" y="1535163"/>
            <a:ext cx="3886200" cy="9811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ٱلۡمُفۡلِحُ</a:t>
            </a:r>
            <a:r>
              <a:rPr lang="ar-SA" altLang="en-US" sz="3300" dirty="0">
                <a:solidFill>
                  <a:srgbClr val="2F9E44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r>
              <a:rPr lang="ar-SA" altLang="en-US" sz="3300" dirty="0">
                <a:solidFill>
                  <a:srgbClr val="E03131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300" dirty="0"/>
          </a:p>
        </p:txBody>
      </p:sp>
      <p:sp>
        <p:nvSpPr>
          <p:cNvPr id="18" name="C2 read sounds"/>
          <p:cNvSpPr txBox="1"/>
          <p:nvPr/>
        </p:nvSpPr>
        <p:spPr>
          <a:xfrm>
            <a:off x="457200" y="2465527"/>
            <a:ext cx="3703320" cy="637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Al-muf-li-hooon  (stop)</a:t>
            </a:r>
            <a:endParaRPr lang="en-US" sz="2400" dirty="0"/>
          </a:p>
        </p:txBody>
      </p:sp>
      <p:sp>
        <p:nvSpPr>
          <p:cNvPr id="19" name="C3 tip box"/>
          <p:cNvSpPr/>
          <p:nvPr/>
        </p:nvSpPr>
        <p:spPr>
          <a:xfrm>
            <a:off x="365760" y="3364992"/>
            <a:ext cx="8412480" cy="841248"/>
          </a:xfrm>
          <a:prstGeom prst="roundRect">
            <a:avLst>
              <a:gd name="adj" fmla="val 27174"/>
            </a:avLst>
          </a:prstGeom>
          <a:solidFill>
            <a:srgbClr val="FFFFFF"/>
          </a:solidFill>
          <a:ln w="76200">
            <a:solidFill>
              <a:srgbClr val="E8590C"/>
            </a:solidFill>
            <a:prstDash val="solid"/>
          </a:ln>
        </p:spPr>
      </p:sp>
      <p:sp>
        <p:nvSpPr>
          <p:cNvPr id="20" name="C3 tip"/>
          <p:cNvSpPr txBox="1"/>
          <p:nvPr/>
        </p:nvSpPr>
        <p:spPr>
          <a:xfrm>
            <a:off x="502920" y="3379216"/>
            <a:ext cx="8138160" cy="7680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'Arid lis-Sukun (2, 4 or 6)</a:t>
            </a:r>
            <a:endParaRPr lang="en-US" sz="22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44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8"/>
          </a:solidFill>
          <a:ln w="12700">
            <a:solidFill>
              <a:srgbClr val="2B6458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579"/>
          </a:solidFill>
          <a:ln w="12700">
            <a:solidFill>
              <a:srgbClr val="346579"/>
            </a:solidFill>
            <a:prstDash val="solid"/>
          </a:ln>
        </p:spPr>
      </p:sp>
      <p:sp>
        <p:nvSpPr>
          <p:cNvPr id="12" name="Title box"/>
          <p:cNvSpPr/>
          <p:nvPr/>
        </p:nvSpPr>
        <p:spPr>
          <a:xfrm>
            <a:off x="365760" y="896112"/>
            <a:ext cx="8412480" cy="502920"/>
          </a:xfrm>
          <a:prstGeom prst="roundRect">
            <a:avLst>
              <a:gd name="adj" fmla="val 45455"/>
            </a:avLst>
          </a:prstGeom>
          <a:solidFill>
            <a:srgbClr val="1971C2"/>
          </a:solidFill>
          <a:ln w="76200">
            <a:solidFill>
              <a:srgbClr val="1971C2"/>
            </a:solidFill>
            <a:prstDash val="solid"/>
          </a:ln>
        </p:spPr>
      </p:sp>
      <p:sp>
        <p:nvSpPr>
          <p:cNvPr id="13" name="Title"/>
          <p:cNvSpPr txBox="1"/>
          <p:nvPr/>
        </p:nvSpPr>
        <p:spPr>
          <a:xfrm>
            <a:off x="365760" y="875602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900" dirty="0"/>
          </a:p>
        </p:txBody>
      </p:sp>
      <p:sp>
        <p:nvSpPr>
          <p:cNvPr id="14" name="Lines panel"/>
          <p:cNvSpPr/>
          <p:nvPr/>
        </p:nvSpPr>
        <p:spPr>
          <a:xfrm>
            <a:off x="365760" y="1536192"/>
            <a:ext cx="8412480" cy="2697480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76200">
            <a:solidFill>
              <a:srgbClr val="1971C2"/>
            </a:solidFill>
            <a:prstDash val="solid"/>
          </a:ln>
        </p:spPr>
      </p:sp>
      <p:sp>
        <p:nvSpPr>
          <p:cNvPr id="15" name="C1 line 1"/>
          <p:cNvSpPr txBox="1"/>
          <p:nvPr/>
        </p:nvSpPr>
        <p:spPr>
          <a:xfrm>
            <a:off x="502920" y="1601216"/>
            <a:ext cx="8138160" cy="5303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Hamza after, same word  →  Muttasil 4-5  ~</a:t>
            </a:r>
            <a:endParaRPr lang="en-US" sz="2000" dirty="0"/>
          </a:p>
        </p:txBody>
      </p:sp>
      <p:sp>
        <p:nvSpPr>
          <p:cNvPr id="16" name="C2 line 2"/>
          <p:cNvSpPr txBox="1"/>
          <p:nvPr/>
        </p:nvSpPr>
        <p:spPr>
          <a:xfrm>
            <a:off x="502920" y="2104136"/>
            <a:ext cx="8138160" cy="5303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Hamza after, next word  →  Munfasil 4-5  ~</a:t>
            </a:r>
            <a:endParaRPr lang="en-US" sz="2000" dirty="0"/>
          </a:p>
        </p:txBody>
      </p:sp>
      <p:sp>
        <p:nvSpPr>
          <p:cNvPr id="17" name="C3 line 3"/>
          <p:cNvSpPr txBox="1"/>
          <p:nvPr/>
        </p:nvSpPr>
        <p:spPr>
          <a:xfrm>
            <a:off x="502920" y="2624836"/>
            <a:ext cx="8138160" cy="5303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Hamza before  →  Badal 2</a:t>
            </a:r>
            <a:endParaRPr lang="en-US" sz="2000" dirty="0"/>
          </a:p>
        </p:txBody>
      </p:sp>
      <p:sp>
        <p:nvSpPr>
          <p:cNvPr id="18" name="C4 line 4"/>
          <p:cNvSpPr txBox="1"/>
          <p:nvPr/>
        </p:nvSpPr>
        <p:spPr>
          <a:xfrm>
            <a:off x="502920" y="3117596"/>
            <a:ext cx="8138160" cy="5303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Permanent sukun / shaddah  →  Lazim 6  ~</a:t>
            </a:r>
            <a:endParaRPr lang="en-US" sz="2000" dirty="0"/>
          </a:p>
        </p:txBody>
      </p:sp>
      <p:sp>
        <p:nvSpPr>
          <p:cNvPr id="19" name="C5 line 5"/>
          <p:cNvSpPr txBox="1"/>
          <p:nvPr/>
        </p:nvSpPr>
        <p:spPr>
          <a:xfrm>
            <a:off x="502920" y="3605276"/>
            <a:ext cx="8138160" cy="5303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Stopping  →  'Arid 2/4/6,  Leen 2/4/6,  'Iwad 2</a:t>
            </a:r>
            <a:endParaRPr lang="en-US" sz="2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Secondary Madd</dc:title>
  <dc:subject>PptxGenJS Presentation</dc:subject>
  <dc:creator>PptxGenJS</dc:creator>
  <cp:lastModifiedBy>PptxGenJS</cp:lastModifiedBy>
  <cp:revision>1</cp:revision>
  <dcterms:created xsi:type="dcterms:W3CDTF">2026-10-21T19:39:42Z</dcterms:created>
  <dcterms:modified xsi:type="dcterms:W3CDTF">2026-10-21T19:39:42Z</dcterms:modified>
</cp:coreProperties>
</file>