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SHADDAH? A shaddah is TWO letters written as one. The first letter has a sukun (we use the head-of-haa sukun, ۡ) and the second letter has the vowel. Squeeze them together and we write the letter once with a shaddah (ّ) on top. Read it as the letter twice: first stop on it, then go with the vowel.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WORD CANNOT START WITH A SHADDAH. The first of the two letters has a sukun, and we can never start a word on a sukun. So a shaddah always comes AFTER a letter that has a vowel. The red sign means: not allowed at the start of a word.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 way: a letter with a vowel comes first, then the two letters that make the shaddah.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win.wav"/><Relationship Id="rIdSnd2" Type="http://schemas.openxmlformats.org/officeDocument/2006/relationships/audio" Target="../media/bloop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1125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1125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1125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1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2651760" y="1097280"/>
            <a:ext cx="3840480" cy="2926080"/>
          </a:xfrm>
          <a:prstGeom prst="roundRect">
            <a:avLst>
              <a:gd name="adj" fmla="val 9375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S01 R result"/>
          <p:cNvSpPr txBox="1"/>
          <p:nvPr/>
        </p:nvSpPr>
        <p:spPr>
          <a:xfrm>
            <a:off x="2651760" y="109728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16250" dirty="0"/>
          </a:p>
        </p:txBody>
      </p:sp>
      <p:sp>
        <p:nvSpPr>
          <p:cNvPr id="14" name="S02 B forbidden badge"/>
          <p:cNvSpPr/>
          <p:nvPr/>
        </p:nvSpPr>
        <p:spPr>
          <a:xfrm>
            <a:off x="3474720" y="1463040"/>
            <a:ext cx="2194560" cy="2194560"/>
          </a:xfrm>
          <a:prstGeom prst="noSmoking">
            <a:avLst/>
          </a:prstGeom>
          <a:solidFill>
            <a:srgbClr val="E8453C">
              <a:alpha val="60000"/>
            </a:srgbClr>
          </a:solidFill>
          <a:ln w="12700">
            <a:solidFill>
              <a:srgbClr val="E8453C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لَأَّ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لَبَّ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لَتَّ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لَثَّ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لَجَّ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لَحَّ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لَخَّ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لَدَّ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لَذَّ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لَرَّ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لَزَّ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لَسَّ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لَشَّ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لَصَّ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لَضَّ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لَطَّ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لَظَّ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لَعَّ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لَغَّ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لَفَّ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لَقَّ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لَكَّ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أَلَّبَ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بَلَّتَ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تَلَّثَ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ثَلَّجَ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جَلَّحَ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حَلَّخَ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خَلَّدَ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دَلَّذَ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ذَلَّرَ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رَلَّزَ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زَلَّسَ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سَلَّشَ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شَلَّصَ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صَلَّضَ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ضَلَّطَ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طَلَّظَ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ظَلَّعَ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عَلَّغَ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غَلَّفَ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فَلَّقَ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قَلَّكَ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63524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30936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98348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657600" y="2080260"/>
            <a:ext cx="960120" cy="96012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F2994A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594360" y="1737360"/>
            <a:ext cx="237744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S01 L1 letter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5750" dirty="0"/>
          </a:p>
        </p:txBody>
      </p:sp>
      <p:sp>
        <p:nvSpPr>
          <p:cNvPr id="18" name="S02 F1 mark"/>
          <p:cNvSpPr txBox="1"/>
          <p:nvPr/>
        </p:nvSpPr>
        <p:spPr>
          <a:xfrm>
            <a:off x="763524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5750" dirty="0"/>
          </a:p>
        </p:txBody>
      </p:sp>
      <p:sp>
        <p:nvSpPr>
          <p:cNvPr id="19" name="S03 P1 plus"/>
          <p:cNvSpPr/>
          <p:nvPr/>
        </p:nvSpPr>
        <p:spPr>
          <a:xfrm>
            <a:off x="731520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0" name="S04 L2 letter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1" name="S05 F2 mark"/>
          <p:cNvSpPr txBox="1"/>
          <p:nvPr/>
        </p:nvSpPr>
        <p:spPr>
          <a:xfrm>
            <a:off x="630936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5750" dirty="0"/>
          </a:p>
        </p:txBody>
      </p:sp>
      <p:sp>
        <p:nvSpPr>
          <p:cNvPr id="22" name="S06 P2 plus"/>
          <p:cNvSpPr/>
          <p:nvPr/>
        </p:nvSpPr>
        <p:spPr>
          <a:xfrm>
            <a:off x="598932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3" name="S07 L3 letter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5750" dirty="0"/>
          </a:p>
        </p:txBody>
      </p:sp>
      <p:sp>
        <p:nvSpPr>
          <p:cNvPr id="24" name="S08 F3 mark"/>
          <p:cNvSpPr txBox="1"/>
          <p:nvPr/>
        </p:nvSpPr>
        <p:spPr>
          <a:xfrm>
            <a:off x="498348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5750" dirty="0"/>
          </a:p>
        </p:txBody>
      </p:sp>
      <p:sp>
        <p:nvSpPr>
          <p:cNvPr id="25" name="S09 P3 plus"/>
          <p:cNvSpPr/>
          <p:nvPr/>
        </p:nvSpPr>
        <p:spPr>
          <a:xfrm>
            <a:off x="4663440" y="2423160"/>
            <a:ext cx="274320" cy="274320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6" name="S10 L4 letter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750" dirty="0"/>
          </a:p>
        </p:txBody>
      </p:sp>
      <p:sp>
        <p:nvSpPr>
          <p:cNvPr id="27" name="S11 F4 mark"/>
          <p:cNvSpPr txBox="1"/>
          <p:nvPr/>
        </p:nvSpPr>
        <p:spPr>
          <a:xfrm>
            <a:off x="3657600" y="20802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5750" dirty="0"/>
          </a:p>
        </p:txBody>
      </p:sp>
      <p:sp>
        <p:nvSpPr>
          <p:cNvPr id="28" name="S12 A arrow"/>
          <p:cNvSpPr/>
          <p:nvPr/>
        </p:nvSpPr>
        <p:spPr>
          <a:xfrm>
            <a:off x="3086100" y="2304288"/>
            <a:ext cx="45720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9" name="S13 R result"/>
          <p:cNvSpPr txBox="1"/>
          <p:nvPr/>
        </p:nvSpPr>
        <p:spPr>
          <a:xfrm>
            <a:off x="594360" y="1737360"/>
            <a:ext cx="237744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كَلَّأَ</a:t>
            </a:r>
            <a:endParaRPr lang="ar-SA" sz="6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  <p:bldP spid="27" grpId="0"/>
      <p:bldP spid="28" grpId="0" animBg="1"/>
      <p:bldP spid="29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أَلَّ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بَلَّ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تَلَّ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ثَلَّ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جَلَّ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حَلَّ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خَلَّ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دَلَّ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ذَلَّ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رَلَّ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زَلَّ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سَلَّ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شَلَّ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صَلَّ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ضَلَّ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طَلَّ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ظَلَّ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عَلَّ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غَلَّ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فَلَّ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قَلَّ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9F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7EDCB9"/>
          </a:solidFill>
          <a:ln w="12700">
            <a:solidFill>
              <a:srgbClr val="7EDCB9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4FC3A1"/>
          </a:solidFill>
          <a:ln w="12700">
            <a:solidFill>
              <a:srgbClr val="4FC3A1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8FBF5"/>
          </a:solidFill>
          <a:ln w="12700">
            <a:solidFill>
              <a:srgbClr val="E8FBF5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C6A5"/>
          </a:solidFill>
          <a:ln w="12700">
            <a:solidFill>
              <a:srgbClr val="FFC6A5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E381"/>
          </a:solidFill>
          <a:ln w="12700">
            <a:solidFill>
              <a:srgbClr val="FFE381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825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825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825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711C"/>
          </a:solidFill>
          <a:ln w="12700">
            <a:solidFill>
              <a:srgbClr val="F2711C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825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5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825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كَلَّ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13-lam</dc:title>
  <dc:subject>PptxGenJS Presentation</dc:subject>
  <dc:creator>PptxGenJS</dc:creator>
  <cp:lastModifiedBy>PptxGenJS</cp:lastModifiedBy>
  <cp:revision>1</cp:revision>
  <dcterms:created xsi:type="dcterms:W3CDTF">2026-10-10T05:23:36Z</dcterms:created>
  <dcterms:modified xsi:type="dcterms:W3CDTF">2026-10-10T05:23:36Z</dcterms:modified>
</cp:coreProperties>
</file>