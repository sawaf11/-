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علامة السكون. في المصحف (مصحف المدينة) تُرسم رأس خاء صغيرة بلا نقطة «ۡ» فوق الحرف، وفي الكتب المدرسية تُرسم دائرة صغيرة «ْ». المعنى واحد: الحرف ساكن. نحن نتعلّم شكل المصحف.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شكل السكون في المصحف مأخوذ من رأس حرف الخاء بلا نقطة (من أول كلمة «خفيف»). أشِر إلى رأس الخاء ثم إلى علامة السكون: نفس الشكل الصغير.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الحركة (الفتحة والكسرة والضمة) صوت يجري بعد الحرف: «بَ» = ba. السكون يعني: لا حركة، نقف على الحرف ونغلق الصوت عليه: «بۡ» = b. مثّل بيدك: الحركة يد تتحرك، والسكون يد تقف.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أبداً. الساكن يحتاج حرفاً متحركاً قبله يستند إليه: «أَبۡ» (ab) صحيح، و«بۡ» وحدها لا تُقرأ.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نجمع حرفاً متحركاً مع حرف ساكن فيصيران مقطعاً واحداً ننطقه دفعة واحدة: أَ + بۡ = أَبۡ (ab). لا نفصل بينهما.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 الكسرة: إِ + بۡ = إِبۡ (ib).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 الضمة: أُ + بۡ = أُبۡ (ub).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السكون في وسط الكلمة: بَ + حۡ + رٌ = بَحۡرٌ (bah-run). المقطع الأول «بَحۡ» يُنطق دفعة واحدة، ثم «رٌ».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شَ + مۡ + سٌ = شَمۡسٌ (sham-sun).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قَ + لۡ + بٌ = قَلۡبٌ (qal-bun).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المصحف: علامة السكون فوق الحرف تعني أن ننطقه ساكناً واضحاً (إظهار). «أَنۡعَمۡتَ» من الفاتحة: النون ساكنة واضحة، والميم ساكنة واضحة. نقرأ بالمقاطع: أَنۡ – عَمۡ – تَ.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«ٱلۡحَمۡدُ»: اللام ساكنة واضحة، والميم ساكنة واضحة. (عند البدء بها نقرأ الهمزة مفتوحة: اَلۡحَمۡدُ.)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المصحف قد تجد حرفاً بلا حركة وبلا سكون. إذا كان الحرف الذي بعده مشدداً، فالأول يدخل في الثاني (إدغام كامل): «مِن رَّبِّهِمۡ» نقرأ «مِرَّبِّهِمۡ» ولا ننطق النون.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إذا كان الحرف بلا علامة والحرف الذي بعده غير مشدد، فهو إخفاء: لا نُظهر النون كاملة ولا نحذفها، بل ننطقها خفيفة من الأنف (غنّة) ثم ننتقل إلى التاء.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المد (ا و ي) لا يوضع عليها سكون في المصحف، مثل «قَالَ» و«يَقُولُ» و«قِيلَ». هي ساكنة في الأصل، لكننا نمدّها حركتين ولا نقف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الصغيرة (الصفر المستدير «۟») فوق حرف تعني أن الحرف زائد لا يُقرأ أبداً، لا في الوصل ولا في الوقف: «قَالُوا۟» نقرأ «قَالُو». انتبه: هذه الدائرة ليست سكوناً.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«أُو۟لَٰٓئِكَ»: الواو عليها دائرة صغيرة فلا تُقرأ، والألف الخنجرية بعد اللام تُمدّ لأن بعدها همزة.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الصفر المستطيل القائم «۠» فوق الألف: لا تُقرأ الألف إذا وصلنا الكلمة بما بعدها (أَنَ)، وتُقرأ إذا وقفنا عليها (أَنَا).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عند الوقف على آخر الكلمة نُسكّن الحرف الأخير ولو كان متحركاً: «ٱلرَّحِيمِ» نقف «ٱلرَّحِيمۡ». هذا سكون عارض للوقف، لا يُكتب في المصحف.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حروف القلقلة خمسة: ق ط ب ج د (قُطۡبُ جَدٍّ). إذا كانت ساكنة نُخرجها بارتداد خفيف (نبرة) دون أن نضيف حركة: «قَدۡ» نسمع الدال تنبو قليلاً.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«يَجۡعَلُونَ»: الجيم ساكنة من حروف القلقلة، فنُخرجها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9"/>
          </a:solidFill>
          <a:ln w="12700">
            <a:solidFill>
              <a:srgbClr val="E052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1 T1 text"/>
          <p:cNvSpPr txBox="1"/>
          <p:nvPr/>
        </p:nvSpPr>
        <p:spPr>
          <a:xfrm>
            <a:off x="5120640" y="965797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0200" dirty="0"/>
          </a:p>
        </p:txBody>
      </p:sp>
      <p:sp>
        <p:nvSpPr>
          <p:cNvPr id="17" name="C1 B label box"/>
          <p:cNvSpPr/>
          <p:nvPr/>
        </p:nvSpPr>
        <p:spPr>
          <a:xfrm>
            <a:off x="6035040" y="3291840"/>
            <a:ext cx="2377440" cy="530352"/>
          </a:xfrm>
          <a:prstGeom prst="roundRect">
            <a:avLst>
              <a:gd name="adj" fmla="val 3448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1 L label"/>
          <p:cNvSpPr txBox="1"/>
          <p:nvPr/>
        </p:nvSpPr>
        <p:spPr>
          <a:xfrm>
            <a:off x="6035040" y="3257258"/>
            <a:ext cx="23774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في المصحف</a:t>
            </a:r>
            <a:endParaRPr lang="ar-SA" sz="2300" dirty="0"/>
          </a:p>
        </p:txBody>
      </p:sp>
      <p:sp>
        <p:nvSpPr>
          <p:cNvPr id="19" name="Panel 2"/>
          <p:cNvSpPr/>
          <p:nvPr/>
        </p:nvSpPr>
        <p:spPr>
          <a:xfrm>
            <a:off x="73152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868E96"/>
            </a:solidFill>
            <a:prstDash val="solid"/>
          </a:ln>
        </p:spPr>
      </p:sp>
      <p:sp>
        <p:nvSpPr>
          <p:cNvPr id="20" name="C2 T2 text"/>
          <p:cNvSpPr txBox="1"/>
          <p:nvPr/>
        </p:nvSpPr>
        <p:spPr>
          <a:xfrm>
            <a:off x="731520" y="1012654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بْ</a:t>
            </a:r>
            <a:endParaRPr lang="ar-SA" sz="10200" dirty="0"/>
          </a:p>
        </p:txBody>
      </p:sp>
      <p:sp>
        <p:nvSpPr>
          <p:cNvPr id="21" name="C2 B label box"/>
          <p:cNvSpPr/>
          <p:nvPr/>
        </p:nvSpPr>
        <p:spPr>
          <a:xfrm>
            <a:off x="1645920" y="3291840"/>
            <a:ext cx="2377440" cy="530352"/>
          </a:xfrm>
          <a:prstGeom prst="roundRect">
            <a:avLst>
              <a:gd name="adj" fmla="val 34483"/>
            </a:avLst>
          </a:prstGeom>
          <a:solidFill>
            <a:srgbClr val="868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2 L label"/>
          <p:cNvSpPr txBox="1"/>
          <p:nvPr/>
        </p:nvSpPr>
        <p:spPr>
          <a:xfrm>
            <a:off x="1645920" y="3257258"/>
            <a:ext cx="23774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في الكتب</a:t>
            </a:r>
            <a:endParaRPr lang="ar-SA" sz="2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D147"/>
          </a:solidFill>
          <a:ln w="12700">
            <a:solidFill>
              <a:srgbClr val="5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C1 T1 text"/>
          <p:cNvSpPr txBox="1"/>
          <p:nvPr/>
        </p:nvSpPr>
        <p:spPr>
          <a:xfrm>
            <a:off x="5120640" y="1038860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ـۡ</a:t>
            </a:r>
            <a:endParaRPr lang="ar-SA" sz="10000" dirty="0"/>
          </a:p>
        </p:txBody>
      </p:sp>
      <p:sp>
        <p:nvSpPr>
          <p:cNvPr id="12" name="C1 B label box"/>
          <p:cNvSpPr/>
          <p:nvPr/>
        </p:nvSpPr>
        <p:spPr>
          <a:xfrm>
            <a:off x="6035040" y="3291840"/>
            <a:ext cx="2377440" cy="530352"/>
          </a:xfrm>
          <a:prstGeom prst="roundRect">
            <a:avLst>
              <a:gd name="adj" fmla="val 3448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C1 L label"/>
          <p:cNvSpPr txBox="1"/>
          <p:nvPr/>
        </p:nvSpPr>
        <p:spPr>
          <a:xfrm>
            <a:off x="6035040" y="3278759"/>
            <a:ext cx="23774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سكون</a:t>
            </a:r>
            <a:endParaRPr lang="ar-SA" sz="2600" dirty="0"/>
          </a:p>
        </p:txBody>
      </p:sp>
      <p:sp>
        <p:nvSpPr>
          <p:cNvPr id="14" name="Panel 2"/>
          <p:cNvSpPr/>
          <p:nvPr/>
        </p:nvSpPr>
        <p:spPr>
          <a:xfrm>
            <a:off x="73152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868E96"/>
            </a:solidFill>
            <a:prstDash val="solid"/>
          </a:ln>
        </p:spPr>
      </p:sp>
      <p:sp>
        <p:nvSpPr>
          <p:cNvPr id="15" name="C2 T2 text"/>
          <p:cNvSpPr txBox="1"/>
          <p:nvPr/>
        </p:nvSpPr>
        <p:spPr>
          <a:xfrm>
            <a:off x="731520" y="794385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0000" dirty="0"/>
          </a:p>
        </p:txBody>
      </p:sp>
      <p:sp>
        <p:nvSpPr>
          <p:cNvPr id="16" name="C2 B label box"/>
          <p:cNvSpPr/>
          <p:nvPr/>
        </p:nvSpPr>
        <p:spPr>
          <a:xfrm>
            <a:off x="1645920" y="3291840"/>
            <a:ext cx="2377440" cy="530352"/>
          </a:xfrm>
          <a:prstGeom prst="roundRect">
            <a:avLst>
              <a:gd name="adj" fmla="val 34483"/>
            </a:avLst>
          </a:prstGeom>
          <a:solidFill>
            <a:srgbClr val="868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L label"/>
          <p:cNvSpPr txBox="1"/>
          <p:nvPr/>
        </p:nvSpPr>
        <p:spPr>
          <a:xfrm>
            <a:off x="1645920" y="3317113"/>
            <a:ext cx="23774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رأس الخاء</a:t>
            </a:r>
            <a:endParaRPr lang="ar-SA" sz="2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C1 T1 text"/>
          <p:cNvSpPr txBox="1"/>
          <p:nvPr/>
        </p:nvSpPr>
        <p:spPr>
          <a:xfrm>
            <a:off x="5120640" y="891090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0800" dirty="0"/>
          </a:p>
        </p:txBody>
      </p:sp>
      <p:sp>
        <p:nvSpPr>
          <p:cNvPr id="13" name="C2 G go"/>
          <p:cNvSpPr/>
          <p:nvPr/>
        </p:nvSpPr>
        <p:spPr>
          <a:xfrm>
            <a:off x="5212080" y="3319272"/>
            <a:ext cx="731520" cy="457200"/>
          </a:xfrm>
          <a:prstGeom prst="leftArrow">
            <a:avLst/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2 B label box"/>
          <p:cNvSpPr/>
          <p:nvPr/>
        </p:nvSpPr>
        <p:spPr>
          <a:xfrm>
            <a:off x="6035040" y="3291840"/>
            <a:ext cx="2377440" cy="530352"/>
          </a:xfrm>
          <a:prstGeom prst="roundRect">
            <a:avLst>
              <a:gd name="adj" fmla="val 3448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2 L label"/>
          <p:cNvSpPr txBox="1"/>
          <p:nvPr/>
        </p:nvSpPr>
        <p:spPr>
          <a:xfrm>
            <a:off x="6035040" y="3278759"/>
            <a:ext cx="23774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حركة</a:t>
            </a:r>
            <a:endParaRPr lang="ar-SA" sz="2600" dirty="0"/>
          </a:p>
        </p:txBody>
      </p:sp>
      <p:sp>
        <p:nvSpPr>
          <p:cNvPr id="16" name="Panel 2"/>
          <p:cNvSpPr/>
          <p:nvPr/>
        </p:nvSpPr>
        <p:spPr>
          <a:xfrm>
            <a:off x="73152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7" name="C3 T2 text"/>
          <p:cNvSpPr txBox="1"/>
          <p:nvPr/>
        </p:nvSpPr>
        <p:spPr>
          <a:xfrm>
            <a:off x="731520" y="958063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0800" dirty="0"/>
          </a:p>
        </p:txBody>
      </p:sp>
      <p:sp>
        <p:nvSpPr>
          <p:cNvPr id="18" name="C4 S stop"/>
          <p:cNvSpPr/>
          <p:nvPr/>
        </p:nvSpPr>
        <p:spPr>
          <a:xfrm>
            <a:off x="841248" y="3246120"/>
            <a:ext cx="603504" cy="603504"/>
          </a:xfrm>
          <a:prstGeom prst="octagon">
            <a:avLst/>
          </a:prstGeom>
          <a:solidFill>
            <a:srgbClr val="E0313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4 B label box"/>
          <p:cNvSpPr/>
          <p:nvPr/>
        </p:nvSpPr>
        <p:spPr>
          <a:xfrm>
            <a:off x="1645920" y="3291840"/>
            <a:ext cx="2377440" cy="530352"/>
          </a:xfrm>
          <a:prstGeom prst="roundRect">
            <a:avLst>
              <a:gd name="adj" fmla="val 34483"/>
            </a:avLst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 label"/>
          <p:cNvSpPr txBox="1"/>
          <p:nvPr/>
        </p:nvSpPr>
        <p:spPr>
          <a:xfrm>
            <a:off x="1645920" y="3278759"/>
            <a:ext cx="23774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سكون</a:t>
            </a:r>
            <a:endParaRPr lang="ar-SA" sz="2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C1 T1 text"/>
          <p:cNvSpPr txBox="1"/>
          <p:nvPr/>
        </p:nvSpPr>
        <p:spPr>
          <a:xfrm>
            <a:off x="5120640" y="1214395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</a:t>
            </a:r>
            <a:endParaRPr lang="ar-SA" sz="7800" dirty="0"/>
          </a:p>
        </p:txBody>
      </p:sp>
      <p:sp>
        <p:nvSpPr>
          <p:cNvPr id="14" name="C2 V tick a"/>
          <p:cNvSpPr/>
          <p:nvPr/>
        </p:nvSpPr>
        <p:spPr>
          <a:xfrm>
            <a:off x="6492240" y="352044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5" name="C2 V tick b"/>
          <p:cNvSpPr/>
          <p:nvPr/>
        </p:nvSpPr>
        <p:spPr>
          <a:xfrm flipV="1">
            <a:off x="6693408" y="326440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Panel 2"/>
          <p:cNvSpPr/>
          <p:nvPr/>
        </p:nvSpPr>
        <p:spPr>
          <a:xfrm>
            <a:off x="731520" y="1097280"/>
            <a:ext cx="329184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7" name="C3 T2 text"/>
          <p:cNvSpPr txBox="1"/>
          <p:nvPr/>
        </p:nvSpPr>
        <p:spPr>
          <a:xfrm>
            <a:off x="731520" y="996734"/>
            <a:ext cx="329184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7800" dirty="0"/>
          </a:p>
        </p:txBody>
      </p:sp>
      <p:sp>
        <p:nvSpPr>
          <p:cNvPr id="18" name="C4 X wrong"/>
          <p:cNvSpPr/>
          <p:nvPr/>
        </p:nvSpPr>
        <p:spPr>
          <a:xfrm>
            <a:off x="2057400" y="324612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543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00" dirty="0"/>
          </a:p>
        </p:txBody>
      </p:sp>
      <p:sp>
        <p:nvSpPr>
          <p:cNvPr id="14" name="C2 V1 mark"/>
          <p:cNvSpPr txBox="1"/>
          <p:nvPr/>
        </p:nvSpPr>
        <p:spPr>
          <a:xfrm>
            <a:off x="6720840" y="18543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81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00" dirty="0"/>
          </a:p>
        </p:txBody>
      </p:sp>
      <p:sp>
        <p:nvSpPr>
          <p:cNvPr id="17" name="C5 V2 mark"/>
          <p:cNvSpPr txBox="1"/>
          <p:nvPr/>
        </p:nvSpPr>
        <p:spPr>
          <a:xfrm>
            <a:off x="4343400" y="16181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761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508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2 V1 mark"/>
          <p:cNvSpPr txBox="1"/>
          <p:nvPr/>
        </p:nvSpPr>
        <p:spPr>
          <a:xfrm>
            <a:off x="6720840" y="15508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81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00" dirty="0"/>
          </a:p>
        </p:txBody>
      </p:sp>
      <p:sp>
        <p:nvSpPr>
          <p:cNvPr id="25" name="C5 V2 mark"/>
          <p:cNvSpPr txBox="1"/>
          <p:nvPr/>
        </p:nvSpPr>
        <p:spPr>
          <a:xfrm>
            <a:off x="4343400" y="16181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إِبۡ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70DB"/>
          </a:solidFill>
          <a:ln w="12700">
            <a:solidFill>
              <a:srgbClr val="7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9158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00" dirty="0"/>
          </a:p>
        </p:txBody>
      </p:sp>
      <p:sp>
        <p:nvSpPr>
          <p:cNvPr id="19" name="C2 V1 mark"/>
          <p:cNvSpPr txBox="1"/>
          <p:nvPr/>
        </p:nvSpPr>
        <p:spPr>
          <a:xfrm>
            <a:off x="6720840" y="19158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81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00" dirty="0"/>
          </a:p>
        </p:txBody>
      </p:sp>
      <p:sp>
        <p:nvSpPr>
          <p:cNvPr id="22" name="C5 V2 mark"/>
          <p:cNvSpPr txBox="1"/>
          <p:nvPr/>
        </p:nvSpPr>
        <p:spPr>
          <a:xfrm>
            <a:off x="4343400" y="16181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74289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أُبۡ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BD1"/>
          </a:solidFill>
          <a:ln w="12700">
            <a:solidFill>
              <a:srgbClr val="477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5" name="C2 V1 mark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76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5 V2 mark"/>
          <p:cNvSpPr txBox="1"/>
          <p:nvPr/>
        </p:nvSpPr>
        <p:spPr>
          <a:xfrm>
            <a:off x="5486400" y="18176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3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V3 mark"/>
          <p:cNvSpPr txBox="1"/>
          <p:nvPr/>
        </p:nvSpPr>
        <p:spPr>
          <a:xfrm>
            <a:off x="3703320" y="1843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رٌ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453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بَحۡرٌ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mark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4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mark"/>
          <p:cNvSpPr txBox="1"/>
          <p:nvPr/>
        </p:nvSpPr>
        <p:spPr>
          <a:xfrm>
            <a:off x="5486400" y="1804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59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100" dirty="0"/>
          </a:p>
        </p:txBody>
      </p:sp>
      <p:sp>
        <p:nvSpPr>
          <p:cNvPr id="22" name="C8 V3 mark"/>
          <p:cNvSpPr txBox="1"/>
          <p:nvPr/>
        </p:nvSpPr>
        <p:spPr>
          <a:xfrm>
            <a:off x="3703320" y="18359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سٌ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51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شَمۡسٌ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7" name="C2 V1 mark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9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700" dirty="0"/>
          </a:p>
        </p:txBody>
      </p:sp>
      <p:sp>
        <p:nvSpPr>
          <p:cNvPr id="20" name="C5 V2 mark"/>
          <p:cNvSpPr txBox="1"/>
          <p:nvPr/>
        </p:nvSpPr>
        <p:spPr>
          <a:xfrm>
            <a:off x="5486400" y="1929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66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3" name="C8 V3 mark"/>
          <p:cNvSpPr txBox="1"/>
          <p:nvPr/>
        </p:nvSpPr>
        <p:spPr>
          <a:xfrm>
            <a:off x="3703320" y="18666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بٌ</a:t>
            </a:r>
            <a:endParaRPr lang="ar-SA" sz="3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183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قَلۡبٌ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116579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أَنۡعَمۡتَ</a:t>
            </a:r>
            <a:endParaRPr lang="ar-SA" sz="3800" dirty="0"/>
          </a:p>
        </p:txBody>
      </p:sp>
      <p:sp>
        <p:nvSpPr>
          <p:cNvPr id="13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063493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 - عَمۡ - تَ</a:t>
            </a:r>
            <a:endParaRPr lang="ar-SA" sz="3800" dirty="0"/>
          </a:p>
        </p:txBody>
      </p:sp>
      <p:sp>
        <p:nvSpPr>
          <p:cNvPr id="15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B label written"/>
          <p:cNvSpPr txBox="1"/>
          <p:nvPr/>
        </p:nvSpPr>
        <p:spPr>
          <a:xfrm>
            <a:off x="512064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مكتوب</a:t>
            </a:r>
            <a:endParaRPr lang="ar-SA" sz="2600" dirty="0"/>
          </a:p>
        </p:txBody>
      </p:sp>
      <p:sp>
        <p:nvSpPr>
          <p:cNvPr id="17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B label read"/>
          <p:cNvSpPr txBox="1"/>
          <p:nvPr/>
        </p:nvSpPr>
        <p:spPr>
          <a:xfrm>
            <a:off x="457200" y="3225673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نقرأ</a:t>
            </a:r>
            <a:endParaRPr lang="ar-SA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C5E"/>
          </a:solidFill>
          <a:ln w="12700">
            <a:solidFill>
              <a:srgbClr val="ED7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20" name="C1 W written"/>
          <p:cNvSpPr txBox="1"/>
          <p:nvPr/>
        </p:nvSpPr>
        <p:spPr>
          <a:xfrm>
            <a:off x="5120640" y="1102589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</a:t>
            </a:r>
            <a:endParaRPr lang="ar-SA" sz="4100" dirty="0"/>
          </a:p>
        </p:txBody>
      </p:sp>
      <p:sp>
        <p:nvSpPr>
          <p:cNvPr id="21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3 R read"/>
          <p:cNvSpPr txBox="1"/>
          <p:nvPr/>
        </p:nvSpPr>
        <p:spPr>
          <a:xfrm>
            <a:off x="457200" y="1045312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اَلۡ - حَمۡ - دُ</a:t>
            </a:r>
            <a:endParaRPr lang="ar-SA" sz="4100" dirty="0"/>
          </a:p>
        </p:txBody>
      </p:sp>
      <p:sp>
        <p:nvSpPr>
          <p:cNvPr id="23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 B label written"/>
          <p:cNvSpPr txBox="1"/>
          <p:nvPr/>
        </p:nvSpPr>
        <p:spPr>
          <a:xfrm>
            <a:off x="512064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مكتوب</a:t>
            </a:r>
            <a:endParaRPr lang="ar-SA" sz="2600" dirty="0"/>
          </a:p>
        </p:txBody>
      </p:sp>
      <p:sp>
        <p:nvSpPr>
          <p:cNvPr id="25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3 B label read"/>
          <p:cNvSpPr txBox="1"/>
          <p:nvPr/>
        </p:nvSpPr>
        <p:spPr>
          <a:xfrm>
            <a:off x="457200" y="3225673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نقرأ</a:t>
            </a:r>
            <a:endParaRPr lang="ar-SA" sz="2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1" grpId="0" animBg="1"/>
      <p:bldP spid="22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1E0"/>
          </a:solidFill>
          <a:ln w="12700">
            <a:solidFill>
              <a:srgbClr val="52B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7" name="C1 W written"/>
          <p:cNvSpPr txBox="1"/>
          <p:nvPr/>
        </p:nvSpPr>
        <p:spPr>
          <a:xfrm>
            <a:off x="5120640" y="972705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رَّبِّهِمۡ</a:t>
            </a:r>
            <a:endParaRPr lang="ar-SA" sz="6000" dirty="0"/>
          </a:p>
        </p:txBody>
      </p:sp>
      <p:sp>
        <p:nvSpPr>
          <p:cNvPr id="18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R read"/>
          <p:cNvSpPr txBox="1"/>
          <p:nvPr/>
        </p:nvSpPr>
        <p:spPr>
          <a:xfrm>
            <a:off x="457200" y="972705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مِرَّبِّهِمۡ</a:t>
            </a:r>
            <a:endParaRPr lang="ar-SA" sz="6000" dirty="0"/>
          </a:p>
        </p:txBody>
      </p:sp>
      <p:sp>
        <p:nvSpPr>
          <p:cNvPr id="20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1 B label written"/>
          <p:cNvSpPr txBox="1"/>
          <p:nvPr/>
        </p:nvSpPr>
        <p:spPr>
          <a:xfrm>
            <a:off x="512064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نون بلا علامة</a:t>
            </a:r>
            <a:endParaRPr lang="ar-SA" sz="2600" dirty="0"/>
          </a:p>
        </p:txBody>
      </p:sp>
      <p:sp>
        <p:nvSpPr>
          <p:cNvPr id="22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B label read"/>
          <p:cNvSpPr txBox="1"/>
          <p:nvPr/>
        </p:nvSpPr>
        <p:spPr>
          <a:xfrm>
            <a:off x="457200" y="3165818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تدخل في الراء</a:t>
            </a:r>
            <a:endParaRPr lang="ar-SA" sz="2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D"/>
          </a:solidFill>
          <a:ln w="12700">
            <a:solidFill>
              <a:srgbClr val="D147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029157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تَحۡتِهَا</a:t>
            </a:r>
            <a:endParaRPr lang="ar-SA" sz="4900" dirty="0"/>
          </a:p>
        </p:txBody>
      </p:sp>
      <p:sp>
        <p:nvSpPr>
          <p:cNvPr id="13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972226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مِ(ن) تَحۡتِهَا</a:t>
            </a:r>
            <a:endParaRPr lang="ar-SA" sz="4900" dirty="0"/>
          </a:p>
        </p:txBody>
      </p:sp>
      <p:sp>
        <p:nvSpPr>
          <p:cNvPr id="15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B label written"/>
          <p:cNvSpPr txBox="1"/>
          <p:nvPr/>
        </p:nvSpPr>
        <p:spPr>
          <a:xfrm>
            <a:off x="512064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نون بلا علامة</a:t>
            </a:r>
            <a:endParaRPr lang="ar-SA" sz="2600" dirty="0"/>
          </a:p>
        </p:txBody>
      </p:sp>
      <p:sp>
        <p:nvSpPr>
          <p:cNvPr id="17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B label read"/>
          <p:cNvSpPr txBox="1"/>
          <p:nvPr/>
        </p:nvSpPr>
        <p:spPr>
          <a:xfrm>
            <a:off x="457200" y="3199162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نون خفيفة بغنّة</a:t>
            </a:r>
            <a:endParaRPr lang="ar-SA" sz="2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3" name="C1 W written"/>
          <p:cNvSpPr txBox="1"/>
          <p:nvPr/>
        </p:nvSpPr>
        <p:spPr>
          <a:xfrm>
            <a:off x="5120640" y="1076389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قَالَ</a:t>
            </a:r>
            <a:endParaRPr lang="ar-SA" sz="8500" dirty="0"/>
          </a:p>
        </p:txBody>
      </p:sp>
      <p:sp>
        <p:nvSpPr>
          <p:cNvPr id="14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R read"/>
          <p:cNvSpPr txBox="1"/>
          <p:nvPr/>
        </p:nvSpPr>
        <p:spPr>
          <a:xfrm>
            <a:off x="457200" y="1076389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 - لَ</a:t>
            </a:r>
            <a:endParaRPr lang="ar-SA" sz="8500" dirty="0"/>
          </a:p>
        </p:txBody>
      </p:sp>
      <p:sp>
        <p:nvSpPr>
          <p:cNvPr id="16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1 B label written"/>
          <p:cNvSpPr txBox="1"/>
          <p:nvPr/>
        </p:nvSpPr>
        <p:spPr>
          <a:xfrm>
            <a:off x="5120640" y="3220085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الألف بلا سكون</a:t>
            </a:r>
            <a:endParaRPr lang="ar-SA" sz="2200" dirty="0"/>
          </a:p>
        </p:txBody>
      </p:sp>
      <p:sp>
        <p:nvSpPr>
          <p:cNvPr id="18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B label read"/>
          <p:cNvSpPr txBox="1"/>
          <p:nvPr/>
        </p:nvSpPr>
        <p:spPr>
          <a:xfrm>
            <a:off x="457200" y="3177197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حرف مد</a:t>
            </a:r>
            <a:endParaRPr lang="ar-SA" sz="2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3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4" name="C1 W written"/>
          <p:cNvSpPr txBox="1"/>
          <p:nvPr/>
        </p:nvSpPr>
        <p:spPr>
          <a:xfrm>
            <a:off x="5120640" y="1125720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قَالُوا۟</a:t>
            </a:r>
            <a:endParaRPr lang="ar-SA" sz="7800" dirty="0"/>
          </a:p>
        </p:txBody>
      </p:sp>
      <p:sp>
        <p:nvSpPr>
          <p:cNvPr id="15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R read"/>
          <p:cNvSpPr txBox="1"/>
          <p:nvPr/>
        </p:nvSpPr>
        <p:spPr>
          <a:xfrm>
            <a:off x="457200" y="1125720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قَالُو</a:t>
            </a:r>
            <a:endParaRPr lang="ar-SA" sz="7800" dirty="0"/>
          </a:p>
        </p:txBody>
      </p:sp>
      <p:sp>
        <p:nvSpPr>
          <p:cNvPr id="17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1 B label written"/>
          <p:cNvSpPr txBox="1"/>
          <p:nvPr/>
        </p:nvSpPr>
        <p:spPr>
          <a:xfrm>
            <a:off x="512064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دائرة صغيرة</a:t>
            </a:r>
            <a:endParaRPr lang="ar-SA" sz="2600" dirty="0"/>
          </a:p>
        </p:txBody>
      </p:sp>
      <p:sp>
        <p:nvSpPr>
          <p:cNvPr id="19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B label read"/>
          <p:cNvSpPr txBox="1"/>
          <p:nvPr/>
        </p:nvSpPr>
        <p:spPr>
          <a:xfrm>
            <a:off x="457200" y="3225673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لا تُقرأ</a:t>
            </a:r>
            <a:endParaRPr lang="ar-SA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240574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أُو۟لَٰٓئِكَ</a:t>
            </a:r>
            <a:endParaRPr lang="ar-SA" sz="6600" dirty="0"/>
          </a:p>
        </p:txBody>
      </p:sp>
      <p:sp>
        <p:nvSpPr>
          <p:cNvPr id="13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232035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أُلَااائِكَ</a:t>
            </a:r>
            <a:endParaRPr lang="ar-SA" sz="6600" dirty="0"/>
          </a:p>
        </p:txBody>
      </p:sp>
      <p:sp>
        <p:nvSpPr>
          <p:cNvPr id="15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B label written"/>
          <p:cNvSpPr txBox="1"/>
          <p:nvPr/>
        </p:nvSpPr>
        <p:spPr>
          <a:xfrm>
            <a:off x="5120640" y="3225673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الواو لا تُقرأ</a:t>
            </a:r>
            <a:endParaRPr lang="ar-SA" sz="2200" dirty="0"/>
          </a:p>
        </p:txBody>
      </p:sp>
      <p:sp>
        <p:nvSpPr>
          <p:cNvPr id="17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B label read"/>
          <p:cNvSpPr txBox="1"/>
          <p:nvPr/>
        </p:nvSpPr>
        <p:spPr>
          <a:xfrm>
            <a:off x="457200" y="3225673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نقرأ</a:t>
            </a:r>
            <a:endParaRPr lang="ar-SA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ED5E"/>
          </a:solidFill>
          <a:ln w="12700">
            <a:solidFill>
              <a:srgbClr val="6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20" name="C1 W written"/>
          <p:cNvSpPr txBox="1"/>
          <p:nvPr/>
        </p:nvSpPr>
        <p:spPr>
          <a:xfrm>
            <a:off x="5120640" y="1152511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أَنَا۠</a:t>
            </a:r>
            <a:endParaRPr lang="ar-SA" sz="5900" dirty="0"/>
          </a:p>
        </p:txBody>
      </p:sp>
      <p:sp>
        <p:nvSpPr>
          <p:cNvPr id="21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3 R read"/>
          <p:cNvSpPr txBox="1"/>
          <p:nvPr/>
        </p:nvSpPr>
        <p:spPr>
          <a:xfrm>
            <a:off x="457200" y="1133778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أَنَ ... / أَنَا</a:t>
            </a:r>
            <a:endParaRPr lang="ar-SA" sz="5900" dirty="0"/>
          </a:p>
        </p:txBody>
      </p:sp>
      <p:sp>
        <p:nvSpPr>
          <p:cNvPr id="23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 B label written"/>
          <p:cNvSpPr txBox="1"/>
          <p:nvPr/>
        </p:nvSpPr>
        <p:spPr>
          <a:xfrm>
            <a:off x="512064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صفر مستطيل</a:t>
            </a:r>
            <a:endParaRPr lang="ar-SA" sz="2600" dirty="0"/>
          </a:p>
        </p:txBody>
      </p:sp>
      <p:sp>
        <p:nvSpPr>
          <p:cNvPr id="25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3 B label read"/>
          <p:cNvSpPr txBox="1"/>
          <p:nvPr/>
        </p:nvSpPr>
        <p:spPr>
          <a:xfrm>
            <a:off x="457200" y="3236957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وصلاً / وقفاً</a:t>
            </a:r>
            <a:endParaRPr lang="ar-SA" sz="2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1" grpId="0" animBg="1"/>
      <p:bldP spid="22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4"/>
          </a:solidFill>
          <a:ln w="12700">
            <a:solidFill>
              <a:srgbClr val="E052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DB70"/>
          </a:solidFill>
          <a:ln w="12700">
            <a:solidFill>
              <a:srgbClr val="9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7" name="C1 W written"/>
          <p:cNvSpPr txBox="1"/>
          <p:nvPr/>
        </p:nvSpPr>
        <p:spPr>
          <a:xfrm>
            <a:off x="5120640" y="957873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ٱلرَّحِيمِ</a:t>
            </a:r>
            <a:endParaRPr lang="ar-SA" sz="6800" dirty="0"/>
          </a:p>
        </p:txBody>
      </p:sp>
      <p:sp>
        <p:nvSpPr>
          <p:cNvPr id="18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R read"/>
          <p:cNvSpPr txBox="1"/>
          <p:nvPr/>
        </p:nvSpPr>
        <p:spPr>
          <a:xfrm>
            <a:off x="457200" y="972109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ٱلرَّحِيمۡ</a:t>
            </a:r>
            <a:endParaRPr lang="ar-SA" sz="6800" dirty="0"/>
          </a:p>
        </p:txBody>
      </p:sp>
      <p:sp>
        <p:nvSpPr>
          <p:cNvPr id="20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1 B label written"/>
          <p:cNvSpPr txBox="1"/>
          <p:nvPr/>
        </p:nvSpPr>
        <p:spPr>
          <a:xfrm>
            <a:off x="5120640" y="3165818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في الوصل</a:t>
            </a:r>
            <a:endParaRPr lang="ar-SA" sz="2300" dirty="0"/>
          </a:p>
        </p:txBody>
      </p:sp>
      <p:sp>
        <p:nvSpPr>
          <p:cNvPr id="22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B label read"/>
          <p:cNvSpPr txBox="1"/>
          <p:nvPr/>
        </p:nvSpPr>
        <p:spPr>
          <a:xfrm>
            <a:off x="45720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عند الوقف</a:t>
            </a:r>
            <a:endParaRPr lang="ar-SA" sz="2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D864"/>
          </a:solidFill>
          <a:ln w="12700">
            <a:solidFill>
              <a:srgbClr val="B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D147"/>
          </a:solidFill>
          <a:ln w="12700">
            <a:solidFill>
              <a:srgbClr val="C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1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2" name="C1 W written"/>
          <p:cNvSpPr txBox="1"/>
          <p:nvPr/>
        </p:nvSpPr>
        <p:spPr>
          <a:xfrm>
            <a:off x="5120640" y="1063493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قَدۡ أَفۡلَحَ</a:t>
            </a:r>
            <a:endParaRPr lang="ar-SA" sz="3800" dirty="0"/>
          </a:p>
        </p:txBody>
      </p:sp>
      <p:sp>
        <p:nvSpPr>
          <p:cNvPr id="13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C3 R read"/>
          <p:cNvSpPr txBox="1"/>
          <p:nvPr/>
        </p:nvSpPr>
        <p:spPr>
          <a:xfrm>
            <a:off x="457200" y="1063493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قَدۡ - أَفۡ - لَحَ</a:t>
            </a:r>
            <a:endParaRPr lang="ar-SA" sz="3800" dirty="0"/>
          </a:p>
        </p:txBody>
      </p:sp>
      <p:sp>
        <p:nvSpPr>
          <p:cNvPr id="15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1 B label written"/>
          <p:cNvSpPr txBox="1"/>
          <p:nvPr/>
        </p:nvSpPr>
        <p:spPr>
          <a:xfrm>
            <a:off x="5120640" y="3187827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دال ساكنة</a:t>
            </a:r>
            <a:endParaRPr lang="ar-SA" sz="2700" dirty="0"/>
          </a:p>
        </p:txBody>
      </p:sp>
      <p:sp>
        <p:nvSpPr>
          <p:cNvPr id="17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3 B label read"/>
          <p:cNvSpPr txBox="1"/>
          <p:nvPr/>
        </p:nvSpPr>
        <p:spPr>
          <a:xfrm>
            <a:off x="457200" y="3187319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قلقلة: الدال تنبو</a:t>
            </a:r>
            <a:endParaRPr lang="ar-SA" sz="2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written"/>
          <p:cNvSpPr/>
          <p:nvPr/>
        </p:nvSpPr>
        <p:spPr>
          <a:xfrm>
            <a:off x="512064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2" name="Panel read"/>
          <p:cNvSpPr/>
          <p:nvPr/>
        </p:nvSpPr>
        <p:spPr>
          <a:xfrm>
            <a:off x="457200" y="1051560"/>
            <a:ext cx="356616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101600">
            <a:solidFill>
              <a:srgbClr val="F2B134"/>
            </a:solidFill>
            <a:prstDash val="solid"/>
          </a:ln>
        </p:spPr>
      </p:sp>
      <p:sp>
        <p:nvSpPr>
          <p:cNvPr id="13" name="C1 W written"/>
          <p:cNvSpPr txBox="1"/>
          <p:nvPr/>
        </p:nvSpPr>
        <p:spPr>
          <a:xfrm>
            <a:off x="5120640" y="1085787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يَجۡعَلُونَ</a:t>
            </a:r>
            <a:endParaRPr lang="ar-SA" sz="3600" dirty="0"/>
          </a:p>
        </p:txBody>
      </p:sp>
      <p:sp>
        <p:nvSpPr>
          <p:cNvPr id="14" name="C2 A arrow"/>
          <p:cNvSpPr/>
          <p:nvPr/>
        </p:nvSpPr>
        <p:spPr>
          <a:xfrm>
            <a:off x="4206240" y="1783080"/>
            <a:ext cx="731520" cy="548640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R read"/>
          <p:cNvSpPr txBox="1"/>
          <p:nvPr/>
        </p:nvSpPr>
        <p:spPr>
          <a:xfrm>
            <a:off x="457200" y="1051497"/>
            <a:ext cx="356616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يَجۡ - عَ - لُو - نَ</a:t>
            </a:r>
            <a:endParaRPr lang="ar-SA" sz="3600" dirty="0"/>
          </a:p>
        </p:txBody>
      </p:sp>
      <p:sp>
        <p:nvSpPr>
          <p:cNvPr id="16" name="C1 B box written"/>
          <p:cNvSpPr/>
          <p:nvPr/>
        </p:nvSpPr>
        <p:spPr>
          <a:xfrm>
            <a:off x="512064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2F9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1 B label written"/>
          <p:cNvSpPr txBox="1"/>
          <p:nvPr/>
        </p:nvSpPr>
        <p:spPr>
          <a:xfrm>
            <a:off x="5120640" y="3169031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جيم ساكنة</a:t>
            </a:r>
            <a:endParaRPr lang="ar-SA" sz="2300" dirty="0"/>
          </a:p>
        </p:txBody>
      </p:sp>
      <p:sp>
        <p:nvSpPr>
          <p:cNvPr id="18" name="C3 B box read"/>
          <p:cNvSpPr/>
          <p:nvPr/>
        </p:nvSpPr>
        <p:spPr>
          <a:xfrm>
            <a:off x="457200" y="3200400"/>
            <a:ext cx="3566160" cy="548640"/>
          </a:xfrm>
          <a:prstGeom prst="roundRect">
            <a:avLst>
              <a:gd name="adj" fmla="val 33333"/>
            </a:avLst>
          </a:prstGeom>
          <a:solidFill>
            <a:srgbClr val="D9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3 B label read"/>
          <p:cNvSpPr txBox="1"/>
          <p:nvPr/>
        </p:nvSpPr>
        <p:spPr>
          <a:xfrm>
            <a:off x="457200" y="3169031"/>
            <a:ext cx="35661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قلقلة: الجيم تنبو</a:t>
            </a:r>
            <a:endParaRPr lang="ar-SA" sz="2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14" grpId="0" animBg="1"/>
      <p:bldP spid="15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explained</dc:title>
  <dc:subject>PptxGenJS Presentation</dc:subject>
  <dc:creator>PptxGenJS</dc:creator>
  <cp:lastModifiedBy>PptxGenJS</cp:lastModifiedBy>
  <cp:revision>1</cp:revision>
  <dcterms:created xsi:type="dcterms:W3CDTF">2026-10-21T18:10:13Z</dcterms:created>
  <dcterms:modified xsi:type="dcterms:W3CDTF">2026-10-21T18:10:13Z</dcterms:modified>
</cp:coreProperties>
</file>