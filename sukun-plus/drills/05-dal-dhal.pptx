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notesMasterIdLst>
    <p:notesMasterId r:id="rId5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نبدأ بحرف ساكن أبداً: الحرف الساكن (بسكون المصحف «ۡ») يحتاج قبله حرفاً متحركاً يستند إليه.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فتحة،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كسرة،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ضمة،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4E0"/>
          </a:solidFill>
          <a:ln w="12700">
            <a:solidFill>
              <a:srgbClr val="5294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0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470"/>
          </a:solidFill>
          <a:ln w="12700">
            <a:solidFill>
              <a:srgbClr val="DB74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E8547"/>
          </a:solidFill>
          <a:ln w="12700">
            <a:solidFill>
              <a:srgbClr val="6E8547"/>
            </a:solidFill>
            <a:prstDash val="solid"/>
          </a:ln>
        </p:spPr>
      </p:sp>
      <p:sp>
        <p:nvSpPr>
          <p:cNvPr id="15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120640" y="1110463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8400" dirty="0"/>
          </a:p>
        </p:txBody>
      </p:sp>
      <p:sp>
        <p:nvSpPr>
          <p:cNvPr id="17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9" name="C3 W2 word"/>
          <p:cNvSpPr txBox="1"/>
          <p:nvPr/>
        </p:nvSpPr>
        <p:spPr>
          <a:xfrm>
            <a:off x="914400" y="1286726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أَدۡ</a:t>
            </a:r>
            <a:endParaRPr lang="ar-SA" sz="8400" dirty="0"/>
          </a:p>
        </p:txBody>
      </p:sp>
      <p:sp>
        <p:nvSpPr>
          <p:cNvPr id="20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21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9" grpId="0" animBg="1"/>
      <p:bldP spid="20" grpId="0" animBg="1"/>
      <p:bldP spid="2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C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2"/>
          </a:solidFill>
          <a:ln w="12700">
            <a:solidFill>
              <a:srgbClr val="D8648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2"/>
          </a:solidFill>
          <a:ln w="12700">
            <a:solidFill>
              <a:srgbClr val="D1478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8828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67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8828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67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9478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أَدۡ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5261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67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5261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67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37426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إِدۡ</a:t>
            </a:r>
            <a:endParaRPr lang="ar-SA" sz="8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22B64"/>
          </a:solidFill>
          <a:ln w="12700">
            <a:solidFill>
              <a:srgbClr val="42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33479"/>
          </a:solidFill>
          <a:ln w="12700">
            <a:solidFill>
              <a:srgbClr val="73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9512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6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9512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</a:t>
            </a:r>
            <a:endParaRPr lang="ar-SA" sz="6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6607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6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6607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6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76097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أُدۡ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495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8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9495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8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72604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دَأۡ</a:t>
            </a:r>
            <a:endParaRPr lang="ar-SA" sz="7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5"/>
          </a:solidFill>
          <a:ln w="12700">
            <a:solidFill>
              <a:srgbClr val="5EED7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53402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53402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43058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دِبۡ</a:t>
            </a:r>
            <a:endParaRPr lang="ar-SA" sz="9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8"/>
          </a:solidFill>
          <a:ln w="12700">
            <a:solidFill>
              <a:srgbClr val="E052B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7DB70"/>
          </a:solidFill>
          <a:ln w="12700">
            <a:solidFill>
              <a:srgbClr val="87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D85"/>
          </a:solidFill>
          <a:ln w="12700">
            <a:solidFill>
              <a:srgbClr val="477D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72901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4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72901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54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4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54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4350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دُتۡ</a:t>
            </a:r>
            <a:endParaRPr lang="ar-SA" sz="9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FD864"/>
          </a:solidFill>
          <a:ln w="12700">
            <a:solidFill>
              <a:srgbClr val="9F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4D147"/>
          </a:solidFill>
          <a:ln w="12700">
            <a:solidFill>
              <a:srgbClr val="A4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461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2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9461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2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2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52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0881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دَثۡ</a:t>
            </a:r>
            <a:endParaRPr lang="ar-SA" sz="9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53402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53402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36841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دِجۡ</a:t>
            </a:r>
            <a:endParaRPr lang="ar-SA" sz="9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3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42B"/>
          </a:solidFill>
          <a:ln w="12700">
            <a:solidFill>
              <a:srgbClr val="643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234"/>
          </a:solidFill>
          <a:ln w="12700">
            <a:solidFill>
              <a:srgbClr val="7962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73040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73040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40304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دُحۡ</a:t>
            </a:r>
            <a:endParaRPr lang="ar-SA" sz="8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455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1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9455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1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5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9352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دَخۡ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BED"/>
          </a:solidFill>
          <a:ln w="12700">
            <a:solidFill>
              <a:srgbClr val="5E6B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6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74952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أَدۡبَ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32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BE052"/>
          </a:solidFill>
          <a:ln w="12700">
            <a:solidFill>
              <a:srgbClr val="DB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C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2DB"/>
          </a:solidFill>
          <a:ln w="12700">
            <a:solidFill>
              <a:srgbClr val="70A2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D4785"/>
          </a:solidFill>
          <a:ln w="12700">
            <a:solidFill>
              <a:srgbClr val="7D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6984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6984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6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5403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بِدۡتَ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5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CD8"/>
          </a:solidFill>
          <a:ln w="12700">
            <a:solidFill>
              <a:srgbClr val="64BC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7D1"/>
          </a:solidFill>
          <a:ln w="12700">
            <a:solidFill>
              <a:srgbClr val="47C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8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8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6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869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تُدۡثَ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C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6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5961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ثَدۡجَ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0642B"/>
          </a:solidFill>
          <a:ln w="12700">
            <a:solidFill>
              <a:srgbClr val="30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0"/>
          </a:solidFill>
          <a:ln w="12700">
            <a:solidFill>
              <a:srgbClr val="34795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6508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6508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6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5210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جِدۡحَ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5D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02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02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0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0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5525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حُدۡخَ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F"/>
          </a:solidFill>
          <a:ln w="12700">
            <a:solidFill>
              <a:srgbClr val="ED5E8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4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0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4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0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20229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4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20229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7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خَدۡأَ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4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2"/>
          </a:solidFill>
          <a:ln w="12700">
            <a:solidFill>
              <a:srgbClr val="52E0C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5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D"/>
          </a:solidFill>
          <a:ln w="12700">
            <a:solidFill>
              <a:srgbClr val="DB70B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D47"/>
          </a:solidFill>
          <a:ln w="12700">
            <a:solidFill>
              <a:srgbClr val="856D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261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67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5261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6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67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6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37426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إِدۡ</a:t>
            </a:r>
            <a:endParaRPr lang="ar-SA" sz="8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D8"/>
          </a:solidFill>
          <a:ln w="12700">
            <a:solidFill>
              <a:srgbClr val="D8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947D1"/>
          </a:solidFill>
          <a:ln w="12700">
            <a:solidFill>
              <a:srgbClr val="B9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3605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67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3605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67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0561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بُدۡ</a:t>
            </a:r>
            <a:endParaRPr lang="ar-SA" sz="10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70950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67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70950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67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321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تَدۡ</a:t>
            </a:r>
            <a:endParaRPr lang="ar-SA" sz="10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3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E64"/>
          </a:solidFill>
          <a:ln w="12700">
            <a:solidFill>
              <a:srgbClr val="2B3E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F3479"/>
          </a:solidFill>
          <a:ln w="12700">
            <a:solidFill>
              <a:srgbClr val="3F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647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67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647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6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67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6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0836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ثِدۡ</a:t>
            </a:r>
            <a:endParaRPr lang="ar-SA" sz="10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5890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67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5890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67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0891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جُدۡ</a:t>
            </a:r>
            <a:endParaRPr lang="ar-SA" sz="10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2ED5E"/>
          </a:solidFill>
          <a:ln w="12700">
            <a:solidFill>
              <a:srgbClr val="B2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51635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67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51635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6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67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6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1380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حَدۡ</a:t>
            </a:r>
            <a:endParaRPr lang="ar-SA" sz="105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E52E0"/>
          </a:solidFill>
          <a:ln w="12700">
            <a:solidFill>
              <a:srgbClr val="9E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7DB70"/>
          </a:solidFill>
          <a:ln w="12700">
            <a:solidFill>
              <a:srgbClr val="D7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E"/>
          </a:solidFill>
          <a:ln w="12700">
            <a:solidFill>
              <a:srgbClr val="47855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41467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67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41467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6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67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6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0836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خِدۡ</a:t>
            </a:r>
            <a:endParaRPr lang="ar-SA" sz="10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D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B64"/>
          </a:solidFill>
          <a:ln w="12700">
            <a:solidFill>
              <a:srgbClr val="D8BB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747"/>
          </a:solidFill>
          <a:ln w="12700">
            <a:solidFill>
              <a:srgbClr val="D197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6935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8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6935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8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2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72604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ذَأۡ</a:t>
            </a:r>
            <a:endParaRPr lang="ar-SA" sz="7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0301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0301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ذِ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43058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ذِبۡ</a:t>
            </a:r>
            <a:endParaRPr lang="ar-SA" sz="9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3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C"/>
          </a:solidFill>
          <a:ln w="12700">
            <a:solidFill>
              <a:srgbClr val="642B4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A"/>
          </a:solidFill>
          <a:ln w="12700">
            <a:solidFill>
              <a:srgbClr val="79343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79828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4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79828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54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4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54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63981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ذُتۡ</a:t>
            </a:r>
            <a:endParaRPr lang="ar-SA" sz="8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6131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2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6131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2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2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52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0881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ذَثۡ</a:t>
            </a:r>
            <a:endParaRPr lang="ar-SA" sz="9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6ED"/>
          </a:solidFill>
          <a:ln w="12700">
            <a:solidFill>
              <a:srgbClr val="5ED6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0301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0301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ذِ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36841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ذِجۡ</a:t>
            </a:r>
            <a:endParaRPr lang="ar-SA" sz="9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43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B52"/>
          </a:solidFill>
          <a:ln w="12700">
            <a:solidFill>
              <a:srgbClr val="E07B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D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5"/>
          </a:solidFill>
          <a:ln w="12700">
            <a:solidFill>
              <a:srgbClr val="70DBC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F4785"/>
          </a:solidFill>
          <a:ln w="12700">
            <a:solidFill>
              <a:srgbClr val="4F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80223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6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80223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6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2074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ذُحۡ</a:t>
            </a:r>
            <a:endParaRPr lang="ar-SA" sz="77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E"/>
          </a:solidFill>
          <a:ln w="12700">
            <a:solidFill>
              <a:srgbClr val="64D89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5"/>
          </a:solidFill>
          <a:ln w="12700">
            <a:solidFill>
              <a:srgbClr val="47D17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5997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1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5997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1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5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9352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ذَخۡ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58560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67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58560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ذِ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67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49343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ذِدۡ</a:t>
            </a:r>
            <a:endParaRPr lang="ar-SA" sz="10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433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B642B"/>
          </a:solidFill>
          <a:ln w="12700">
            <a:solidFill>
              <a:srgbClr val="5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B7934"/>
          </a:solidFill>
          <a:ln w="12700">
            <a:solidFill>
              <a:srgbClr val="4B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2017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2017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17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17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2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74952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أَذۡبَ</a:t>
            </a:r>
            <a:endParaRPr lang="ar-SA" sz="6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157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157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08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08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2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2496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بِذۡتَ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15EED"/>
          </a:solidFill>
          <a:ln w="12700">
            <a:solidFill>
              <a:srgbClr val="E1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52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352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4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37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37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2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7050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تُذۡثَ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7"/>
          </a:solidFill>
          <a:ln w="12700">
            <a:solidFill>
              <a:srgbClr val="52E05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A70DB"/>
          </a:solidFill>
          <a:ln w="12700">
            <a:solidFill>
              <a:srgbClr val="AA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F"/>
          </a:solidFill>
          <a:ln w="12700">
            <a:solidFill>
              <a:srgbClr val="85474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7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37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2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1130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ثَذۡجَ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164D8"/>
          </a:solidFill>
          <a:ln w="12700">
            <a:solidFill>
              <a:srgbClr val="81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247D1"/>
          </a:solidFill>
          <a:ln w="12700">
            <a:solidFill>
              <a:srgbClr val="52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722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6722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2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1130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جِذۡحَ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41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141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41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41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2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1130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حُذۡخَ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44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F"/>
          </a:solidFill>
          <a:ln w="12700">
            <a:solidFill>
              <a:srgbClr val="2B645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D79"/>
          </a:solidFill>
          <a:ln w="12700">
            <a:solidFill>
              <a:srgbClr val="345D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41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41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97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997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2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713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خَذۡدَ</a:t>
            </a:r>
            <a:endParaRPr lang="ar-SA" sz="75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91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791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2017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2017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2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7524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دِذۡأَ</a:t>
            </a:r>
            <a:endParaRPr lang="ar-SA" sz="71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D5E"/>
          </a:solidFill>
          <a:ln w="12700">
            <a:solidFill>
              <a:srgbClr val="EDB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54096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61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54096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61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7462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61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7462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61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49352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إِذۡ</a:t>
            </a:r>
            <a:endParaRPr lang="ar-SA" sz="75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43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0E0"/>
          </a:solidFill>
          <a:ln w="12700">
            <a:solidFill>
              <a:srgbClr val="5270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A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F70"/>
          </a:solidFill>
          <a:ln w="12700">
            <a:solidFill>
              <a:srgbClr val="DB8F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F8547"/>
          </a:solidFill>
          <a:ln w="12700">
            <a:solidFill>
              <a:srgbClr val="5F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4103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61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64103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6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7462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61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7462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6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62681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بُذۡ</a:t>
            </a:r>
            <a:endParaRPr lang="ar-SA" sz="8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C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4"/>
          </a:solidFill>
          <a:ln w="12700">
            <a:solidFill>
              <a:srgbClr val="D864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F"/>
          </a:solidFill>
          <a:ln w="12700">
            <a:solidFill>
              <a:srgbClr val="D1475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0790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61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0790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462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61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462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3506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تَذۡ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57611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61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57611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6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7462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61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7462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6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62917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ثِذۡ</a:t>
            </a:r>
            <a:endParaRPr lang="ar-SA" sz="89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12B64"/>
          </a:solidFill>
          <a:ln w="12700">
            <a:solidFill>
              <a:srgbClr val="51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E"/>
          </a:solidFill>
          <a:ln w="12700">
            <a:solidFill>
              <a:srgbClr val="79346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7078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61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7078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61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7462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61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7462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61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62964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جُذۡ</a:t>
            </a:r>
            <a:endParaRPr lang="ar-SA" sz="8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3205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61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3205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462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61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462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3506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حَذۡ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A"/>
          </a:solidFill>
          <a:ln w="12700">
            <a:solidFill>
              <a:srgbClr val="5EED9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43947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61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43947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61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7462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61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7462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61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62917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خِذۡ</a:t>
            </a:r>
            <a:endParaRPr lang="ar-SA" sz="8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4314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3"/>
          </a:solidFill>
          <a:ln w="12700">
            <a:solidFill>
              <a:srgbClr val="E0529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0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4"/>
          </a:solidFill>
          <a:ln w="12700">
            <a:solidFill>
              <a:srgbClr val="70DB7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E85"/>
          </a:solidFill>
          <a:ln w="12700">
            <a:solidFill>
              <a:srgbClr val="476E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73386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61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73386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6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7462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61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7462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6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63506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دُذۡ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1D864"/>
          </a:solidFill>
          <a:ln w="12700">
            <a:solidFill>
              <a:srgbClr val="81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1D147"/>
          </a:solidFill>
          <a:ln w="12700">
            <a:solidFill>
              <a:srgbClr val="81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6937634" y="896112"/>
            <a:ext cx="160350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6937634" y="896112"/>
            <a:ext cx="160350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قَدۡ</a:t>
            </a:r>
            <a:endParaRPr lang="ar-SA" sz="4400" dirty="0"/>
          </a:p>
        </p:txBody>
      </p:sp>
      <p:sp>
        <p:nvSpPr>
          <p:cNvPr id="12" name="C2 W2 pill"/>
          <p:cNvSpPr/>
          <p:nvPr/>
        </p:nvSpPr>
        <p:spPr>
          <a:xfrm>
            <a:off x="4578872" y="896112"/>
            <a:ext cx="203872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4578872" y="896112"/>
            <a:ext cx="203872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أَفۡلَحَ</a:t>
            </a:r>
            <a:endParaRPr lang="ar-SA" sz="4400" dirty="0"/>
          </a:p>
        </p:txBody>
      </p:sp>
      <p:sp>
        <p:nvSpPr>
          <p:cNvPr id="14" name="C3 W3 pill"/>
          <p:cNvSpPr/>
          <p:nvPr/>
        </p:nvSpPr>
        <p:spPr>
          <a:xfrm>
            <a:off x="602864" y="896112"/>
            <a:ext cx="365596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36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602864" y="896112"/>
            <a:ext cx="365596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ٱلۡمُؤۡمِنُونَ</a:t>
            </a:r>
            <a:endParaRPr lang="ar-SA" sz="44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1398655" y="2834640"/>
            <a:ext cx="634668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1398655" y="2834640"/>
            <a:ext cx="634668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قَدۡ أَفۡلَحَ ٱلۡمُؤۡمِنُونَ</a:t>
            </a:r>
            <a:endParaRPr lang="ar-SA" sz="4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5D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5620559" y="896112"/>
            <a:ext cx="171428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836E2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5620559" y="896112"/>
            <a:ext cx="17142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وَإِذۡ</a:t>
            </a:r>
            <a:endParaRPr lang="ar-SA" sz="4400" dirty="0"/>
          </a:p>
        </p:txBody>
      </p:sp>
      <p:sp>
        <p:nvSpPr>
          <p:cNvPr id="13" name="C2 W2 pill"/>
          <p:cNvSpPr/>
          <p:nvPr/>
        </p:nvSpPr>
        <p:spPr>
          <a:xfrm>
            <a:off x="3760581" y="896112"/>
            <a:ext cx="153993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68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3760581" y="896112"/>
            <a:ext cx="153993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قَالَ</a:t>
            </a:r>
            <a:endParaRPr lang="ar-SA" sz="4400" dirty="0"/>
          </a:p>
        </p:txBody>
      </p:sp>
      <p:sp>
        <p:nvSpPr>
          <p:cNvPr id="15" name="C3 W3 pill"/>
          <p:cNvSpPr/>
          <p:nvPr/>
        </p:nvSpPr>
        <p:spPr>
          <a:xfrm>
            <a:off x="1809161" y="896112"/>
            <a:ext cx="163137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68"/>
            </a:solidFill>
            <a:prstDash val="solid"/>
          </a:ln>
        </p:spPr>
      </p:sp>
      <p:sp>
        <p:nvSpPr>
          <p:cNvPr id="16" name="C3 W3 word"/>
          <p:cNvSpPr txBox="1"/>
          <p:nvPr/>
        </p:nvSpPr>
        <p:spPr>
          <a:xfrm>
            <a:off x="1809161" y="896112"/>
            <a:ext cx="163137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رَبُّكَ</a:t>
            </a:r>
            <a:endParaRPr lang="ar-SA" sz="4400" dirty="0"/>
          </a:p>
        </p:txBody>
      </p:sp>
      <p:sp>
        <p:nvSpPr>
          <p:cNvPr id="17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9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S panel"/>
          <p:cNvSpPr/>
          <p:nvPr/>
        </p:nvSpPr>
        <p:spPr>
          <a:xfrm>
            <a:off x="2602613" y="2834640"/>
            <a:ext cx="393877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4 S sentence"/>
          <p:cNvSpPr txBox="1"/>
          <p:nvPr/>
        </p:nvSpPr>
        <p:spPr>
          <a:xfrm>
            <a:off x="2602613" y="2834640"/>
            <a:ext cx="393877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وَإِذۡ قَالَ رَبُّكَ</a:t>
            </a:r>
            <a:endParaRPr lang="ar-SA" sz="4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43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32B"/>
          </a:solidFill>
          <a:ln w="12700">
            <a:solidFill>
              <a:srgbClr val="644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334"/>
          </a:solidFill>
          <a:ln w="12700">
            <a:solidFill>
              <a:srgbClr val="797334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512645" y="896112"/>
            <a:ext cx="233384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9A3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512645" y="896112"/>
            <a:ext cx="233384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وَٱدۡخُلِي</a:t>
            </a:r>
            <a:endParaRPr lang="ar-SA" sz="4500" dirty="0"/>
          </a:p>
        </p:txBody>
      </p:sp>
      <p:sp>
        <p:nvSpPr>
          <p:cNvPr id="14" name="C2 W2 pill"/>
          <p:cNvSpPr/>
          <p:nvPr/>
        </p:nvSpPr>
        <p:spPr>
          <a:xfrm>
            <a:off x="2297512" y="896112"/>
            <a:ext cx="189509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9A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297512" y="896112"/>
            <a:ext cx="189509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جَنَّتِي</a:t>
            </a:r>
            <a:endParaRPr lang="ar-SA" sz="45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6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653828" y="2834640"/>
            <a:ext cx="383634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653828" y="2834640"/>
            <a:ext cx="383634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وَٱدۡخُلِي جَنَّتِي</a:t>
            </a:r>
            <a:endParaRPr lang="ar-SA" sz="4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Sukun 05-dal-dhal</dc:title>
  <dc:subject>PptxGenJS Presentation</dc:subject>
  <dc:creator>PptxGenJS</dc:creator>
  <cp:lastModifiedBy>PptxGenJS</cp:lastModifiedBy>
  <cp:revision>1</cp:revision>
  <dcterms:created xsi:type="dcterms:W3CDTF">2026-10-21T19:08:31Z</dcterms:created>
  <dcterms:modified xsi:type="dcterms:W3CDTF">2026-10-21T19:08:31Z</dcterms:modified>
</cp:coreProperties>
</file>