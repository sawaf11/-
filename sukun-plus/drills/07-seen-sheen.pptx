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notesMaster" Target="notesMasters/notesMaster1.xml"/><Relationship Id="rId79" Type="http://schemas.openxmlformats.org/officeDocument/2006/relationships/presProps" Target="presProps.xml"/><Relationship Id="rId80" Type="http://schemas.openxmlformats.org/officeDocument/2006/relationships/viewProps" Target="viewProps.xml"/><Relationship Id="rId81" Type="http://schemas.openxmlformats.org/officeDocument/2006/relationships/theme" Target="theme/theme1.xml"/><Relationship Id="rId8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نبدأ بحرف ساكن أبداً: الحرف الساكن (بسكون المصحف «ۡ») يحتاج قبله حرفاً متحركاً يستند إليه.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فتحة،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كسرة،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ضمة،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120640" y="101955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100" dirty="0"/>
          </a:p>
        </p:txBody>
      </p:sp>
      <p:sp>
        <p:nvSpPr>
          <p:cNvPr id="13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5" name="C3 W2 word"/>
          <p:cNvSpPr txBox="1"/>
          <p:nvPr/>
        </p:nvSpPr>
        <p:spPr>
          <a:xfrm>
            <a:off x="914400" y="124558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أَسۡ</a:t>
            </a:r>
            <a:endParaRPr lang="ar-SA" sz="8100" dirty="0"/>
          </a:p>
        </p:txBody>
      </p:sp>
      <p:sp>
        <p:nvSpPr>
          <p:cNvPr id="16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7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5" grpId="0" animBg="1"/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642B"/>
          </a:solidFill>
          <a:ln w="12700">
            <a:solidFill>
              <a:srgbClr val="4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A"/>
          </a:solidFill>
          <a:ln w="12700">
            <a:solidFill>
              <a:srgbClr val="3479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8314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8314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65453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أَسۡ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706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706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4204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إِسۡ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C"/>
          </a:solidFill>
          <a:ln w="12700">
            <a:solidFill>
              <a:srgbClr val="ED5EB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8843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8843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72104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أُسۡ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4"/>
          </a:solidFill>
          <a:ln w="12700">
            <a:solidFill>
              <a:srgbClr val="52E09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870DB"/>
          </a:solidFill>
          <a:ln w="12700">
            <a:solidFill>
              <a:srgbClr val="D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A47"/>
          </a:solidFill>
          <a:ln w="12700">
            <a:solidFill>
              <a:srgbClr val="855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642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642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72604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سَأۡ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64D8"/>
          </a:solidFill>
          <a:ln w="12700">
            <a:solidFill>
              <a:srgbClr val="B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47D1"/>
          </a:solidFill>
          <a:ln w="12700">
            <a:solidFill>
              <a:srgbClr val="8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345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345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5381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سِبۡ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072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072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4556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سُتۡ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064"/>
          </a:solidFill>
          <a:ln w="12700">
            <a:solidFill>
              <a:srgbClr val="2B5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F79"/>
          </a:solidFill>
          <a:ln w="12700">
            <a:solidFill>
              <a:srgbClr val="343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773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773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60004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سَثۡ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345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345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سِجۡ</a:t>
            </a:r>
            <a:endParaRPr lang="ar-SA" sz="9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0ED5E"/>
          </a:solidFill>
          <a:ln w="12700">
            <a:solidFill>
              <a:srgbClr val="E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041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041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سُحۡ</a:t>
            </a:r>
            <a:endParaRPr lang="ar-SA" sz="9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152E0"/>
          </a:solidFill>
          <a:ln w="12700">
            <a:solidFill>
              <a:srgbClr val="7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D70"/>
          </a:solidFill>
          <a:ln w="12700">
            <a:solidFill>
              <a:srgbClr val="DBB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B"/>
          </a:solidFill>
          <a:ln w="12700">
            <a:solidFill>
              <a:srgbClr val="47854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795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1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795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4935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سَخۡ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664"/>
          </a:solidFill>
          <a:ln w="12700">
            <a:solidFill>
              <a:srgbClr val="D89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B47"/>
          </a:solidFill>
          <a:ln w="12700">
            <a:solidFill>
              <a:srgbClr val="D16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3840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67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3840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9643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سِدۡ</a:t>
            </a:r>
            <a:endParaRPr lang="ar-SA" sz="9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963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6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963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6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63506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سُذۡ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F"/>
          </a:solidFill>
          <a:ln w="12700">
            <a:solidFill>
              <a:srgbClr val="642B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0"/>
          </a:solidFill>
          <a:ln w="12700">
            <a:solidFill>
              <a:srgbClr val="79345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4663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6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4663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59231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59231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1000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سَرۡ</a:t>
            </a:r>
            <a:endParaRPr lang="ar-SA" sz="9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115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6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115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6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340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سِزۡ</a:t>
            </a:r>
            <a:endParaRPr lang="ar-SA" sz="9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7"/>
          </a:solidFill>
          <a:ln w="12700">
            <a:solidFill>
              <a:srgbClr val="5EEDD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944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944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324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324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7330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أَسۡبَ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6"/>
          </a:solidFill>
          <a:ln w="12700">
            <a:solidFill>
              <a:srgbClr val="E0525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2"/>
          </a:solidFill>
          <a:ln w="12700">
            <a:solidFill>
              <a:srgbClr val="70DBA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485"/>
          </a:solidFill>
          <a:ln w="12700">
            <a:solidFill>
              <a:srgbClr val="475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5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5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06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06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5376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بِسۡتَ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9"/>
          </a:solidFill>
          <a:ln w="12700">
            <a:solidFill>
              <a:srgbClr val="64D87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9"/>
          </a:solidFill>
          <a:ln w="12700">
            <a:solidFill>
              <a:srgbClr val="47D1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80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80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0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0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813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تُسۡثَ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0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30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004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ثَسۡجَ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B2B"/>
          </a:solidFill>
          <a:ln w="12700">
            <a:solidFill>
              <a:srgbClr val="645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7934"/>
          </a:solidFill>
          <a:ln w="12700">
            <a:solidFill>
              <a:srgbClr val="6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15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15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4973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جِسۡحَ</a:t>
            </a:r>
            <a:endParaRPr lang="ar-SA" sz="6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00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00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2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2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65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حُسۡخَ</a:t>
            </a:r>
            <a:endParaRPr lang="ar-SA" sz="6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35EED"/>
          </a:solidFill>
          <a:ln w="12700">
            <a:solidFill>
              <a:srgbClr val="B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2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52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9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9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246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خَسۡدَ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AE052"/>
          </a:solidFill>
          <a:ln w="12700">
            <a:solidFill>
              <a:srgbClr val="7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870DB"/>
          </a:solidFill>
          <a:ln w="12700">
            <a:solidFill>
              <a:srgbClr val="8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3"/>
          </a:solidFill>
          <a:ln w="12700">
            <a:solidFill>
              <a:srgbClr val="8547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16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16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535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دِسۡذَ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CD8"/>
          </a:solidFill>
          <a:ln w="12700">
            <a:solidFill>
              <a:srgbClr val="646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8D1"/>
          </a:solidFill>
          <a:ln w="12700">
            <a:solidFill>
              <a:srgbClr val="476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4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64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6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6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77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ذُسۡرَ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6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6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70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70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5975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رَسۡزَ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D"/>
          </a:solidFill>
          <a:ln w="12700">
            <a:solidFill>
              <a:srgbClr val="2B64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379"/>
          </a:solidFill>
          <a:ln w="12700">
            <a:solidFill>
              <a:srgbClr val="347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16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816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944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944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869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زِسۡأَ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706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706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4204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إِسۡ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05E"/>
          </a:solidFill>
          <a:ln w="12700">
            <a:solidFill>
              <a:srgbClr val="ED9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5098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9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5098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6505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بُسۡ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DE0"/>
          </a:solidFill>
          <a:ln w="12700">
            <a:solidFill>
              <a:srgbClr val="529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3"/>
          </a:solidFill>
          <a:ln w="12700">
            <a:solidFill>
              <a:srgbClr val="DB707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8547"/>
          </a:solidFill>
          <a:ln w="12700">
            <a:solidFill>
              <a:srgbClr val="7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047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9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7047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1607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تَسۡ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9"/>
          </a:solidFill>
          <a:ln w="12700">
            <a:solidFill>
              <a:srgbClr val="D864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B"/>
          </a:solidFill>
          <a:ln w="12700">
            <a:solidFill>
              <a:srgbClr val="D1478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988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988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3233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ثِسۡ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945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945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7356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جُسۡ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2B64"/>
          </a:solidFill>
          <a:ln w="12700">
            <a:solidFill>
              <a:srgbClr val="3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3479"/>
          </a:solidFill>
          <a:ln w="12700">
            <a:solidFill>
              <a:srgbClr val="6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6344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6344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3865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حَسۡ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8908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8908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3865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خِسۡ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C"/>
          </a:solidFill>
          <a:ln w="12700">
            <a:solidFill>
              <a:srgbClr val="5EED6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255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9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7255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8993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دُسۡ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1"/>
          </a:solidFill>
          <a:ln w="12700">
            <a:solidFill>
              <a:srgbClr val="E052C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EDB70"/>
          </a:solidFill>
          <a:ln w="12700">
            <a:solidFill>
              <a:srgbClr val="8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185"/>
          </a:solidFill>
          <a:ln w="12700">
            <a:solidFill>
              <a:srgbClr val="478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572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9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7572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4434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ذَسۡ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6D864"/>
          </a:solidFill>
          <a:ln w="12700">
            <a:solidFill>
              <a:srgbClr val="A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DD147"/>
          </a:solidFill>
          <a:ln w="12700">
            <a:solidFill>
              <a:srgbClr val="A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570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570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5453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رِسۡ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838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838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4193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زُسۡ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02B"/>
          </a:solidFill>
          <a:ln w="12700">
            <a:solidFill>
              <a:srgbClr val="643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D34"/>
          </a:solidFill>
          <a:ln w="12700">
            <a:solidFill>
              <a:srgbClr val="795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791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791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72604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شَأۡ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1954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1954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5381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شِبۡ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4ED"/>
          </a:solidFill>
          <a:ln w="12700">
            <a:solidFill>
              <a:srgbClr val="5E7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142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4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7142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5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62184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شُتۡ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C52"/>
          </a:solidFill>
          <a:ln w="12700">
            <a:solidFill>
              <a:srgbClr val="E0D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9DB"/>
          </a:solidFill>
          <a:ln w="12700">
            <a:solidFill>
              <a:srgbClr val="70A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4785"/>
          </a:solidFill>
          <a:ln w="12700">
            <a:solidFill>
              <a:srgbClr val="7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8041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2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8041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2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60004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شَثۡ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3D8"/>
          </a:solidFill>
          <a:ln w="12700">
            <a:solidFill>
              <a:srgbClr val="64C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FD1"/>
          </a:solidFill>
          <a:ln w="12700">
            <a:solidFill>
              <a:srgbClr val="47C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1954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1954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شِجۡ</a:t>
            </a:r>
            <a:endParaRPr lang="ar-SA" sz="9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1511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71511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1287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شُحۡ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642B"/>
          </a:solidFill>
          <a:ln w="12700">
            <a:solidFill>
              <a:srgbClr val="3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C"/>
          </a:solidFill>
          <a:ln w="12700">
            <a:solidFill>
              <a:srgbClr val="3479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8062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8062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935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شَخۡ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072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60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072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83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0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83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9643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شِدۡ</a:t>
            </a:r>
            <a:endParaRPr lang="ar-SA" sz="9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8"/>
          </a:solidFill>
          <a:ln w="12700">
            <a:solidFill>
              <a:srgbClr val="ED5E9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1511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71511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4178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4178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63506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شُذۡ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9"/>
          </a:solidFill>
          <a:ln w="12700">
            <a:solidFill>
              <a:srgbClr val="52E0B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3"/>
          </a:solidFill>
          <a:ln w="12700">
            <a:solidFill>
              <a:srgbClr val="DB70C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947"/>
          </a:solidFill>
          <a:ln w="12700">
            <a:solidFill>
              <a:srgbClr val="856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791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791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043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8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043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3461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شَرۡ</a:t>
            </a:r>
            <a:endParaRPr lang="ar-SA" sz="9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064D8"/>
          </a:solidFill>
          <a:ln w="12700">
            <a:solidFill>
              <a:srgbClr val="D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147D1"/>
          </a:solidFill>
          <a:ln w="12700">
            <a:solidFill>
              <a:srgbClr val="B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072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60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072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7830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60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7830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340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شِزۡ</a:t>
            </a:r>
            <a:endParaRPr lang="ar-SA" sz="9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121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7121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8381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شُسۡ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264"/>
          </a:solidFill>
          <a:ln w="12700">
            <a:solidFill>
              <a:srgbClr val="2B4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3479"/>
          </a:solidFill>
          <a:ln w="12700">
            <a:solidFill>
              <a:srgbClr val="3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858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858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381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381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7330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أَشۡبَ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63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5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5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223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بِشۡتَ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BED5E"/>
          </a:solidFill>
          <a:ln w="12700">
            <a:solidFill>
              <a:srgbClr val="B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25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1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25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27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27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91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تُشۡثَ</a:t>
            </a:r>
            <a:endParaRPr lang="ar-SA" sz="5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552E0"/>
          </a:solidFill>
          <a:ln w="12700">
            <a:solidFill>
              <a:srgbClr val="9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870"/>
          </a:solidFill>
          <a:ln w="12700">
            <a:solidFill>
              <a:srgbClr val="DBD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A"/>
          </a:solidFill>
          <a:ln w="12700">
            <a:solidFill>
              <a:srgbClr val="4785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27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27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16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1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16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07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ثَشۡجَ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364"/>
          </a:solidFill>
          <a:ln w="12700">
            <a:solidFill>
              <a:srgbClr val="D8B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E47"/>
          </a:solidFill>
          <a:ln w="12700">
            <a:solidFill>
              <a:srgbClr val="D18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31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31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6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6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101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جِشۡحَ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5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35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6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6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101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حُشۡخَ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0"/>
          </a:solidFill>
          <a:ln w="12700">
            <a:solidFill>
              <a:srgbClr val="642B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E"/>
          </a:solidFill>
          <a:ln w="12700">
            <a:solidFill>
              <a:srgbClr val="7934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56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9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9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95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خَشۡدَ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01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01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8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8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859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دِشۡذَ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FED"/>
          </a:solidFill>
          <a:ln w="12700">
            <a:solidFill>
              <a:srgbClr val="5ED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8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1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8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3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33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1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33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77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ذُشۡرَ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252"/>
          </a:solidFill>
          <a:ln w="12700">
            <a:solidFill>
              <a:srgbClr val="E07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E"/>
          </a:solidFill>
          <a:ln w="12700">
            <a:solidFill>
              <a:srgbClr val="70DBB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4785"/>
          </a:solidFill>
          <a:ln w="12700">
            <a:solidFill>
              <a:srgbClr val="4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3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1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33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72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1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72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676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رَشۡزَ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6"/>
          </a:solidFill>
          <a:ln w="12700">
            <a:solidFill>
              <a:srgbClr val="64D89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C"/>
          </a:solidFill>
          <a:ln w="12700">
            <a:solidFill>
              <a:srgbClr val="47D16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1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1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9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9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174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زِشۡسَ</a:t>
            </a:r>
            <a:endParaRPr lang="ar-SA" sz="5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89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489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858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858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1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7651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سُشۡأَ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642B"/>
          </a:solidFill>
          <a:ln w="12700">
            <a:solidFill>
              <a:srgbClr val="5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7934"/>
          </a:solidFill>
          <a:ln w="12700">
            <a:solidFill>
              <a:srgbClr val="5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7801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7801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4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8546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إِشۡ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534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534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4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4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8435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بُشۡ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5EED"/>
          </a:solidFill>
          <a:ln w="12700">
            <a:solidFill>
              <a:srgbClr val="D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039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7039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4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8435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تَشۡ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5E052"/>
          </a:solidFill>
          <a:ln w="12700">
            <a:solidFill>
              <a:srgbClr val="5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70DB"/>
          </a:solidFill>
          <a:ln w="12700">
            <a:solidFill>
              <a:srgbClr val="A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3"/>
          </a:solidFill>
          <a:ln w="12700">
            <a:solidFill>
              <a:srgbClr val="8547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0452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0452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4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4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8435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ثِشۡ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964D8"/>
          </a:solidFill>
          <a:ln w="12700">
            <a:solidFill>
              <a:srgbClr val="7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A47D1"/>
          </a:solidFill>
          <a:ln w="12700">
            <a:solidFill>
              <a:srgbClr val="4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0050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0050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4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4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8150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جُشۡ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7129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7129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8150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حَشۡ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B"/>
          </a:solidFill>
          <a:ln w="12700">
            <a:solidFill>
              <a:srgbClr val="2B64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179"/>
          </a:solidFill>
          <a:ln w="12700">
            <a:solidFill>
              <a:srgbClr val="346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014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014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4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8150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خِشۡ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234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234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4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8435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دُشۡ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45E"/>
          </a:solidFill>
          <a:ln w="12700">
            <a:solidFill>
              <a:srgbClr val="EDB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5327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75327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4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8435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ذَشۡ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9E0"/>
          </a:solidFill>
          <a:ln w="12700">
            <a:solidFill>
              <a:srgbClr val="527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870"/>
          </a:solidFill>
          <a:ln w="12700">
            <a:solidFill>
              <a:srgbClr val="DB8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8547"/>
          </a:solidFill>
          <a:ln w="12700">
            <a:solidFill>
              <a:srgbClr val="6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4713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4713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4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1033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رِشۡ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C"/>
          </a:solidFill>
          <a:ln w="12700">
            <a:solidFill>
              <a:srgbClr val="D8646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7"/>
          </a:solidFill>
          <a:ln w="12700">
            <a:solidFill>
              <a:srgbClr val="D147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843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843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4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8257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زُشۡ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9057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9057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7937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سَشۡ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2B64"/>
          </a:solidFill>
          <a:ln w="12700">
            <a:solidFill>
              <a:srgbClr val="4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2"/>
          </a:solidFill>
          <a:ln w="12700">
            <a:solidFill>
              <a:srgbClr val="793472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7118530" y="896112"/>
            <a:ext cx="155374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A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7118530" y="896112"/>
            <a:ext cx="155374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أَلَمۡ</a:t>
            </a:r>
            <a:endParaRPr lang="ar-SA" sz="3400" dirty="0"/>
          </a:p>
        </p:txBody>
      </p:sp>
      <p:sp>
        <p:nvSpPr>
          <p:cNvPr id="14" name="C2 W2 pill"/>
          <p:cNvSpPr/>
          <p:nvPr/>
        </p:nvSpPr>
        <p:spPr>
          <a:xfrm>
            <a:off x="4499426" y="896112"/>
            <a:ext cx="229906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A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4499426" y="896112"/>
            <a:ext cx="229906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نَشۡرَحۡ</a:t>
            </a:r>
            <a:endParaRPr lang="ar-SA" sz="3400" dirty="0"/>
          </a:p>
        </p:txBody>
      </p:sp>
      <p:sp>
        <p:nvSpPr>
          <p:cNvPr id="16" name="C3 W3 pill"/>
          <p:cNvSpPr/>
          <p:nvPr/>
        </p:nvSpPr>
        <p:spPr>
          <a:xfrm>
            <a:off x="2916633" y="896112"/>
            <a:ext cx="1262753" cy="1371600"/>
          </a:xfrm>
          <a:prstGeom prst="roundRect">
            <a:avLst>
              <a:gd name="adj" fmla="val 28965"/>
            </a:avLst>
          </a:prstGeom>
          <a:solidFill>
            <a:srgbClr val="FFFFFF"/>
          </a:solidFill>
          <a:ln w="76200">
            <a:solidFill>
              <a:srgbClr val="36E2BA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2916633" y="896112"/>
            <a:ext cx="126275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لَكَ</a:t>
            </a:r>
            <a:endParaRPr lang="ar-SA" sz="3400" dirty="0"/>
          </a:p>
        </p:txBody>
      </p:sp>
      <p:sp>
        <p:nvSpPr>
          <p:cNvPr id="18" name="C4 W4 pill"/>
          <p:cNvSpPr/>
          <p:nvPr/>
        </p:nvSpPr>
        <p:spPr>
          <a:xfrm>
            <a:off x="471726" y="896112"/>
            <a:ext cx="21248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A36E2"/>
            </a:solidFill>
            <a:prstDash val="solid"/>
          </a:ln>
        </p:spPr>
      </p:sp>
      <p:sp>
        <p:nvSpPr>
          <p:cNvPr id="19" name="C4 W4 word"/>
          <p:cNvSpPr txBox="1"/>
          <p:nvPr/>
        </p:nvSpPr>
        <p:spPr>
          <a:xfrm>
            <a:off x="471726" y="896112"/>
            <a:ext cx="21248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صَدۡرَكَ</a:t>
            </a:r>
            <a:endParaRPr lang="ar-SA" sz="3400" dirty="0"/>
          </a:p>
        </p:txBody>
      </p:sp>
      <p:sp>
        <p:nvSpPr>
          <p:cNvPr id="20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S panel"/>
          <p:cNvSpPr/>
          <p:nvPr/>
        </p:nvSpPr>
        <p:spPr>
          <a:xfrm>
            <a:off x="1114137" y="2834640"/>
            <a:ext cx="691572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5 S sentence"/>
          <p:cNvSpPr txBox="1"/>
          <p:nvPr/>
        </p:nvSpPr>
        <p:spPr>
          <a:xfrm>
            <a:off x="1114137" y="2834640"/>
            <a:ext cx="691572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أَلَمۡ نَشۡرَحۡ لَكَ صَدۡرَكَ</a:t>
            </a:r>
            <a:endParaRPr lang="ar-SA" sz="4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902088" y="896112"/>
            <a:ext cx="17329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8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902088" y="896112"/>
            <a:ext cx="17329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ٱهۡدِنَا</a:t>
            </a:r>
            <a:endParaRPr lang="ar-SA" sz="4100" dirty="0"/>
          </a:p>
        </p:txBody>
      </p:sp>
      <p:sp>
        <p:nvSpPr>
          <p:cNvPr id="12" name="C2 W2 pill"/>
          <p:cNvSpPr/>
          <p:nvPr/>
        </p:nvSpPr>
        <p:spPr>
          <a:xfrm>
            <a:off x="4325564" y="896112"/>
            <a:ext cx="2256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8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4325564" y="896112"/>
            <a:ext cx="2256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ٱلصِّرَٰطَ</a:t>
            </a:r>
            <a:endParaRPr lang="ar-SA" sz="4100" dirty="0"/>
          </a:p>
        </p:txBody>
      </p:sp>
      <p:sp>
        <p:nvSpPr>
          <p:cNvPr id="14" name="C3 W3 pill"/>
          <p:cNvSpPr/>
          <p:nvPr/>
        </p:nvSpPr>
        <p:spPr>
          <a:xfrm>
            <a:off x="508960" y="896112"/>
            <a:ext cx="34965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8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508960" y="896112"/>
            <a:ext cx="34965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ٱلۡمُسۡتَقِيمَ</a:t>
            </a:r>
            <a:endParaRPr lang="ar-SA" sz="41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946996" y="2834640"/>
            <a:ext cx="72500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946996" y="2834640"/>
            <a:ext cx="72500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ٱهۡدِنَا ٱلصِّرَٰطَ ٱلۡمُسۡتَقِيمَ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1"/>
          </a:solidFill>
          <a:ln w="12700">
            <a:solidFill>
              <a:srgbClr val="5EED9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3505468" y="896112"/>
            <a:ext cx="392319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3505468" y="896112"/>
            <a:ext cx="392319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وَٱسۡتَغۡفِرُوا۟</a:t>
            </a:r>
            <a:endParaRPr lang="ar-SA" sz="4000" dirty="0"/>
          </a:p>
        </p:txBody>
      </p:sp>
      <p:sp>
        <p:nvSpPr>
          <p:cNvPr id="20" name="C2 W2 pill"/>
          <p:cNvSpPr/>
          <p:nvPr/>
        </p:nvSpPr>
        <p:spPr>
          <a:xfrm>
            <a:off x="1715339" y="896112"/>
            <a:ext cx="14700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1715339" y="896112"/>
            <a:ext cx="14700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ٱللَّهَ</a:t>
            </a:r>
            <a:endParaRPr lang="ar-SA" sz="40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108310" y="2834640"/>
            <a:ext cx="49273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108310" y="2834640"/>
            <a:ext cx="49273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وَٱسۡتَغۡفِرُوا۟ ٱللَّهَ</a:t>
            </a:r>
            <a:endParaRPr lang="ar-SA" sz="4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76</Slides>
  <Notes>76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7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Sukun 07-seen-sheen</dc:title>
  <dc:subject>PptxGenJS Presentation</dc:subject>
  <dc:creator>PptxGenJS</dc:creator>
  <cp:lastModifiedBy>PptxGenJS</cp:lastModifiedBy>
  <cp:revision>1</cp:revision>
  <dcterms:created xsi:type="dcterms:W3CDTF">2026-10-21T19:08:31Z</dcterms:created>
  <dcterms:modified xsi:type="dcterms:W3CDTF">2026-10-21T19:08:31Z</dcterms:modified>
</cp:coreProperties>
</file>