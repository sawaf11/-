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مدّ الواو: الواو الساكنة المضموم ما قبلها، نحو «يَقُولُ». نمدّ الصوت بمقدار حركتين (بُ ← بُو). الواو لا تتصل بالحرف الذي بعدها.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9E0"/>
          </a:solidFill>
          <a:ln w="12700">
            <a:solidFill>
              <a:srgbClr val="526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E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470"/>
          </a:solidFill>
          <a:ln w="12700">
            <a:solidFill>
              <a:srgbClr val="DB9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8547"/>
          </a:solidFill>
          <a:ln w="12700">
            <a:solidFill>
              <a:srgbClr val="5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9591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6800" dirty="0"/>
          </a:p>
        </p:txBody>
      </p:sp>
      <p:sp>
        <p:nvSpPr>
          <p:cNvPr id="19" name="C2 V1 vowel"/>
          <p:cNvSpPr txBox="1"/>
          <p:nvPr/>
        </p:nvSpPr>
        <p:spPr>
          <a:xfrm>
            <a:off x="6720840" y="19591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68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M2 madd"/>
          <p:cNvSpPr txBox="1"/>
          <p:nvPr/>
        </p:nvSpPr>
        <p:spPr>
          <a:xfrm>
            <a:off x="4343400" y="13895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7800" dirty="0"/>
          </a:p>
        </p:txBody>
      </p:sp>
      <p:sp>
        <p:nvSpPr>
          <p:cNvPr id="22" name="C4 S2 stretch"/>
          <p:cNvSpPr/>
          <p:nvPr/>
        </p:nvSpPr>
        <p:spPr>
          <a:xfrm>
            <a:off x="4919472" y="136245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5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6 R result"/>
          <p:cNvSpPr txBox="1"/>
          <p:nvPr/>
        </p:nvSpPr>
        <p:spPr>
          <a:xfrm>
            <a:off x="685800" y="172104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</a:t>
            </a:r>
            <a:endParaRPr lang="ar-SA" sz="7100" dirty="0"/>
          </a:p>
        </p:txBody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C5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964"/>
          </a:solidFill>
          <a:ln w="12700">
            <a:solidFill>
              <a:srgbClr val="D86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9"/>
          </a:solidFill>
          <a:ln w="12700">
            <a:solidFill>
              <a:srgbClr val="D14759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3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أُوبَ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9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6 L3 letter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22" name="C7 V3 vowel"/>
          <p:cNvSpPr txBox="1"/>
          <p:nvPr/>
        </p:nvSpPr>
        <p:spPr>
          <a:xfrm>
            <a:off x="370332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793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أُوتَ</a:t>
            </a:r>
            <a:endParaRPr lang="ar-SA" sz="6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D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32B64"/>
          </a:solidFill>
          <a:ln w="12700">
            <a:solidFill>
              <a:srgbClr val="53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B"/>
          </a:solidFill>
          <a:ln w="12700">
            <a:solidFill>
              <a:srgbClr val="79346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0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6 L3 letter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7 V3 vowel"/>
          <p:cNvSpPr txBox="1"/>
          <p:nvPr/>
        </p:nvSpPr>
        <p:spPr>
          <a:xfrm>
            <a:off x="370332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3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أُوثَ</a:t>
            </a:r>
            <a:endParaRPr lang="ar-SA" sz="63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267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أُوجَ</a:t>
            </a:r>
            <a:endParaRPr lang="ar-SA" sz="58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5F7E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0"/>
          </a:solidFill>
          <a:ln w="12700">
            <a:solidFill>
              <a:srgbClr val="5EEDA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6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6 L3 letter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29" name="C7 V3 vowel"/>
          <p:cNvSpPr txBox="1"/>
          <p:nvPr/>
        </p:nvSpPr>
        <p:spPr>
          <a:xfrm>
            <a:off x="370332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7267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أُوحَ</a:t>
            </a:r>
            <a:endParaRPr lang="ar-SA" sz="58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D"/>
          </a:solidFill>
          <a:ln w="12700">
            <a:solidFill>
              <a:srgbClr val="E0528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9"/>
          </a:solidFill>
          <a:ln w="12700">
            <a:solidFill>
              <a:srgbClr val="70DB79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B85"/>
          </a:solidFill>
          <a:ln w="12700">
            <a:solidFill>
              <a:srgbClr val="476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2074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2074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5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M2 madd"/>
          <p:cNvSpPr txBox="1"/>
          <p:nvPr/>
        </p:nvSpPr>
        <p:spPr>
          <a:xfrm>
            <a:off x="548640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3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6 L3 letter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26" name="C7 V3 vowel"/>
          <p:cNvSpPr txBox="1"/>
          <p:nvPr/>
        </p:nvSpPr>
        <p:spPr>
          <a:xfrm>
            <a:off x="370332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72674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أُوخَ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CD864"/>
          </a:solidFill>
          <a:ln w="12700">
            <a:solidFill>
              <a:srgbClr val="7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BD147"/>
          </a:solidFill>
          <a:ln w="12700">
            <a:solidFill>
              <a:srgbClr val="7B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M2 madd"/>
          <p:cNvSpPr txBox="1"/>
          <p:nvPr/>
        </p:nvSpPr>
        <p:spPr>
          <a:xfrm>
            <a:off x="548640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18" name="C4 S2 stretch"/>
          <p:cNvSpPr/>
          <p:nvPr/>
        </p:nvSpPr>
        <p:spPr>
          <a:xfrm>
            <a:off x="585673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5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6 L3 letter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21" name="C7 V3 vowel"/>
          <p:cNvSpPr txBox="1"/>
          <p:nvPr/>
        </p:nvSpPr>
        <p:spPr>
          <a:xfrm>
            <a:off x="370332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793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أُودَ</a:t>
            </a:r>
            <a:endParaRPr lang="ar-SA" sz="6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D6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118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118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9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8A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781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بَأُوتَ</a:t>
            </a:r>
            <a:endParaRPr lang="ar-SA" sz="53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52B"/>
          </a:solidFill>
          <a:ln w="12700">
            <a:solidFill>
              <a:srgbClr val="644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734"/>
          </a:solidFill>
          <a:ln w="12700">
            <a:solidFill>
              <a:srgbClr val="797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6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7" name="C1 L1 letter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100" dirty="0"/>
          </a:p>
        </p:txBody>
      </p:sp>
      <p:sp>
        <p:nvSpPr>
          <p:cNvPr id="18" name="C2 V1 vowel"/>
          <p:cNvSpPr txBox="1"/>
          <p:nvPr/>
        </p:nvSpPr>
        <p:spPr>
          <a:xfrm>
            <a:off x="7589520" y="196775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100" dirty="0"/>
          </a:p>
        </p:txBody>
      </p:sp>
      <p:sp>
        <p:nvSpPr>
          <p:cNvPr id="19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4 L2 letter"/>
          <p:cNvSpPr txBox="1"/>
          <p:nvPr/>
        </p:nvSpPr>
        <p:spPr>
          <a:xfrm>
            <a:off x="6108192" y="2118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1" name="C5 V2 vowel"/>
          <p:cNvSpPr txBox="1"/>
          <p:nvPr/>
        </p:nvSpPr>
        <p:spPr>
          <a:xfrm>
            <a:off x="6108192" y="2118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100" dirty="0"/>
          </a:p>
        </p:txBody>
      </p:sp>
      <p:sp>
        <p:nvSpPr>
          <p:cNvPr id="22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4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9 L4 letter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27" name="C10 V4 vowel"/>
          <p:cNvSpPr txBox="1"/>
          <p:nvPr/>
        </p:nvSpPr>
        <p:spPr>
          <a:xfrm>
            <a:off x="3145536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28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12 R result"/>
          <p:cNvSpPr txBox="1"/>
          <p:nvPr/>
        </p:nvSpPr>
        <p:spPr>
          <a:xfrm>
            <a:off x="384048" y="18781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تَأُوثَ</a:t>
            </a:r>
            <a:endParaRPr lang="ar-SA" sz="53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C5F7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1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9638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1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118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118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1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26A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208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ثَأُوجَ</a:t>
            </a:r>
            <a:endParaRPr lang="ar-SA" sz="4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C5EED"/>
          </a:solidFill>
          <a:ln w="12700">
            <a:solidFill>
              <a:srgbClr val="7C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22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3" name="C1 L1 letter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100" dirty="0"/>
          </a:p>
        </p:txBody>
      </p:sp>
      <p:sp>
        <p:nvSpPr>
          <p:cNvPr id="24" name="C2 V1 vowel"/>
          <p:cNvSpPr txBox="1"/>
          <p:nvPr/>
        </p:nvSpPr>
        <p:spPr>
          <a:xfrm>
            <a:off x="7589520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100" dirty="0"/>
          </a:p>
        </p:txBody>
      </p:sp>
      <p:sp>
        <p:nvSpPr>
          <p:cNvPr id="25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4 L2 letter"/>
          <p:cNvSpPr txBox="1"/>
          <p:nvPr/>
        </p:nvSpPr>
        <p:spPr>
          <a:xfrm>
            <a:off x="6108192" y="2118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7" name="C5 V2 vowel"/>
          <p:cNvSpPr txBox="1"/>
          <p:nvPr/>
        </p:nvSpPr>
        <p:spPr>
          <a:xfrm>
            <a:off x="6108192" y="2118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100" dirty="0"/>
          </a:p>
        </p:txBody>
      </p:sp>
      <p:sp>
        <p:nvSpPr>
          <p:cNvPr id="28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30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7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9 L4 letter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100" dirty="0"/>
          </a:p>
        </p:txBody>
      </p:sp>
      <p:sp>
        <p:nvSpPr>
          <p:cNvPr id="33" name="C10 V4 vowel"/>
          <p:cNvSpPr txBox="1"/>
          <p:nvPr/>
        </p:nvSpPr>
        <p:spPr>
          <a:xfrm>
            <a:off x="3145536" y="1849552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100" dirty="0"/>
          </a:p>
        </p:txBody>
      </p:sp>
      <p:sp>
        <p:nvSpPr>
          <p:cNvPr id="34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5" name="C12 R result"/>
          <p:cNvSpPr txBox="1"/>
          <p:nvPr/>
        </p:nvSpPr>
        <p:spPr>
          <a:xfrm>
            <a:off x="384048" y="18208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جَأُوحَ</a:t>
            </a:r>
            <a:endParaRPr lang="ar-SA" sz="49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1E052"/>
          </a:solidFill>
          <a:ln w="12700">
            <a:solidFill>
              <a:srgbClr val="B1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2DB"/>
          </a:solidFill>
          <a:ln w="12700">
            <a:solidFill>
              <a:srgbClr val="708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A"/>
          </a:solidFill>
          <a:ln w="12700">
            <a:solidFill>
              <a:srgbClr val="8547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9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1 L1 letter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3900" dirty="0"/>
          </a:p>
        </p:txBody>
      </p:sp>
      <p:sp>
        <p:nvSpPr>
          <p:cNvPr id="21" name="C2 V1 vowel"/>
          <p:cNvSpPr txBox="1"/>
          <p:nvPr/>
        </p:nvSpPr>
        <p:spPr>
          <a:xfrm>
            <a:off x="7589520" y="185478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3900" dirty="0"/>
          </a:p>
        </p:txBody>
      </p:sp>
      <p:sp>
        <p:nvSpPr>
          <p:cNvPr id="22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4 L2 letter"/>
          <p:cNvSpPr txBox="1"/>
          <p:nvPr/>
        </p:nvSpPr>
        <p:spPr>
          <a:xfrm>
            <a:off x="6108192" y="21102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24" name="C5 V2 vowel"/>
          <p:cNvSpPr txBox="1"/>
          <p:nvPr/>
        </p:nvSpPr>
        <p:spPr>
          <a:xfrm>
            <a:off x="6108192" y="21102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900" dirty="0"/>
          </a:p>
        </p:txBody>
      </p:sp>
      <p:sp>
        <p:nvSpPr>
          <p:cNvPr id="25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7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4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9" name="C9 L4 letter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30" name="C10 V4 vowel"/>
          <p:cNvSpPr txBox="1"/>
          <p:nvPr/>
        </p:nvSpPr>
        <p:spPr>
          <a:xfrm>
            <a:off x="3145536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31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C12 R result"/>
          <p:cNvSpPr txBox="1"/>
          <p:nvPr/>
        </p:nvSpPr>
        <p:spPr>
          <a:xfrm>
            <a:off x="384048" y="1820836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حَأُوخَ</a:t>
            </a:r>
            <a:endParaRPr lang="ar-SA" sz="49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9D8"/>
          </a:solidFill>
          <a:ln w="12700">
            <a:solidFill>
              <a:srgbClr val="649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DD1"/>
          </a:solidFill>
          <a:ln w="12700">
            <a:solidFill>
              <a:srgbClr val="479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3900" dirty="0"/>
          </a:p>
        </p:txBody>
      </p:sp>
      <p:sp>
        <p:nvSpPr>
          <p:cNvPr id="16" name="C2 V1 vowel"/>
          <p:cNvSpPr txBox="1"/>
          <p:nvPr/>
        </p:nvSpPr>
        <p:spPr>
          <a:xfrm>
            <a:off x="7589520" y="190481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3900" dirty="0"/>
          </a:p>
        </p:txBody>
      </p:sp>
      <p:sp>
        <p:nvSpPr>
          <p:cNvPr id="17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6108192" y="21102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3900" dirty="0"/>
          </a:p>
        </p:txBody>
      </p:sp>
      <p:sp>
        <p:nvSpPr>
          <p:cNvPr id="19" name="C5 V2 vowel"/>
          <p:cNvSpPr txBox="1"/>
          <p:nvPr/>
        </p:nvSpPr>
        <p:spPr>
          <a:xfrm>
            <a:off x="6108192" y="2110224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3900" dirty="0"/>
          </a:p>
        </p:txBody>
      </p:sp>
      <p:sp>
        <p:nvSpPr>
          <p:cNvPr id="20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4626864" y="1782508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500" dirty="0"/>
          </a:p>
        </p:txBody>
      </p:sp>
      <p:sp>
        <p:nvSpPr>
          <p:cNvPr id="22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L4 letter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3900" dirty="0"/>
          </a:p>
        </p:txBody>
      </p:sp>
      <p:sp>
        <p:nvSpPr>
          <p:cNvPr id="25" name="C10 V4 vowel"/>
          <p:cNvSpPr txBox="1"/>
          <p:nvPr/>
        </p:nvSpPr>
        <p:spPr>
          <a:xfrm>
            <a:off x="3145536" y="1959045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9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3900" dirty="0"/>
          </a:p>
        </p:txBody>
      </p:sp>
      <p:sp>
        <p:nvSpPr>
          <p:cNvPr id="26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B89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12 R result"/>
          <p:cNvSpPr txBox="1"/>
          <p:nvPr/>
        </p:nvSpPr>
        <p:spPr>
          <a:xfrm>
            <a:off x="384048" y="1878133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خَأُودَ</a:t>
            </a:r>
            <a:endParaRPr lang="ar-SA" sz="53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589520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6108192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4626864" y="1956816"/>
            <a:ext cx="1207008" cy="1207008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Circle 4"/>
          <p:cNvSpPr/>
          <p:nvPr/>
        </p:nvSpPr>
        <p:spPr>
          <a:xfrm>
            <a:off x="3145536" y="1956816"/>
            <a:ext cx="1207008" cy="1207008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8E5BD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384048" y="1737360"/>
            <a:ext cx="2194560" cy="1645920"/>
          </a:xfrm>
          <a:prstGeom prst="roundRect">
            <a:avLst>
              <a:gd name="adj" fmla="val 16667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100" dirty="0"/>
          </a:p>
        </p:txBody>
      </p:sp>
      <p:sp>
        <p:nvSpPr>
          <p:cNvPr id="17" name="C2 V1 vowel"/>
          <p:cNvSpPr txBox="1"/>
          <p:nvPr/>
        </p:nvSpPr>
        <p:spPr>
          <a:xfrm>
            <a:off x="7589520" y="1959159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100" dirty="0"/>
          </a:p>
        </p:txBody>
      </p:sp>
      <p:sp>
        <p:nvSpPr>
          <p:cNvPr id="18" name="C3 P1 plus"/>
          <p:cNvSpPr/>
          <p:nvPr/>
        </p:nvSpPr>
        <p:spPr>
          <a:xfrm>
            <a:off x="7333488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6108192" y="2118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100" dirty="0"/>
          </a:p>
        </p:txBody>
      </p:sp>
      <p:sp>
        <p:nvSpPr>
          <p:cNvPr id="20" name="C5 V2 vowel"/>
          <p:cNvSpPr txBox="1"/>
          <p:nvPr/>
        </p:nvSpPr>
        <p:spPr>
          <a:xfrm>
            <a:off x="6108192" y="211809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100" dirty="0"/>
          </a:p>
        </p:txBody>
      </p:sp>
      <p:sp>
        <p:nvSpPr>
          <p:cNvPr id="21" name="C6 P2 plus"/>
          <p:cNvSpPr/>
          <p:nvPr/>
        </p:nvSpPr>
        <p:spPr>
          <a:xfrm>
            <a:off x="5852160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4626864" y="1774761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4700" dirty="0"/>
          </a:p>
        </p:txBody>
      </p:sp>
      <p:sp>
        <p:nvSpPr>
          <p:cNvPr id="23" name="C7 S3 stretch"/>
          <p:cNvSpPr/>
          <p:nvPr/>
        </p:nvSpPr>
        <p:spPr>
          <a:xfrm>
            <a:off x="4937760" y="1627632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P3 plus"/>
          <p:cNvSpPr/>
          <p:nvPr/>
        </p:nvSpPr>
        <p:spPr>
          <a:xfrm>
            <a:off x="4370832" y="2441448"/>
            <a:ext cx="237744" cy="237744"/>
          </a:xfrm>
          <a:prstGeom prst="mathPlus">
            <a:avLst/>
          </a:prstGeom>
          <a:solidFill>
            <a:srgbClr val="26D97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L4 letter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100" dirty="0"/>
          </a:p>
        </p:txBody>
      </p:sp>
      <p:sp>
        <p:nvSpPr>
          <p:cNvPr id="26" name="C10 V4 vowel"/>
          <p:cNvSpPr txBox="1"/>
          <p:nvPr/>
        </p:nvSpPr>
        <p:spPr>
          <a:xfrm>
            <a:off x="3145536" y="1878540"/>
            <a:ext cx="1207008" cy="1207008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100" dirty="0"/>
          </a:p>
        </p:txBody>
      </p:sp>
      <p:sp>
        <p:nvSpPr>
          <p:cNvPr id="27" name="C11 A arrow"/>
          <p:cNvSpPr/>
          <p:nvPr/>
        </p:nvSpPr>
        <p:spPr>
          <a:xfrm>
            <a:off x="2651760" y="2304288"/>
            <a:ext cx="420624" cy="512064"/>
          </a:xfrm>
          <a:prstGeom prst="leftArrow">
            <a:avLst/>
          </a:prstGeom>
          <a:solidFill>
            <a:srgbClr val="2EA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2 R result"/>
          <p:cNvSpPr txBox="1"/>
          <p:nvPr/>
        </p:nvSpPr>
        <p:spPr>
          <a:xfrm>
            <a:off x="384048" y="1866392"/>
            <a:ext cx="2194560" cy="16459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دَأُوبَ</a:t>
            </a:r>
            <a:endParaRPr lang="ar-SA" sz="55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7"/>
          </a:solidFill>
          <a:ln w="12700">
            <a:solidFill>
              <a:srgbClr val="2B64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5"/>
          </a:solidFill>
          <a:ln w="12700">
            <a:solidFill>
              <a:srgbClr val="347965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8076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8079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بَأُو</a:t>
            </a:r>
            <a:endParaRPr lang="ar-SA" sz="6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9099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C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79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تَأُو</a:t>
            </a:r>
            <a:endParaRPr lang="ar-SA" sz="6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4"/>
          </a:solidFill>
          <a:ln w="12700">
            <a:solidFill>
              <a:srgbClr val="ED5E6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</a:t>
            </a:r>
            <a:endParaRPr lang="ar-SA" sz="4700" dirty="0"/>
          </a:p>
        </p:txBody>
      </p:sp>
      <p:sp>
        <p:nvSpPr>
          <p:cNvPr id="23" name="C2 V1 vowel"/>
          <p:cNvSpPr txBox="1"/>
          <p:nvPr/>
        </p:nvSpPr>
        <p:spPr>
          <a:xfrm>
            <a:off x="7269480" y="19427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</a:t>
            </a:r>
            <a:endParaRPr lang="ar-SA" sz="4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6" name="C5 V2 vowel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9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0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9 R result"/>
          <p:cNvSpPr txBox="1"/>
          <p:nvPr/>
        </p:nvSpPr>
        <p:spPr>
          <a:xfrm>
            <a:off x="502920" y="18079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ثَأُو</a:t>
            </a:r>
            <a:endParaRPr lang="ar-SA" sz="6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1443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4E0"/>
          </a:solidFill>
          <a:ln w="12700">
            <a:solidFill>
              <a:srgbClr val="52D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7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D"/>
          </a:solidFill>
          <a:ln w="12700">
            <a:solidFill>
              <a:srgbClr val="DB709D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047"/>
          </a:solidFill>
          <a:ln w="12700">
            <a:solidFill>
              <a:srgbClr val="858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</a:t>
            </a:r>
            <a:endParaRPr lang="ar-SA" sz="4700" dirty="0"/>
          </a:p>
        </p:txBody>
      </p:sp>
      <p:sp>
        <p:nvSpPr>
          <p:cNvPr id="20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</a:t>
            </a:r>
            <a:endParaRPr lang="ar-SA" sz="4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3" name="C5 V2 vowel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6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9 R result"/>
          <p:cNvSpPr txBox="1"/>
          <p:nvPr/>
        </p:nvSpPr>
        <p:spPr>
          <a:xfrm>
            <a:off x="502920" y="18079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جَأُو</a:t>
            </a:r>
            <a:endParaRPr lang="ar-SA" sz="61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6"/>
          </a:solidFill>
          <a:ln w="12700">
            <a:solidFill>
              <a:srgbClr val="D864B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C0"/>
          </a:solidFill>
          <a:ln w="12700">
            <a:solidFill>
              <a:srgbClr val="D147C0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</a:t>
            </a:r>
            <a:endParaRPr lang="ar-SA" sz="4700" dirty="0"/>
          </a:p>
        </p:txBody>
      </p:sp>
      <p:sp>
        <p:nvSpPr>
          <p:cNvPr id="15" name="C2 V1 vowel"/>
          <p:cNvSpPr txBox="1"/>
          <p:nvPr/>
        </p:nvSpPr>
        <p:spPr>
          <a:xfrm>
            <a:off x="7269480" y="177441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</a:t>
            </a:r>
            <a:endParaRPr lang="ar-SA" sz="4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18" name="C5 V2 vowel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1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9 R result"/>
          <p:cNvSpPr txBox="1"/>
          <p:nvPr/>
        </p:nvSpPr>
        <p:spPr>
          <a:xfrm>
            <a:off x="502920" y="18079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حَأُو</a:t>
            </a:r>
            <a:endParaRPr lang="ar-SA" sz="61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</a:t>
            </a:r>
            <a:endParaRPr lang="ar-SA" sz="4500" dirty="0"/>
          </a:p>
        </p:txBody>
      </p:sp>
      <p:sp>
        <p:nvSpPr>
          <p:cNvPr id="16" name="C2 V1 vowel"/>
          <p:cNvSpPr txBox="1"/>
          <p:nvPr/>
        </p:nvSpPr>
        <p:spPr>
          <a:xfrm>
            <a:off x="7269480" y="183737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</a:t>
            </a:r>
            <a:endParaRPr lang="ar-SA" sz="45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2074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500" dirty="0"/>
          </a:p>
        </p:txBody>
      </p:sp>
      <p:sp>
        <p:nvSpPr>
          <p:cNvPr id="19" name="C5 V2 vowel"/>
          <p:cNvSpPr txBox="1"/>
          <p:nvPr/>
        </p:nvSpPr>
        <p:spPr>
          <a:xfrm>
            <a:off x="5486400" y="207438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5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M3 madd"/>
          <p:cNvSpPr txBox="1"/>
          <p:nvPr/>
        </p:nvSpPr>
        <p:spPr>
          <a:xfrm>
            <a:off x="3703320" y="169595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200" dirty="0"/>
          </a:p>
        </p:txBody>
      </p:sp>
      <p:sp>
        <p:nvSpPr>
          <p:cNvPr id="22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9 R result"/>
          <p:cNvSpPr txBox="1"/>
          <p:nvPr/>
        </p:nvSpPr>
        <p:spPr>
          <a:xfrm>
            <a:off x="502920" y="180794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خَأُو</a:t>
            </a:r>
            <a:endParaRPr lang="ar-SA" sz="61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D64"/>
          </a:solidFill>
          <a:ln w="12700">
            <a:solidFill>
              <a:srgbClr val="2B2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3479"/>
          </a:solidFill>
          <a:ln w="12700">
            <a:solidFill>
              <a:srgbClr val="5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3A8FD9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F59F00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</a:t>
            </a:r>
            <a:endParaRPr lang="ar-SA" sz="4700" dirty="0"/>
          </a:p>
        </p:txBody>
      </p:sp>
      <p:sp>
        <p:nvSpPr>
          <p:cNvPr id="17" name="C2 V1 vowel"/>
          <p:cNvSpPr txBox="1"/>
          <p:nvPr/>
        </p:nvSpPr>
        <p:spPr>
          <a:xfrm>
            <a:off x="7269480" y="19000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</a:t>
            </a:r>
            <a:endParaRPr lang="ar-SA" sz="4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</a:t>
            </a:r>
            <a:endParaRPr lang="ar-SA" sz="4700" dirty="0"/>
          </a:p>
        </p:txBody>
      </p:sp>
      <p:sp>
        <p:nvSpPr>
          <p:cNvPr id="20" name="C5 V2 vowel"/>
          <p:cNvSpPr txBox="1"/>
          <p:nvPr/>
        </p:nvSpPr>
        <p:spPr>
          <a:xfrm>
            <a:off x="5486400" y="208225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</a:t>
            </a:r>
            <a:endParaRPr lang="ar-SA" sz="4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M3 madd"/>
          <p:cNvSpPr txBox="1"/>
          <p:nvPr/>
        </p:nvSpPr>
        <p:spPr>
          <a:xfrm>
            <a:off x="3703320" y="16882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</a:t>
            </a:r>
            <a:endParaRPr lang="ar-SA" sz="5400" dirty="0"/>
          </a:p>
        </p:txBody>
      </p:sp>
      <p:sp>
        <p:nvSpPr>
          <p:cNvPr id="23" name="C7 S3 stretch"/>
          <p:cNvSpPr/>
          <p:nvPr/>
        </p:nvSpPr>
        <p:spPr>
          <a:xfrm>
            <a:off x="4073652" y="1568196"/>
            <a:ext cx="585216" cy="256032"/>
          </a:xfrm>
          <a:prstGeom prst="leftRightArrow">
            <a:avLst/>
          </a:prstGeom>
          <a:solidFill>
            <a:srgbClr val="F59F0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8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9 R result"/>
          <p:cNvSpPr txBox="1"/>
          <p:nvPr/>
        </p:nvSpPr>
        <p:spPr>
          <a:xfrm>
            <a:off x="502920" y="179372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3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دَأُو</a:t>
            </a:r>
            <a:endParaRPr lang="ar-SA" sz="63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4784306" y="896112"/>
            <a:ext cx="167974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7E36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4784306" y="896112"/>
            <a:ext cx="167974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أُوذِيَ</a:t>
            </a:r>
            <a:endParaRPr lang="ar-SA" sz="3700" dirty="0"/>
          </a:p>
        </p:txBody>
      </p:sp>
      <p:sp>
        <p:nvSpPr>
          <p:cNvPr id="12" name="C2 W2 pill"/>
          <p:cNvSpPr/>
          <p:nvPr/>
        </p:nvSpPr>
        <p:spPr>
          <a:xfrm>
            <a:off x="2679947" y="896112"/>
            <a:ext cx="178431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7E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2679947" y="896112"/>
            <a:ext cx="178431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وَصَبَرَ</a:t>
            </a:r>
            <a:endParaRPr lang="ar-SA" sz="3700" dirty="0"/>
          </a:p>
        </p:txBody>
      </p:sp>
      <p:sp>
        <p:nvSpPr>
          <p:cNvPr id="14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7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C3 S panel"/>
          <p:cNvSpPr/>
          <p:nvPr/>
        </p:nvSpPr>
        <p:spPr>
          <a:xfrm>
            <a:off x="3044952" y="2834640"/>
            <a:ext cx="3054097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3 S sentence"/>
          <p:cNvSpPr txBox="1"/>
          <p:nvPr/>
        </p:nvSpPr>
        <p:spPr>
          <a:xfrm>
            <a:off x="3044952" y="2834640"/>
            <a:ext cx="3054097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أُوذِيَ وَصَبَرَ</a:t>
            </a:r>
            <a:endParaRPr lang="ar-SA" sz="37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8ED5E"/>
          </a:solidFill>
          <a:ln w="12700">
            <a:solidFill>
              <a:srgbClr val="88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1 W1 pill"/>
          <p:cNvSpPr/>
          <p:nvPr/>
        </p:nvSpPr>
        <p:spPr>
          <a:xfrm>
            <a:off x="4686061" y="896112"/>
            <a:ext cx="1625140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B1"/>
            </a:solidFill>
            <a:prstDash val="solid"/>
          </a:ln>
        </p:spPr>
      </p:sp>
      <p:sp>
        <p:nvSpPr>
          <p:cNvPr id="19" name="C1 W1 word"/>
          <p:cNvSpPr txBox="1"/>
          <p:nvPr/>
        </p:nvSpPr>
        <p:spPr>
          <a:xfrm>
            <a:off x="4686061" y="896112"/>
            <a:ext cx="1625140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أُوتِيَ</a:t>
            </a:r>
            <a:endParaRPr lang="ar-SA" sz="3700" dirty="0"/>
          </a:p>
        </p:txBody>
      </p:sp>
      <p:sp>
        <p:nvSpPr>
          <p:cNvPr id="20" name="C2 W2 pill"/>
          <p:cNvSpPr/>
          <p:nvPr/>
        </p:nvSpPr>
        <p:spPr>
          <a:xfrm>
            <a:off x="2832799" y="896112"/>
            <a:ext cx="15332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B136E2"/>
            </a:solidFill>
            <a:prstDash val="solid"/>
          </a:ln>
        </p:spPr>
      </p:sp>
      <p:sp>
        <p:nvSpPr>
          <p:cNvPr id="21" name="C2 W2 word"/>
          <p:cNvSpPr txBox="1"/>
          <p:nvPr/>
        </p:nvSpPr>
        <p:spPr>
          <a:xfrm>
            <a:off x="2832799" y="896112"/>
            <a:ext cx="15332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عِلْمًا</a:t>
            </a:r>
            <a:endParaRPr lang="ar-SA" sz="3700" dirty="0"/>
          </a:p>
        </p:txBody>
      </p:sp>
      <p:sp>
        <p:nvSpPr>
          <p:cNvPr id="22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3 S panel"/>
          <p:cNvSpPr/>
          <p:nvPr/>
        </p:nvSpPr>
        <p:spPr>
          <a:xfrm>
            <a:off x="3193255" y="2834640"/>
            <a:ext cx="2757491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4" name="C3 S sentence"/>
          <p:cNvSpPr txBox="1"/>
          <p:nvPr/>
        </p:nvSpPr>
        <p:spPr>
          <a:xfrm>
            <a:off x="3193255" y="2834640"/>
            <a:ext cx="2757491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أُوتِيَ عِلْمًا</a:t>
            </a:r>
            <a:endParaRPr lang="ar-SA" sz="3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952E0"/>
          </a:solidFill>
          <a:ln w="12700">
            <a:solidFill>
              <a:srgbClr val="C9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7DB70"/>
          </a:solidFill>
          <a:ln w="12700">
            <a:solidFill>
              <a:srgbClr val="B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0"/>
          </a:solidFill>
          <a:ln w="12700">
            <a:solidFill>
              <a:srgbClr val="478570"/>
            </a:solidFill>
            <a:prstDash val="solid"/>
          </a:ln>
        </p:spPr>
      </p:sp>
      <p:sp>
        <p:nvSpPr>
          <p:cNvPr id="15" name="C1 W1 pill"/>
          <p:cNvSpPr/>
          <p:nvPr/>
        </p:nvSpPr>
        <p:spPr>
          <a:xfrm>
            <a:off x="4954865" y="896112"/>
            <a:ext cx="1918813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36E2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4954865" y="896112"/>
            <a:ext cx="1918813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يَأْكُلُونَ</a:t>
            </a:r>
            <a:endParaRPr lang="ar-SA" sz="3500" dirty="0"/>
          </a:p>
        </p:txBody>
      </p:sp>
      <p:sp>
        <p:nvSpPr>
          <p:cNvPr id="17" name="C2 W2 pill"/>
          <p:cNvSpPr/>
          <p:nvPr/>
        </p:nvSpPr>
        <p:spPr>
          <a:xfrm>
            <a:off x="2270323" y="896112"/>
            <a:ext cx="23645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E236"/>
            </a:solidFill>
            <a:prstDash val="solid"/>
          </a:ln>
        </p:spPr>
      </p:sp>
      <p:sp>
        <p:nvSpPr>
          <p:cNvPr id="18" name="C2 W2 word"/>
          <p:cNvSpPr txBox="1"/>
          <p:nvPr/>
        </p:nvSpPr>
        <p:spPr>
          <a:xfrm>
            <a:off x="2270323" y="896112"/>
            <a:ext cx="23645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وَيَشْرَبُونَ</a:t>
            </a:r>
            <a:endParaRPr lang="ar-SA" sz="3500" dirty="0"/>
          </a:p>
        </p:txBody>
      </p:sp>
      <p:sp>
        <p:nvSpPr>
          <p:cNvPr id="19" name="C3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3 S panel"/>
          <p:cNvSpPr/>
          <p:nvPr/>
        </p:nvSpPr>
        <p:spPr>
          <a:xfrm>
            <a:off x="2638830" y="2834640"/>
            <a:ext cx="3866340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3 S sentence"/>
          <p:cNvSpPr txBox="1"/>
          <p:nvPr/>
        </p:nvSpPr>
        <p:spPr>
          <a:xfrm>
            <a:off x="2638830" y="2834640"/>
            <a:ext cx="3866340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500" dirty="0">
                <a:solidFill>
                  <a:srgbClr val="16213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يَأْكُلُونَ وَيَشْرَبُونَ</a:t>
            </a:r>
            <a:endParaRPr lang="ar-SA" sz="35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Madd with waw 01-alif</dc:title>
  <dc:subject>PptxGenJS Presentation</dc:subject>
  <dc:creator>PptxGenJS</dc:creator>
  <cp:lastModifiedBy>PptxGenJS</cp:lastModifiedBy>
  <cp:revision>1</cp:revision>
  <dcterms:created xsi:type="dcterms:W3CDTF">2026-10-21T17:57:53Z</dcterms:created>
  <dcterms:modified xsi:type="dcterms:W3CDTF">2026-10-21T17:57:53Z</dcterms:modified>
</cp:coreProperties>
</file>