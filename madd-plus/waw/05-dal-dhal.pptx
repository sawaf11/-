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notesMasterIdLst>
    <p:notesMasterId r:id="rId5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notesMaster" Target="notesMasters/notesMaster1.xml"/><Relationship Id="rId53" Type="http://schemas.openxmlformats.org/officeDocument/2006/relationships/presProps" Target="presProps.xml"/><Relationship Id="rId54" Type="http://schemas.openxmlformats.org/officeDocument/2006/relationships/viewProps" Target="viewProps.xml"/><Relationship Id="rId55" Type="http://schemas.openxmlformats.org/officeDocument/2006/relationships/theme" Target="theme/theme1.xml"/><Relationship Id="rId5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الواو: الواو الساكنة المضموم ما قبلها، نحو «يَقُولُ». نمدّ الصوت بمقدار حركتين (بُ ← بُو). الواو لا تتصل بالحرف الذي بعدها.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75670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9400" dirty="0"/>
          </a:p>
        </p:txBody>
      </p:sp>
      <p:sp>
        <p:nvSpPr>
          <p:cNvPr id="14" name="C2 V1 vowel"/>
          <p:cNvSpPr txBox="1"/>
          <p:nvPr/>
        </p:nvSpPr>
        <p:spPr>
          <a:xfrm>
            <a:off x="6720840" y="175670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94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M2 madd"/>
          <p:cNvSpPr txBox="1"/>
          <p:nvPr/>
        </p:nvSpPr>
        <p:spPr>
          <a:xfrm>
            <a:off x="4343400" y="1288796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10400" dirty="0"/>
          </a:p>
        </p:txBody>
      </p:sp>
      <p:sp>
        <p:nvSpPr>
          <p:cNvPr id="17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6 R result"/>
          <p:cNvSpPr txBox="1"/>
          <p:nvPr/>
        </p:nvSpPr>
        <p:spPr>
          <a:xfrm>
            <a:off x="685800" y="1478413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دُو</a:t>
            </a:r>
            <a:endParaRPr lang="ar-SA" sz="99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C5E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D4"/>
          </a:solidFill>
          <a:ln w="12700">
            <a:solidFill>
              <a:srgbClr val="5EEDD4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340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3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340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5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61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1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دُوأَ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4314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59"/>
          </a:solidFill>
          <a:ln w="12700">
            <a:solidFill>
              <a:srgbClr val="E05259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BA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A0"/>
          </a:solidFill>
          <a:ln w="12700">
            <a:solidFill>
              <a:srgbClr val="70DBA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585"/>
          </a:solidFill>
          <a:ln w="12700">
            <a:solidFill>
              <a:srgbClr val="4755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340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340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5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61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1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8061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دُوبَ</a:t>
            </a:r>
            <a:endParaRPr lang="ar-SA" sz="85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D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76"/>
          </a:solidFill>
          <a:ln w="12700">
            <a:solidFill>
              <a:srgbClr val="64D876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8D147"/>
          </a:solidFill>
          <a:ln w="12700">
            <a:solidFill>
              <a:srgbClr val="48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347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347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72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8061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دُوتَ</a:t>
            </a:r>
            <a:endParaRPr lang="ar-SA" sz="85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C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3198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0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3198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5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765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0964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دُوثَ</a:t>
            </a:r>
            <a:endParaRPr lang="ar-SA" sz="84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432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A2B"/>
          </a:solidFill>
          <a:ln w="12700">
            <a:solidFill>
              <a:srgbClr val="645A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37934"/>
          </a:solidFill>
          <a:ln w="12700">
            <a:solidFill>
              <a:srgbClr val="63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326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326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2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1169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دُوجَ</a:t>
            </a:r>
            <a:endParaRPr lang="ar-SA" sz="7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5F7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326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326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1169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دُوحَ</a:t>
            </a:r>
            <a:endParaRPr lang="ar-SA" sz="78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15EED"/>
          </a:solidFill>
          <a:ln w="12700">
            <a:solidFill>
              <a:srgbClr val="B1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285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5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285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دُوخَ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3A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CE052"/>
          </a:solidFill>
          <a:ln w="12700">
            <a:solidFill>
              <a:srgbClr val="7C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670DB"/>
          </a:solidFill>
          <a:ln w="12700">
            <a:solidFill>
              <a:srgbClr val="86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4"/>
          </a:solidFill>
          <a:ln w="12700">
            <a:solidFill>
              <a:srgbClr val="854764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886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886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515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3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146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أَدُوبَ</a:t>
            </a:r>
            <a:endParaRPr lang="ar-SA" sz="61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5D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6ED8"/>
          </a:solidFill>
          <a:ln w="12700">
            <a:solidFill>
              <a:srgbClr val="646E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6BD1"/>
          </a:solidFill>
          <a:ln w="12700">
            <a:solidFill>
              <a:srgbClr val="476B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7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886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886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7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515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7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8972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بَدُوتَ</a:t>
            </a:r>
            <a:endParaRPr lang="ar-SA" sz="62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C5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872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872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592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7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1058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تَدُوثَ</a:t>
            </a:r>
            <a:endParaRPr lang="ar-SA" sz="62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43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C"/>
          </a:solidFill>
          <a:ln w="12700">
            <a:solidFill>
              <a:srgbClr val="2B644C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479"/>
          </a:solidFill>
          <a:ln w="12700">
            <a:solidFill>
              <a:srgbClr val="347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C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872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4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872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4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C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592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C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ثَدُوجَ</a:t>
            </a:r>
            <a:endParaRPr lang="ar-SA" sz="61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D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872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872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592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2722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جَدُوحَ</a:t>
            </a:r>
            <a:endParaRPr lang="ar-SA" sz="64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E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8D5E"/>
          </a:solidFill>
          <a:ln w="12700">
            <a:solidFill>
              <a:srgbClr val="ED8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6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83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83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6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82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6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5201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حَدُوخَ</a:t>
            </a:r>
            <a:endParaRPr lang="ar-SA" sz="64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43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A0E0"/>
          </a:solidFill>
          <a:ln w="12700">
            <a:solidFill>
              <a:srgbClr val="52A0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91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75"/>
          </a:solidFill>
          <a:ln w="12700">
            <a:solidFill>
              <a:srgbClr val="DB707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38547"/>
          </a:solidFill>
          <a:ln w="12700">
            <a:solidFill>
              <a:srgbClr val="73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83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83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39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82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20681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9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20681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9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8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146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خَدُوأَ</a:t>
            </a:r>
            <a:endParaRPr lang="ar-SA" sz="61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C5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8B"/>
          </a:solidFill>
          <a:ln w="12700">
            <a:solidFill>
              <a:srgbClr val="D8648B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8D"/>
          </a:solidFill>
          <a:ln w="12700">
            <a:solidFill>
              <a:srgbClr val="D1478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340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3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340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5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61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أَدُو</a:t>
            </a:r>
            <a:endParaRPr lang="ar-SA" sz="7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D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340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3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340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53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61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1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7907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بَدُو</a:t>
            </a:r>
            <a:endParaRPr lang="ar-SA" sz="87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41C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E2B64"/>
          </a:solidFill>
          <a:ln w="12700">
            <a:solidFill>
              <a:srgbClr val="3E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D3479"/>
          </a:solidFill>
          <a:ln w="12700">
            <a:solidFill>
              <a:srgbClr val="6D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347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4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347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5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572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2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075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تَدُو</a:t>
            </a:r>
            <a:endParaRPr lang="ar-SA" sz="8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C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3198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0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3198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5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765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474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ثَدُو</a:t>
            </a:r>
            <a:endParaRPr lang="ar-SA" sz="78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C5F7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69"/>
          </a:solidFill>
          <a:ln w="12700">
            <a:solidFill>
              <a:srgbClr val="5EED69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326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326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5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7907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جَدُو</a:t>
            </a:r>
            <a:endParaRPr lang="ar-SA" sz="87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5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C3"/>
          </a:solidFill>
          <a:ln w="12700">
            <a:solidFill>
              <a:srgbClr val="E052C3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AB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0DB70"/>
          </a:solidFill>
          <a:ln w="12700">
            <a:solidFill>
              <a:srgbClr val="90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285"/>
          </a:solidFill>
          <a:ln w="12700">
            <a:solidFill>
              <a:srgbClr val="4782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326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1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326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5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7907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حَدُو</a:t>
            </a:r>
            <a:endParaRPr lang="ar-SA" sz="87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F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8D864"/>
          </a:solidFill>
          <a:ln w="12700">
            <a:solidFill>
              <a:srgbClr val="A8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FD147"/>
          </a:solidFill>
          <a:ln w="12700">
            <a:solidFill>
              <a:srgbClr val="AF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2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285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5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2852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2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7907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خَدُو</a:t>
            </a:r>
            <a:endParaRPr lang="ar-SA" sz="87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C5E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84962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8000" dirty="0"/>
          </a:p>
        </p:txBody>
      </p:sp>
      <p:sp>
        <p:nvSpPr>
          <p:cNvPr id="15" name="C2 V1 vowel"/>
          <p:cNvSpPr txBox="1"/>
          <p:nvPr/>
        </p:nvSpPr>
        <p:spPr>
          <a:xfrm>
            <a:off x="6720840" y="184962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8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4343400" y="133527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9200" dirty="0"/>
          </a:p>
        </p:txBody>
      </p:sp>
      <p:sp>
        <p:nvSpPr>
          <p:cNvPr id="18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B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R result"/>
          <p:cNvSpPr txBox="1"/>
          <p:nvPr/>
        </p:nvSpPr>
        <p:spPr>
          <a:xfrm>
            <a:off x="685800" y="159820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ذُو</a:t>
            </a:r>
            <a:endParaRPr lang="ar-SA" sz="85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4314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F2B"/>
          </a:solidFill>
          <a:ln w="12700">
            <a:solidFill>
              <a:srgbClr val="642F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C34"/>
          </a:solidFill>
          <a:ln w="12700">
            <a:solidFill>
              <a:srgbClr val="795C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20020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20020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5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61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1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ذُوأَ</a:t>
            </a:r>
            <a:endParaRPr lang="ar-SA" sz="7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C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020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20020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61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8449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ذُوبَ</a:t>
            </a:r>
            <a:endParaRPr lang="ar-SA" sz="75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C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77ED"/>
          </a:solidFill>
          <a:ln w="12700">
            <a:solidFill>
              <a:srgbClr val="5E77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20040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20040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5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572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2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8449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ذُوتَ</a:t>
            </a:r>
            <a:endParaRPr lang="ar-SA" sz="7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4329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DA52"/>
          </a:solidFill>
          <a:ln w="12700">
            <a:solidFill>
              <a:srgbClr val="E0DA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4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ABDB"/>
          </a:solidFill>
          <a:ln w="12700">
            <a:solidFill>
              <a:srgbClr val="70AB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84785"/>
          </a:solidFill>
          <a:ln w="12700">
            <a:solidFill>
              <a:srgbClr val="78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961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0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961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5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765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8449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ذُوثَ</a:t>
            </a:r>
            <a:endParaRPr lang="ar-SA" sz="75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C5F7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C5D8"/>
          </a:solidFill>
          <a:ln w="12700">
            <a:solidFill>
              <a:srgbClr val="64C5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D0"/>
          </a:solidFill>
          <a:ln w="12700">
            <a:solidFill>
              <a:srgbClr val="47D1D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980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980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1612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ذُوجَ</a:t>
            </a:r>
            <a:endParaRPr lang="ar-SA" sz="6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7C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980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980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1612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ذُوحَ</a:t>
            </a:r>
            <a:endParaRPr lang="ar-SA" sz="68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3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5642B"/>
          </a:solidFill>
          <a:ln w="12700">
            <a:solidFill>
              <a:srgbClr val="35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B"/>
          </a:solidFill>
          <a:ln w="12700">
            <a:solidFill>
              <a:srgbClr val="34794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86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86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1612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ذُوخَ</a:t>
            </a:r>
            <a:endParaRPr lang="ar-SA" sz="68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C5D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079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6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20079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494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00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6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00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6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8449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ذُودَ</a:t>
            </a:r>
            <a:endParaRPr lang="ar-SA" sz="75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7C5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9A"/>
          </a:solidFill>
          <a:ln w="12700">
            <a:solidFill>
              <a:srgbClr val="ED5E9A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C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20476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6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20476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4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C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515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3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C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6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8146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أَذُوبَ</a:t>
            </a:r>
            <a:endParaRPr lang="ar-SA" sz="61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443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B6"/>
          </a:solidFill>
          <a:ln w="12700">
            <a:solidFill>
              <a:srgbClr val="52E0B6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DD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C5"/>
          </a:solidFill>
          <a:ln w="12700">
            <a:solidFill>
              <a:srgbClr val="DB70C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847"/>
          </a:solidFill>
          <a:ln w="12700">
            <a:solidFill>
              <a:srgbClr val="8568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20476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20476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4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515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3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6925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بَذُوتَ</a:t>
            </a:r>
            <a:endParaRPr lang="ar-SA" sz="62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D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E64D8"/>
          </a:solidFill>
          <a:ln w="12700">
            <a:solidFill>
              <a:srgbClr val="CE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E47D1"/>
          </a:solidFill>
          <a:ln w="12700">
            <a:solidFill>
              <a:srgbClr val="AE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437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437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592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6925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تَذُوثَ</a:t>
            </a:r>
            <a:endParaRPr lang="ar-SA" sz="62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7E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4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20437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20437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4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592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4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1107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ثَذُوجَ</a:t>
            </a:r>
            <a:endParaRPr lang="ar-SA" sz="6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43F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364"/>
          </a:solidFill>
          <a:ln w="12700">
            <a:solidFill>
              <a:srgbClr val="2B43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A3479"/>
          </a:solidFill>
          <a:ln w="12700">
            <a:solidFill>
              <a:srgbClr val="3A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3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20437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4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204370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44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3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592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3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9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1107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جَذُوحَ</a:t>
            </a:r>
            <a:endParaRPr lang="ar-SA" sz="6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7C5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338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338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82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1107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حَذُوخَ</a:t>
            </a:r>
            <a:endParaRPr lang="ar-SA" sz="60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D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EED5E"/>
          </a:solidFill>
          <a:ln w="12700">
            <a:solidFill>
              <a:srgbClr val="BE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20338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9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20338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825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7130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خَذُودَ</a:t>
            </a:r>
            <a:endParaRPr lang="ar-SA" sz="6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416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352E0"/>
          </a:solidFill>
          <a:ln w="12700">
            <a:solidFill>
              <a:srgbClr val="93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E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D670"/>
          </a:solidFill>
          <a:ln w="12700">
            <a:solidFill>
              <a:srgbClr val="DBD6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9"/>
          </a:solidFill>
          <a:ln w="12700">
            <a:solidFill>
              <a:srgbClr val="478559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594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594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D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20476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20476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4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D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515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3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D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146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دَذُوأَ</a:t>
            </a:r>
            <a:endParaRPr lang="ar-SA" sz="61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7D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B164"/>
          </a:solidFill>
          <a:ln w="12700">
            <a:solidFill>
              <a:srgbClr val="D8B1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8C47"/>
          </a:solidFill>
          <a:ln w="12700">
            <a:solidFill>
              <a:srgbClr val="D18C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20020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3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20020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5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61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أَذُو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C5F7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20020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3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20020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53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61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1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8449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بَذُو</a:t>
            </a:r>
            <a:endParaRPr lang="ar-SA" sz="75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3B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1"/>
          </a:solidFill>
          <a:ln w="12700">
            <a:solidFill>
              <a:srgbClr val="642B51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0"/>
          </a:solidFill>
          <a:ln w="12700">
            <a:solidFill>
              <a:srgbClr val="79344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20040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4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200402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5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572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2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8449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تَذُو</a:t>
            </a:r>
            <a:endParaRPr lang="ar-SA" sz="75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961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0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961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5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765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7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8449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ثَذُو</a:t>
            </a:r>
            <a:endParaRPr lang="ar-SA" sz="75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C5E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2ED"/>
          </a:solidFill>
          <a:ln w="12700">
            <a:solidFill>
              <a:srgbClr val="5EE2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980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980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5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8449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جَذُو</a:t>
            </a:r>
            <a:endParaRPr lang="ar-SA" sz="75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43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6F52"/>
          </a:solidFill>
          <a:ln w="12700">
            <a:solidFill>
              <a:srgbClr val="E06F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4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C"/>
          </a:solidFill>
          <a:ln w="12700">
            <a:solidFill>
              <a:srgbClr val="70DBBC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A4785"/>
          </a:solidFill>
          <a:ln w="12700">
            <a:solidFill>
              <a:srgbClr val="4A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980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1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980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5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688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9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8449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حَذُو</a:t>
            </a:r>
            <a:endParaRPr lang="ar-SA" sz="75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C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94"/>
          </a:solidFill>
          <a:ln w="12700">
            <a:solidFill>
              <a:srgbClr val="64D89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6A"/>
          </a:solidFill>
          <a:ln w="12700">
            <a:solidFill>
              <a:srgbClr val="47D16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86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5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86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959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8449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خَذُو</a:t>
            </a:r>
            <a:endParaRPr lang="ar-SA" sz="7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D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00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00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20079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6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20079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ذُ</a:t>
            </a:r>
            <a:endParaRPr lang="ar-SA" sz="56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494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8449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دَذُو</a:t>
            </a:r>
            <a:endParaRPr lang="ar-SA" sz="75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432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F642B"/>
          </a:solidFill>
          <a:ln w="12700">
            <a:solidFill>
              <a:srgbClr val="5F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17934"/>
          </a:solidFill>
          <a:ln w="12700">
            <a:solidFill>
              <a:srgbClr val="517934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550544" y="896112"/>
            <a:ext cx="193491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B8E236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550544" y="896112"/>
            <a:ext cx="193491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يَعُودُ</a:t>
            </a:r>
            <a:endParaRPr lang="ar-SA" sz="5300" dirty="0"/>
          </a:p>
        </p:txBody>
      </p:sp>
      <p:sp>
        <p:nvSpPr>
          <p:cNvPr id="14" name="C2 W2 pill"/>
          <p:cNvSpPr/>
          <p:nvPr/>
        </p:nvSpPr>
        <p:spPr>
          <a:xfrm>
            <a:off x="2658540" y="896112"/>
            <a:ext cx="157196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B8E2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658540" y="896112"/>
            <a:ext cx="157196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وَلَدٌ</a:t>
            </a:r>
            <a:endParaRPr lang="ar-SA" sz="53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5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974524" y="2834640"/>
            <a:ext cx="319495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974524" y="2834640"/>
            <a:ext cx="319495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يَعُودُ وَلَدٌ</a:t>
            </a:r>
            <a:endParaRPr lang="ar-SA" sz="5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C5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5099074" y="896112"/>
            <a:ext cx="156436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85E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5099074" y="896112"/>
            <a:ext cx="156436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دُودٌ</a:t>
            </a:r>
            <a:endParaRPr lang="ar-SA" sz="4700" dirty="0"/>
          </a:p>
        </p:txBody>
      </p:sp>
      <p:sp>
        <p:nvSpPr>
          <p:cNvPr id="12" name="C2 W2 pill"/>
          <p:cNvSpPr/>
          <p:nvPr/>
        </p:nvSpPr>
        <p:spPr>
          <a:xfrm>
            <a:off x="2480566" y="896112"/>
            <a:ext cx="229846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85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480566" y="896112"/>
            <a:ext cx="229846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وَنَمۡلٌ</a:t>
            </a:r>
            <a:endParaRPr lang="ar-SA" sz="47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7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839562" y="2834640"/>
            <a:ext cx="346487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839562" y="2834640"/>
            <a:ext cx="346487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دُودٌ وَنَمۡلٌ</a:t>
            </a:r>
            <a:endParaRPr lang="ar-SA" sz="47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7C5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55EED"/>
          </a:solidFill>
          <a:ln w="12700">
            <a:solidFill>
              <a:srgbClr val="D5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705471" y="896112"/>
            <a:ext cx="198856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53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705471" y="896112"/>
            <a:ext cx="198856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يَذُوقُ</a:t>
            </a:r>
            <a:endParaRPr lang="ar-SA" sz="4700" dirty="0"/>
          </a:p>
        </p:txBody>
      </p:sp>
      <p:sp>
        <p:nvSpPr>
          <p:cNvPr id="20" name="C2 W2 pill"/>
          <p:cNvSpPr/>
          <p:nvPr/>
        </p:nvSpPr>
        <p:spPr>
          <a:xfrm>
            <a:off x="2449963" y="896112"/>
            <a:ext cx="193546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53E236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449963" y="896112"/>
            <a:ext cx="193546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عَسَلًا</a:t>
            </a:r>
            <a:endParaRPr lang="ar-SA" sz="47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788784" y="2834640"/>
            <a:ext cx="356643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788784" y="2834640"/>
            <a:ext cx="356643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يَذُوقُ عَسَلًا</a:t>
            </a:r>
            <a:endParaRPr lang="ar-SA" sz="47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50</Slides>
  <Notes>50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50</vt:i4>
      </vt:variant>
    </vt:vector>
  </HeadingPairs>
  <TitlesOfParts>
    <vt:vector size="5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Madd with waw 05-dal-dhal</dc:title>
  <dc:subject>PptxGenJS Presentation</dc:subject>
  <dc:creator>PptxGenJS</dc:creator>
  <cp:lastModifiedBy>PptxGenJS</cp:lastModifiedBy>
  <cp:revision>1</cp:revision>
  <dcterms:created xsi:type="dcterms:W3CDTF">2026-10-21T18:02:10Z</dcterms:created>
  <dcterms:modified xsi:type="dcterms:W3CDTF">2026-10-21T18:02:10Z</dcterms:modified>
</cp:coreProperties>
</file>