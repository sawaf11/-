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الألف الخنجرية (الألف الصغيرة): تُلفظ ولا تُكتب ألفاً كبيرة، ولها حكم الألف الكبيرة نفسه: نمدّ بمقدار حركتين، نحو «هٰذَا» (هَاذَا) و«الرَّحۡمٰنِ» (الرَّحۡمَانِ). كُتبت صغيرة بجانب الحرف.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EED5E"/>
          </a:solidFill>
          <a:ln w="12700">
            <a:solidFill>
              <a:srgbClr val="C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7800" dirty="0"/>
          </a:p>
        </p:txBody>
      </p:sp>
      <p:sp>
        <p:nvSpPr>
          <p:cNvPr id="22" name="C2 V1 vowel"/>
          <p:cNvSpPr txBox="1"/>
          <p:nvPr/>
        </p:nvSpPr>
        <p:spPr>
          <a:xfrm>
            <a:off x="6720840" y="1611897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M2 madd"/>
          <p:cNvSpPr txBox="1"/>
          <p:nvPr/>
        </p:nvSpPr>
        <p:spPr>
          <a:xfrm>
            <a:off x="4343400" y="17152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200" dirty="0"/>
          </a:p>
        </p:txBody>
      </p:sp>
      <p:sp>
        <p:nvSpPr>
          <p:cNvPr id="25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6 R result"/>
          <p:cNvSpPr txBox="1"/>
          <p:nvPr/>
        </p:nvSpPr>
        <p:spPr>
          <a:xfrm>
            <a:off x="685800" y="168021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11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252E0"/>
          </a:solidFill>
          <a:ln w="12700">
            <a:solidFill>
              <a:srgbClr val="8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2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A70"/>
          </a:solidFill>
          <a:ln w="12700">
            <a:solidFill>
              <a:srgbClr val="DBC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2"/>
          </a:solidFill>
          <a:ln w="12700">
            <a:solidFill>
              <a:srgbClr val="47855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9086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7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464"/>
          </a:solidFill>
          <a:ln w="12700">
            <a:solidFill>
              <a:srgbClr val="D8A4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C47"/>
          </a:solidFill>
          <a:ln w="12700">
            <a:solidFill>
              <a:srgbClr val="D17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3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3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8"/>
          </a:solidFill>
          <a:ln w="12700">
            <a:solidFill>
              <a:srgbClr val="642B5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8"/>
          </a:solidFill>
          <a:ln w="12700">
            <a:solidFill>
              <a:srgbClr val="79344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9"/>
          </a:solidFill>
          <a:ln w="12700">
            <a:solidFill>
              <a:srgbClr val="5EEDE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4314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F52"/>
          </a:solidFill>
          <a:ln w="12700">
            <a:solidFill>
              <a:srgbClr val="E05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9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0"/>
          </a:solidFill>
          <a:ln w="12700">
            <a:solidFill>
              <a:srgbClr val="70DBB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C85"/>
          </a:solidFill>
          <a:ln w="12700">
            <a:solidFill>
              <a:srgbClr val="474C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C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7"/>
          </a:solidFill>
          <a:ln w="12700">
            <a:solidFill>
              <a:srgbClr val="64D88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A"/>
          </a:solidFill>
          <a:ln w="12700">
            <a:solidFill>
              <a:srgbClr val="47D15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32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22B"/>
          </a:solidFill>
          <a:ln w="12700">
            <a:solidFill>
              <a:srgbClr val="646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97934"/>
          </a:solidFill>
          <a:ln w="12700">
            <a:solidFill>
              <a:srgbClr val="5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55EED"/>
          </a:solidFill>
          <a:ln w="12700">
            <a:solidFill>
              <a:srgbClr val="C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3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8E052"/>
          </a:solidFill>
          <a:ln w="12700">
            <a:solidFill>
              <a:srgbClr val="6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570DB"/>
          </a:solidFill>
          <a:ln w="12700">
            <a:solidFill>
              <a:srgbClr val="95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B"/>
          </a:solidFill>
          <a:ln w="12700">
            <a:solidFill>
              <a:srgbClr val="85475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D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A64D8"/>
          </a:solidFill>
          <a:ln w="12700">
            <a:solidFill>
              <a:srgbClr val="6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7D1"/>
          </a:solidFill>
          <a:ln w="12700">
            <a:solidFill>
              <a:srgbClr val="475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43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4"/>
          </a:solidFill>
          <a:ln w="12700">
            <a:solidFill>
              <a:srgbClr val="2B645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A79"/>
          </a:solidFill>
          <a:ln w="12700">
            <a:solidFill>
              <a:srgbClr val="346A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57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A15E"/>
          </a:solidFill>
          <a:ln w="12700">
            <a:solidFill>
              <a:srgbClr val="EDA1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43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8CE0"/>
          </a:solidFill>
          <a:ln w="12700">
            <a:solidFill>
              <a:srgbClr val="528C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6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A70"/>
          </a:solidFill>
          <a:ln w="12700">
            <a:solidFill>
              <a:srgbClr val="DB7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A8547"/>
          </a:solidFill>
          <a:ln w="12700">
            <a:solidFill>
              <a:srgbClr val="6A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7B"/>
          </a:solidFill>
          <a:ln w="12700">
            <a:solidFill>
              <a:srgbClr val="D8647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7A"/>
          </a:solidFill>
          <a:ln w="12700">
            <a:solidFill>
              <a:srgbClr val="D1477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2593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99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41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62B64"/>
          </a:solidFill>
          <a:ln w="12700">
            <a:solidFill>
              <a:srgbClr val="4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73479"/>
          </a:solidFill>
          <a:ln w="12700">
            <a:solidFill>
              <a:srgbClr val="7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D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F7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E"/>
          </a:solidFill>
          <a:ln w="12700">
            <a:solidFill>
              <a:srgbClr val="5EED7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5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3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AF"/>
          </a:solidFill>
          <a:ln w="12700">
            <a:solidFill>
              <a:srgbClr val="E052A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9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1DB70"/>
          </a:solidFill>
          <a:ln w="12700">
            <a:solidFill>
              <a:srgbClr val="8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A85"/>
          </a:solidFill>
          <a:ln w="12700">
            <a:solidFill>
              <a:srgbClr val="477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8D864"/>
          </a:solidFill>
          <a:ln w="12700">
            <a:solidFill>
              <a:srgbClr val="9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CD147"/>
          </a:solidFill>
          <a:ln w="12700">
            <a:solidFill>
              <a:srgbClr val="9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96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051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4314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72B"/>
          </a:solidFill>
          <a:ln w="12700">
            <a:solidFill>
              <a:srgbClr val="643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634"/>
          </a:solidFill>
          <a:ln w="12700">
            <a:solidFill>
              <a:srgbClr val="796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C5F7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183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3ED"/>
          </a:solidFill>
          <a:ln w="12700">
            <a:solidFill>
              <a:srgbClr val="5E63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433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3E052"/>
          </a:solidFill>
          <a:ln w="12700">
            <a:solidFill>
              <a:srgbClr val="D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5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9BDB"/>
          </a:solidFill>
          <a:ln w="12700">
            <a:solidFill>
              <a:srgbClr val="709B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04785"/>
          </a:solidFill>
          <a:ln w="12700">
            <a:solidFill>
              <a:srgbClr val="80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69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372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5D8"/>
          </a:solidFill>
          <a:ln w="12700">
            <a:solidFill>
              <a:srgbClr val="64B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BED1"/>
          </a:solidFill>
          <a:ln w="12700">
            <a:solidFill>
              <a:srgbClr val="47BE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50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5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دَنَـ</a:t>
            </a:r>
            <a:r>
              <a:rPr lang="ar-SA" altLang="en-US" sz="8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97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592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2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642B"/>
          </a:solidFill>
          <a:ln w="12700">
            <a:solidFill>
              <a:srgbClr val="2C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5"/>
          </a:solidFill>
          <a:ln w="12700">
            <a:solidFill>
              <a:srgbClr val="34795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D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4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زَنَـ</a:t>
            </a: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6"/>
          </a:solidFill>
          <a:ln w="12700">
            <a:solidFill>
              <a:srgbClr val="ED5E8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2570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سَنَـ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1443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A"/>
          </a:solidFill>
          <a:ln w="12700">
            <a:solidFill>
              <a:srgbClr val="52E0CA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CF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6"/>
          </a:solidFill>
          <a:ln w="12700">
            <a:solidFill>
              <a:srgbClr val="DB70B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147"/>
          </a:solidFill>
          <a:ln w="12700">
            <a:solidFill>
              <a:srgbClr val="857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200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61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شَنَـ</a:t>
            </a:r>
            <a:r>
              <a:rPr lang="ar-SA" altLang="en-US" sz="5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D2"/>
          </a:solidFill>
          <a:ln w="12700">
            <a:solidFill>
              <a:srgbClr val="D864D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247D1"/>
          </a:solidFill>
          <a:ln w="12700">
            <a:solidFill>
              <a:srgbClr val="C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1831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صَنَـ</a:t>
            </a:r>
            <a:r>
              <a:rPr lang="ar-SA" altLang="en-US" sz="5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5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2103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3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1859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1439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B64"/>
          </a:solidFill>
          <a:ln w="12700">
            <a:solidFill>
              <a:srgbClr val="2B3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33479"/>
          </a:solidFill>
          <a:ln w="12700">
            <a:solidFill>
              <a:srgbClr val="4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A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8212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7C5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ظَنَـ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AED5E"/>
          </a:solidFill>
          <a:ln w="12700">
            <a:solidFill>
              <a:srgbClr val="AA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7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18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752E0"/>
          </a:solidFill>
          <a:ln w="12700">
            <a:solidFill>
              <a:srgbClr val="A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8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1DB70"/>
          </a:solidFill>
          <a:ln w="12700">
            <a:solidFill>
              <a:srgbClr val="D1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2"/>
          </a:solidFill>
          <a:ln w="12700">
            <a:solidFill>
              <a:srgbClr val="478562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9189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0463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D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264"/>
          </a:solidFill>
          <a:ln w="12700">
            <a:solidFill>
              <a:srgbClr val="D8C2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F47"/>
          </a:solidFill>
          <a:ln w="12700">
            <a:solidFill>
              <a:srgbClr val="D19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38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فَنَـ</a:t>
            </a: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91285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85093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4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9"/>
          </a:solidFill>
          <a:ln w="12700">
            <a:solidFill>
              <a:srgbClr val="642B49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6"/>
          </a:solidFill>
          <a:ln w="12700">
            <a:solidFill>
              <a:srgbClr val="79343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كَنَـ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E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9149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DED"/>
          </a:solidFill>
          <a:ln w="12700">
            <a:solidFill>
              <a:srgbClr val="5ECD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2653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90978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93956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مَنَـ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4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352"/>
          </a:solidFill>
          <a:ln w="12700">
            <a:solidFill>
              <a:srgbClr val="E083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3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B"/>
          </a:solidFill>
          <a:ln w="12700">
            <a:solidFill>
              <a:srgbClr val="70DBC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34785"/>
          </a:solidFill>
          <a:ln w="12700">
            <a:solidFill>
              <a:srgbClr val="53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8747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أَنَـ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2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C5F7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5"/>
          </a:solidFill>
          <a:ln w="12700">
            <a:solidFill>
              <a:srgbClr val="64D8A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D"/>
          </a:solidFill>
          <a:ln w="12700">
            <a:solidFill>
              <a:srgbClr val="47D17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3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426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بَنَـ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D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433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7642B"/>
          </a:solidFill>
          <a:ln w="12700">
            <a:solidFill>
              <a:srgbClr val="5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77934"/>
          </a:solidFill>
          <a:ln w="12700">
            <a:solidFill>
              <a:srgbClr val="4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626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8047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702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جَنَـ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95EED"/>
          </a:solidFill>
          <a:ln w="12700">
            <a:solidFill>
              <a:srgbClr val="E9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52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27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0"/>
          </a:solidFill>
          <a:ln w="12700">
            <a:solidFill>
              <a:srgbClr val="52E06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070DB"/>
          </a:solidFill>
          <a:ln w="12700">
            <a:solidFill>
              <a:srgbClr val="B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C"/>
          </a:solidFill>
          <a:ln w="12700">
            <a:solidFill>
              <a:srgbClr val="85474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5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13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C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864D8"/>
          </a:solidFill>
          <a:ln w="12700">
            <a:solidFill>
              <a:srgbClr val="8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B47D1"/>
          </a:solidFill>
          <a:ln w="12700">
            <a:solidFill>
              <a:srgbClr val="5B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04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C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97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665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1443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62"/>
          </a:solidFill>
          <a:ln w="12700">
            <a:solidFill>
              <a:srgbClr val="2B646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879"/>
          </a:solidFill>
          <a:ln w="12700">
            <a:solidFill>
              <a:srgbClr val="3458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525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رَنَـ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زَنَـ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65E"/>
          </a:solidFill>
          <a:ln w="12700">
            <a:solidFill>
              <a:srgbClr val="EDC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143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7E0"/>
          </a:solidFill>
          <a:ln w="12700">
            <a:solidFill>
              <a:srgbClr val="5267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670"/>
          </a:solidFill>
          <a:ln w="12700">
            <a:solidFill>
              <a:srgbClr val="DB96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B8547"/>
          </a:solidFill>
          <a:ln w="12700">
            <a:solidFill>
              <a:srgbClr val="5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6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5793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7C5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B64"/>
          </a:solidFill>
          <a:ln w="12700">
            <a:solidFill>
              <a:srgbClr val="D86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6"/>
          </a:solidFill>
          <a:ln w="12700">
            <a:solidFill>
              <a:srgbClr val="D1475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5239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554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4307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1E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42B64"/>
          </a:solidFill>
          <a:ln w="12700">
            <a:solidFill>
              <a:srgbClr val="54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A"/>
          </a:solidFill>
          <a:ln w="12700">
            <a:solidFill>
              <a:srgbClr val="79346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D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42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149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F7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2"/>
          </a:solidFill>
          <a:ln w="12700">
            <a:solidFill>
              <a:srgbClr val="5EEDA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4314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B"/>
          </a:solidFill>
          <a:ln w="12700">
            <a:solidFill>
              <a:srgbClr val="E0528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B"/>
          </a:solidFill>
          <a:ln w="12700">
            <a:solidFill>
              <a:srgbClr val="70DB7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A85"/>
          </a:solidFill>
          <a:ln w="12700">
            <a:solidFill>
              <a:srgbClr val="476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3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853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76193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E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AD864"/>
          </a:solidFill>
          <a:ln w="12700">
            <a:solidFill>
              <a:srgbClr val="7A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9D147"/>
          </a:solidFill>
          <a:ln w="12700">
            <a:solidFill>
              <a:srgbClr val="79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8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83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8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C5D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84728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9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79736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4314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62B"/>
          </a:solidFill>
          <a:ln w="12700">
            <a:solidFill>
              <a:srgbClr val="6446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834"/>
          </a:solidFill>
          <a:ln w="12700">
            <a:solidFill>
              <a:srgbClr val="7978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74879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C5F7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8493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80365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F5EED"/>
          </a:solidFill>
          <a:ln w="12700">
            <a:solidFill>
              <a:srgbClr val="7F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37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مَنَـ</a:t>
            </a:r>
            <a:r>
              <a:rPr lang="ar-SA" altLang="en-US" sz="9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433C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EE052"/>
          </a:solidFill>
          <a:ln w="12700">
            <a:solidFill>
              <a:srgbClr val="AE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B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0DB"/>
          </a:solidFill>
          <a:ln w="12700">
            <a:solidFill>
              <a:srgbClr val="708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9"/>
          </a:solidFill>
          <a:ln w="12700">
            <a:solidFill>
              <a:srgbClr val="85477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9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374734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7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715643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63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55136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9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9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C5F0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7D8"/>
          </a:solidFill>
          <a:ln w="12700">
            <a:solidFill>
              <a:srgbClr val="649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BD1"/>
          </a:solidFill>
          <a:ln w="12700">
            <a:solidFill>
              <a:srgbClr val="479B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807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5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33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8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21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8"/>
          </a:solidFill>
          <a:ln w="12700">
            <a:solidFill>
              <a:srgbClr val="2B64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6"/>
          </a:solidFill>
          <a:ln w="12700">
            <a:solidFill>
              <a:srgbClr val="34796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C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8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D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2"/>
          </a:solidFill>
          <a:ln w="12700">
            <a:solidFill>
              <a:srgbClr val="ED5E62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7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144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2E0"/>
          </a:solidFill>
          <a:ln w="12700">
            <a:solidFill>
              <a:srgbClr val="52D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B"/>
          </a:solidFill>
          <a:ln w="12700">
            <a:solidFill>
              <a:srgbClr val="DB709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147"/>
          </a:solidFill>
          <a:ln w="12700">
            <a:solidFill>
              <a:srgbClr val="8581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75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4"/>
          </a:solidFill>
          <a:ln w="12700">
            <a:solidFill>
              <a:srgbClr val="D864B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D"/>
          </a:solidFill>
          <a:ln w="12700">
            <a:solidFill>
              <a:srgbClr val="D147B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7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142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2C64"/>
          </a:solidFill>
          <a:ln w="12700">
            <a:solidFill>
              <a:srgbClr val="2B2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53479"/>
          </a:solidFill>
          <a:ln w="12700">
            <a:solidFill>
              <a:srgbClr val="55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7C5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5ED5E"/>
          </a:solidFill>
          <a:ln w="12700">
            <a:solidFill>
              <a:srgbClr val="85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24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B52E0"/>
          </a:solidFill>
          <a:ln w="12700">
            <a:solidFill>
              <a:srgbClr val="CB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5DB70"/>
          </a:solidFill>
          <a:ln w="12700">
            <a:solidFill>
              <a:srgbClr val="B5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1"/>
          </a:solidFill>
          <a:ln w="12700">
            <a:solidFill>
              <a:srgbClr val="47857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8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7E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1D864"/>
          </a:solidFill>
          <a:ln w="12700">
            <a:solidFill>
              <a:srgbClr val="D1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347"/>
          </a:solidFill>
          <a:ln w="12700">
            <a:solidFill>
              <a:srgbClr val="D1C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282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8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4314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A"/>
          </a:solidFill>
          <a:ln w="12700">
            <a:solidFill>
              <a:srgbClr val="642B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434"/>
          </a:solidFill>
          <a:ln w="12700">
            <a:solidFill>
              <a:srgbClr val="7944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D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8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9ED"/>
          </a:solidFill>
          <a:ln w="12700">
            <a:solidFill>
              <a:srgbClr val="5EA9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8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431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852"/>
          </a:solidFill>
          <a:ln w="12700">
            <a:solidFill>
              <a:srgbClr val="E0A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0DB"/>
          </a:solidFill>
          <a:ln w="12700">
            <a:solidFill>
              <a:srgbClr val="70D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24785"/>
          </a:solidFill>
          <a:ln w="12700">
            <a:solidFill>
              <a:srgbClr val="6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C5F7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2"/>
          </a:solidFill>
          <a:ln w="12700">
            <a:solidFill>
              <a:srgbClr val="64D8C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0"/>
          </a:solidFill>
          <a:ln w="12700">
            <a:solidFill>
              <a:srgbClr val="47D1A0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E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4342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9642B"/>
          </a:solidFill>
          <a:ln w="12700">
            <a:solidFill>
              <a:srgbClr val="49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57934"/>
          </a:solidFill>
          <a:ln w="12700">
            <a:solidFill>
              <a:srgbClr val="3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2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9962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8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C5E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5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C"/>
          </a:solidFill>
          <a:ln w="12700">
            <a:solidFill>
              <a:srgbClr val="ED5E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672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7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78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1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4"/>
          </a:solidFill>
          <a:ln w="12700">
            <a:solidFill>
              <a:srgbClr val="52E08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C70DB"/>
          </a:solidFill>
          <a:ln w="12700">
            <a:solidFill>
              <a:srgbClr val="C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347"/>
          </a:solidFill>
          <a:ln w="12700">
            <a:solidFill>
              <a:srgbClr val="855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7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C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564D8"/>
          </a:solidFill>
          <a:ln w="12700">
            <a:solidFill>
              <a:srgbClr val="A5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E47D1"/>
          </a:solidFill>
          <a:ln w="12700">
            <a:solidFill>
              <a:srgbClr val="7E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1443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764"/>
          </a:solidFill>
          <a:ln w="12700">
            <a:solidFill>
              <a:srgbClr val="2B57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779"/>
          </a:solidFill>
          <a:ln w="12700">
            <a:solidFill>
              <a:srgbClr val="3447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7C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4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أَيَـ</a:t>
            </a:r>
            <a:r>
              <a:rPr lang="ar-SA" altLang="en-US" sz="6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E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EA5E"/>
          </a:solidFill>
          <a:ln w="12700">
            <a:solidFill>
              <a:srgbClr val="EDEA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6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689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6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6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690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6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074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142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152E0"/>
          </a:solidFill>
          <a:ln w="12700">
            <a:solidFill>
              <a:srgbClr val="6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170"/>
          </a:solidFill>
          <a:ln w="12700">
            <a:solidFill>
              <a:srgbClr val="DBB1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B8547"/>
          </a:solidFill>
          <a:ln w="12700">
            <a:solidFill>
              <a:srgbClr val="4B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4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685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4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9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3510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7C5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864"/>
          </a:solidFill>
          <a:ln w="12700">
            <a:solidFill>
              <a:srgbClr val="D88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C47"/>
          </a:solidFill>
          <a:ln w="12700">
            <a:solidFill>
              <a:srgbClr val="D15C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9928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6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4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031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701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4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17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4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6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2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32B64"/>
          </a:solidFill>
          <a:ln w="12700">
            <a:solidFill>
              <a:srgbClr val="6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8"/>
          </a:solidFill>
          <a:ln w="12700">
            <a:solidFill>
              <a:srgbClr val="79345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8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7E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9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036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9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62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1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4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6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7"/>
          </a:solidFill>
          <a:ln w="12700">
            <a:solidFill>
              <a:srgbClr val="5EED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95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3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9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540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4314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6"/>
          </a:solidFill>
          <a:ln w="12700">
            <a:solidFill>
              <a:srgbClr val="E0526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6"/>
          </a:solidFill>
          <a:ln w="12700">
            <a:solidFill>
              <a:srgbClr val="70DB96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A85"/>
          </a:solidFill>
          <a:ln w="12700">
            <a:solidFill>
              <a:srgbClr val="475A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8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2112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8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8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571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8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28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ذَيَـ</a:t>
            </a:r>
            <a:r>
              <a:rPr lang="ar-SA" altLang="en-US" sz="7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D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6B"/>
          </a:solidFill>
          <a:ln w="12700">
            <a:solidFill>
              <a:srgbClr val="64D86B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5D147"/>
          </a:solidFill>
          <a:ln w="12700">
            <a:solidFill>
              <a:srgbClr val="5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129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20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7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67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1450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زَيَـ</a:t>
            </a: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431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52B"/>
          </a:solidFill>
          <a:ln w="12700">
            <a:solidFill>
              <a:srgbClr val="6455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97934"/>
          </a:solidFill>
          <a:ln w="12700">
            <a:solidFill>
              <a:srgbClr val="6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6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77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6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A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2591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سَيَـ</a:t>
            </a:r>
            <a:r>
              <a:rPr lang="ar-SA" altLang="en-US" sz="5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5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C5F7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4904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3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1240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786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9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8732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34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شَيَـ</a:t>
            </a:r>
            <a:r>
              <a:rPr lang="ar-SA" altLang="en-US" sz="5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5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35EED"/>
          </a:solidFill>
          <a:ln w="12700">
            <a:solidFill>
              <a:srgbClr val="A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5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892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35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186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صَيَـ</a:t>
            </a:r>
            <a:r>
              <a:rPr lang="ar-SA" altLang="en-US" sz="4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9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3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AE052"/>
          </a:solidFill>
          <a:ln w="12700">
            <a:solidFill>
              <a:srgbClr val="8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C70DB"/>
          </a:solidFill>
          <a:ln w="12700">
            <a:solidFill>
              <a:srgbClr val="7C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A"/>
          </a:solidFill>
          <a:ln w="12700">
            <a:solidFill>
              <a:srgbClr val="85476A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5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341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35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5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16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5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74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2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28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5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34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35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5059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ضَيَـ</a:t>
            </a:r>
            <a:r>
              <a:rPr lang="ar-SA" altLang="en-US" sz="6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C5E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9D8"/>
          </a:solidFill>
          <a:ln w="12700">
            <a:solidFill>
              <a:srgbClr val="6479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8D1"/>
          </a:solidFill>
          <a:ln w="12700">
            <a:solidFill>
              <a:srgbClr val="4778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6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46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6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80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6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125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طَيَـ</a:t>
            </a:r>
            <a:r>
              <a:rPr lang="ar-SA" altLang="en-US" sz="6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2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A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2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90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2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6816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ظَيَـ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6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6"/>
          </a:solidFill>
          <a:ln w="12700">
            <a:solidFill>
              <a:srgbClr val="2B644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8"/>
          </a:solidFill>
          <a:ln w="12700">
            <a:solidFill>
              <a:srgbClr val="347978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95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5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5068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عَيَـ</a:t>
            </a:r>
            <a:r>
              <a:rPr lang="ar-SA" altLang="en-US" sz="6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65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D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69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083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82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0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0968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67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غَيَـ</a:t>
            </a:r>
            <a:r>
              <a:rPr lang="ar-SA" altLang="en-US" sz="6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6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805E"/>
          </a:solidFill>
          <a:ln w="12700">
            <a:solidFill>
              <a:srgbClr val="ED8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2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168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2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2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883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2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2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488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2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35233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فَيَـ</a:t>
            </a:r>
            <a:r>
              <a:rPr lang="ar-SA" altLang="en-US" sz="6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6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1443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ADE0"/>
          </a:solidFill>
          <a:ln w="12700">
            <a:solidFill>
              <a:srgbClr val="52A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9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7F"/>
          </a:solidFill>
          <a:ln w="12700">
            <a:solidFill>
              <a:srgbClr val="DB70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98547"/>
          </a:solidFill>
          <a:ln w="12700">
            <a:solidFill>
              <a:srgbClr val="7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3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4862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3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843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6977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3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9135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3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7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7342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قَيَـ</a:t>
            </a:r>
            <a:r>
              <a:rPr lang="ar-SA" altLang="en-US" sz="7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7C5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96"/>
          </a:solidFill>
          <a:ln w="12700">
            <a:solidFill>
              <a:srgbClr val="D8649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9A"/>
          </a:solidFill>
          <a:ln w="12700">
            <a:solidFill>
              <a:srgbClr val="D1479A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897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55496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كَيَـ</a:t>
            </a:r>
            <a:r>
              <a:rPr lang="ar-SA" altLang="en-US" sz="6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879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9234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969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7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4070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202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لَيَـ</a:t>
            </a:r>
            <a:r>
              <a:rPr lang="ar-SA" altLang="en-US" sz="6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142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82B64"/>
          </a:solidFill>
          <a:ln w="12700">
            <a:solidFill>
              <a:srgbClr val="38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3479"/>
          </a:solidFill>
          <a:ln w="12700">
            <a:solidFill>
              <a:srgbClr val="67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2370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4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A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7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F7C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087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2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5651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5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349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نَيَـ</a:t>
            </a:r>
            <a:r>
              <a:rPr lang="ar-SA" altLang="en-US" sz="7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7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1ED5E"/>
          </a:solidFill>
          <a:ln w="12700">
            <a:solidFill>
              <a:srgbClr val="6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8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5651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48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64266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97129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A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8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5287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8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95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هَيَـ</a:t>
            </a:r>
            <a:r>
              <a:rPr lang="ar-SA" altLang="en-US" sz="7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3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1"/>
          </a:solidFill>
          <a:ln w="12700">
            <a:solidFill>
              <a:srgbClr val="E052D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4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ADB70"/>
          </a:solidFill>
          <a:ln w="12700">
            <a:solidFill>
              <a:srgbClr val="9A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81"/>
          </a:solidFill>
          <a:ln w="12700">
            <a:solidFill>
              <a:srgbClr val="478581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6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572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46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6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22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6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97091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6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6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8810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6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وَيَـ</a:t>
            </a:r>
            <a:r>
              <a:rPr lang="ar-SA" altLang="en-US" sz="5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9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7F2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3D864"/>
          </a:solidFill>
          <a:ln w="12700">
            <a:solidFill>
              <a:srgbClr val="B3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CD147"/>
          </a:solidFill>
          <a:ln w="12700">
            <a:solidFill>
              <a:srgbClr val="BC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204864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6225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أَيَـ</a:t>
            </a:r>
            <a:r>
              <a:rPr lang="ar-SA" altLang="en-US" sz="7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3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619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3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47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4314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2C"/>
          </a:solidFill>
          <a:ln w="12700">
            <a:solidFill>
              <a:srgbClr val="642B2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634"/>
          </a:solidFill>
          <a:ln w="12700">
            <a:solidFill>
              <a:srgbClr val="795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4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117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D0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0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564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0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9680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262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0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0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937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ثَيَـ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84ED"/>
          </a:solidFill>
          <a:ln w="12700">
            <a:solidFill>
              <a:srgbClr val="5E8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1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1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4325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C52"/>
          </a:solidFill>
          <a:ln w="12700">
            <a:solidFill>
              <a:srgbClr val="E0C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5DB"/>
          </a:solidFill>
          <a:ln w="12700">
            <a:solidFill>
              <a:srgbClr val="70B5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24785"/>
          </a:solidFill>
          <a:ln w="12700">
            <a:solidFill>
              <a:srgbClr val="72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1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39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1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1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927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1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0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1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C5F7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0D8"/>
          </a:solidFill>
          <a:ln w="12700">
            <a:solidFill>
              <a:srgbClr val="64D0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C3"/>
          </a:solidFill>
          <a:ln w="12700">
            <a:solidFill>
              <a:srgbClr val="47D1C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168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109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6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6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0052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3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A642B"/>
          </a:solidFill>
          <a:ln w="12700">
            <a:solidFill>
              <a:srgbClr val="3A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44"/>
          </a:solidFill>
          <a:ln w="12700">
            <a:solidFill>
              <a:srgbClr val="34794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97107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6512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ذَيَـ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C5D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317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5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رَيَـ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A8"/>
          </a:solidFill>
          <a:ln w="12700">
            <a:solidFill>
              <a:srgbClr val="ED5EA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5610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زَيَـ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1443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A9"/>
          </a:solidFill>
          <a:ln w="12700">
            <a:solidFill>
              <a:srgbClr val="52E0A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E7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CF"/>
          </a:solidFill>
          <a:ln w="12700">
            <a:solidFill>
              <a:srgbClr val="DB70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347"/>
          </a:solidFill>
          <a:ln w="12700">
            <a:solidFill>
              <a:srgbClr val="856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411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D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364D8"/>
          </a:solidFill>
          <a:ln w="12700">
            <a:solidFill>
              <a:srgbClr val="C3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147D1"/>
          </a:solidFill>
          <a:ln w="12700">
            <a:solidFill>
              <a:srgbClr val="A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1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8852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</a:t>
            </a:r>
            <a:endParaRPr lang="ar-SA" sz="41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725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شَيَـ</a:t>
            </a: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5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4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24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</a:t>
            </a:r>
            <a:endParaRPr lang="ar-SA" sz="4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4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2087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07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5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1443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864"/>
          </a:solidFill>
          <a:ln w="12700">
            <a:solidFill>
              <a:srgbClr val="2B48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579"/>
          </a:solidFill>
          <a:ln w="12700">
            <a:solidFill>
              <a:srgbClr val="3435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7082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329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099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F7C5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</a:t>
            </a:r>
            <a:endParaRPr lang="ar-SA" sz="5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B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D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BED5E"/>
          </a:solidFill>
          <a:ln w="12700">
            <a:solidFill>
              <a:srgbClr val="C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6663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</a:t>
            </a:r>
            <a:endParaRPr lang="ar-SA" sz="5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878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338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2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6444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ظَيَـ</a:t>
            </a:r>
            <a:r>
              <a:rPr lang="ar-SA" altLang="en-US" sz="8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141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52E0"/>
          </a:solidFill>
          <a:ln w="12700">
            <a:solidFill>
              <a:srgbClr val="8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C70"/>
          </a:solidFill>
          <a:ln w="12700">
            <a:solidFill>
              <a:srgbClr val="DBCC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3"/>
          </a:solidFill>
          <a:ln w="12700">
            <a:solidFill>
              <a:srgbClr val="478553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8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9710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</a:t>
            </a:r>
            <a:endParaRPr lang="ar-SA" sz="4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C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F7C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A664"/>
          </a:solidFill>
          <a:ln w="12700">
            <a:solidFill>
              <a:srgbClr val="D8A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F47"/>
          </a:solidFill>
          <a:ln w="12700">
            <a:solidFill>
              <a:srgbClr val="D17F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3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6270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</a:t>
            </a:r>
            <a:endParaRPr lang="ar-SA" sz="4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248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033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غَيَـ</a:t>
            </a:r>
            <a:r>
              <a:rPr lang="ar-SA" altLang="en-US" sz="85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5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8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6596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</a:t>
            </a:r>
            <a:endParaRPr lang="ar-SA" sz="48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0483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8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فَيَـ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37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6"/>
          </a:solidFill>
          <a:ln w="12700">
            <a:solidFill>
              <a:srgbClr val="642B56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6"/>
          </a:solidFill>
          <a:ln w="12700">
            <a:solidFill>
              <a:srgbClr val="79344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9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8804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</a:t>
            </a:r>
            <a:endParaRPr lang="ar-SA" sz="4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9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008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223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9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870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قَيَـ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F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4075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EB"/>
          </a:solidFill>
          <a:ln w="12700">
            <a:solidFill>
              <a:srgbClr val="5EEDE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91110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0884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91185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3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927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لَيَـ</a:t>
            </a:r>
            <a:r>
              <a:rPr lang="ar-SA" altLang="en-US" sz="81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43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6252"/>
          </a:solidFill>
          <a:ln w="12700">
            <a:solidFill>
              <a:srgbClr val="E062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B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B2"/>
          </a:solidFill>
          <a:ln w="12700">
            <a:solidFill>
              <a:srgbClr val="70DBB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4B85"/>
          </a:solidFill>
          <a:ln w="12700">
            <a:solidFill>
              <a:srgbClr val="474B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4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4444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</a:t>
            </a:r>
            <a:endParaRPr lang="ar-SA" sz="54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CA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89"/>
          </a:solidFill>
          <a:ln w="12700">
            <a:solidFill>
              <a:srgbClr val="64D88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D"/>
          </a:solidFill>
          <a:ln w="12700">
            <a:solidFill>
              <a:srgbClr val="47D15D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4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421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</a:t>
            </a:r>
            <a:endParaRPr lang="ar-SA" sz="5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076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91376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3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C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55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9703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</a:t>
            </a:r>
            <a:endParaRPr lang="ar-SA" sz="5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4315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هَيَـ</a:t>
            </a:r>
            <a:r>
              <a:rPr lang="ar-SA" altLang="en-US" sz="87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432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632B"/>
          </a:solidFill>
          <a:ln w="12700">
            <a:solidFill>
              <a:srgbClr val="6463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7934"/>
          </a:solidFill>
          <a:ln w="12700">
            <a:solidFill>
              <a:srgbClr val="58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55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828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</a:t>
            </a:r>
            <a:endParaRPr lang="ar-SA" sz="5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5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7675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</a:t>
            </a:r>
            <a:endParaRPr lang="ar-SA" sz="5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9141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142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وَيَـ</a:t>
            </a:r>
            <a:r>
              <a:rPr lang="ar-SA" altLang="en-US" sz="83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endParaRPr lang="ar-SA" sz="8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C5F7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37163" y="896112"/>
            <a:ext cx="1872995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37163" y="896112"/>
            <a:ext cx="1872995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</a:t>
            </a:r>
            <a:endParaRPr lang="ar-SA" sz="5800" dirty="0"/>
          </a:p>
        </p:txBody>
      </p:sp>
      <p:sp>
        <p:nvSpPr>
          <p:cNvPr id="12" name="C2 W2 pill"/>
          <p:cNvSpPr/>
          <p:nvPr/>
        </p:nvSpPr>
        <p:spPr>
          <a:xfrm>
            <a:off x="2333842" y="896112"/>
            <a:ext cx="22832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9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333842" y="896112"/>
            <a:ext cx="22832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كِتَابٌ</a:t>
            </a:r>
            <a:endParaRPr lang="ar-SA" sz="58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6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689849" y="2834640"/>
            <a:ext cx="376430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689849" y="2834640"/>
            <a:ext cx="376430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هـ</a:t>
            </a:r>
            <a:r>
              <a:rPr lang="ar-SA" altLang="en-US" sz="58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ذَا كِتَابٌ</a:t>
            </a:r>
            <a:endParaRPr lang="ar-SA" sz="5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C85EED"/>
          </a:solidFill>
          <a:ln w="12700">
            <a:solidFill>
              <a:srgbClr val="C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890308" y="896112"/>
            <a:ext cx="185988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3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890308" y="896112"/>
            <a:ext cx="185988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لِكَ</a:t>
            </a:r>
            <a:endParaRPr lang="ar-SA" sz="5400" dirty="0"/>
          </a:p>
        </p:txBody>
      </p:sp>
      <p:sp>
        <p:nvSpPr>
          <p:cNvPr id="20" name="C2 W2 pill"/>
          <p:cNvSpPr/>
          <p:nvPr/>
        </p:nvSpPr>
        <p:spPr>
          <a:xfrm>
            <a:off x="2393804" y="896112"/>
            <a:ext cx="21764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3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393804" y="896112"/>
            <a:ext cx="21764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خَيۡرٌ</a:t>
            </a:r>
            <a:endParaRPr lang="ar-SA" sz="54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751049" y="2834640"/>
            <a:ext cx="364190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751049" y="2834640"/>
            <a:ext cx="364190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ذ</a:t>
            </a:r>
            <a:r>
              <a:rPr lang="ar-SA" altLang="en-US" sz="5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5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لِكَ خَيۡرٌ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3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5E052"/>
          </a:solidFill>
          <a:ln w="12700">
            <a:solidFill>
              <a:srgbClr val="6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B1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9770DB"/>
          </a:solidFill>
          <a:ln w="12700">
            <a:solidFill>
              <a:srgbClr val="97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A"/>
          </a:solidFill>
          <a:ln w="12700">
            <a:solidFill>
              <a:srgbClr val="85475A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852899" y="896112"/>
            <a:ext cx="152412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3B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852899" y="896112"/>
            <a:ext cx="152412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</a:t>
            </a:r>
            <a:endParaRPr lang="ar-SA" sz="4400" dirty="0"/>
          </a:p>
        </p:txBody>
      </p:sp>
      <p:sp>
        <p:nvSpPr>
          <p:cNvPr id="17" name="C2 W2 pill"/>
          <p:cNvSpPr/>
          <p:nvPr/>
        </p:nvSpPr>
        <p:spPr>
          <a:xfrm>
            <a:off x="2766977" y="896112"/>
            <a:ext cx="176588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B36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66977" y="896112"/>
            <a:ext cx="176588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وَاحِدٌ</a:t>
            </a:r>
            <a:endParaRPr lang="ar-SA" sz="44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109151" y="2834640"/>
            <a:ext cx="292569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109151" y="2834640"/>
            <a:ext cx="292569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إِلـ</a:t>
            </a:r>
            <a:r>
              <a:rPr lang="ar-SA" altLang="en-US" sz="4400" dirty="0">
                <a:solidFill>
                  <a:srgbClr val="E0313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هٌ وَاحِدٌ</a:t>
            </a:r>
            <a:endParaRPr lang="ar-SA" sz="4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C5D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C64D8"/>
          </a:solidFill>
          <a:ln w="12700">
            <a:solidFill>
              <a:srgbClr val="6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55D1"/>
          </a:solidFill>
          <a:ln w="12700">
            <a:solidFill>
              <a:srgbClr val="475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407267" y="896112"/>
            <a:ext cx="29066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6D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407267" y="896112"/>
            <a:ext cx="29066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4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4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</a:t>
            </a:r>
            <a:endParaRPr lang="ar-SA" sz="4400" dirty="0"/>
          </a:p>
        </p:txBody>
      </p:sp>
      <p:sp>
        <p:nvSpPr>
          <p:cNvPr id="12" name="C2 W2 pill"/>
          <p:cNvSpPr/>
          <p:nvPr/>
        </p:nvSpPr>
        <p:spPr>
          <a:xfrm>
            <a:off x="1830092" y="896112"/>
            <a:ext cx="225713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6D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1830092" y="896112"/>
            <a:ext cx="225713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الرَّحِيمِ</a:t>
            </a:r>
            <a:endParaRPr lang="ar-SA" sz="44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8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123854" y="2834640"/>
            <a:ext cx="4896293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123854" y="2834640"/>
            <a:ext cx="4896293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الرَّحۡمـ</a:t>
            </a:r>
            <a:r>
              <a:rPr lang="ar-SA" altLang="en-US" sz="4500" dirty="0">
                <a:solidFill>
                  <a:srgbClr val="E03131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ٰ</a:t>
            </a:r>
            <a:r>
              <a:rPr lang="ar-SA" altLang="en-US" sz="4500" dirty="0">
                <a:solidFill>
                  <a:srgbClr val="16213E"/>
                </a:solidFill>
                <a:latin typeface="Traditional Arabic" pitchFamily="34" charset="0"/>
                <a:ea typeface="Traditional Arabic" pitchFamily="34" charset="-122"/>
                <a:cs typeface="Traditional Arabic" pitchFamily="34" charset="-120"/>
              </a:rPr>
              <a:t>نِ الرَّحِيمِ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Dagger alif 03-noon-ya</dc:title>
  <dc:subject>PptxGenJS Presentation</dc:subject>
  <dc:creator>PptxGenJS</dc:creator>
  <cp:lastModifiedBy>PptxGenJS</cp:lastModifiedBy>
  <cp:revision>1</cp:revision>
  <dcterms:created xsi:type="dcterms:W3CDTF">2026-10-22T00:54:41Z</dcterms:created>
  <dcterms:modified xsi:type="dcterms:W3CDTF">2026-10-22T00:54:41Z</dcterms:modified>
</cp:coreProperties>
</file>