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الألف الخنجرية (الألف الصغيرة): تُلفظ ولا تُكتب ألفاً كبيرة، ولها حكم الألف الكبيرة نفسه: نمدّ بمقدار حركتين، نحو «هٰذَا» (هَاذَا) و«الرَّحۡمٰنِ» (الرَّحۡمَانِ). كُتبت صغيرة بجانب الحرف.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E052"/>
          </a:solidFill>
          <a:ln w="12700">
            <a:solidFill>
              <a:srgbClr val="9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010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8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010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7183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0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48416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9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9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9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9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96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55E"/>
          </a:solidFill>
          <a:ln w="12700">
            <a:solidFill>
              <a:srgbClr val="ED7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156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8E0"/>
          </a:solidFill>
          <a:ln w="12700">
            <a:solidFill>
              <a:srgbClr val="52B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7"/>
          </a:solidFill>
          <a:ln w="12700">
            <a:solidFill>
              <a:srgbClr val="DB70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156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F"/>
          </a:solidFill>
          <a:ln w="12700">
            <a:solidFill>
              <a:srgbClr val="D864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4"/>
          </a:solidFill>
          <a:ln w="12700">
            <a:solidFill>
              <a:srgbClr val="D147A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ED5E"/>
          </a:solidFill>
          <a:ln w="12700">
            <a:solidFill>
              <a:srgbClr val="6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B"/>
          </a:solidFill>
          <a:ln w="12700">
            <a:solidFill>
              <a:srgbClr val="E052D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DB70"/>
          </a:solidFill>
          <a:ln w="12700">
            <a:solidFill>
              <a:srgbClr val="A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D864"/>
          </a:solidFill>
          <a:ln w="12700">
            <a:solidFill>
              <a:srgbClr val="B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7D147"/>
          </a:solidFill>
          <a:ln w="12700">
            <a:solidFill>
              <a:srgbClr val="C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90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FED"/>
          </a:solidFill>
          <a:ln w="12700">
            <a:solidFill>
              <a:srgbClr val="5E8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252"/>
          </a:solidFill>
          <a:ln w="12700">
            <a:solidFill>
              <a:srgbClr val="E0C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156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9"/>
          </a:solidFill>
          <a:ln w="12700">
            <a:solidFill>
              <a:srgbClr val="47D1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2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14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954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2"/>
          </a:solidFill>
          <a:ln w="12700">
            <a:solidFill>
              <a:srgbClr val="ED5EB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E"/>
          </a:solidFill>
          <a:ln w="12700">
            <a:solidFill>
              <a:srgbClr val="52E0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7"/>
          </a:solidFill>
          <a:ln w="12700">
            <a:solidFill>
              <a:srgbClr val="DB70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156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64D8"/>
          </a:solidFill>
          <a:ln w="12700">
            <a:solidFill>
              <a:srgbClr val="B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47D1"/>
          </a:solidFill>
          <a:ln w="12700">
            <a:solidFill>
              <a:srgbClr val="9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969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969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33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ED5E"/>
          </a:solidFill>
          <a:ln w="12700">
            <a:solidFill>
              <a:srgbClr val="D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58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B52E0"/>
          </a:solidFill>
          <a:ln w="12700">
            <a:solidFill>
              <a:srgbClr val="7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570"/>
          </a:solidFill>
          <a:ln w="12700">
            <a:solidFill>
              <a:srgbClr val="DBC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E64"/>
          </a:solidFill>
          <a:ln w="12700">
            <a:solidFill>
              <a:srgbClr val="D89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547"/>
          </a:solidFill>
          <a:ln w="12700">
            <a:solidFill>
              <a:srgbClr val="D17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1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242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23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23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23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236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6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833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442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442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1"/>
          </a:solidFill>
          <a:ln w="12700">
            <a:solidFill>
              <a:srgbClr val="5EED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442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442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88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752"/>
          </a:solidFill>
          <a:ln w="12700">
            <a:solidFill>
              <a:srgbClr val="E05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A"/>
          </a:solidFill>
          <a:ln w="12700">
            <a:solidFill>
              <a:srgbClr val="70DB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828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1"/>
          </a:solidFill>
          <a:ln w="12700">
            <a:solidFill>
              <a:srgbClr val="64D8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2"/>
          </a:solidFill>
          <a:ln w="12700">
            <a:solidFill>
              <a:srgbClr val="47D15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143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pPr algn="ctr" indent="0" marL="0">
              <a:buNone/>
            </a:pPr>
            <a:r>
              <a:rPr lang="ar-SA" altLang="en-US" sz="6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50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</a:t>
            </a:r>
            <a:pPr algn="ctr" indent="0" marL="0">
              <a:buNone/>
            </a:pPr>
            <a:r>
              <a:rPr lang="ar-SA" altLang="en-US" sz="5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88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252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</a:t>
            </a:r>
            <a:pPr algn="ctr" indent="0" marL="0">
              <a:buNone/>
            </a:pPr>
            <a:r>
              <a:rPr lang="ar-SA" altLang="en-US" sz="5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30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</a:t>
            </a:r>
            <a:pPr algn="ctr" indent="0" marL="0">
              <a:buNone/>
            </a:pPr>
            <a:r>
              <a:rPr lang="ar-SA" altLang="en-US" sz="5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D5EED"/>
          </a:solidFill>
          <a:ln w="12700">
            <a:solidFill>
              <a:srgbClr val="B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810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28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89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pPr algn="ctr" indent="0" marL="0">
              <a:buNone/>
            </a:pPr>
            <a:r>
              <a:rPr lang="ar-SA" altLang="en-US" sz="6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0E052"/>
          </a:solidFill>
          <a:ln w="12700">
            <a:solidFill>
              <a:srgbClr val="7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70DB"/>
          </a:solidFill>
          <a:ln w="12700">
            <a:solidFill>
              <a:srgbClr val="8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F"/>
          </a:solidFill>
          <a:ln w="12700">
            <a:solidFill>
              <a:srgbClr val="8547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87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</a:t>
            </a:r>
            <a:pPr algn="ctr" indent="0" marL="0">
              <a:buNone/>
            </a:pPr>
            <a:r>
              <a:rPr lang="ar-SA" altLang="en-US" sz="6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4D8"/>
          </a:solidFill>
          <a:ln w="12700">
            <a:solidFill>
              <a:srgbClr val="6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FD1"/>
          </a:solidFill>
          <a:ln w="12700">
            <a:solidFill>
              <a:srgbClr val="475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</a:t>
            </a:r>
            <a:pPr algn="ctr" indent="0" marL="0">
              <a:buNone/>
            </a:pPr>
            <a:r>
              <a:rPr lang="ar-SA" altLang="en-US" sz="6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</a:t>
            </a:r>
            <a:pPr algn="ctr" indent="0" marL="0">
              <a:buNone/>
            </a:pPr>
            <a:r>
              <a:rPr lang="ar-SA" altLang="en-US" sz="6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1"/>
          </a:solidFill>
          <a:ln w="12700">
            <a:solidFill>
              <a:srgbClr val="2B64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E79"/>
          </a:solidFill>
          <a:ln w="12700">
            <a:solidFill>
              <a:srgbClr val="346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766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3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682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58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A5E"/>
          </a:solidFill>
          <a:ln w="12700">
            <a:solidFill>
              <a:srgbClr val="ED9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63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63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697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3E0"/>
          </a:solidFill>
          <a:ln w="12700">
            <a:solidFill>
              <a:srgbClr val="529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470"/>
          </a:solidFill>
          <a:ln w="12700">
            <a:solidFill>
              <a:srgbClr val="DB7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</a:t>
            </a:r>
            <a:pPr algn="ctr" indent="0" marL="0">
              <a:buNone/>
            </a:pPr>
            <a:r>
              <a:rPr lang="ar-SA" altLang="en-US" sz="6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1"/>
          </a:solidFill>
          <a:ln w="12700">
            <a:solidFill>
              <a:srgbClr val="D864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1"/>
          </a:solidFill>
          <a:ln w="12700">
            <a:solidFill>
              <a:srgbClr val="D1478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680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69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55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55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833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</a:t>
            </a:r>
            <a:pPr algn="ctr" indent="0" marL="0">
              <a:buNone/>
            </a:pPr>
            <a:r>
              <a:rPr lang="ar-SA" altLang="en-US" sz="7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3479"/>
          </a:solidFill>
          <a:ln w="12700">
            <a:solidFill>
              <a:srgbClr val="7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55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55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12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39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</a:t>
            </a:r>
            <a:pPr algn="ctr" indent="0" marL="0">
              <a:buNone/>
            </a:pPr>
            <a:r>
              <a:rPr lang="ar-SA" altLang="en-US" sz="7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65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09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</a:t>
            </a:r>
            <a:pPr algn="ctr" indent="0" marL="0">
              <a:buNone/>
            </a:pPr>
            <a:r>
              <a:rPr lang="ar-SA" altLang="en-US" sz="6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6"/>
          </a:solidFill>
          <a:ln w="12700">
            <a:solidFill>
              <a:srgbClr val="5EED7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</a:t>
            </a:r>
            <a:pPr algn="ctr" indent="0" marL="0">
              <a:buNone/>
            </a:pPr>
            <a:r>
              <a:rPr lang="ar-SA" altLang="en-US" sz="7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7"/>
          </a:solidFill>
          <a:ln w="12700">
            <a:solidFill>
              <a:srgbClr val="E052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7DB70"/>
          </a:solidFill>
          <a:ln w="12700">
            <a:solidFill>
              <a:srgbClr val="8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D85"/>
          </a:solidFill>
          <a:ln w="12700">
            <a:solidFill>
              <a:srgbClr val="477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826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D864"/>
          </a:solidFill>
          <a:ln w="12700">
            <a:solidFill>
              <a:srgbClr val="9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D147"/>
          </a:solidFill>
          <a:ln w="12700">
            <a:solidFill>
              <a:srgbClr val="A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89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89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26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42B"/>
          </a:solidFill>
          <a:ln w="12700">
            <a:solidFill>
              <a:srgbClr val="643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234"/>
          </a:solidFill>
          <a:ln w="12700">
            <a:solidFill>
              <a:srgbClr val="796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69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0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AED"/>
          </a:solidFill>
          <a:ln w="12700">
            <a:solidFill>
              <a:srgbClr val="5E6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1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AE052"/>
          </a:solidFill>
          <a:ln w="12700">
            <a:solidFill>
              <a:srgbClr val="D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1DB"/>
          </a:solidFill>
          <a:ln w="12700">
            <a:solidFill>
              <a:srgbClr val="70A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4785"/>
          </a:solidFill>
          <a:ln w="12700">
            <a:solidFill>
              <a:srgbClr val="7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0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008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BD8"/>
          </a:solidFill>
          <a:ln w="12700">
            <a:solidFill>
              <a:srgbClr val="64B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6D1"/>
          </a:solidFill>
          <a:ln w="12700">
            <a:solidFill>
              <a:srgbClr val="47C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2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674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6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642B"/>
          </a:solidFill>
          <a:ln w="12700">
            <a:solidFill>
              <a:srgbClr val="3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1"/>
          </a:solidFill>
          <a:ln w="12700">
            <a:solidFill>
              <a:srgbClr val="3479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3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E"/>
          </a:solidFill>
          <a:ln w="12700">
            <a:solidFill>
              <a:srgbClr val="ED5E8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3"/>
          </a:solidFill>
          <a:ln w="12700">
            <a:solidFill>
              <a:srgbClr val="52E0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C"/>
          </a:solidFill>
          <a:ln w="12700">
            <a:solidFill>
              <a:srgbClr val="DB70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E47"/>
          </a:solidFill>
          <a:ln w="12700">
            <a:solidFill>
              <a:srgbClr val="856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02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07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8"/>
          </a:solidFill>
          <a:ln w="12700">
            <a:solidFill>
              <a:srgbClr val="D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A47D1"/>
          </a:solidFill>
          <a:ln w="12700">
            <a:solidFill>
              <a:srgbClr val="B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086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099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7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pPr algn="ctr" indent="0" marL="0">
              <a:buNone/>
            </a:pPr>
            <a:r>
              <a:rPr lang="ar-SA" altLang="en-US" sz="86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3479"/>
          </a:solidFill>
          <a:ln w="12700">
            <a:solidFill>
              <a:srgbClr val="4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84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</a:t>
            </a:r>
            <a:pPr algn="ctr" indent="0" marL="0">
              <a:buNone/>
            </a:pPr>
            <a:r>
              <a:rPr lang="ar-SA" altLang="en-US" sz="81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ED5E"/>
          </a:solidFill>
          <a:ln w="12700">
            <a:solidFill>
              <a:srgbClr val="B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04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03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6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pPr algn="ctr" indent="0" marL="0">
              <a:buNone/>
            </a:pPr>
            <a:r>
              <a:rPr lang="ar-SA" altLang="en-US" sz="82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F52E0"/>
          </a:solidFill>
          <a:ln w="12700">
            <a:solidFill>
              <a:srgbClr val="9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7DB70"/>
          </a:solidFill>
          <a:ln w="12700">
            <a:solidFill>
              <a:srgbClr val="D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E"/>
          </a:solidFill>
          <a:ln w="12700">
            <a:solidFill>
              <a:srgbClr val="4785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934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B64"/>
          </a:solidFill>
          <a:ln w="12700">
            <a:solidFill>
              <a:srgbClr val="D8B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847"/>
          </a:solidFill>
          <a:ln w="12700">
            <a:solidFill>
              <a:srgbClr val="D19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91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2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132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</a:t>
            </a:r>
            <a:pPr algn="ctr" indent="0" marL="0">
              <a:buNone/>
            </a:pPr>
            <a:r>
              <a:rPr lang="ar-SA" altLang="en-US" sz="8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A"/>
          </a:solidFill>
          <a:ln w="12700">
            <a:solidFill>
              <a:srgbClr val="79343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95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1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pPr algn="ctr" indent="0" marL="0">
              <a:buNone/>
            </a:pPr>
            <a:r>
              <a:rPr lang="ar-SA" altLang="en-US" sz="7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5ED"/>
          </a:solidFill>
          <a:ln w="12700">
            <a:solidFill>
              <a:srgbClr val="5ED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804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37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</a:t>
            </a:r>
            <a:pPr algn="ctr" indent="0" marL="0">
              <a:buNone/>
            </a:pPr>
            <a:r>
              <a:rPr lang="ar-SA" altLang="en-US" sz="8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C52"/>
          </a:solidFill>
          <a:ln w="12700">
            <a:solidFill>
              <a:srgbClr val="E07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5"/>
          </a:solidFill>
          <a:ln w="12700">
            <a:solidFill>
              <a:srgbClr val="70DB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69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69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65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8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</a:t>
            </a:r>
            <a:pPr algn="ctr" indent="0" marL="0">
              <a:buNone/>
            </a:pPr>
            <a:r>
              <a:rPr lang="ar-SA" altLang="en-US" sz="87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endParaRPr lang="ar-SA" sz="8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E"/>
          </a:solidFill>
          <a:ln w="12700">
            <a:solidFill>
              <a:srgbClr val="64D89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6"/>
          </a:solidFill>
          <a:ln w="12700">
            <a:solidFill>
              <a:srgbClr val="47D17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7163" y="896112"/>
            <a:ext cx="1872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7163" y="896112"/>
            <a:ext cx="1872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</a:t>
            </a:r>
            <a:endParaRPr lang="ar-SA" sz="5800" dirty="0"/>
          </a:p>
        </p:txBody>
      </p:sp>
      <p:sp>
        <p:nvSpPr>
          <p:cNvPr id="12" name="C2 W2 pill"/>
          <p:cNvSpPr/>
          <p:nvPr/>
        </p:nvSpPr>
        <p:spPr>
          <a:xfrm>
            <a:off x="2333842" y="896112"/>
            <a:ext cx="22832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8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33842" y="896112"/>
            <a:ext cx="22832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كِتَابٌ</a:t>
            </a:r>
            <a:endParaRPr lang="ar-SA" sz="5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89849" y="2834640"/>
            <a:ext cx="37643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89849" y="2834640"/>
            <a:ext cx="37643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هـ</a:t>
            </a:r>
            <a:pPr algn="ctr" indent="0" marL="0">
              <a:buNone/>
            </a:pPr>
            <a:r>
              <a:rPr lang="ar-SA" altLang="en-US" sz="58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ذَا كِتَابٌ</a:t>
            </a:r>
            <a:endParaRPr lang="ar-SA" sz="5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90308" y="896112"/>
            <a:ext cx="18598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B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90308" y="896112"/>
            <a:ext cx="18598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لِكَ</a:t>
            </a:r>
            <a:endParaRPr lang="ar-SA" sz="5400" dirty="0"/>
          </a:p>
        </p:txBody>
      </p:sp>
      <p:sp>
        <p:nvSpPr>
          <p:cNvPr id="13" name="C2 W2 pill"/>
          <p:cNvSpPr/>
          <p:nvPr/>
        </p:nvSpPr>
        <p:spPr>
          <a:xfrm>
            <a:off x="2393804" y="896112"/>
            <a:ext cx="21764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B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93804" y="896112"/>
            <a:ext cx="21764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خَيۡرٌ</a:t>
            </a:r>
            <a:endParaRPr lang="ar-SA" sz="5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51049" y="2834640"/>
            <a:ext cx="36419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51049" y="2834640"/>
            <a:ext cx="36419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pPr algn="ctr" indent="0" marL="0">
              <a:buNone/>
            </a:pPr>
            <a:r>
              <a:rPr lang="ar-SA" altLang="en-US" sz="5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لِكَ خَيۡرٌ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642B"/>
          </a:solidFill>
          <a:ln w="12700">
            <a:solidFill>
              <a:srgbClr val="5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7934"/>
          </a:solidFill>
          <a:ln w="12700">
            <a:solidFill>
              <a:srgbClr val="4B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52899" y="896112"/>
            <a:ext cx="15241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9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52899" y="896112"/>
            <a:ext cx="15241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766977" y="896112"/>
            <a:ext cx="17658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9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66977" y="896112"/>
            <a:ext cx="17658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وَاحِدٌ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109151" y="2834640"/>
            <a:ext cx="292569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109151" y="2834640"/>
            <a:ext cx="292569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هٌ وَاحِدٌ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407267" y="896112"/>
            <a:ext cx="29066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407267" y="896112"/>
            <a:ext cx="29066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pPr algn="ctr" indent="0" marL="0">
              <a:buNone/>
            </a:pPr>
            <a:r>
              <a:rPr lang="ar-SA" altLang="en-US" sz="4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1830092" y="896112"/>
            <a:ext cx="22571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1830092" y="896112"/>
            <a:ext cx="22571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الرَّحِيمِ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123854" y="2834640"/>
            <a:ext cx="48962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123854" y="2834640"/>
            <a:ext cx="48962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الرَّحۡمـ</a:t>
            </a:r>
            <a:pPr algn="ctr" indent="0" marL="0">
              <a:buNone/>
            </a:pPr>
            <a:r>
              <a:rPr lang="ar-SA" altLang="en-US" sz="45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ٰ</a:t>
            </a:r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 الرَّحِيمِ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Dagger alif 16-waw</dc:title>
  <dc:subject>PptxGenJS Presentation</dc:subject>
  <dc:creator>PptxGenJS</dc:creator>
  <cp:lastModifiedBy>PptxGenJS</cp:lastModifiedBy>
  <cp:revision>1</cp:revision>
  <dcterms:created xsi:type="dcterms:W3CDTF">2026-10-22T00:54:42Z</dcterms:created>
  <dcterms:modified xsi:type="dcterms:W3CDTF">2026-10-22T00:54:42Z</dcterms:modified>
</cp:coreProperties>
</file>