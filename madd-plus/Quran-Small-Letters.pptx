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حروف المد ثلاثة: الألف الساكنة ولا يكون ما قبلها إلا مفتوحاً، والواو الساكنة المضموم ما قبلها، والياء الساكنة المكسور ما قبلها. تُمد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بين الحروف: تُلفظ ألفاً مدية ولم تُكتب ألفاً كبيرة. لها حكم الألف الكبيرة: مد طبيعي بمقدار حركتين.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فوق الواو أو الياء: العبرة بالحرف الصغير المكتوب فوق. تُنطق ألفاً مدية، ولا تُنطق الواو ولا الياء.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الواو الصغيرة بعد هاء الضمير المضمومة (صلة صغرى): تقع بين متحركين، فتُشبع الضمة واواً وتُمد حركتين في الوصل.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صلة إذا جاء بعد الهاء ساكن: لا تُكتب الواو ولا الياء الصغيرة ولا تُنطق، مثل «لَهُ ٱلۡمُلۡكُ». أما «إِنَّهُۥ لَا يُحِبُّ» فتُنطق الواو لأن اللام بعدها متحركة.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الياء الصغيرة بعد هاء الضمير المكسورة (صلة صغرى): تقع بين متحركين، فتُشبع الكسرة ياءً وتُمد حركتين في الوصل.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الياء الصغيرة بعد هاء الضمير المكسورة (صلة صغرى): تقع بين متحركين، فتُشبع الكسرة ياءً وتُمد حركتين في الوصل.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صلة إذا جاء بعد الهاء ساكن: لا تُكتب الواو ولا الياء الصغيرة ولا تُنطق، مثل «لَهُ ٱلۡمُلۡكُ». أما «إِنَّهُۥ لَا يُحِبُّ» فتُنطق الواو لأن اللام بعدها متحركة.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صلة إذا جاء بعد الهاء ساكن: لا تُكتب الواو ولا الياء الصغيرة ولا تُنطق، مثل «لَهُ ٱلۡمُلۡكُ». أما «إِنَّهُۥ لَا يُحِبُّ» فتُنطق الواو لأن اللام بعدها متحركة.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الصلة الكبرى: إذا جاء بعد الواو أو الياء الصغيرة همزة قطع، توضع علامة المد (~) ويُمد 4 أو 5 حركات (من طريق الشاطبية)، كالمد المنفصل.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الصلة الكبرى: إذا جاء بعد الواو أو الياء الصغيرة همزة قطع، توضع علامة المد (~) ويُمد 4 أو 5 حركات (من طريق الشاطبية)، كالمد المنفصل.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تأخذ أحكام المد كالألف الكبيرة: إذا جاءت بعدها همزة في الكلمة نفسها فهو مد متصل (4 أو 5 حركات)، وإذا جاءت الهمزة في أول الكلمة التالية فهو مد منفصل (4 أو 5 حركات)، وتوضع فوقها علامة المد.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تأخذ أحكام المد كالألف الكبيرة: إذا جاءت بعدها همزة في الكلمة نفسها فهو مد متصل (4 أو 5 حركات)، وإذا جاءت الهمزة في أول الكلمة التالية فهو مد منفصل (4 أو 5 حركات)، وتوضع فوقها علامة المد.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تأخذ أحكام المد كالألف الكبيرة: إذا جاءت بعدها همزة في الكلمة نفسها فهو مد متصل (4 أو 5 حركات)، وإذا جاءت الهمزة في أول الكلمة التالية فهو مد منفصل (4 أو 5 حركات)، وتوضع فوقها علامة المد.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4893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قَالَ</a:t>
            </a:r>
            <a:endParaRPr lang="ar-SA" sz="90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61448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42899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السَّمَاوَاتِ</a:t>
            </a:r>
            <a:endParaRPr lang="ar-SA" sz="62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47485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53558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يَقُولُ</a:t>
            </a:r>
            <a:endParaRPr lang="ar-SA" sz="84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52971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قُو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54195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طُوبَىٰ</a:t>
            </a:r>
            <a:endParaRPr lang="ar-SA" sz="83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54195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طُو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952"/>
          </a:solidFill>
          <a:ln w="12700">
            <a:solidFill>
              <a:srgbClr val="E06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785"/>
          </a:solidFill>
          <a:ln w="12700">
            <a:solidFill>
              <a:srgbClr val="4747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4873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قِيلَ</a:t>
            </a:r>
            <a:endParaRPr lang="ar-SA" sz="91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2238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قِي</a:t>
            </a:r>
            <a:endParaRPr lang="ar-SA" sz="9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348687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ٱلرَّحِيمِ</a:t>
            </a:r>
            <a:endParaRPr lang="ar-SA" sz="83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0825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61185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هَٰذَا</a:t>
            </a:r>
            <a:endParaRPr lang="ar-SA" sz="108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59402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هَاذَا</a:t>
            </a:r>
            <a:endParaRPr lang="ar-SA" sz="10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37761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ٱلرَّحۡمَٰنِ</a:t>
            </a:r>
            <a:endParaRPr lang="ar-SA" sz="62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34926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الرَّحۡمَانِ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9152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إِلَٰهَ</a:t>
            </a:r>
            <a:endParaRPr lang="ar-SA" sz="69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39162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إِلَاهَ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60543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ذَٰلِكَ</a:t>
            </a:r>
            <a:endParaRPr lang="ar-SA" sz="83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485267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ذَالِكَ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592123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لَٰكِنۡ</a:t>
            </a:r>
            <a:endParaRPr lang="ar-SA" sz="77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48064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لَاكِنۡ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8247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ٱلصَّلَوٰةَ</a:t>
            </a:r>
            <a:endParaRPr lang="ar-SA" sz="85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60121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الصَّلَاةَ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50447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ٱلزَّكَوٰةَ</a:t>
            </a:r>
            <a:endParaRPr lang="ar-SA" sz="87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50447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الزَّكَاةَ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53024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ٱلۡحَيَوٰةُ</a:t>
            </a:r>
            <a:endParaRPr lang="ar-SA" sz="84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55958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الۡحَيَاةُ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893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عَلَىٰ</a:t>
            </a:r>
            <a:endParaRPr lang="ar-SA" sz="90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62077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33172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مُوسَىٰ</a:t>
            </a:r>
            <a:endParaRPr lang="ar-SA" sz="94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3496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مُوسَا</a:t>
            </a:r>
            <a:endParaRPr lang="ar-SA" sz="9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53024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ٱلۡهُدَىٰ</a:t>
            </a:r>
            <a:endParaRPr lang="ar-SA" sz="84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53024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الۡهُدَا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3418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إِنَّهُۥ عَلِيمٌ</a:t>
            </a:r>
            <a:endParaRPr lang="ar-SA" sz="64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43418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إِنَّهُو عَلِيمٌ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43959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إِنَّهُۥ لَا يُحِبُّ</a:t>
            </a:r>
            <a:endParaRPr lang="ar-SA" sz="52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43959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إِنَّهُو لَا يُحِبُّ</a:t>
            </a:r>
            <a:endParaRPr lang="ar-SA" sz="5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34849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بِهِۦ بَصِيرًا</a:t>
            </a:r>
            <a:endParaRPr lang="ar-SA" sz="58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32567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بِهِي بَصِيرًا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643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وَقَلۡبِهِۦ وَجَعَلَ</a:t>
            </a:r>
            <a:endParaRPr lang="ar-SA" sz="40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44857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وَقَلۡبِهِي وَجَعَلَ</a:t>
            </a:r>
            <a:endParaRPr lang="ar-SA" sz="4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52278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لَهُ ٱلۡمُلۡكُ</a:t>
            </a:r>
            <a:endParaRPr lang="ar-SA" sz="48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50144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لَهُلۡ مُلۡكُ</a:t>
            </a:r>
            <a:endParaRPr lang="ar-SA" sz="4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7" name="C1 W written"/>
          <p:cNvSpPr txBox="1"/>
          <p:nvPr/>
        </p:nvSpPr>
        <p:spPr>
          <a:xfrm>
            <a:off x="5120640" y="149904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وَلَهُ ٱلۡحَمۡدُ</a:t>
            </a:r>
            <a:endParaRPr lang="ar-SA" sz="4500" dirty="0"/>
          </a:p>
        </p:txBody>
      </p:sp>
      <p:sp>
        <p:nvSpPr>
          <p:cNvPr id="18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R read"/>
          <p:cNvSpPr txBox="1"/>
          <p:nvPr/>
        </p:nvSpPr>
        <p:spPr>
          <a:xfrm>
            <a:off x="457200" y="1497901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وَلَهُلۡ حَمۡدُ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566918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مَالَهُۥٓ أَخۡلَدَهُۥ</a:t>
            </a:r>
            <a:endParaRPr lang="ar-SA" sz="39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512435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مَالَهُووو أَخۡلَدَهُ</a:t>
            </a:r>
            <a:endParaRPr lang="ar-SA" sz="3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2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3" name="C1 W written"/>
          <p:cNvSpPr txBox="1"/>
          <p:nvPr/>
        </p:nvSpPr>
        <p:spPr>
          <a:xfrm>
            <a:off x="5120640" y="148047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بِهِۦٓ أَن يُوصَلَ</a:t>
            </a:r>
            <a:endParaRPr lang="ar-SA" sz="3500" dirty="0"/>
          </a:p>
        </p:txBody>
      </p:sp>
      <p:sp>
        <p:nvSpPr>
          <p:cNvPr id="14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R read"/>
          <p:cNvSpPr txBox="1"/>
          <p:nvPr/>
        </p:nvSpPr>
        <p:spPr>
          <a:xfrm>
            <a:off x="457200" y="146670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بِهِييي أَنۡ يُوصَلَ</a:t>
            </a:r>
            <a:endParaRPr lang="ar-SA" sz="3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3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4" name="C1 W written"/>
          <p:cNvSpPr txBox="1"/>
          <p:nvPr/>
        </p:nvSpPr>
        <p:spPr>
          <a:xfrm>
            <a:off x="5120640" y="1586014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يَٰٓأَيُّهَا</a:t>
            </a:r>
            <a:endParaRPr lang="ar-SA" sz="7800" dirty="0"/>
          </a:p>
        </p:txBody>
      </p:sp>
      <p:sp>
        <p:nvSpPr>
          <p:cNvPr id="15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R read"/>
          <p:cNvSpPr txBox="1"/>
          <p:nvPr/>
        </p:nvSpPr>
        <p:spPr>
          <a:xfrm>
            <a:off x="457200" y="156182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يَااا أَيُّهَا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1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12" name="C1 W written"/>
          <p:cNvSpPr txBox="1"/>
          <p:nvPr/>
        </p:nvSpPr>
        <p:spPr>
          <a:xfrm>
            <a:off x="5120640" y="1497989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هَٰٓأَنتُمۡ</a:t>
            </a:r>
            <a:endParaRPr lang="ar-SA" sz="5600" dirty="0"/>
          </a:p>
        </p:txBody>
      </p:sp>
      <p:sp>
        <p:nvSpPr>
          <p:cNvPr id="13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3 R read"/>
          <p:cNvSpPr txBox="1"/>
          <p:nvPr/>
        </p:nvSpPr>
        <p:spPr>
          <a:xfrm>
            <a:off x="457200" y="1480626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هَااا أَنۡتُمۡ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ritten"/>
          <p:cNvSpPr/>
          <p:nvPr/>
        </p:nvSpPr>
        <p:spPr>
          <a:xfrm>
            <a:off x="512064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457200" y="1463040"/>
            <a:ext cx="3566160" cy="2103120"/>
          </a:xfrm>
          <a:prstGeom prst="roundRect">
            <a:avLst>
              <a:gd name="adj" fmla="val 13043"/>
            </a:avLst>
          </a:prstGeom>
          <a:solidFill>
            <a:srgbClr val="FFFBE3"/>
          </a:solidFill>
          <a:ln w="101600">
            <a:solidFill>
              <a:srgbClr val="F2B134"/>
            </a:solidFill>
            <a:prstDash val="solid"/>
          </a:ln>
        </p:spPr>
      </p:sp>
      <p:sp>
        <p:nvSpPr>
          <p:cNvPr id="20" name="C1 W written"/>
          <p:cNvSpPr txBox="1"/>
          <p:nvPr/>
        </p:nvSpPr>
        <p:spPr>
          <a:xfrm>
            <a:off x="5120640" y="1663510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أُولَٰٓئِكَ</a:t>
            </a:r>
            <a:endParaRPr lang="ar-SA" sz="7000" dirty="0"/>
          </a:p>
        </p:txBody>
      </p:sp>
      <p:sp>
        <p:nvSpPr>
          <p:cNvPr id="21" name="C2 A arrow"/>
          <p:cNvSpPr/>
          <p:nvPr/>
        </p:nvSpPr>
        <p:spPr>
          <a:xfrm>
            <a:off x="4206240" y="2240280"/>
            <a:ext cx="731520" cy="548640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3 R read"/>
          <p:cNvSpPr txBox="1"/>
          <p:nvPr/>
        </p:nvSpPr>
        <p:spPr>
          <a:xfrm>
            <a:off x="457200" y="1627262"/>
            <a:ext cx="35661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أُولَااائِكَ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Quran small letters Quran-Small-Letters</dc:title>
  <dc:subject>PptxGenJS Presentation</dc:subject>
  <dc:creator>PptxGenJS</dc:creator>
  <cp:lastModifiedBy>PptxGenJS</cp:lastModifiedBy>
  <cp:revision>1</cp:revision>
  <dcterms:created xsi:type="dcterms:W3CDTF">2026-10-21T18:02:30Z</dcterms:created>
  <dcterms:modified xsi:type="dcterms:W3CDTF">2026-10-21T18:02:30Z</dcterms:modified>
</cp:coreProperties>
</file>