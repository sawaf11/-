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الياء: الياء الساكنة المكسور ما قبلها، نحو «قِيلَ». نمدّ الصوت بمقدار حركتين (بِ ← بِي).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1"/>
          </a:solidFill>
          <a:ln w="12700">
            <a:solidFill>
              <a:srgbClr val="5EEDE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23200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600" dirty="0"/>
          </a:p>
        </p:txBody>
      </p:sp>
      <p:sp>
        <p:nvSpPr>
          <p:cNvPr id="22" name="C2 V1 vowel"/>
          <p:cNvSpPr txBox="1"/>
          <p:nvPr/>
        </p:nvSpPr>
        <p:spPr>
          <a:xfrm>
            <a:off x="6720840" y="123200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9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M2 madd"/>
          <p:cNvSpPr txBox="1"/>
          <p:nvPr/>
        </p:nvSpPr>
        <p:spPr>
          <a:xfrm>
            <a:off x="4343400" y="13350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000" dirty="0"/>
          </a:p>
        </p:txBody>
      </p:sp>
      <p:sp>
        <p:nvSpPr>
          <p:cNvPr id="25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6 R result"/>
          <p:cNvSpPr txBox="1"/>
          <p:nvPr/>
        </p:nvSpPr>
        <p:spPr>
          <a:xfrm>
            <a:off x="685800" y="106413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رِي</a:t>
            </a:r>
            <a:endParaRPr lang="ar-SA" sz="110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3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852"/>
          </a:solidFill>
          <a:ln w="12700">
            <a:solidFill>
              <a:srgbClr val="E05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A"/>
          </a:solidFill>
          <a:ln w="12700">
            <a:solidFill>
              <a:srgbClr val="70DBA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F85"/>
          </a:solidFill>
          <a:ln w="12700">
            <a:solidFill>
              <a:srgbClr val="474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43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643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869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رِيأَ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1"/>
          </a:solidFill>
          <a:ln w="12700">
            <a:solidFill>
              <a:srgbClr val="64D88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3"/>
          </a:solidFill>
          <a:ln w="12700">
            <a:solidFill>
              <a:srgbClr val="47D15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43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43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3706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رِيبَ</a:t>
            </a:r>
            <a:endParaRPr lang="ar-SA" sz="9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638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638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782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رِيتَ</a:t>
            </a:r>
            <a:endParaRPr lang="ar-SA" sz="8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2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F2B"/>
          </a:solidFill>
          <a:ln w="12700">
            <a:solidFill>
              <a:srgbClr val="645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C7934"/>
          </a:solidFill>
          <a:ln w="12700">
            <a:solidFill>
              <a:srgbClr val="5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657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657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4360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رِيثَ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5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65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183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رِيجَ</a:t>
            </a:r>
            <a:endParaRPr lang="ar-SA" sz="8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E5EED"/>
          </a:solidFill>
          <a:ln w="12700">
            <a:solidFill>
              <a:srgbClr val="BE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65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65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183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رِيحَ</a:t>
            </a:r>
            <a:endParaRPr lang="ar-SA" sz="8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FE052"/>
          </a:solidFill>
          <a:ln w="12700">
            <a:solidFill>
              <a:srgbClr val="6F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070DB"/>
          </a:solidFill>
          <a:ln w="12700">
            <a:solidFill>
              <a:srgbClr val="90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E"/>
          </a:solidFill>
          <a:ln w="12700">
            <a:solidFill>
              <a:srgbClr val="85475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6819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6819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رِيخَ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4D8"/>
          </a:solidFill>
          <a:ln w="12700">
            <a:solidFill>
              <a:srgbClr val="6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ED1"/>
          </a:solidFill>
          <a:ln w="12700">
            <a:solidFill>
              <a:srgbClr val="475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5765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5765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12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12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512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رِيدَ</a:t>
            </a:r>
            <a:endParaRPr lang="ar-SA" sz="8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6101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6101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70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رِيذَ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4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1"/>
          </a:solidFill>
          <a:ln w="12700">
            <a:solidFill>
              <a:srgbClr val="2B645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E79"/>
          </a:solidFill>
          <a:ln w="12700">
            <a:solidFill>
              <a:srgbClr val="346E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365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365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570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أَرِيبَ</a:t>
            </a:r>
            <a:endParaRPr lang="ar-SA" sz="5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365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365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0115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بَرِيتَ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A5E"/>
          </a:solidFill>
          <a:ln w="12700">
            <a:solidFill>
              <a:srgbClr val="ED9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7461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7461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4725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تَرِيثَ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4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3E0"/>
          </a:solidFill>
          <a:ln w="12700">
            <a:solidFill>
              <a:srgbClr val="529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570"/>
          </a:solidFill>
          <a:ln w="12700">
            <a:solidFill>
              <a:srgbClr val="DB75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E8547"/>
          </a:solidFill>
          <a:ln w="12700">
            <a:solidFill>
              <a:srgbClr val="6E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7461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7461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ثَرِيجَ</a:t>
            </a:r>
            <a:endParaRPr lang="ar-SA" sz="6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1"/>
          </a:solidFill>
          <a:ln w="12700">
            <a:solidFill>
              <a:srgbClr val="D8648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1"/>
          </a:solidFill>
          <a:ln w="12700">
            <a:solidFill>
              <a:srgbClr val="D1478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461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4614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54899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جَرِيحَ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7700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7700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حَرِيخَ</a:t>
            </a:r>
            <a:endParaRPr lang="ar-SA" sz="6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32B64"/>
          </a:solidFill>
          <a:ln w="12700">
            <a:solidFill>
              <a:srgbClr val="4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43479"/>
          </a:solidFill>
          <a:ln w="12700">
            <a:solidFill>
              <a:srgbClr val="74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700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9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700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2034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خَرِيدَ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2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97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078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2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078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26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2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264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2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7111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دَرِيذَ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76"/>
          </a:solidFill>
          <a:ln w="12700">
            <a:solidFill>
              <a:srgbClr val="5EED7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18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7365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7365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731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ذَرِيأَ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6"/>
          </a:solidFill>
          <a:ln w="12700">
            <a:solidFill>
              <a:srgbClr val="E052B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6DB70"/>
          </a:solidFill>
          <a:ln w="12700">
            <a:solidFill>
              <a:srgbClr val="8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D85"/>
          </a:solidFill>
          <a:ln w="12700">
            <a:solidFill>
              <a:srgbClr val="477D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643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3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643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569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أَرِي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ED864"/>
          </a:solidFill>
          <a:ln w="12700">
            <a:solidFill>
              <a:srgbClr val="9E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3D147"/>
          </a:solidFill>
          <a:ln w="12700">
            <a:solidFill>
              <a:srgbClr val="A3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43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436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023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بَرِي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638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638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تَرِي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3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52B"/>
          </a:solidFill>
          <a:ln w="12700">
            <a:solidFill>
              <a:srgbClr val="6435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234"/>
          </a:solidFill>
          <a:ln w="12700">
            <a:solidFill>
              <a:srgbClr val="7962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657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0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657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872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ثَرِي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65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65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3739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جَرِي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6AED"/>
          </a:solidFill>
          <a:ln w="12700">
            <a:solidFill>
              <a:srgbClr val="5E6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65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65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3739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حَرِي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2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AE052"/>
          </a:solidFill>
          <a:ln w="12700">
            <a:solidFill>
              <a:srgbClr val="D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B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1DB"/>
          </a:solidFill>
          <a:ln w="12700">
            <a:solidFill>
              <a:srgbClr val="70A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D4785"/>
          </a:solidFill>
          <a:ln w="12700">
            <a:solidFill>
              <a:srgbClr val="7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6819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6819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011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خَرِي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BD8"/>
          </a:solidFill>
          <a:ln w="12700">
            <a:solidFill>
              <a:srgbClr val="64B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5D1"/>
          </a:solidFill>
          <a:ln w="12700">
            <a:solidFill>
              <a:srgbClr val="47C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12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12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5765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5765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387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دَرِي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777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6101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6101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6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585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ذَرِي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F642B"/>
          </a:solidFill>
          <a:ln w="12700">
            <a:solidFill>
              <a:srgbClr val="2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1"/>
          </a:solidFill>
          <a:ln w="12700">
            <a:solidFill>
              <a:srgbClr val="34795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41254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8200" dirty="0"/>
          </a:p>
        </p:txBody>
      </p:sp>
      <p:sp>
        <p:nvSpPr>
          <p:cNvPr id="16" name="C2 V1 vowel"/>
          <p:cNvSpPr txBox="1"/>
          <p:nvPr/>
        </p:nvSpPr>
        <p:spPr>
          <a:xfrm>
            <a:off x="6720840" y="141254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82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4343400" y="133502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8000" dirty="0"/>
          </a:p>
        </p:txBody>
      </p:sp>
      <p:sp>
        <p:nvSpPr>
          <p:cNvPr id="19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R result"/>
          <p:cNvSpPr txBox="1"/>
          <p:nvPr/>
        </p:nvSpPr>
        <p:spPr>
          <a:xfrm>
            <a:off x="685800" y="117127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زِي</a:t>
            </a:r>
            <a:endParaRPr lang="ar-SA" sz="10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169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169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869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زِيأَ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D"/>
          </a:solidFill>
          <a:ln w="12700">
            <a:solidFill>
              <a:srgbClr val="ED5E8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169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3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169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3706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زِيبَ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43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3"/>
          </a:solidFill>
          <a:ln w="12700">
            <a:solidFill>
              <a:srgbClr val="52E0C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4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C"/>
          </a:solidFill>
          <a:ln w="12700">
            <a:solidFill>
              <a:srgbClr val="DB70B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E47"/>
          </a:solidFill>
          <a:ln w="12700">
            <a:solidFill>
              <a:srgbClr val="856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135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135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4782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زِيتَ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8"/>
          </a:solidFill>
          <a:ln w="12700">
            <a:solidFill>
              <a:srgbClr val="D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B47D1"/>
          </a:solidFill>
          <a:ln w="12700">
            <a:solidFill>
              <a:srgbClr val="B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272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0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272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360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زِيثَ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237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237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4183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زِيجَ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E64"/>
          </a:solidFill>
          <a:ln w="12700">
            <a:solidFill>
              <a:srgbClr val="2B3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03479"/>
          </a:solidFill>
          <a:ln w="12700">
            <a:solidFill>
              <a:srgbClr val="40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237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237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4183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زِيحَ</a:t>
            </a:r>
            <a:endParaRPr lang="ar-SA" sz="8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442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442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5459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زِيخَ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1ED5E"/>
          </a:solidFill>
          <a:ln w="12700">
            <a:solidFill>
              <a:srgbClr val="B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033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033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006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7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006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7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4512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زِيدَ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052E0"/>
          </a:solidFill>
          <a:ln w="12700">
            <a:solidFill>
              <a:srgbClr val="A0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6DB70"/>
          </a:solidFill>
          <a:ln w="12700">
            <a:solidFill>
              <a:srgbClr val="D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F"/>
          </a:solidFill>
          <a:ln w="12700">
            <a:solidFill>
              <a:srgbClr val="47855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033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033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73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7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73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7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70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زِيذَ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C64"/>
          </a:solidFill>
          <a:ln w="12700">
            <a:solidFill>
              <a:srgbClr val="D8B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847"/>
          </a:solidFill>
          <a:ln w="12700">
            <a:solidFill>
              <a:srgbClr val="D19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033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033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790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790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3767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زِيرَ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00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00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570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أَزِيبَ</a:t>
            </a:r>
            <a:endParaRPr lang="ar-SA" sz="5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3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C"/>
          </a:solidFill>
          <a:ln w="12700">
            <a:solidFill>
              <a:srgbClr val="642B4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9"/>
          </a:solidFill>
          <a:ln w="12700">
            <a:solidFill>
              <a:srgbClr val="79343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6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68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00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800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6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690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6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0115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بَزِيتَ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85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070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4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070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4725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تَزِيثَ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5ED"/>
          </a:solidFill>
          <a:ln w="12700">
            <a:solidFill>
              <a:srgbClr val="5ED5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4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992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070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4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070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ثَزِيجَ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431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C52"/>
          </a:solidFill>
          <a:ln w="12700">
            <a:solidFill>
              <a:srgbClr val="E07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6"/>
          </a:solidFill>
          <a:ln w="12700">
            <a:solidFill>
              <a:srgbClr val="70DBC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F4785"/>
          </a:solidFill>
          <a:ln w="12700">
            <a:solidFill>
              <a:srgbClr val="4F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4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070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4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18070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4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417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4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54899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جَزِيحَ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F"/>
          </a:solidFill>
          <a:ln w="12700">
            <a:solidFill>
              <a:srgbClr val="64D89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6"/>
          </a:solidFill>
          <a:ln w="12700">
            <a:solidFill>
              <a:srgbClr val="47D17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240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8240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5068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حَزِيخَ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240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9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18240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562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5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62034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خَزِيدَ</a:t>
            </a:r>
            <a:endParaRPr lang="ar-SA" sz="6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433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A642B"/>
          </a:solidFill>
          <a:ln w="12700">
            <a:solidFill>
              <a:srgbClr val="5A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B7934"/>
          </a:solidFill>
          <a:ln w="12700">
            <a:solidFill>
              <a:srgbClr val="4B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96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0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596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7866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0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17866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20238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0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20238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0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67111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دَزِيذَ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238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0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238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7866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0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17866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52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0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529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0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67111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ذَزِيرَ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25EED"/>
          </a:solidFill>
          <a:ln w="12700">
            <a:solidFill>
              <a:srgbClr val="E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612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00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1800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473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2088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731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رَزِيأَ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8"/>
          </a:solidFill>
          <a:ln w="12700">
            <a:solidFill>
              <a:srgbClr val="52E05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B70DB"/>
          </a:solidFill>
          <a:ln w="12700">
            <a:solidFill>
              <a:srgbClr val="A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F"/>
          </a:solidFill>
          <a:ln w="12700">
            <a:solidFill>
              <a:srgbClr val="85474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3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20486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169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3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169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569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أَزِي</a:t>
            </a:r>
            <a:endParaRPr lang="ar-SA" sz="6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264D8"/>
          </a:solidFill>
          <a:ln w="12700">
            <a:solidFill>
              <a:srgbClr val="8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447D1"/>
          </a:solidFill>
          <a:ln w="12700">
            <a:solidFill>
              <a:srgbClr val="54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3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961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169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3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169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023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بَزِي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117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135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135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312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تَزِي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44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0"/>
          </a:solidFill>
          <a:ln w="12700">
            <a:solidFill>
              <a:srgbClr val="2B646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C79"/>
          </a:solidFill>
          <a:ln w="12700">
            <a:solidFill>
              <a:srgbClr val="345C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0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456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272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0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272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5872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ثَزِي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237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1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237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3739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جَزِي</a:t>
            </a:r>
            <a:endParaRPr lang="ar-SA" sz="8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F5E"/>
          </a:solidFill>
          <a:ln w="12700">
            <a:solidFill>
              <a:srgbClr val="EDBF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763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237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7237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3739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حَزِي</a:t>
            </a:r>
            <a:endParaRPr lang="ar-SA" sz="8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4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EE0"/>
          </a:solidFill>
          <a:ln w="12700">
            <a:solidFill>
              <a:srgbClr val="526E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070"/>
          </a:solidFill>
          <a:ln w="12700">
            <a:solidFill>
              <a:srgbClr val="DB9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E8547"/>
          </a:solidFill>
          <a:ln w="12700">
            <a:solidFill>
              <a:srgbClr val="5E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442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5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17442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655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2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5011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خَزِي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564"/>
          </a:solidFill>
          <a:ln w="12700">
            <a:solidFill>
              <a:srgbClr val="D86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D"/>
          </a:solidFill>
          <a:ln w="12700">
            <a:solidFill>
              <a:srgbClr val="D1475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6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6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033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17033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43878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دَزِي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73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9737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033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7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17033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5585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ذَزِي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12B64"/>
          </a:solidFill>
          <a:ln w="12700">
            <a:solidFill>
              <a:srgbClr val="5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D"/>
          </a:solidFill>
          <a:ln w="12700">
            <a:solidFill>
              <a:srgbClr val="79346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790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7790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033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7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7033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566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36074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رَزِي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13158" y="896112"/>
            <a:ext cx="18916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B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13158" y="896112"/>
            <a:ext cx="18916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رِيشٌ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439199" y="896112"/>
            <a:ext cx="205391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CB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39199" y="896112"/>
            <a:ext cx="205391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جَمِيلٌ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4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72830" y="2834640"/>
            <a:ext cx="359834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72830" y="2834640"/>
            <a:ext cx="359834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رِيشٌ جَمِيلٌ</a:t>
            </a:r>
            <a:endParaRPr lang="ar-SA" sz="47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B"/>
          </a:solidFill>
          <a:ln w="12700">
            <a:solidFill>
              <a:srgbClr val="5EED9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558147" y="896112"/>
            <a:ext cx="214318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99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558147" y="896112"/>
            <a:ext cx="21431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مِيزَانٌ</a:t>
            </a:r>
            <a:endParaRPr lang="ar-SA" sz="4800" dirty="0"/>
          </a:p>
        </p:txBody>
      </p:sp>
      <p:sp>
        <p:nvSpPr>
          <p:cNvPr id="20" name="C2 W2 pill"/>
          <p:cNvSpPr/>
          <p:nvPr/>
        </p:nvSpPr>
        <p:spPr>
          <a:xfrm>
            <a:off x="2442668" y="896112"/>
            <a:ext cx="179543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9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442668" y="896112"/>
            <a:ext cx="179543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كَبِيرٌ</a:t>
            </a:r>
            <a:endParaRPr lang="ar-SA" sz="48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6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796558" y="2834640"/>
            <a:ext cx="355088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796558" y="2834640"/>
            <a:ext cx="355088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مِيزَانٌ كَبِيرٌ</a:t>
            </a:r>
            <a:endParaRPr lang="ar-SA" sz="4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431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2"/>
          </a:solidFill>
          <a:ln w="12700">
            <a:solidFill>
              <a:srgbClr val="E0529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6"/>
          </a:solidFill>
          <a:ln w="12700">
            <a:solidFill>
              <a:srgbClr val="70DB7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D85"/>
          </a:solidFill>
          <a:ln w="12700">
            <a:solidFill>
              <a:srgbClr val="476D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048623" y="896112"/>
            <a:ext cx="151810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67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048623" y="896112"/>
            <a:ext cx="151810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رِيحٌ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577268" y="896112"/>
            <a:ext cx="215131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7E2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577268" y="896112"/>
            <a:ext cx="215131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وَمَطَرٌ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887477" y="2834640"/>
            <a:ext cx="336904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887477" y="2834640"/>
            <a:ext cx="336904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رِيحٌ وَمَطَرٌ</a:t>
            </a:r>
            <a:endParaRPr lang="ar-SA" sz="4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yaa 06-ra-zay</dc:title>
  <dc:subject>PptxGenJS Presentation</dc:subject>
  <dc:creator>PptxGenJS</dc:creator>
  <cp:lastModifiedBy>PptxGenJS</cp:lastModifiedBy>
  <cp:revision>1</cp:revision>
  <dcterms:created xsi:type="dcterms:W3CDTF">2026-10-21T19:56:09Z</dcterms:created>
  <dcterms:modified xsi:type="dcterms:W3CDTF">2026-10-21T19:56:09Z</dcterms:modified>
</cp:coreProperties>
</file>