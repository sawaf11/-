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</p:sldIdLst>
  <p:notesMasterIdLst>
    <p:notesMasterId r:id="rId76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notesMaster" Target="notesMasters/notesMaster1.xml"/><Relationship Id="rId77" Type="http://schemas.openxmlformats.org/officeDocument/2006/relationships/presProps" Target="presProps.xml"/><Relationship Id="rId78" Type="http://schemas.openxmlformats.org/officeDocument/2006/relationships/viewProps" Target="viewProps.xml"/><Relationship Id="rId79" Type="http://schemas.openxmlformats.org/officeDocument/2006/relationships/theme" Target="theme/theme1.xml"/><Relationship Id="rId8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مدّ الياء: الياء الساكنة المكسور ما قبلها، نحو «قِيلَ». نمدّ الصوت بمقدار حركتين (بِ ← بِي).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C52E0"/>
          </a:solidFill>
          <a:ln w="12700">
            <a:solidFill>
              <a:srgbClr val="AC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DDB70"/>
          </a:solidFill>
          <a:ln w="12700">
            <a:solidFill>
              <a:srgbClr val="CD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4"/>
          </a:solidFill>
          <a:ln w="12700">
            <a:solidFill>
              <a:srgbClr val="47856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379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6800" dirty="0"/>
          </a:p>
        </p:txBody>
      </p:sp>
      <p:sp>
        <p:nvSpPr>
          <p:cNvPr id="19" name="C2 V1 vowel"/>
          <p:cNvSpPr txBox="1"/>
          <p:nvPr/>
        </p:nvSpPr>
        <p:spPr>
          <a:xfrm>
            <a:off x="6720840" y="1379462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6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M2 madd"/>
          <p:cNvSpPr txBox="1"/>
          <p:nvPr/>
        </p:nvSpPr>
        <p:spPr>
          <a:xfrm>
            <a:off x="4343400" y="1343939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800" dirty="0"/>
          </a:p>
        </p:txBody>
      </p:sp>
      <p:sp>
        <p:nvSpPr>
          <p:cNvPr id="22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6 R result"/>
          <p:cNvSpPr txBox="1"/>
          <p:nvPr/>
        </p:nvSpPr>
        <p:spPr>
          <a:xfrm>
            <a:off x="685800" y="1057148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D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C664"/>
          </a:solidFill>
          <a:ln w="12700">
            <a:solidFill>
              <a:srgbClr val="D8C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A447"/>
          </a:solidFill>
          <a:ln w="12700">
            <a:solidFill>
              <a:srgbClr val="D1A4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8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سِيأَ</a:t>
            </a:r>
            <a:endParaRPr lang="ar-SA" sz="69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5F7E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5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6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0834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سِيبَ</a:t>
            </a:r>
            <a:endParaRPr lang="ar-SA" sz="72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4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7"/>
          </a:solidFill>
          <a:ln w="12700">
            <a:solidFill>
              <a:srgbClr val="642B47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534"/>
          </a:solidFill>
          <a:ln w="12700">
            <a:solidFill>
              <a:srgbClr val="7935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2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81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سِيتَ</a:t>
            </a:r>
            <a:endParaRPr lang="ar-SA" sz="72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3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31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سِيثَ</a:t>
            </a:r>
            <a:endParaRPr lang="ar-SA" sz="72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C5D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C8ED"/>
          </a:solidFill>
          <a:ln w="12700">
            <a:solidFill>
              <a:srgbClr val="5EC8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سِيجَ</a:t>
            </a:r>
            <a:endParaRPr lang="ar-SA" sz="8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43141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8852"/>
          </a:solidFill>
          <a:ln w="12700">
            <a:solidFill>
              <a:srgbClr val="E088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E6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F"/>
          </a:solidFill>
          <a:ln w="12700">
            <a:solidFill>
              <a:srgbClr val="70DBC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54785"/>
          </a:solidFill>
          <a:ln w="12700">
            <a:solidFill>
              <a:srgbClr val="55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سِيحَ</a:t>
            </a:r>
            <a:endParaRPr lang="ar-SA" sz="87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A9"/>
          </a:solidFill>
          <a:ln w="12700">
            <a:solidFill>
              <a:srgbClr val="64D8A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82"/>
          </a:solidFill>
          <a:ln w="12700">
            <a:solidFill>
              <a:srgbClr val="47D182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سِيخَ</a:t>
            </a:r>
            <a:endParaRPr lang="ar-SA" sz="7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C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سِيدَ</a:t>
            </a:r>
            <a:endParaRPr lang="ar-SA" sz="9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5642B"/>
          </a:solidFill>
          <a:ln w="12700">
            <a:solidFill>
              <a:srgbClr val="55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57934"/>
          </a:solidFill>
          <a:ln w="12700">
            <a:solidFill>
              <a:srgbClr val="45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سِيذَ</a:t>
            </a:r>
            <a:endParaRPr lang="ar-SA" sz="8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6319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سِيرَ</a:t>
            </a:r>
            <a:endParaRPr lang="ar-SA" sz="88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C5E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EC"/>
          </a:solidFill>
          <a:ln w="12700">
            <a:solidFill>
              <a:srgbClr val="ED5EE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سِيزَ</a:t>
            </a:r>
            <a:endParaRPr lang="ar-SA" sz="8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65"/>
          </a:solidFill>
          <a:ln w="12700">
            <a:solidFill>
              <a:srgbClr val="52E065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470DB"/>
          </a:solidFill>
          <a:ln w="12700">
            <a:solidFill>
              <a:srgbClr val="B4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49"/>
          </a:solidFill>
          <a:ln w="12700">
            <a:solidFill>
              <a:srgbClr val="854749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9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8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822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أَسِيبَ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5C9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C64D8"/>
          </a:solidFill>
          <a:ln w="12700">
            <a:solidFill>
              <a:srgbClr val="8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047D1"/>
          </a:solidFill>
          <a:ln w="12700">
            <a:solidFill>
              <a:srgbClr val="60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854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C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6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88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بَسِيتَ</a:t>
            </a:r>
            <a:endParaRPr lang="ar-SA" sz="55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6775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B2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3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6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تَسِيثَ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364"/>
          </a:solidFill>
          <a:ln w="12700">
            <a:solidFill>
              <a:srgbClr val="2B63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679"/>
          </a:solidFill>
          <a:ln w="12700">
            <a:solidFill>
              <a:srgbClr val="3456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9638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7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4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ثَسِيجَ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4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4955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588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جَسِيحَ</a:t>
            </a:r>
            <a:endParaRPr lang="ar-SA" sz="5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CB5E"/>
          </a:solidFill>
          <a:ln w="12700">
            <a:solidFill>
              <a:srgbClr val="EDCB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9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8547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9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9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3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9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حَسِيخَ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31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62E0"/>
          </a:solidFill>
          <a:ln w="12700">
            <a:solidFill>
              <a:srgbClr val="526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4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9A70"/>
          </a:solidFill>
          <a:ln w="12700">
            <a:solidFill>
              <a:srgbClr val="DB9A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98547"/>
          </a:solidFill>
          <a:ln w="12700">
            <a:solidFill>
              <a:srgbClr val="5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9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0481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9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9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77777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9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5622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5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6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9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5904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9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0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خَسِيدَ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F64"/>
          </a:solidFill>
          <a:ln w="12700">
            <a:solidFill>
              <a:srgbClr val="D86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1"/>
          </a:solidFill>
          <a:ln w="12700">
            <a:solidFill>
              <a:srgbClr val="D147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59159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8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44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دَسِيذَ</a:t>
            </a:r>
            <a:endParaRPr lang="ar-SA" sz="67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C7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1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201175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1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ذَسِيرَ</a:t>
            </a:r>
            <a:endParaRPr lang="ar-SA" sz="63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62B64"/>
          </a:solidFill>
          <a:ln w="12700">
            <a:solidFill>
              <a:srgbClr val="56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7"/>
          </a:solidFill>
          <a:ln w="12700">
            <a:solidFill>
              <a:srgbClr val="793467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1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7168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1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AA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38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رَسِيزَ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7E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1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24272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1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1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76859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1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4730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7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1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738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1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3037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زَسِيأَ</a:t>
            </a:r>
            <a:endParaRPr lang="ar-SA" sz="59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A7"/>
          </a:solidFill>
          <a:ln w="12700">
            <a:solidFill>
              <a:srgbClr val="5EEDA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7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315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7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أَسِي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4314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86"/>
          </a:solidFill>
          <a:ln w="12700">
            <a:solidFill>
              <a:srgbClr val="E0528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A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F"/>
          </a:solidFill>
          <a:ln w="12700">
            <a:solidFill>
              <a:srgbClr val="70DB7F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885"/>
          </a:solidFill>
          <a:ln w="12700">
            <a:solidFill>
              <a:srgbClr val="476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076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بَسِي</a:t>
            </a:r>
            <a:endParaRPr lang="ar-SA" sz="78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76D864"/>
          </a:solidFill>
          <a:ln w="12700">
            <a:solidFill>
              <a:srgbClr val="7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4D147"/>
          </a:solidFill>
          <a:ln w="12700">
            <a:solidFill>
              <a:srgbClr val="74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991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تَسِي</a:t>
            </a:r>
            <a:endParaRPr lang="ar-SA" sz="7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4274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ثَسِي</a:t>
            </a:r>
            <a:endParaRPr lang="ar-SA" sz="69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82B"/>
          </a:solidFill>
          <a:ln w="12700">
            <a:solidFill>
              <a:srgbClr val="6448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934"/>
          </a:solidFill>
          <a:ln w="12700">
            <a:solidFill>
              <a:srgbClr val="79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جَسِي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7441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2139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حَسِي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45EED"/>
          </a:solidFill>
          <a:ln w="12700">
            <a:solidFill>
              <a:srgbClr val="84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5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37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5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5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69079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5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655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2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خَسِي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A9E052"/>
          </a:solidFill>
          <a:ln w="12700">
            <a:solidFill>
              <a:srgbClr val="A9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98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7CDB"/>
          </a:solidFill>
          <a:ln w="12700">
            <a:solidFill>
              <a:srgbClr val="707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7"/>
          </a:solidFill>
          <a:ln w="12700">
            <a:solidFill>
              <a:srgbClr val="85477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90006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7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دَسِي</a:t>
            </a:r>
            <a:endParaRPr lang="ar-SA" sz="79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C5E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3D8"/>
          </a:solidFill>
          <a:ln w="12700">
            <a:solidFill>
              <a:srgbClr val="649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96D1"/>
          </a:solidFill>
          <a:ln w="12700">
            <a:solidFill>
              <a:srgbClr val="4796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6035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A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ذَسِي</a:t>
            </a:r>
            <a:endParaRPr lang="ar-SA" sz="72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99787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146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رَسِي</a:t>
            </a:r>
            <a:endParaRPr lang="ar-SA" sz="73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1F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A"/>
          </a:solidFill>
          <a:ln w="12700">
            <a:solidFill>
              <a:srgbClr val="2B643A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9"/>
          </a:solidFill>
          <a:ln w="12700">
            <a:solidFill>
              <a:srgbClr val="34796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007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7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6816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5666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54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2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زَسِي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5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6100" dirty="0"/>
          </a:p>
        </p:txBody>
      </p:sp>
      <p:sp>
        <p:nvSpPr>
          <p:cNvPr id="14" name="C2 V1 vowel"/>
          <p:cNvSpPr txBox="1"/>
          <p:nvPr/>
        </p:nvSpPr>
        <p:spPr>
          <a:xfrm>
            <a:off x="6720840" y="1504175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61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F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M2 madd"/>
          <p:cNvSpPr txBox="1"/>
          <p:nvPr/>
        </p:nvSpPr>
        <p:spPr>
          <a:xfrm>
            <a:off x="4343400" y="1379601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7000" dirty="0"/>
          </a:p>
        </p:txBody>
      </p:sp>
      <p:sp>
        <p:nvSpPr>
          <p:cNvPr id="17" name="C4 S2 stretch"/>
          <p:cNvSpPr/>
          <p:nvPr/>
        </p:nvSpPr>
        <p:spPr>
          <a:xfrm>
            <a:off x="4919472" y="136245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5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6 R result"/>
          <p:cNvSpPr txBox="1"/>
          <p:nvPr/>
        </p:nvSpPr>
        <p:spPr>
          <a:xfrm>
            <a:off x="685800" y="1257129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</a:t>
            </a:r>
            <a:endParaRPr lang="ar-SA" sz="99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7D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605E"/>
          </a:solidFill>
          <a:ln w="12700">
            <a:solidFill>
              <a:srgbClr val="ED60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B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77081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شِيأَ</a:t>
            </a:r>
            <a:endParaRPr lang="ar-SA" sz="69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CDE0"/>
          </a:solidFill>
          <a:ln w="12700">
            <a:solidFill>
              <a:srgbClr val="52CD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1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97"/>
          </a:solidFill>
          <a:ln w="12700">
            <a:solidFill>
              <a:srgbClr val="DB7097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8347"/>
          </a:solidFill>
          <a:ln w="12700">
            <a:solidFill>
              <a:srgbClr val="8583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2510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شِيبَ</a:t>
            </a:r>
            <a:endParaRPr lang="ar-SA" sz="72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0"/>
          </a:solidFill>
          <a:ln w="12700">
            <a:solidFill>
              <a:srgbClr val="D864B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B8"/>
          </a:solidFill>
          <a:ln w="12700">
            <a:solidFill>
              <a:srgbClr val="D147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8134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شِيتَ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E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E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63163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شِيثَ</a:t>
            </a:r>
            <a:endParaRPr lang="ar-SA" sz="7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142B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C2B64"/>
          </a:solidFill>
          <a:ln w="12700">
            <a:solidFill>
              <a:srgbClr val="2C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83479"/>
          </a:solidFill>
          <a:ln w="12700">
            <a:solidFill>
              <a:srgbClr val="58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شِيجَ</a:t>
            </a:r>
            <a:endParaRPr lang="ar-SA" sz="8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7C5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1831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شِيحَ</a:t>
            </a:r>
            <a:endParaRPr lang="ar-SA" sz="87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0ED5E"/>
          </a:solidFill>
          <a:ln w="12700">
            <a:solidFill>
              <a:srgbClr val="80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6 L3 letter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9" name="C7 V3 vowel"/>
          <p:cNvSpPr txBox="1"/>
          <p:nvPr/>
        </p:nvSpPr>
        <p:spPr>
          <a:xfrm>
            <a:off x="370332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45907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شِيخَ</a:t>
            </a:r>
            <a:endParaRPr lang="ar-SA" sz="75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152E0"/>
          </a:solidFill>
          <a:ln w="12700">
            <a:solidFill>
              <a:srgbClr val="D1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C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2DB70"/>
          </a:solidFill>
          <a:ln w="12700">
            <a:solidFill>
              <a:srgbClr val="B2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4"/>
          </a:solidFill>
          <a:ln w="12700">
            <a:solidFill>
              <a:srgbClr val="478574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6 L3 letter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6" name="C7 V3 vowel"/>
          <p:cNvSpPr txBox="1"/>
          <p:nvPr/>
        </p:nvSpPr>
        <p:spPr>
          <a:xfrm>
            <a:off x="370332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54062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شِيدَ</a:t>
            </a:r>
            <a:endParaRPr lang="ar-SA" sz="9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CDD864"/>
          </a:solidFill>
          <a:ln w="12700">
            <a:solidFill>
              <a:srgbClr val="C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C847"/>
          </a:solidFill>
          <a:ln w="12700">
            <a:solidFill>
              <a:srgbClr val="D1C8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65527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شِيذَ</a:t>
            </a:r>
            <a:endParaRPr lang="ar-SA" sz="83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C5F7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9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6 L3 letter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22" name="C7 V3 vowel"/>
          <p:cNvSpPr txBox="1"/>
          <p:nvPr/>
        </p:nvSpPr>
        <p:spPr>
          <a:xfrm>
            <a:off x="370332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7772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شِيرَ</a:t>
            </a:r>
            <a:endParaRPr lang="ar-SA" sz="88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43143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8"/>
          </a:solidFill>
          <a:ln w="12700">
            <a:solidFill>
              <a:srgbClr val="642B38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4634"/>
          </a:solidFill>
          <a:ln w="12700">
            <a:solidFill>
              <a:srgbClr val="7946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0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6 L3 letter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23" name="C7 V3 vowel"/>
          <p:cNvSpPr txBox="1"/>
          <p:nvPr/>
        </p:nvSpPr>
        <p:spPr>
          <a:xfrm>
            <a:off x="370332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7607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شِيزَ</a:t>
            </a:r>
            <a:endParaRPr lang="ar-SA" sz="8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M2 madd"/>
          <p:cNvSpPr txBox="1"/>
          <p:nvPr/>
        </p:nvSpPr>
        <p:spPr>
          <a:xfrm>
            <a:off x="548640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18" name="C4 S2 stretch"/>
          <p:cNvSpPr/>
          <p:nvPr/>
        </p:nvSpPr>
        <p:spPr>
          <a:xfrm>
            <a:off x="585673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5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6 L3 letter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21" name="C7 V3 vowel"/>
          <p:cNvSpPr txBox="1"/>
          <p:nvPr/>
        </p:nvSpPr>
        <p:spPr>
          <a:xfrm>
            <a:off x="370332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1786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شِيسَ</a:t>
            </a:r>
            <a:endParaRPr lang="ar-SA" sz="6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6" fill="hold">
                      <p:stCondLst>
                        <p:cond delay="indefinite"/>
                      </p:stCondLst>
                      <p:childTnLst>
                        <p:par>
                          <p:cTn id="37" fill="hold">
                            <p:stCondLst>
                              <p:cond delay="0"/>
                            </p:stCondLst>
                            <p:childTnLst>
                              <p:par>
                                <p:cTn id="3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C5C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A4ED"/>
          </a:solidFill>
          <a:ln w="12700">
            <a:solidFill>
              <a:srgbClr val="5EA4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B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7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82285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أَشِيبَ</a:t>
            </a:r>
            <a:endParaRPr lang="ar-SA" sz="5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431A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AD52"/>
          </a:solidFill>
          <a:ln w="12700">
            <a:solidFill>
              <a:srgbClr val="E0AD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E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CCDB"/>
          </a:solidFill>
          <a:ln w="12700">
            <a:solidFill>
              <a:srgbClr val="70CC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44785"/>
          </a:solidFill>
          <a:ln w="12700">
            <a:solidFill>
              <a:srgbClr val="64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8861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C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4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68803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بَشِيتَ</a:t>
            </a:r>
            <a:endParaRPr lang="ar-SA" sz="55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C5F7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C7"/>
          </a:solidFill>
          <a:ln w="12700">
            <a:solidFill>
              <a:srgbClr val="64D8C7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A5"/>
          </a:solidFill>
          <a:ln w="12700">
            <a:solidFill>
              <a:srgbClr val="47D1A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966684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3B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664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تَشِيثَ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99252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5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6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9397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ثَشِيجَ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7642B"/>
          </a:solidFill>
          <a:ln w="12700">
            <a:solidFill>
              <a:srgbClr val="47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5"/>
          </a:solidFill>
          <a:ln w="12700">
            <a:solidFill>
              <a:srgbClr val="347935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8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58823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جَشِيحَ</a:t>
            </a:r>
            <a:endParaRPr lang="ar-SA" sz="5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6001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5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B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661351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حَشِيخَ</a:t>
            </a:r>
            <a:endParaRPr lang="ar-SA" sz="5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C7"/>
          </a:solidFill>
          <a:ln w="12700">
            <a:solidFill>
              <a:srgbClr val="ED5EC7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22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3" name="C1 L1 letter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700" dirty="0"/>
          </a:p>
        </p:txBody>
      </p:sp>
      <p:sp>
        <p:nvSpPr>
          <p:cNvPr id="24" name="C2 V1 vowel"/>
          <p:cNvSpPr txBox="1"/>
          <p:nvPr/>
        </p:nvSpPr>
        <p:spPr>
          <a:xfrm>
            <a:off x="7589520" y="190747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3700" dirty="0"/>
          </a:p>
        </p:txBody>
      </p:sp>
      <p:sp>
        <p:nvSpPr>
          <p:cNvPr id="25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7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8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30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9 L4 letter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33" name="C10 V4 vowel"/>
          <p:cNvSpPr txBox="1"/>
          <p:nvPr/>
        </p:nvSpPr>
        <p:spPr>
          <a:xfrm>
            <a:off x="3145536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34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9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C12 R result"/>
          <p:cNvSpPr txBox="1"/>
          <p:nvPr/>
        </p:nvSpPr>
        <p:spPr>
          <a:xfrm>
            <a:off x="384048" y="1703567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خَشِيدَ</a:t>
            </a:r>
            <a:endParaRPr lang="ar-SA" sz="6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  <p:bldP spid="33" grpId="0" animBg="1"/>
      <p:bldP spid="34" grpId="0" animBg="1"/>
      <p:bldP spid="35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19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89"/>
          </a:solidFill>
          <a:ln w="12700">
            <a:solidFill>
              <a:srgbClr val="52E089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E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070DB"/>
          </a:solidFill>
          <a:ln w="12700">
            <a:solidFill>
              <a:srgbClr val="D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547"/>
          </a:solidFill>
          <a:ln w="12700">
            <a:solidFill>
              <a:srgbClr val="855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9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0" name="C1 L1 letter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700" dirty="0"/>
          </a:p>
        </p:txBody>
      </p:sp>
      <p:sp>
        <p:nvSpPr>
          <p:cNvPr id="21" name="C2 V1 vowel"/>
          <p:cNvSpPr txBox="1"/>
          <p:nvPr/>
        </p:nvSpPr>
        <p:spPr>
          <a:xfrm>
            <a:off x="7589520" y="1958931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3700" dirty="0"/>
          </a:p>
        </p:txBody>
      </p:sp>
      <p:sp>
        <p:nvSpPr>
          <p:cNvPr id="22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4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5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7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C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9 L4 letter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30" name="C10 V4 vowel"/>
          <p:cNvSpPr txBox="1"/>
          <p:nvPr/>
        </p:nvSpPr>
        <p:spPr>
          <a:xfrm>
            <a:off x="3145536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31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2E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C12 R result"/>
          <p:cNvSpPr txBox="1"/>
          <p:nvPr/>
        </p:nvSpPr>
        <p:spPr>
          <a:xfrm>
            <a:off x="384048" y="1744915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دَشِيذَ</a:t>
            </a:r>
            <a:endParaRPr lang="ar-SA" sz="67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  <p:bldP spid="32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AA64D8"/>
          </a:solidFill>
          <a:ln w="12700">
            <a:solidFill>
              <a:srgbClr val="AA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347D1"/>
          </a:solidFill>
          <a:ln w="12700">
            <a:solidFill>
              <a:srgbClr val="83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2006390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B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729759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ذَشِيرَ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700" dirty="0"/>
          </a:p>
        </p:txBody>
      </p:sp>
      <p:sp>
        <p:nvSpPr>
          <p:cNvPr id="17" name="C2 V1 vowel"/>
          <p:cNvSpPr txBox="1"/>
          <p:nvPr/>
        </p:nvSpPr>
        <p:spPr>
          <a:xfrm>
            <a:off x="7589520" y="187998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3700" dirty="0"/>
          </a:p>
        </p:txBody>
      </p:sp>
      <p:sp>
        <p:nvSpPr>
          <p:cNvPr id="18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0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1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3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8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L4 letter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26" name="C10 V4 vowel"/>
          <p:cNvSpPr txBox="1"/>
          <p:nvPr/>
        </p:nvSpPr>
        <p:spPr>
          <a:xfrm>
            <a:off x="3145536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27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4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2 R result"/>
          <p:cNvSpPr txBox="1"/>
          <p:nvPr/>
        </p:nvSpPr>
        <p:spPr>
          <a:xfrm>
            <a:off x="384048" y="1688148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رَشِيزَ</a:t>
            </a:r>
            <a:endParaRPr lang="ar-SA" sz="62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564"/>
          </a:solidFill>
          <a:ln w="12700">
            <a:solidFill>
              <a:srgbClr val="2B55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479"/>
          </a:solidFill>
          <a:ln w="12700">
            <a:solidFill>
              <a:srgbClr val="344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6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7" name="C1 L1 letter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700" dirty="0"/>
          </a:p>
        </p:txBody>
      </p:sp>
      <p:sp>
        <p:nvSpPr>
          <p:cNvPr id="18" name="C2 V1 vowel"/>
          <p:cNvSpPr txBox="1"/>
          <p:nvPr/>
        </p:nvSpPr>
        <p:spPr>
          <a:xfrm>
            <a:off x="7589520" y="1927447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3700" dirty="0"/>
          </a:p>
        </p:txBody>
      </p:sp>
      <p:sp>
        <p:nvSpPr>
          <p:cNvPr id="19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21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2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4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D9265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C9 L4 letter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27" name="C10 V4 vowel"/>
          <p:cNvSpPr txBox="1"/>
          <p:nvPr/>
        </p:nvSpPr>
        <p:spPr>
          <a:xfrm>
            <a:off x="3145536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28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B86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C12 R result"/>
          <p:cNvSpPr txBox="1"/>
          <p:nvPr/>
        </p:nvSpPr>
        <p:spPr>
          <a:xfrm>
            <a:off x="384048" y="169926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زَشِيسَ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7C5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589520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6108192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4626864" y="1956816"/>
            <a:ext cx="1207008" cy="1207008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Circle 4"/>
          <p:cNvSpPr/>
          <p:nvPr/>
        </p:nvSpPr>
        <p:spPr>
          <a:xfrm>
            <a:off x="3145536" y="1956816"/>
            <a:ext cx="1207008" cy="1207008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8E5BD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384048" y="1737360"/>
            <a:ext cx="2194560" cy="1645920"/>
          </a:xfrm>
          <a:prstGeom prst="roundRect">
            <a:avLst>
              <a:gd name="adj" fmla="val 16667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589520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700" dirty="0"/>
          </a:p>
        </p:txBody>
      </p:sp>
      <p:sp>
        <p:nvSpPr>
          <p:cNvPr id="16" name="C2 V1 vowel"/>
          <p:cNvSpPr txBox="1"/>
          <p:nvPr/>
        </p:nvSpPr>
        <p:spPr>
          <a:xfrm>
            <a:off x="7589520" y="1875523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3700" dirty="0"/>
          </a:p>
        </p:txBody>
      </p:sp>
      <p:sp>
        <p:nvSpPr>
          <p:cNvPr id="17" name="C3 P1 plus"/>
          <p:cNvSpPr/>
          <p:nvPr/>
        </p:nvSpPr>
        <p:spPr>
          <a:xfrm>
            <a:off x="7333488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700" dirty="0"/>
          </a:p>
        </p:txBody>
      </p:sp>
      <p:sp>
        <p:nvSpPr>
          <p:cNvPr id="19" name="C5 V2 vowel"/>
          <p:cNvSpPr txBox="1"/>
          <p:nvPr/>
        </p:nvSpPr>
        <p:spPr>
          <a:xfrm>
            <a:off x="6108192" y="1843108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700" dirty="0"/>
          </a:p>
        </p:txBody>
      </p:sp>
      <p:sp>
        <p:nvSpPr>
          <p:cNvPr id="20" name="C6 P2 plus"/>
          <p:cNvSpPr/>
          <p:nvPr/>
        </p:nvSpPr>
        <p:spPr>
          <a:xfrm>
            <a:off x="5852160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4626864" y="176513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300" dirty="0"/>
          </a:p>
        </p:txBody>
      </p:sp>
      <p:sp>
        <p:nvSpPr>
          <p:cNvPr id="22" name="C7 S3 stretch"/>
          <p:cNvSpPr/>
          <p:nvPr/>
        </p:nvSpPr>
        <p:spPr>
          <a:xfrm>
            <a:off x="4937760" y="1627632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P3 plus"/>
          <p:cNvSpPr/>
          <p:nvPr/>
        </p:nvSpPr>
        <p:spPr>
          <a:xfrm>
            <a:off x="4370832" y="2441448"/>
            <a:ext cx="237744" cy="237744"/>
          </a:xfrm>
          <a:prstGeom prst="mathPlus">
            <a:avLst/>
          </a:prstGeom>
          <a:solidFill>
            <a:srgbClr val="26D9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L4 letter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3700" dirty="0"/>
          </a:p>
        </p:txBody>
      </p:sp>
      <p:sp>
        <p:nvSpPr>
          <p:cNvPr id="25" name="C10 V4 vowel"/>
          <p:cNvSpPr txBox="1"/>
          <p:nvPr/>
        </p:nvSpPr>
        <p:spPr>
          <a:xfrm>
            <a:off x="3145536" y="2062415"/>
            <a:ext cx="1207008" cy="1207008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3700" dirty="0"/>
          </a:p>
        </p:txBody>
      </p:sp>
      <p:sp>
        <p:nvSpPr>
          <p:cNvPr id="26" name="C11 A arrow"/>
          <p:cNvSpPr/>
          <p:nvPr/>
        </p:nvSpPr>
        <p:spPr>
          <a:xfrm>
            <a:off x="2651760" y="2304288"/>
            <a:ext cx="420624" cy="512064"/>
          </a:xfrm>
          <a:prstGeom prst="leftArrow">
            <a:avLst/>
          </a:prstGeom>
          <a:solidFill>
            <a:srgbClr val="2EB8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12 R result"/>
          <p:cNvSpPr txBox="1"/>
          <p:nvPr/>
        </p:nvSpPr>
        <p:spPr>
          <a:xfrm>
            <a:off x="384048" y="1844150"/>
            <a:ext cx="2194560" cy="16459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سَشِيأَ</a:t>
            </a:r>
            <a:endParaRPr lang="ar-SA" sz="59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1" fill="hold">
                      <p:stCondLst>
                        <p:cond delay="indefinite"/>
                      </p:stCondLst>
                      <p:childTnLst>
                        <p:par>
                          <p:cTn id="52" fill="hold">
                            <p:stCondLst>
                              <p:cond delay="0"/>
                            </p:stCondLst>
                            <p:childTnLst>
                              <p:par>
                                <p:cTn id="5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5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56" fill="hold">
                      <p:stCondLst>
                        <p:cond delay="indefinite"/>
                      </p:stCondLst>
                      <p:childTnLst>
                        <p:par>
                          <p:cTn id="57" fill="hold">
                            <p:stCondLst>
                              <p:cond delay="0"/>
                            </p:stCondLst>
                            <p:childTnLst>
                              <p:par>
                                <p:cTn id="5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61" fill="hold">
                      <p:stCondLst>
                        <p:cond delay="indefinite"/>
                      </p:stCondLst>
                      <p:childTnLst>
                        <p:par>
                          <p:cTn id="62" fill="hold">
                            <p:stCondLst>
                              <p:cond delay="0"/>
                            </p:stCondLst>
                            <p:childTnLst>
                              <p:par>
                                <p:cTn id="6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6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BED5E"/>
          </a:solidFill>
          <a:ln w="12700">
            <a:solidFill>
              <a:srgbClr val="EB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201724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656903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أَشِي</a:t>
            </a:r>
            <a:endParaRPr lang="ar-SA" sz="6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1425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6652E0"/>
          </a:solidFill>
          <a:ln w="12700">
            <a:solidFill>
              <a:srgbClr val="66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E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B570"/>
          </a:solidFill>
          <a:ln w="12700">
            <a:solidFill>
              <a:srgbClr val="DBB5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98547"/>
          </a:solidFill>
          <a:ln w="12700">
            <a:solidFill>
              <a:srgbClr val="49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17195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9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2501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بَشِي</a:t>
            </a:r>
            <a:endParaRPr lang="ar-SA" sz="78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8D64"/>
          </a:solidFill>
          <a:ln w="12700">
            <a:solidFill>
              <a:srgbClr val="D88D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6147"/>
          </a:solidFill>
          <a:ln w="12700">
            <a:solidFill>
              <a:srgbClr val="D16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08581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C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6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31264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تَشِي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C5F7D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937918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B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58720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ثَشِي</a:t>
            </a:r>
            <a:endParaRPr lang="ar-SA" sz="69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2C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63"/>
          </a:solidFill>
          <a:ln w="12700">
            <a:solidFill>
              <a:srgbClr val="642B6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6"/>
          </a:solidFill>
          <a:ln w="12700">
            <a:solidFill>
              <a:srgbClr val="793456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432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جَشِي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7E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78750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4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6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326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حَشِي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C5F2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CC"/>
          </a:solidFill>
          <a:ln w="12700">
            <a:solidFill>
              <a:srgbClr val="5EEDCC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200" dirty="0"/>
          </a:p>
        </p:txBody>
      </p:sp>
      <p:sp>
        <p:nvSpPr>
          <p:cNvPr id="23" name="C2 V1 vowel"/>
          <p:cNvSpPr txBox="1"/>
          <p:nvPr/>
        </p:nvSpPr>
        <p:spPr>
          <a:xfrm>
            <a:off x="7269480" y="1841373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</a:t>
            </a:r>
            <a:endParaRPr lang="ar-SA" sz="42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6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3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9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9 R result"/>
          <p:cNvSpPr txBox="1"/>
          <p:nvPr/>
        </p:nvSpPr>
        <p:spPr>
          <a:xfrm>
            <a:off x="502920" y="1512468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خَشِي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61"/>
          </a:solidFill>
          <a:ln w="12700">
            <a:solidFill>
              <a:srgbClr val="E0526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B4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9A"/>
          </a:solidFill>
          <a:ln w="12700">
            <a:solidFill>
              <a:srgbClr val="70DB9A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885"/>
          </a:solidFill>
          <a:ln w="12700">
            <a:solidFill>
              <a:srgbClr val="4758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200" dirty="0"/>
          </a:p>
        </p:txBody>
      </p:sp>
      <p:sp>
        <p:nvSpPr>
          <p:cNvPr id="20" name="C2 V1 vowel"/>
          <p:cNvSpPr txBox="1"/>
          <p:nvPr/>
        </p:nvSpPr>
        <p:spPr>
          <a:xfrm>
            <a:off x="7269480" y="18997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</a:t>
            </a:r>
            <a:endParaRPr lang="ar-SA" sz="42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3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6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6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9 R result"/>
          <p:cNvSpPr txBox="1"/>
          <p:nvPr/>
        </p:nvSpPr>
        <p:spPr>
          <a:xfrm>
            <a:off x="502920" y="1448772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دَشِي</a:t>
            </a:r>
            <a:endParaRPr lang="ar-SA" sz="79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D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0"/>
          </a:solidFill>
          <a:ln w="12700">
            <a:solidFill>
              <a:srgbClr val="64D87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0D147"/>
          </a:solidFill>
          <a:ln w="12700">
            <a:solidFill>
              <a:srgbClr val="50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953654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558595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ذَشِي</a:t>
            </a:r>
            <a:endParaRPr lang="ar-SA" sz="7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200" dirty="0"/>
          </a:p>
        </p:txBody>
      </p:sp>
      <p:sp>
        <p:nvSpPr>
          <p:cNvPr id="16" name="C2 V1 vowel"/>
          <p:cNvSpPr txBox="1"/>
          <p:nvPr/>
        </p:nvSpPr>
        <p:spPr>
          <a:xfrm>
            <a:off x="7269480" y="1810169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</a:t>
            </a:r>
            <a:endParaRPr lang="ar-SA" sz="42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9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D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2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9 R result"/>
          <p:cNvSpPr txBox="1"/>
          <p:nvPr/>
        </p:nvSpPr>
        <p:spPr>
          <a:xfrm>
            <a:off x="502920" y="1426661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رَشِي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4320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72B"/>
          </a:solidFill>
          <a:ln w="12700">
            <a:solidFill>
              <a:srgbClr val="6457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77934"/>
          </a:solidFill>
          <a:ln w="12700">
            <a:solidFill>
              <a:srgbClr val="67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200" dirty="0"/>
          </a:p>
        </p:txBody>
      </p:sp>
      <p:sp>
        <p:nvSpPr>
          <p:cNvPr id="17" name="C2 V1 vowel"/>
          <p:cNvSpPr txBox="1"/>
          <p:nvPr/>
        </p:nvSpPr>
        <p:spPr>
          <a:xfrm>
            <a:off x="7269480" y="186404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</a:t>
            </a:r>
            <a:endParaRPr lang="ar-SA" sz="42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20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A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3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3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9 R result"/>
          <p:cNvSpPr txBox="1"/>
          <p:nvPr/>
        </p:nvSpPr>
        <p:spPr>
          <a:xfrm>
            <a:off x="502920" y="1508246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زَشِي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F59F00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200" dirty="0"/>
          </a:p>
        </p:txBody>
      </p:sp>
      <p:sp>
        <p:nvSpPr>
          <p:cNvPr id="15" name="C2 V1 vowel"/>
          <p:cNvSpPr txBox="1"/>
          <p:nvPr/>
        </p:nvSpPr>
        <p:spPr>
          <a:xfrm>
            <a:off x="7269480" y="1805102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</a:t>
            </a:r>
            <a:endParaRPr lang="ar-SA" sz="42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200" dirty="0"/>
          </a:p>
        </p:txBody>
      </p:sp>
      <p:sp>
        <p:nvSpPr>
          <p:cNvPr id="18" name="C5 V2 vowel"/>
          <p:cNvSpPr txBox="1"/>
          <p:nvPr/>
        </p:nvSpPr>
        <p:spPr>
          <a:xfrm>
            <a:off x="5486400" y="1768306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2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M3 madd"/>
          <p:cNvSpPr txBox="1"/>
          <p:nvPr/>
        </p:nvSpPr>
        <p:spPr>
          <a:xfrm>
            <a:off x="3703320" y="168341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800" dirty="0"/>
          </a:p>
        </p:txBody>
      </p:sp>
      <p:sp>
        <p:nvSpPr>
          <p:cNvPr id="21" name="C7 S3 stretch"/>
          <p:cNvSpPr/>
          <p:nvPr/>
        </p:nvSpPr>
        <p:spPr>
          <a:xfrm>
            <a:off x="4073652" y="1568196"/>
            <a:ext cx="585216" cy="256032"/>
          </a:xfrm>
          <a:prstGeom prst="leftRightArrow">
            <a:avLst/>
          </a:prstGeom>
          <a:solidFill>
            <a:srgbClr val="F59F0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8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4D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9 R result"/>
          <p:cNvSpPr txBox="1"/>
          <p:nvPr/>
        </p:nvSpPr>
        <p:spPr>
          <a:xfrm>
            <a:off x="502920" y="1450689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سَشِي</a:t>
            </a:r>
            <a:endParaRPr lang="ar-SA" sz="65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1" fill="hold">
                      <p:stCondLst>
                        <p:cond delay="indefinite"/>
                      </p:stCondLst>
                      <p:childTnLst>
                        <p:par>
                          <p:cTn id="42" fill="hold">
                            <p:stCondLst>
                              <p:cond delay="0"/>
                            </p:stCondLst>
                            <p:childTnLst>
                              <p:par>
                                <p:cTn id="4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5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6" fill="hold">
                      <p:stCondLst>
                        <p:cond delay="indefinite"/>
                      </p:stCondLst>
                      <p:childTnLst>
                        <p:par>
                          <p:cTn id="47" fill="hold">
                            <p:stCondLst>
                              <p:cond delay="0"/>
                            </p:stCondLst>
                            <p:childTnLst>
                              <p:par>
                                <p:cTn id="48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0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EF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A85EED"/>
          </a:solidFill>
          <a:ln w="12700">
            <a:solidFill>
              <a:srgbClr val="A8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623290" y="896112"/>
            <a:ext cx="201289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3689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623290" y="896112"/>
            <a:ext cx="201289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507812" y="896112"/>
            <a:ext cx="1795439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89E236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507812" y="896112"/>
            <a:ext cx="1795439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كَبِيرٌ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B8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878568" y="2834640"/>
            <a:ext cx="338686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878568" y="2834640"/>
            <a:ext cx="338686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كِيسٌ كَبِيرٌ</a:t>
            </a:r>
            <a:endParaRPr lang="ar-SA" sz="48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85E052"/>
          </a:solidFill>
          <a:ln w="12700">
            <a:solidFill>
              <a:srgbClr val="85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9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070DB"/>
          </a:solidFill>
          <a:ln w="12700">
            <a:solidFill>
              <a:srgbClr val="80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7"/>
          </a:solidFill>
          <a:ln w="12700">
            <a:solidFill>
              <a:srgbClr val="854767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656595" y="896112"/>
            <a:ext cx="17695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57E236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656595" y="896112"/>
            <a:ext cx="17695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رِيشُ</a:t>
            </a:r>
            <a:endParaRPr lang="ar-SA" sz="4100" dirty="0"/>
          </a:p>
        </p:txBody>
      </p:sp>
      <p:sp>
        <p:nvSpPr>
          <p:cNvPr id="17" name="C2 W2 pill"/>
          <p:cNvSpPr/>
          <p:nvPr/>
        </p:nvSpPr>
        <p:spPr>
          <a:xfrm>
            <a:off x="2717887" y="896112"/>
            <a:ext cx="161866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57E2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717887" y="896112"/>
            <a:ext cx="161866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طَيْرٍ</a:t>
            </a:r>
            <a:endParaRPr lang="ar-SA" sz="41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9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3047865" y="2834640"/>
            <a:ext cx="304827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3047865" y="2834640"/>
            <a:ext cx="304827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رِيشُ طَيْرٍ</a:t>
            </a:r>
            <a:endParaRPr lang="ar-SA" sz="42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75D8"/>
          </a:solidFill>
          <a:ln w="12700">
            <a:solidFill>
              <a:srgbClr val="6475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73D1"/>
          </a:solidFill>
          <a:ln w="12700">
            <a:solidFill>
              <a:srgbClr val="477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747808" y="896112"/>
            <a:ext cx="225564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836E2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747808" y="896112"/>
            <a:ext cx="225564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</a:t>
            </a:r>
            <a:endParaRPr lang="ar-SA" sz="5600" dirty="0"/>
          </a:p>
        </p:txBody>
      </p:sp>
      <p:sp>
        <p:nvSpPr>
          <p:cNvPr id="12" name="C2 W2 pill"/>
          <p:cNvSpPr/>
          <p:nvPr/>
        </p:nvSpPr>
        <p:spPr>
          <a:xfrm>
            <a:off x="2140549" y="896112"/>
            <a:ext cx="2287218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83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140549" y="896112"/>
            <a:ext cx="2287218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سَعِيدٌ</a:t>
            </a:r>
            <a:endParaRPr lang="ar-SA" sz="56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A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500093" y="2834640"/>
            <a:ext cx="4143814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500093" y="2834640"/>
            <a:ext cx="4143814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يَسِيرُ سَعِيدٌ</a:t>
            </a:r>
            <a:endParaRPr lang="ar-SA" sz="57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74</Slides>
  <Notes>74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74</vt:i4>
      </vt:variant>
    </vt:vector>
  </HeadingPairs>
  <TitlesOfParts>
    <vt:vector size="7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Madd with yaa 07-seen-sheen</dc:title>
  <dc:subject>PptxGenJS Presentation</dc:subject>
  <dc:creator>PptxGenJS</dc:creator>
  <cp:lastModifiedBy>PptxGenJS</cp:lastModifiedBy>
  <cp:revision>1</cp:revision>
  <dcterms:created xsi:type="dcterms:W3CDTF">2026-10-21T17:58:00Z</dcterms:created>
  <dcterms:modified xsi:type="dcterms:W3CDTF">2026-10-21T17:58:00Z</dcterms:modified>
</cp:coreProperties>
</file>