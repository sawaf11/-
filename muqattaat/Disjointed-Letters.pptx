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openings are among the most recited words of the Quran. Their meaning is known to Allah. Today we learn only how to read them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الٓمٓ is not read as the word 'alam'. It is three letter names: alif - laam - meem, like saying 'A, L, M' 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14 letters are gathered in the sentence نَصٌّ حَكِيمٌ قَاطِعٌ لَهُۥ سِرٌّ (a wise, decisive text that has a secret). First 7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other 7 letters with their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letters have short names ending in a long aa: حَا يَا طَا هَا رَا. Stretch them 2 counts only (natural madd). Memory phrase: حَيٌّ طَهُرَ.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letters have names of three letters with a long vowel in the middle and a silent last letter (noon, qaaf, saad, 'ayn, seen, laam, kaaf, meem). The long vowel is stretched 6 counts (al-madd al-lazim). For 'ayn the vowel is a soft ay: 4 or 6 counts are allowed, 6 is preferred. Memory phrase: نَقَصَ عَسَلُكُمۡ. In the Mushaf these letters carry the madd sign ~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Alif is the only letter with no long vowel in its name (a-lif), so it is not stretched.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Madinah Mushaf the madd sign (a small wave) is printed on the 6-count letters: لٓ مٓ صٓ نٓ قٓ سٓ كٓ عٓ. Letters like ر ه ط ح ي have no sign: 2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Surahs: al-Baqarah, Al 'Imran, al-'Ankabut, ar-Rum, Luqman, as-Sajdah. The meem at the end of 'laam' merges into the meem of 'meem' (idgham with ghunnah): laaam-meeem. In Al 'Imran, when connected to ٱللَّهُ, the last meem takes a fathah: alif laaam meeemal-laah (2 or 6 counts).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al-A'raf. Four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Surahs: Yunus, Hud, Yusuf, Ibrahim, al-Hijr. Raa has a short name: only 2 counts. Laam: 6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ar-Ra'd. The meem of laam merges into meem, as in الٓمٓ.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Maryam. Five names. The noon at the end of 'ayn is followed by saad, so it is hidden with a nasal sound (ikhfa).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Ta-Ha: taa haa.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noon at the end of 'seen' merges into the meem (idgham with ghunnah): taa seeem-meeem.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an-Naml.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Ya-Sin. In the reading of Hafs the noon of 'seen' is pronounced clearly before wal-qur'aan (no merging).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Sad.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Ha-Meem surahs: Ghafir, Fussilat, ash-Shura, az-Zukhruf, ad-Dukhan, al-Jathiyah, al-Ahqaf. Haa: 2 counts, Meem: 6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ash-Shura: verse 1 is حمٓ, verse 2 is عٓسٓقٓ. The noon of 'ayn is followed by seen and the noon of seen by qaaf: both hidden (ikhfa).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Qaf.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Surat al-Qalam. In Hafs the last noon is pronounced clearly before wal-qalam.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learners to say it before you reveal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Raa: only 2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longest opening: five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14 openings with the learners and count the beats together on your fingers.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Disjointed Letters (al-Huruf al-Muqatta'at)</a:t>
            </a:r>
            <a:endParaRPr lang="en-US" sz="1800" dirty="0"/>
          </a:p>
        </p:txBody>
      </p:sp>
      <p:sp>
        <p:nvSpPr>
          <p:cNvPr id="12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3" name="C1 line 1"/>
          <p:cNvSpPr txBox="1"/>
          <p:nvPr/>
        </p:nvSpPr>
        <p:spPr>
          <a:xfrm>
            <a:off x="502920" y="1651353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surahs begin with single letters, like الٓمٓ.</a:t>
            </a:r>
            <a:endParaRPr lang="en-US" sz="1600" dirty="0"/>
          </a:p>
        </p:txBody>
      </p:sp>
      <p:sp>
        <p:nvSpPr>
          <p:cNvPr id="14" name="C2 line 2"/>
          <p:cNvSpPr txBox="1"/>
          <p:nvPr/>
        </p:nvSpPr>
        <p:spPr>
          <a:xfrm>
            <a:off x="502920" y="230035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read them as one word.</a:t>
            </a:r>
            <a:endParaRPr lang="en-US" sz="1600" dirty="0"/>
          </a:p>
        </p:txBody>
      </p:sp>
      <p:sp>
        <p:nvSpPr>
          <p:cNvPr id="15" name="C3 line 3"/>
          <p:cNvSpPr txBox="1"/>
          <p:nvPr/>
        </p:nvSpPr>
        <p:spPr>
          <a:xfrm>
            <a:off x="502920" y="290868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read each letter by its NAME,</a:t>
            </a:r>
            <a:endParaRPr lang="en-US" sz="1600" dirty="0"/>
          </a:p>
        </p:txBody>
      </p:sp>
      <p:sp>
        <p:nvSpPr>
          <p:cNvPr id="16" name="C4 line 4"/>
          <p:cNvSpPr txBox="1"/>
          <p:nvPr/>
        </p:nvSpPr>
        <p:spPr>
          <a:xfrm>
            <a:off x="502920" y="3537331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spelling in English: A - B - C.</a:t>
            </a:r>
            <a:endParaRPr lang="en-US" sz="1600" dirty="0"/>
          </a:p>
        </p:txBody>
      </p:sp>
      <p:sp>
        <p:nvSpPr>
          <p:cNvPr id="17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8" name="Arabic sample"/>
          <p:cNvSpPr txBox="1"/>
          <p:nvPr/>
        </p:nvSpPr>
        <p:spPr>
          <a:xfrm>
            <a:off x="6035040" y="1425259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الٓمٓ</a:t>
            </a:r>
            <a:endParaRPr lang="ar-SA" sz="109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85E"/>
          </a:solidFill>
          <a:ln w="12700">
            <a:solidFill>
              <a:srgbClr val="EDB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84047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NAMES, not the sounds</a:t>
            </a:r>
            <a:endParaRPr lang="en-US" sz="19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62703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الٓمٓ</a:t>
            </a:r>
            <a:endParaRPr lang="ar-SA" sz="50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 لَآمۡ مِّيمۡ</a:t>
            </a:r>
            <a:endParaRPr lang="ar-SA" sz="29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96515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A-lif  Laaam  Meeem</a:t>
            </a:r>
            <a:endParaRPr lang="en-US" sz="26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'alam'.  Three names: alif, laam, meem.</a:t>
            </a:r>
            <a:endParaRPr lang="en-US" sz="2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14 letters are used</a:t>
            </a:r>
            <a:endParaRPr lang="en-US" sz="1800" dirty="0"/>
          </a:p>
        </p:txBody>
      </p:sp>
      <p:sp>
        <p:nvSpPr>
          <p:cNvPr id="17" name="C1 circle"/>
          <p:cNvSpPr/>
          <p:nvPr/>
        </p:nvSpPr>
        <p:spPr>
          <a:xfrm>
            <a:off x="761809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18" name="C1 letter"/>
          <p:cNvSpPr txBox="1"/>
          <p:nvPr/>
        </p:nvSpPr>
        <p:spPr>
          <a:xfrm>
            <a:off x="7618095" y="1701546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600" dirty="0"/>
          </a:p>
        </p:txBody>
      </p:sp>
      <p:sp>
        <p:nvSpPr>
          <p:cNvPr id="19" name="C1 name box"/>
          <p:cNvSpPr/>
          <p:nvPr/>
        </p:nvSpPr>
        <p:spPr>
          <a:xfrm>
            <a:off x="750150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0" name="C1 name"/>
          <p:cNvSpPr txBox="1"/>
          <p:nvPr/>
        </p:nvSpPr>
        <p:spPr>
          <a:xfrm>
            <a:off x="7501509" y="2713077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</a:t>
            </a:r>
            <a:endParaRPr lang="ar-SA" sz="2600" dirty="0"/>
          </a:p>
        </p:txBody>
      </p:sp>
      <p:sp>
        <p:nvSpPr>
          <p:cNvPr id="21" name="C2 circle"/>
          <p:cNvSpPr/>
          <p:nvPr/>
        </p:nvSpPr>
        <p:spPr>
          <a:xfrm>
            <a:off x="645795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22" name="C2 letter"/>
          <p:cNvSpPr txBox="1"/>
          <p:nvPr/>
        </p:nvSpPr>
        <p:spPr>
          <a:xfrm>
            <a:off x="6457950" y="166192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2600" dirty="0"/>
          </a:p>
        </p:txBody>
      </p:sp>
      <p:sp>
        <p:nvSpPr>
          <p:cNvPr id="23" name="C2 name box"/>
          <p:cNvSpPr/>
          <p:nvPr/>
        </p:nvSpPr>
        <p:spPr>
          <a:xfrm>
            <a:off x="6341364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4" name="C2 name"/>
          <p:cNvSpPr txBox="1"/>
          <p:nvPr/>
        </p:nvSpPr>
        <p:spPr>
          <a:xfrm>
            <a:off x="6341364" y="2651227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لَامۡ</a:t>
            </a:r>
            <a:endParaRPr lang="ar-SA" sz="2600" dirty="0"/>
          </a:p>
        </p:txBody>
      </p:sp>
      <p:sp>
        <p:nvSpPr>
          <p:cNvPr id="25" name="C3 circle"/>
          <p:cNvSpPr/>
          <p:nvPr/>
        </p:nvSpPr>
        <p:spPr>
          <a:xfrm>
            <a:off x="529780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26" name="C3 letter"/>
          <p:cNvSpPr txBox="1"/>
          <p:nvPr/>
        </p:nvSpPr>
        <p:spPr>
          <a:xfrm>
            <a:off x="5297805" y="1574419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2600" dirty="0"/>
          </a:p>
        </p:txBody>
      </p:sp>
      <p:sp>
        <p:nvSpPr>
          <p:cNvPr id="27" name="C3 name box"/>
          <p:cNvSpPr/>
          <p:nvPr/>
        </p:nvSpPr>
        <p:spPr>
          <a:xfrm>
            <a:off x="518121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8" name="C3 name"/>
          <p:cNvSpPr txBox="1"/>
          <p:nvPr/>
        </p:nvSpPr>
        <p:spPr>
          <a:xfrm>
            <a:off x="5181219" y="2607970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مِيمۡ</a:t>
            </a:r>
            <a:endParaRPr lang="ar-SA" sz="2600" dirty="0"/>
          </a:p>
        </p:txBody>
      </p:sp>
      <p:sp>
        <p:nvSpPr>
          <p:cNvPr id="29" name="C4 circle"/>
          <p:cNvSpPr/>
          <p:nvPr/>
        </p:nvSpPr>
        <p:spPr>
          <a:xfrm>
            <a:off x="413766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30" name="C4 letter"/>
          <p:cNvSpPr txBox="1"/>
          <p:nvPr/>
        </p:nvSpPr>
        <p:spPr>
          <a:xfrm>
            <a:off x="4137660" y="1597533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600" dirty="0"/>
          </a:p>
        </p:txBody>
      </p:sp>
      <p:sp>
        <p:nvSpPr>
          <p:cNvPr id="31" name="C4 name box"/>
          <p:cNvSpPr/>
          <p:nvPr/>
        </p:nvSpPr>
        <p:spPr>
          <a:xfrm>
            <a:off x="4021074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2" name="C4 name"/>
          <p:cNvSpPr txBox="1"/>
          <p:nvPr/>
        </p:nvSpPr>
        <p:spPr>
          <a:xfrm>
            <a:off x="4021074" y="2659977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صَادۡ</a:t>
            </a:r>
            <a:endParaRPr lang="ar-SA" sz="2600" dirty="0"/>
          </a:p>
        </p:txBody>
      </p:sp>
      <p:sp>
        <p:nvSpPr>
          <p:cNvPr id="33" name="C5 circle"/>
          <p:cNvSpPr/>
          <p:nvPr/>
        </p:nvSpPr>
        <p:spPr>
          <a:xfrm>
            <a:off x="297751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34" name="C5 letter"/>
          <p:cNvSpPr txBox="1"/>
          <p:nvPr/>
        </p:nvSpPr>
        <p:spPr>
          <a:xfrm>
            <a:off x="2977515" y="1590929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600" dirty="0"/>
          </a:p>
        </p:txBody>
      </p:sp>
      <p:sp>
        <p:nvSpPr>
          <p:cNvPr id="35" name="C5 name box"/>
          <p:cNvSpPr/>
          <p:nvPr/>
        </p:nvSpPr>
        <p:spPr>
          <a:xfrm>
            <a:off x="286092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6" name="C5 name"/>
          <p:cNvSpPr txBox="1"/>
          <p:nvPr/>
        </p:nvSpPr>
        <p:spPr>
          <a:xfrm>
            <a:off x="2860929" y="2638679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</a:t>
            </a:r>
            <a:endParaRPr lang="ar-SA" sz="2600" dirty="0"/>
          </a:p>
        </p:txBody>
      </p:sp>
      <p:sp>
        <p:nvSpPr>
          <p:cNvPr id="37" name="C6 circle"/>
          <p:cNvSpPr/>
          <p:nvPr/>
        </p:nvSpPr>
        <p:spPr>
          <a:xfrm>
            <a:off x="181737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38" name="C6 letter"/>
          <p:cNvSpPr txBox="1"/>
          <p:nvPr/>
        </p:nvSpPr>
        <p:spPr>
          <a:xfrm>
            <a:off x="1817370" y="1696593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2600" dirty="0"/>
          </a:p>
        </p:txBody>
      </p:sp>
      <p:sp>
        <p:nvSpPr>
          <p:cNvPr id="39" name="C6 name box"/>
          <p:cNvSpPr/>
          <p:nvPr/>
        </p:nvSpPr>
        <p:spPr>
          <a:xfrm>
            <a:off x="1700784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0" name="C6 name"/>
          <p:cNvSpPr txBox="1"/>
          <p:nvPr/>
        </p:nvSpPr>
        <p:spPr>
          <a:xfrm>
            <a:off x="1700784" y="2700592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كَافۡ</a:t>
            </a:r>
            <a:endParaRPr lang="ar-SA" sz="2600" dirty="0"/>
          </a:p>
        </p:txBody>
      </p:sp>
      <p:sp>
        <p:nvSpPr>
          <p:cNvPr id="41" name="C7 circle"/>
          <p:cNvSpPr/>
          <p:nvPr/>
        </p:nvSpPr>
        <p:spPr>
          <a:xfrm>
            <a:off x="65722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42" name="C7 letter"/>
          <p:cNvSpPr txBox="1"/>
          <p:nvPr/>
        </p:nvSpPr>
        <p:spPr>
          <a:xfrm>
            <a:off x="657225" y="1653667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2600" dirty="0"/>
          </a:p>
        </p:txBody>
      </p:sp>
      <p:sp>
        <p:nvSpPr>
          <p:cNvPr id="43" name="C7 name box"/>
          <p:cNvSpPr/>
          <p:nvPr/>
        </p:nvSpPr>
        <p:spPr>
          <a:xfrm>
            <a:off x="54063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4" name="C7 name"/>
          <p:cNvSpPr txBox="1"/>
          <p:nvPr/>
        </p:nvSpPr>
        <p:spPr>
          <a:xfrm>
            <a:off x="540639" y="2673350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هَا</a:t>
            </a:r>
            <a:endParaRPr lang="ar-SA" sz="2600" dirty="0"/>
          </a:p>
        </p:txBody>
      </p:sp>
      <p:sp>
        <p:nvSpPr>
          <p:cNvPr id="45" name="C8 tip box"/>
          <p:cNvSpPr/>
          <p:nvPr/>
        </p:nvSpPr>
        <p:spPr>
          <a:xfrm>
            <a:off x="365760" y="3520440"/>
            <a:ext cx="8412480" cy="713232"/>
          </a:xfrm>
          <a:prstGeom prst="roundRect">
            <a:avLst>
              <a:gd name="adj" fmla="val 32051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46" name="C8 tip"/>
          <p:cNvSpPr txBox="1"/>
          <p:nvPr/>
        </p:nvSpPr>
        <p:spPr>
          <a:xfrm>
            <a:off x="502920" y="3525520"/>
            <a:ext cx="813816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sentence in the notes</a:t>
            </a:r>
            <a:endParaRPr lang="en-US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14 letters are used</a:t>
            </a:r>
            <a:endParaRPr lang="en-US" sz="1800" dirty="0"/>
          </a:p>
        </p:txBody>
      </p:sp>
      <p:sp>
        <p:nvSpPr>
          <p:cNvPr id="12" name="C1 circle"/>
          <p:cNvSpPr/>
          <p:nvPr/>
        </p:nvSpPr>
        <p:spPr>
          <a:xfrm>
            <a:off x="761809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13" name="C1 letter"/>
          <p:cNvSpPr txBox="1"/>
          <p:nvPr/>
        </p:nvSpPr>
        <p:spPr>
          <a:xfrm>
            <a:off x="7618095" y="157128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2700" dirty="0"/>
          </a:p>
        </p:txBody>
      </p:sp>
      <p:sp>
        <p:nvSpPr>
          <p:cNvPr id="14" name="C1 name box"/>
          <p:cNvSpPr/>
          <p:nvPr/>
        </p:nvSpPr>
        <p:spPr>
          <a:xfrm>
            <a:off x="750150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15" name="C1 name"/>
          <p:cNvSpPr txBox="1"/>
          <p:nvPr/>
        </p:nvSpPr>
        <p:spPr>
          <a:xfrm>
            <a:off x="7501509" y="2645188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يَا</a:t>
            </a:r>
            <a:endParaRPr lang="ar-SA" sz="2900" dirty="0"/>
          </a:p>
        </p:txBody>
      </p:sp>
      <p:sp>
        <p:nvSpPr>
          <p:cNvPr id="16" name="C2 circle"/>
          <p:cNvSpPr/>
          <p:nvPr/>
        </p:nvSpPr>
        <p:spPr>
          <a:xfrm>
            <a:off x="645795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17" name="C2 letter"/>
          <p:cNvSpPr txBox="1"/>
          <p:nvPr/>
        </p:nvSpPr>
        <p:spPr>
          <a:xfrm>
            <a:off x="6457950" y="159391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700" dirty="0"/>
          </a:p>
        </p:txBody>
      </p:sp>
      <p:sp>
        <p:nvSpPr>
          <p:cNvPr id="18" name="C2 name box"/>
          <p:cNvSpPr/>
          <p:nvPr/>
        </p:nvSpPr>
        <p:spPr>
          <a:xfrm>
            <a:off x="6341364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19" name="C2 name"/>
          <p:cNvSpPr txBox="1"/>
          <p:nvPr/>
        </p:nvSpPr>
        <p:spPr>
          <a:xfrm>
            <a:off x="6341364" y="2653290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عَيۡنۡ</a:t>
            </a:r>
            <a:endParaRPr lang="ar-SA" sz="2900" dirty="0"/>
          </a:p>
        </p:txBody>
      </p:sp>
      <p:sp>
        <p:nvSpPr>
          <p:cNvPr id="20" name="C3 circle"/>
          <p:cNvSpPr/>
          <p:nvPr/>
        </p:nvSpPr>
        <p:spPr>
          <a:xfrm>
            <a:off x="529780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21" name="C3 letter"/>
          <p:cNvSpPr txBox="1"/>
          <p:nvPr/>
        </p:nvSpPr>
        <p:spPr>
          <a:xfrm>
            <a:off x="5297805" y="1698498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700" dirty="0"/>
          </a:p>
        </p:txBody>
      </p:sp>
      <p:sp>
        <p:nvSpPr>
          <p:cNvPr id="22" name="C3 name box"/>
          <p:cNvSpPr/>
          <p:nvPr/>
        </p:nvSpPr>
        <p:spPr>
          <a:xfrm>
            <a:off x="518121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3" name="C3 name"/>
          <p:cNvSpPr txBox="1"/>
          <p:nvPr/>
        </p:nvSpPr>
        <p:spPr>
          <a:xfrm>
            <a:off x="5181219" y="2710511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</a:t>
            </a:r>
            <a:endParaRPr lang="ar-SA" sz="2900" dirty="0"/>
          </a:p>
        </p:txBody>
      </p:sp>
      <p:sp>
        <p:nvSpPr>
          <p:cNvPr id="24" name="C4 circle"/>
          <p:cNvSpPr/>
          <p:nvPr/>
        </p:nvSpPr>
        <p:spPr>
          <a:xfrm>
            <a:off x="413766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25" name="C4 letter"/>
          <p:cNvSpPr txBox="1"/>
          <p:nvPr/>
        </p:nvSpPr>
        <p:spPr>
          <a:xfrm>
            <a:off x="4137660" y="1599057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26" name="C4 name box"/>
          <p:cNvSpPr/>
          <p:nvPr/>
        </p:nvSpPr>
        <p:spPr>
          <a:xfrm>
            <a:off x="4021074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7" name="C4 name"/>
          <p:cNvSpPr txBox="1"/>
          <p:nvPr/>
        </p:nvSpPr>
        <p:spPr>
          <a:xfrm>
            <a:off x="4021074" y="2653290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سِينۡ</a:t>
            </a:r>
            <a:endParaRPr lang="ar-SA" sz="2900" dirty="0"/>
          </a:p>
        </p:txBody>
      </p:sp>
      <p:sp>
        <p:nvSpPr>
          <p:cNvPr id="28" name="C5 circle"/>
          <p:cNvSpPr/>
          <p:nvPr/>
        </p:nvSpPr>
        <p:spPr>
          <a:xfrm>
            <a:off x="297751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29" name="C5 letter"/>
          <p:cNvSpPr txBox="1"/>
          <p:nvPr/>
        </p:nvSpPr>
        <p:spPr>
          <a:xfrm>
            <a:off x="2977515" y="1576769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30" name="C5 name box"/>
          <p:cNvSpPr/>
          <p:nvPr/>
        </p:nvSpPr>
        <p:spPr>
          <a:xfrm>
            <a:off x="286092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1" name="C5 name"/>
          <p:cNvSpPr txBox="1"/>
          <p:nvPr/>
        </p:nvSpPr>
        <p:spPr>
          <a:xfrm>
            <a:off x="2860929" y="2679256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</a:t>
            </a:r>
            <a:endParaRPr lang="ar-SA" sz="2900" dirty="0"/>
          </a:p>
        </p:txBody>
      </p:sp>
      <p:sp>
        <p:nvSpPr>
          <p:cNvPr id="32" name="C6 circle"/>
          <p:cNvSpPr/>
          <p:nvPr/>
        </p:nvSpPr>
        <p:spPr>
          <a:xfrm>
            <a:off x="181737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33" name="C6 letter"/>
          <p:cNvSpPr txBox="1"/>
          <p:nvPr/>
        </p:nvSpPr>
        <p:spPr>
          <a:xfrm>
            <a:off x="1817370" y="1643634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2700" dirty="0"/>
          </a:p>
        </p:txBody>
      </p:sp>
      <p:sp>
        <p:nvSpPr>
          <p:cNvPr id="34" name="C6 name box"/>
          <p:cNvSpPr/>
          <p:nvPr/>
        </p:nvSpPr>
        <p:spPr>
          <a:xfrm>
            <a:off x="1700784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5" name="C6 name"/>
          <p:cNvSpPr txBox="1"/>
          <p:nvPr/>
        </p:nvSpPr>
        <p:spPr>
          <a:xfrm>
            <a:off x="1700784" y="2704116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قَافۡ</a:t>
            </a:r>
            <a:endParaRPr lang="ar-SA" sz="2900" dirty="0"/>
          </a:p>
        </p:txBody>
      </p:sp>
      <p:sp>
        <p:nvSpPr>
          <p:cNvPr id="36" name="C7 circle"/>
          <p:cNvSpPr/>
          <p:nvPr/>
        </p:nvSpPr>
        <p:spPr>
          <a:xfrm>
            <a:off x="657225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1971C2"/>
            </a:solidFill>
            <a:prstDash val="solid"/>
          </a:ln>
        </p:spPr>
      </p:sp>
      <p:sp>
        <p:nvSpPr>
          <p:cNvPr id="37" name="C7 letter"/>
          <p:cNvSpPr txBox="1"/>
          <p:nvPr/>
        </p:nvSpPr>
        <p:spPr>
          <a:xfrm>
            <a:off x="657225" y="1618259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2700" dirty="0"/>
          </a:p>
        </p:txBody>
      </p:sp>
      <p:sp>
        <p:nvSpPr>
          <p:cNvPr id="38" name="C7 name box"/>
          <p:cNvSpPr/>
          <p:nvPr/>
        </p:nvSpPr>
        <p:spPr>
          <a:xfrm>
            <a:off x="540639" y="2670048"/>
            <a:ext cx="1101852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9" name="C7 name"/>
          <p:cNvSpPr txBox="1"/>
          <p:nvPr/>
        </p:nvSpPr>
        <p:spPr>
          <a:xfrm>
            <a:off x="540639" y="2675204"/>
            <a:ext cx="1101852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نُونۡ</a:t>
            </a:r>
            <a:endParaRPr lang="ar-SA" sz="2900" dirty="0"/>
          </a:p>
        </p:txBody>
      </p:sp>
      <p:sp>
        <p:nvSpPr>
          <p:cNvPr id="40" name="C8 tip box"/>
          <p:cNvSpPr/>
          <p:nvPr/>
        </p:nvSpPr>
        <p:spPr>
          <a:xfrm>
            <a:off x="365760" y="3520440"/>
            <a:ext cx="8412480" cy="713232"/>
          </a:xfrm>
          <a:prstGeom prst="roundRect">
            <a:avLst>
              <a:gd name="adj" fmla="val 32051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41" name="C8 tip"/>
          <p:cNvSpPr txBox="1"/>
          <p:nvPr/>
        </p:nvSpPr>
        <p:spPr>
          <a:xfrm>
            <a:off x="502920" y="3525520"/>
            <a:ext cx="813816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the Arabic alphabet appears here</a:t>
            </a:r>
            <a:endParaRPr lang="en-US" sz="2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2F9E44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two-letter names → 2 counts</a:t>
            </a:r>
            <a:endParaRPr lang="en-US" sz="1800" dirty="0"/>
          </a:p>
        </p:txBody>
      </p:sp>
      <p:sp>
        <p:nvSpPr>
          <p:cNvPr id="13" name="C1 circle"/>
          <p:cNvSpPr/>
          <p:nvPr/>
        </p:nvSpPr>
        <p:spPr>
          <a:xfrm>
            <a:off x="719328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14" name="C1 letter"/>
          <p:cNvSpPr txBox="1"/>
          <p:nvPr/>
        </p:nvSpPr>
        <p:spPr>
          <a:xfrm>
            <a:off x="7193280" y="1500188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500" dirty="0"/>
          </a:p>
        </p:txBody>
      </p:sp>
      <p:sp>
        <p:nvSpPr>
          <p:cNvPr id="15" name="C1 name box"/>
          <p:cNvSpPr/>
          <p:nvPr/>
        </p:nvSpPr>
        <p:spPr>
          <a:xfrm>
            <a:off x="6998208" y="2898648"/>
            <a:ext cx="1487424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16" name="C1 name"/>
          <p:cNvSpPr txBox="1"/>
          <p:nvPr/>
        </p:nvSpPr>
        <p:spPr>
          <a:xfrm>
            <a:off x="6998208" y="2909761"/>
            <a:ext cx="1487424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</a:t>
            </a:r>
            <a:endParaRPr lang="ar-SA" sz="3500" dirty="0"/>
          </a:p>
        </p:txBody>
      </p:sp>
      <p:sp>
        <p:nvSpPr>
          <p:cNvPr id="17" name="C1 badge"/>
          <p:cNvSpPr/>
          <p:nvPr/>
        </p:nvSpPr>
        <p:spPr>
          <a:xfrm>
            <a:off x="801624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C1 count"/>
          <p:cNvSpPr txBox="1"/>
          <p:nvPr/>
        </p:nvSpPr>
        <p:spPr>
          <a:xfrm>
            <a:off x="801624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C2 circle"/>
          <p:cNvSpPr/>
          <p:nvPr/>
        </p:nvSpPr>
        <p:spPr>
          <a:xfrm>
            <a:off x="560832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20" name="C2 letter"/>
          <p:cNvSpPr txBox="1"/>
          <p:nvPr/>
        </p:nvSpPr>
        <p:spPr>
          <a:xfrm>
            <a:off x="5608320" y="1491044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500" dirty="0"/>
          </a:p>
        </p:txBody>
      </p:sp>
      <p:sp>
        <p:nvSpPr>
          <p:cNvPr id="21" name="C2 name box"/>
          <p:cNvSpPr/>
          <p:nvPr/>
        </p:nvSpPr>
        <p:spPr>
          <a:xfrm>
            <a:off x="5413248" y="2898648"/>
            <a:ext cx="1487424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2" name="C2 name"/>
          <p:cNvSpPr txBox="1"/>
          <p:nvPr/>
        </p:nvSpPr>
        <p:spPr>
          <a:xfrm>
            <a:off x="5413248" y="2868644"/>
            <a:ext cx="1487424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يَا</a:t>
            </a:r>
            <a:endParaRPr lang="ar-SA" sz="3500" dirty="0"/>
          </a:p>
        </p:txBody>
      </p:sp>
      <p:sp>
        <p:nvSpPr>
          <p:cNvPr id="23" name="C2 badge"/>
          <p:cNvSpPr/>
          <p:nvPr/>
        </p:nvSpPr>
        <p:spPr>
          <a:xfrm>
            <a:off x="643128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C2 count"/>
          <p:cNvSpPr txBox="1"/>
          <p:nvPr/>
        </p:nvSpPr>
        <p:spPr>
          <a:xfrm>
            <a:off x="643128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C3 circle"/>
          <p:cNvSpPr/>
          <p:nvPr/>
        </p:nvSpPr>
        <p:spPr>
          <a:xfrm>
            <a:off x="402336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26" name="C3 letter"/>
          <p:cNvSpPr txBox="1"/>
          <p:nvPr/>
        </p:nvSpPr>
        <p:spPr>
          <a:xfrm>
            <a:off x="4023360" y="1703070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500" dirty="0"/>
          </a:p>
        </p:txBody>
      </p:sp>
      <p:sp>
        <p:nvSpPr>
          <p:cNvPr id="27" name="C3 name box"/>
          <p:cNvSpPr/>
          <p:nvPr/>
        </p:nvSpPr>
        <p:spPr>
          <a:xfrm>
            <a:off x="3828288" y="2898648"/>
            <a:ext cx="1487424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8" name="C3 name"/>
          <p:cNvSpPr txBox="1"/>
          <p:nvPr/>
        </p:nvSpPr>
        <p:spPr>
          <a:xfrm>
            <a:off x="3828288" y="2947482"/>
            <a:ext cx="1487424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</a:t>
            </a:r>
            <a:endParaRPr lang="ar-SA" sz="3500" dirty="0"/>
          </a:p>
        </p:txBody>
      </p:sp>
      <p:sp>
        <p:nvSpPr>
          <p:cNvPr id="29" name="C3 badge"/>
          <p:cNvSpPr/>
          <p:nvPr/>
        </p:nvSpPr>
        <p:spPr>
          <a:xfrm>
            <a:off x="484632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C3 count"/>
          <p:cNvSpPr txBox="1"/>
          <p:nvPr/>
        </p:nvSpPr>
        <p:spPr>
          <a:xfrm>
            <a:off x="484632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C4 circle"/>
          <p:cNvSpPr/>
          <p:nvPr/>
        </p:nvSpPr>
        <p:spPr>
          <a:xfrm>
            <a:off x="243840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32" name="C4 letter"/>
          <p:cNvSpPr txBox="1"/>
          <p:nvPr/>
        </p:nvSpPr>
        <p:spPr>
          <a:xfrm>
            <a:off x="2438400" y="1625918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33" name="C4 name box"/>
          <p:cNvSpPr/>
          <p:nvPr/>
        </p:nvSpPr>
        <p:spPr>
          <a:xfrm>
            <a:off x="2243328" y="2898648"/>
            <a:ext cx="1487424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4" name="C4 name"/>
          <p:cNvSpPr txBox="1"/>
          <p:nvPr/>
        </p:nvSpPr>
        <p:spPr>
          <a:xfrm>
            <a:off x="2243328" y="2903093"/>
            <a:ext cx="1487424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هَا</a:t>
            </a:r>
            <a:endParaRPr lang="ar-SA" sz="3500" dirty="0"/>
          </a:p>
        </p:txBody>
      </p:sp>
      <p:sp>
        <p:nvSpPr>
          <p:cNvPr id="35" name="C4 badge"/>
          <p:cNvSpPr/>
          <p:nvPr/>
        </p:nvSpPr>
        <p:spPr>
          <a:xfrm>
            <a:off x="326136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C4 count"/>
          <p:cNvSpPr txBox="1"/>
          <p:nvPr/>
        </p:nvSpPr>
        <p:spPr>
          <a:xfrm>
            <a:off x="326136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C5 circle"/>
          <p:cNvSpPr/>
          <p:nvPr/>
        </p:nvSpPr>
        <p:spPr>
          <a:xfrm>
            <a:off x="85344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2F9E44"/>
            </a:solidFill>
            <a:prstDash val="solid"/>
          </a:ln>
        </p:spPr>
      </p:sp>
      <p:sp>
        <p:nvSpPr>
          <p:cNvPr id="38" name="C5 letter"/>
          <p:cNvSpPr txBox="1"/>
          <p:nvPr/>
        </p:nvSpPr>
        <p:spPr>
          <a:xfrm>
            <a:off x="853440" y="1517333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39" name="C5 name box"/>
          <p:cNvSpPr/>
          <p:nvPr/>
        </p:nvSpPr>
        <p:spPr>
          <a:xfrm>
            <a:off x="658368" y="2898648"/>
            <a:ext cx="1487424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0" name="C5 name"/>
          <p:cNvSpPr txBox="1"/>
          <p:nvPr/>
        </p:nvSpPr>
        <p:spPr>
          <a:xfrm>
            <a:off x="658368" y="2856421"/>
            <a:ext cx="1487424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</a:t>
            </a:r>
            <a:endParaRPr lang="ar-SA" sz="3500" dirty="0"/>
          </a:p>
        </p:txBody>
      </p:sp>
      <p:sp>
        <p:nvSpPr>
          <p:cNvPr id="41" name="C5 badge"/>
          <p:cNvSpPr/>
          <p:nvPr/>
        </p:nvSpPr>
        <p:spPr>
          <a:xfrm>
            <a:off x="1676400" y="1581912"/>
            <a:ext cx="384048" cy="384048"/>
          </a:xfrm>
          <a:prstGeom prst="ellipse">
            <a:avLst/>
          </a:prstGeom>
          <a:solidFill>
            <a:srgbClr val="2F9E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C5 count"/>
          <p:cNvSpPr txBox="1"/>
          <p:nvPr/>
        </p:nvSpPr>
        <p:spPr>
          <a:xfrm>
            <a:off x="1676400" y="1586040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C6 tip box"/>
          <p:cNvSpPr/>
          <p:nvPr/>
        </p:nvSpPr>
        <p:spPr>
          <a:xfrm>
            <a:off x="365760" y="3520440"/>
            <a:ext cx="8412480" cy="713232"/>
          </a:xfrm>
          <a:prstGeom prst="roundRect">
            <a:avLst>
              <a:gd name="adj" fmla="val 32051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44" name="C6 tip"/>
          <p:cNvSpPr txBox="1"/>
          <p:nvPr/>
        </p:nvSpPr>
        <p:spPr>
          <a:xfrm>
            <a:off x="502920" y="3525520"/>
            <a:ext cx="813816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Haa, Yaa, Taa, Haa, Raa: a normal long vowel, 2 counts</a:t>
            </a:r>
            <a:endParaRPr lang="en-US" sz="2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D9480F"/>
          </a:solidFill>
          <a:ln w="76200">
            <a:solidFill>
              <a:srgbClr val="D9480F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2: three-letter names → 6 counts</a:t>
            </a:r>
            <a:endParaRPr lang="en-US" sz="1800" dirty="0"/>
          </a:p>
        </p:txBody>
      </p:sp>
      <p:sp>
        <p:nvSpPr>
          <p:cNvPr id="14" name="C1 circle"/>
          <p:cNvSpPr/>
          <p:nvPr/>
        </p:nvSpPr>
        <p:spPr>
          <a:xfrm>
            <a:off x="774700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15" name="C1 letter"/>
          <p:cNvSpPr txBox="1"/>
          <p:nvPr/>
        </p:nvSpPr>
        <p:spPr>
          <a:xfrm>
            <a:off x="7747000" y="1620977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2600" dirty="0"/>
          </a:p>
        </p:txBody>
      </p:sp>
      <p:sp>
        <p:nvSpPr>
          <p:cNvPr id="16" name="C1 name box"/>
          <p:cNvSpPr/>
          <p:nvPr/>
        </p:nvSpPr>
        <p:spPr>
          <a:xfrm>
            <a:off x="768197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17" name="C1 name"/>
          <p:cNvSpPr txBox="1"/>
          <p:nvPr/>
        </p:nvSpPr>
        <p:spPr>
          <a:xfrm>
            <a:off x="7681976" y="2674671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نُونۡ</a:t>
            </a:r>
            <a:endParaRPr lang="ar-SA" sz="2600" dirty="0"/>
          </a:p>
        </p:txBody>
      </p:sp>
      <p:sp>
        <p:nvSpPr>
          <p:cNvPr id="18" name="C1 badge"/>
          <p:cNvSpPr/>
          <p:nvPr/>
        </p:nvSpPr>
        <p:spPr>
          <a:xfrm>
            <a:off x="834136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1 count"/>
          <p:cNvSpPr txBox="1"/>
          <p:nvPr/>
        </p:nvSpPr>
        <p:spPr>
          <a:xfrm>
            <a:off x="834136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C2 circle"/>
          <p:cNvSpPr/>
          <p:nvPr/>
        </p:nvSpPr>
        <p:spPr>
          <a:xfrm>
            <a:off x="671576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21" name="C2 letter"/>
          <p:cNvSpPr txBox="1"/>
          <p:nvPr/>
        </p:nvSpPr>
        <p:spPr>
          <a:xfrm>
            <a:off x="6715760" y="164541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2600" dirty="0"/>
          </a:p>
        </p:txBody>
      </p:sp>
      <p:sp>
        <p:nvSpPr>
          <p:cNvPr id="22" name="C2 name box"/>
          <p:cNvSpPr/>
          <p:nvPr/>
        </p:nvSpPr>
        <p:spPr>
          <a:xfrm>
            <a:off x="665073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3" name="C2 name"/>
          <p:cNvSpPr txBox="1"/>
          <p:nvPr/>
        </p:nvSpPr>
        <p:spPr>
          <a:xfrm>
            <a:off x="6650736" y="2700592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قَافۡ</a:t>
            </a:r>
            <a:endParaRPr lang="ar-SA" sz="2600" dirty="0"/>
          </a:p>
        </p:txBody>
      </p:sp>
      <p:sp>
        <p:nvSpPr>
          <p:cNvPr id="24" name="C2 badge"/>
          <p:cNvSpPr/>
          <p:nvPr/>
        </p:nvSpPr>
        <p:spPr>
          <a:xfrm>
            <a:off x="731012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2 count"/>
          <p:cNvSpPr txBox="1"/>
          <p:nvPr/>
        </p:nvSpPr>
        <p:spPr>
          <a:xfrm>
            <a:off x="731012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C3 circle"/>
          <p:cNvSpPr/>
          <p:nvPr/>
        </p:nvSpPr>
        <p:spPr>
          <a:xfrm>
            <a:off x="568452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27" name="C3 letter"/>
          <p:cNvSpPr txBox="1"/>
          <p:nvPr/>
        </p:nvSpPr>
        <p:spPr>
          <a:xfrm>
            <a:off x="5684520" y="1597533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600" dirty="0"/>
          </a:p>
        </p:txBody>
      </p:sp>
      <p:sp>
        <p:nvSpPr>
          <p:cNvPr id="28" name="C3 name box"/>
          <p:cNvSpPr/>
          <p:nvPr/>
        </p:nvSpPr>
        <p:spPr>
          <a:xfrm>
            <a:off x="561949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29" name="C3 name"/>
          <p:cNvSpPr txBox="1"/>
          <p:nvPr/>
        </p:nvSpPr>
        <p:spPr>
          <a:xfrm>
            <a:off x="5619496" y="2659977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صَادۡ</a:t>
            </a:r>
            <a:endParaRPr lang="ar-SA" sz="2600" dirty="0"/>
          </a:p>
        </p:txBody>
      </p:sp>
      <p:sp>
        <p:nvSpPr>
          <p:cNvPr id="30" name="C3 badge"/>
          <p:cNvSpPr/>
          <p:nvPr/>
        </p:nvSpPr>
        <p:spPr>
          <a:xfrm>
            <a:off x="627888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C3 count"/>
          <p:cNvSpPr txBox="1"/>
          <p:nvPr/>
        </p:nvSpPr>
        <p:spPr>
          <a:xfrm>
            <a:off x="627888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C4 circle"/>
          <p:cNvSpPr/>
          <p:nvPr/>
        </p:nvSpPr>
        <p:spPr>
          <a:xfrm>
            <a:off x="465328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33" name="C4 letter"/>
          <p:cNvSpPr txBox="1"/>
          <p:nvPr/>
        </p:nvSpPr>
        <p:spPr>
          <a:xfrm>
            <a:off x="4653280" y="1597533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600" dirty="0"/>
          </a:p>
        </p:txBody>
      </p:sp>
      <p:sp>
        <p:nvSpPr>
          <p:cNvPr id="34" name="C4 name box"/>
          <p:cNvSpPr/>
          <p:nvPr/>
        </p:nvSpPr>
        <p:spPr>
          <a:xfrm>
            <a:off x="458825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35" name="C4 name"/>
          <p:cNvSpPr txBox="1"/>
          <p:nvPr/>
        </p:nvSpPr>
        <p:spPr>
          <a:xfrm>
            <a:off x="4588256" y="2655024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عَيۡنۡ</a:t>
            </a:r>
            <a:endParaRPr lang="ar-SA" sz="2600" dirty="0"/>
          </a:p>
        </p:txBody>
      </p:sp>
      <p:sp>
        <p:nvSpPr>
          <p:cNvPr id="36" name="C4 badge"/>
          <p:cNvSpPr/>
          <p:nvPr/>
        </p:nvSpPr>
        <p:spPr>
          <a:xfrm>
            <a:off x="524764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C4 count"/>
          <p:cNvSpPr txBox="1"/>
          <p:nvPr/>
        </p:nvSpPr>
        <p:spPr>
          <a:xfrm>
            <a:off x="524764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C5 circle"/>
          <p:cNvSpPr/>
          <p:nvPr/>
        </p:nvSpPr>
        <p:spPr>
          <a:xfrm>
            <a:off x="362204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39" name="C5 letter"/>
          <p:cNvSpPr txBox="1"/>
          <p:nvPr/>
        </p:nvSpPr>
        <p:spPr>
          <a:xfrm>
            <a:off x="3622040" y="1602486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600" dirty="0"/>
          </a:p>
        </p:txBody>
      </p:sp>
      <p:sp>
        <p:nvSpPr>
          <p:cNvPr id="40" name="C5 name box"/>
          <p:cNvSpPr/>
          <p:nvPr/>
        </p:nvSpPr>
        <p:spPr>
          <a:xfrm>
            <a:off x="355701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1" name="C5 name"/>
          <p:cNvSpPr txBox="1"/>
          <p:nvPr/>
        </p:nvSpPr>
        <p:spPr>
          <a:xfrm>
            <a:off x="3557016" y="2655024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سِينۡ</a:t>
            </a:r>
            <a:endParaRPr lang="ar-SA" sz="2600" dirty="0"/>
          </a:p>
        </p:txBody>
      </p:sp>
      <p:sp>
        <p:nvSpPr>
          <p:cNvPr id="42" name="C5 badge"/>
          <p:cNvSpPr/>
          <p:nvPr/>
        </p:nvSpPr>
        <p:spPr>
          <a:xfrm>
            <a:off x="421640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C5 count"/>
          <p:cNvSpPr txBox="1"/>
          <p:nvPr/>
        </p:nvSpPr>
        <p:spPr>
          <a:xfrm>
            <a:off x="421640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C6 circle"/>
          <p:cNvSpPr/>
          <p:nvPr/>
        </p:nvSpPr>
        <p:spPr>
          <a:xfrm>
            <a:off x="259080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45" name="C6 letter"/>
          <p:cNvSpPr txBox="1"/>
          <p:nvPr/>
        </p:nvSpPr>
        <p:spPr>
          <a:xfrm>
            <a:off x="2590800" y="1661922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2600" dirty="0"/>
          </a:p>
        </p:txBody>
      </p:sp>
      <p:sp>
        <p:nvSpPr>
          <p:cNvPr id="46" name="C6 name box"/>
          <p:cNvSpPr/>
          <p:nvPr/>
        </p:nvSpPr>
        <p:spPr>
          <a:xfrm>
            <a:off x="252577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7" name="C6 name"/>
          <p:cNvSpPr txBox="1"/>
          <p:nvPr/>
        </p:nvSpPr>
        <p:spPr>
          <a:xfrm>
            <a:off x="2525776" y="2651227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لَامۡ</a:t>
            </a:r>
            <a:endParaRPr lang="ar-SA" sz="2600" dirty="0"/>
          </a:p>
        </p:txBody>
      </p:sp>
      <p:sp>
        <p:nvSpPr>
          <p:cNvPr id="48" name="C6 badge"/>
          <p:cNvSpPr/>
          <p:nvPr/>
        </p:nvSpPr>
        <p:spPr>
          <a:xfrm>
            <a:off x="318516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C6 count"/>
          <p:cNvSpPr txBox="1"/>
          <p:nvPr/>
        </p:nvSpPr>
        <p:spPr>
          <a:xfrm>
            <a:off x="318516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C7 circle"/>
          <p:cNvSpPr/>
          <p:nvPr/>
        </p:nvSpPr>
        <p:spPr>
          <a:xfrm>
            <a:off x="155956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51" name="C7 letter"/>
          <p:cNvSpPr txBox="1"/>
          <p:nvPr/>
        </p:nvSpPr>
        <p:spPr>
          <a:xfrm>
            <a:off x="1559560" y="1696593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2600" dirty="0"/>
          </a:p>
        </p:txBody>
      </p:sp>
      <p:sp>
        <p:nvSpPr>
          <p:cNvPr id="52" name="C7 name box"/>
          <p:cNvSpPr/>
          <p:nvPr/>
        </p:nvSpPr>
        <p:spPr>
          <a:xfrm>
            <a:off x="149453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3" name="C7 name"/>
          <p:cNvSpPr txBox="1"/>
          <p:nvPr/>
        </p:nvSpPr>
        <p:spPr>
          <a:xfrm>
            <a:off x="1494536" y="2700592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كَافۡ</a:t>
            </a:r>
            <a:endParaRPr lang="ar-SA" sz="2600" dirty="0"/>
          </a:p>
        </p:txBody>
      </p:sp>
      <p:sp>
        <p:nvSpPr>
          <p:cNvPr id="54" name="C7 badge"/>
          <p:cNvSpPr/>
          <p:nvPr/>
        </p:nvSpPr>
        <p:spPr>
          <a:xfrm>
            <a:off x="215392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5" name="C7 count"/>
          <p:cNvSpPr txBox="1"/>
          <p:nvPr/>
        </p:nvSpPr>
        <p:spPr>
          <a:xfrm>
            <a:off x="215392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6" name="C8 circle"/>
          <p:cNvSpPr/>
          <p:nvPr/>
        </p:nvSpPr>
        <p:spPr>
          <a:xfrm>
            <a:off x="528320" y="1691640"/>
            <a:ext cx="868680" cy="8686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D9480F"/>
            </a:solidFill>
            <a:prstDash val="solid"/>
          </a:ln>
        </p:spPr>
      </p:sp>
      <p:sp>
        <p:nvSpPr>
          <p:cNvPr id="57" name="C8 letter"/>
          <p:cNvSpPr txBox="1"/>
          <p:nvPr/>
        </p:nvSpPr>
        <p:spPr>
          <a:xfrm>
            <a:off x="528320" y="1574419"/>
            <a:ext cx="868680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2600" dirty="0"/>
          </a:p>
        </p:txBody>
      </p:sp>
      <p:sp>
        <p:nvSpPr>
          <p:cNvPr id="58" name="C8 name box"/>
          <p:cNvSpPr/>
          <p:nvPr/>
        </p:nvSpPr>
        <p:spPr>
          <a:xfrm>
            <a:off x="463296" y="2670048"/>
            <a:ext cx="998728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9" name="C8 name"/>
          <p:cNvSpPr txBox="1"/>
          <p:nvPr/>
        </p:nvSpPr>
        <p:spPr>
          <a:xfrm>
            <a:off x="463296" y="2607970"/>
            <a:ext cx="998728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مِيمۡ</a:t>
            </a:r>
            <a:endParaRPr lang="ar-SA" sz="2600" dirty="0"/>
          </a:p>
        </p:txBody>
      </p:sp>
      <p:sp>
        <p:nvSpPr>
          <p:cNvPr id="60" name="C8 badge"/>
          <p:cNvSpPr/>
          <p:nvPr/>
        </p:nvSpPr>
        <p:spPr>
          <a:xfrm>
            <a:off x="1122680" y="1581912"/>
            <a:ext cx="384048" cy="384048"/>
          </a:xfrm>
          <a:prstGeom prst="ellipse">
            <a:avLst/>
          </a:prstGeom>
          <a:solidFill>
            <a:srgbClr val="D9480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C8 count"/>
          <p:cNvSpPr txBox="1"/>
          <p:nvPr/>
        </p:nvSpPr>
        <p:spPr>
          <a:xfrm>
            <a:off x="112268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62" name="C9 tip box"/>
          <p:cNvSpPr/>
          <p:nvPr/>
        </p:nvSpPr>
        <p:spPr>
          <a:xfrm>
            <a:off x="365760" y="3520440"/>
            <a:ext cx="8412480" cy="713232"/>
          </a:xfrm>
          <a:prstGeom prst="roundRect">
            <a:avLst>
              <a:gd name="adj" fmla="val 32051"/>
            </a:avLst>
          </a:prstGeom>
          <a:solidFill>
            <a:srgbClr val="FFFFFF"/>
          </a:solidFill>
          <a:ln w="76200">
            <a:solidFill>
              <a:srgbClr val="D9480F"/>
            </a:solidFill>
            <a:prstDash val="solid"/>
          </a:ln>
        </p:spPr>
      </p:sp>
      <p:sp>
        <p:nvSpPr>
          <p:cNvPr id="63" name="C9 tip"/>
          <p:cNvSpPr txBox="1"/>
          <p:nvPr/>
        </p:nvSpPr>
        <p:spPr>
          <a:xfrm>
            <a:off x="502920" y="3525520"/>
            <a:ext cx="813816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vowel + silent letter → 6 counts   ('Ayn: 4 or 6)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868E96"/>
          </a:solidFill>
          <a:ln w="76200">
            <a:solidFill>
              <a:srgbClr val="868E96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3: alif → no stretch</a:t>
            </a:r>
            <a:endParaRPr lang="en-US" sz="1800" dirty="0"/>
          </a:p>
        </p:txBody>
      </p:sp>
      <p:sp>
        <p:nvSpPr>
          <p:cNvPr id="12" name="C1 circle"/>
          <p:cNvSpPr/>
          <p:nvPr/>
        </p:nvSpPr>
        <p:spPr>
          <a:xfrm>
            <a:off x="4023360" y="1691640"/>
            <a:ext cx="1097280" cy="1097280"/>
          </a:xfrm>
          <a:prstGeom prst="ellipse">
            <a:avLst/>
          </a:prstGeom>
          <a:solidFill>
            <a:srgbClr val="FFFFFF"/>
          </a:solidFill>
          <a:ln w="88900">
            <a:solidFill>
              <a:srgbClr val="868E96"/>
            </a:solidFill>
            <a:prstDash val="solid"/>
          </a:ln>
        </p:spPr>
      </p:sp>
      <p:sp>
        <p:nvSpPr>
          <p:cNvPr id="13" name="C1 letter"/>
          <p:cNvSpPr txBox="1"/>
          <p:nvPr/>
        </p:nvSpPr>
        <p:spPr>
          <a:xfrm>
            <a:off x="4023360" y="1714119"/>
            <a:ext cx="1097280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900" dirty="0"/>
          </a:p>
        </p:txBody>
      </p:sp>
      <p:sp>
        <p:nvSpPr>
          <p:cNvPr id="14" name="C1 name box"/>
          <p:cNvSpPr/>
          <p:nvPr/>
        </p:nvSpPr>
        <p:spPr>
          <a:xfrm>
            <a:off x="2560320" y="2898648"/>
            <a:ext cx="4023360" cy="59436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15" name="C1 name"/>
          <p:cNvSpPr txBox="1"/>
          <p:nvPr/>
        </p:nvSpPr>
        <p:spPr>
          <a:xfrm>
            <a:off x="2560320" y="2943332"/>
            <a:ext cx="4023360" cy="594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</a:t>
            </a:r>
            <a:endParaRPr lang="ar-SA" sz="2700" dirty="0"/>
          </a:p>
        </p:txBody>
      </p:sp>
      <p:sp>
        <p:nvSpPr>
          <p:cNvPr id="16" name="C1 badge"/>
          <p:cNvSpPr/>
          <p:nvPr/>
        </p:nvSpPr>
        <p:spPr>
          <a:xfrm>
            <a:off x="4846320" y="1581912"/>
            <a:ext cx="384048" cy="384048"/>
          </a:xfrm>
          <a:prstGeom prst="ellipse">
            <a:avLst/>
          </a:prstGeom>
          <a:solidFill>
            <a:srgbClr val="868E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1 count"/>
          <p:cNvSpPr txBox="1"/>
          <p:nvPr/>
        </p:nvSpPr>
        <p:spPr>
          <a:xfrm>
            <a:off x="4846320" y="1584389"/>
            <a:ext cx="384048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C2 tip box"/>
          <p:cNvSpPr/>
          <p:nvPr/>
        </p:nvSpPr>
        <p:spPr>
          <a:xfrm>
            <a:off x="365760" y="3520440"/>
            <a:ext cx="8412480" cy="713232"/>
          </a:xfrm>
          <a:prstGeom prst="roundRect">
            <a:avLst>
              <a:gd name="adj" fmla="val 32051"/>
            </a:avLst>
          </a:prstGeom>
          <a:solidFill>
            <a:srgbClr val="FFFFFF"/>
          </a:solidFill>
          <a:ln w="76200">
            <a:solidFill>
              <a:srgbClr val="868E96"/>
            </a:solidFill>
            <a:prstDash val="solid"/>
          </a:ln>
        </p:spPr>
      </p:sp>
      <p:sp>
        <p:nvSpPr>
          <p:cNvPr id="19" name="C2 tip"/>
          <p:cNvSpPr txBox="1"/>
          <p:nvPr/>
        </p:nvSpPr>
        <p:spPr>
          <a:xfrm>
            <a:off x="502920" y="3533902"/>
            <a:ext cx="813816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A-lif: short a, short i.  No madd at all.</a:t>
            </a:r>
            <a:endParaRPr lang="en-US" sz="2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4"/>
          </a:solidFill>
          <a:ln w="12700">
            <a:solidFill>
              <a:srgbClr val="5EED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D9480F"/>
          </a:solidFill>
          <a:ln w="76200">
            <a:solidFill>
              <a:srgbClr val="D9480F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Mushaf helps you</a:t>
            </a:r>
            <a:endParaRPr lang="en-US" sz="1800" dirty="0"/>
          </a:p>
        </p:txBody>
      </p:sp>
      <p:sp>
        <p:nvSpPr>
          <p:cNvPr id="20" name="Lines panel"/>
          <p:cNvSpPr/>
          <p:nvPr/>
        </p:nvSpPr>
        <p:spPr>
          <a:xfrm>
            <a:off x="365760" y="1536192"/>
            <a:ext cx="54864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D9480F"/>
            </a:solidFill>
            <a:prstDash val="solid"/>
          </a:ln>
        </p:spPr>
      </p:sp>
      <p:sp>
        <p:nvSpPr>
          <p:cNvPr id="21" name="C1 line 1"/>
          <p:cNvSpPr txBox="1"/>
          <p:nvPr/>
        </p:nvSpPr>
        <p:spPr>
          <a:xfrm>
            <a:off x="502920" y="1756156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wavy line ~ on a letter = stretch it 6 counts.</a:t>
            </a:r>
            <a:endParaRPr lang="en-US" sz="1600" dirty="0"/>
          </a:p>
        </p:txBody>
      </p:sp>
      <p:sp>
        <p:nvSpPr>
          <p:cNvPr id="22" name="C2 line 2"/>
          <p:cNvSpPr txBox="1"/>
          <p:nvPr/>
        </p:nvSpPr>
        <p:spPr>
          <a:xfrm>
            <a:off x="502920" y="2594356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wavy line = 2 counts (or none for alif).</a:t>
            </a:r>
            <a:endParaRPr lang="en-US" sz="1600" dirty="0"/>
          </a:p>
        </p:txBody>
      </p:sp>
      <p:sp>
        <p:nvSpPr>
          <p:cNvPr id="23" name="C3 line 3"/>
          <p:cNvSpPr txBox="1"/>
          <p:nvPr/>
        </p:nvSpPr>
        <p:spPr>
          <a:xfrm>
            <a:off x="502920" y="3432556"/>
            <a:ext cx="521208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on your fingers: 1 - 2 - 3 - 4 - 5 - 6.</a:t>
            </a:r>
            <a:endParaRPr lang="en-US" sz="1600" dirty="0"/>
          </a:p>
        </p:txBody>
      </p:sp>
      <p:sp>
        <p:nvSpPr>
          <p:cNvPr id="24" name="Arabic panel"/>
          <p:cNvSpPr/>
          <p:nvPr/>
        </p:nvSpPr>
        <p:spPr>
          <a:xfrm>
            <a:off x="6035040" y="1536192"/>
            <a:ext cx="274320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D9480F"/>
            </a:solidFill>
            <a:prstDash val="solid"/>
          </a:ln>
        </p:spPr>
      </p:sp>
      <p:sp>
        <p:nvSpPr>
          <p:cNvPr id="25" name="Arabic sample"/>
          <p:cNvSpPr txBox="1"/>
          <p:nvPr/>
        </p:nvSpPr>
        <p:spPr>
          <a:xfrm>
            <a:off x="6035040" y="1467206"/>
            <a:ext cx="2743200" cy="2697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لٓ مٓ صٓ</a:t>
            </a:r>
            <a:endParaRPr lang="ar-SA" sz="5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9"/>
          </a:solidFill>
          <a:ln w="12700">
            <a:solidFill>
              <a:srgbClr val="E052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0"/>
          </a:solidFill>
          <a:ln w="12700">
            <a:solidFill>
              <a:srgbClr val="7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Alif-Laam-Meem  (6 surahs)</a:t>
            </a:r>
            <a:endParaRPr lang="en-US" sz="18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627037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الٓمٓ</a:t>
            </a:r>
            <a:endParaRPr lang="ar-SA" sz="50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 لَآمۡ مِّيمۡ</a:t>
            </a:r>
            <a:endParaRPr lang="ar-SA" sz="29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9549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A-lif  Laaa-am  Meeee-m</a:t>
            </a:r>
            <a:endParaRPr lang="en-US" sz="22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 ·  Laam 6  ·  Meem 6</a:t>
            </a:r>
            <a:endParaRPr lang="en-US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D864"/>
          </a:solidFill>
          <a:ln w="12700">
            <a:solidFill>
              <a:srgbClr val="8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D147"/>
          </a:solidFill>
          <a:ln w="12700">
            <a:solidFill>
              <a:srgbClr val="8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Alif-Laam-Meem-Saad  (al-A'raf)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7433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الٓمٓصٓ</a:t>
            </a:r>
            <a:endParaRPr lang="ar-SA" sz="55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 لَآمۡ مِّيمۡ صَآدۡ</a:t>
            </a:r>
            <a:endParaRPr lang="ar-SA" sz="29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5245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A-lif Laaam Meeem Saaad</a:t>
            </a:r>
            <a:endParaRPr lang="en-US" sz="21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· Laam 6 · Meem 6 · Saad 6</a:t>
            </a:r>
            <a:endParaRPr lang="en-US" sz="2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Alif-Laam-Raa  (5 surahs)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67433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الٓر</a:t>
            </a:r>
            <a:endParaRPr lang="ar-SA" sz="55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 لَآمۡ رَا</a:t>
            </a:r>
            <a:endParaRPr lang="ar-SA" sz="29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A-lif  Laaam  Raa</a:t>
            </a:r>
            <a:endParaRPr lang="en-US" sz="30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 ·  Laam 6  ·  Raa 2</a:t>
            </a:r>
            <a:endParaRPr lang="en-US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Alif-Laam-Meem-Raa  (ar-Ra'd)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7433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الٓمٓر</a:t>
            </a:r>
            <a:endParaRPr lang="ar-SA" sz="55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 لَآمۡ مِّيمۡ رَا</a:t>
            </a:r>
            <a:endParaRPr lang="ar-SA" sz="29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95753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A-lif Laaam Meeem Raa</a:t>
            </a:r>
            <a:endParaRPr lang="en-US" sz="23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· Laam 6 · Meem 6 · Raa 2</a:t>
            </a:r>
            <a:endParaRPr lang="en-US" sz="2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Kaaf-Haa-Yaa-'Ayn-Saad  (Maryam)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5653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كٓهيعٓصٓ</a:t>
            </a:r>
            <a:endParaRPr lang="ar-SA" sz="57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2847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كَافۡ هَا يَا عَيۡنۡ صَآدۡ</a:t>
            </a:r>
            <a:endParaRPr lang="ar-SA" sz="27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70607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Kaaaf Haa Yaa 'Aaayn Saaad</a:t>
            </a:r>
            <a:endParaRPr lang="en-US" sz="19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Kaaf 6 · Haa 2 · Yaa 2 · 'Ayn 4/6 · Saad 6</a:t>
            </a:r>
            <a:endParaRPr lang="en-US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5EED"/>
          </a:solidFill>
          <a:ln w="12700">
            <a:solidFill>
              <a:srgbClr val="7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Taa-Haa  (Ta-Ha)</a:t>
            </a:r>
            <a:endParaRPr lang="en-US" sz="18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703324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طه</a:t>
            </a:r>
            <a:endParaRPr lang="ar-SA" sz="80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60565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 هَا</a:t>
            </a:r>
            <a:endParaRPr lang="ar-SA" sz="43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9181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  Haa</a:t>
            </a:r>
            <a:endParaRPr lang="en-US" sz="30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short names: 2 counts each.</a:t>
            </a:r>
            <a:endParaRPr lang="en-US" sz="2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E052"/>
          </a:solidFill>
          <a:ln w="12700">
            <a:solidFill>
              <a:srgbClr val="B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BDB"/>
          </a:solidFill>
          <a:ln w="12700">
            <a:solidFill>
              <a:srgbClr val="708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Taa-Seen-Meem  (ash-Shu'ara, al-Qasas)</a:t>
            </a:r>
            <a:endParaRPr lang="en-US" sz="18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554861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طسٓمٓ</a:t>
            </a:r>
            <a:endParaRPr lang="ar-SA" sz="57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473079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 سِينۡ مِّيمۡ</a:t>
            </a:r>
            <a:endParaRPr lang="ar-SA" sz="33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95055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  Seeem-Meeem</a:t>
            </a:r>
            <a:endParaRPr lang="en-US" sz="27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82264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 2  ·  Seen 6  ·  Meem 6   (the n of seen merges into meem)</a:t>
            </a:r>
            <a:endParaRPr lang="en-US" sz="1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3D8"/>
          </a:solidFill>
          <a:ln w="12700">
            <a:solidFill>
              <a:srgbClr val="64A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9D1"/>
          </a:solidFill>
          <a:ln w="12700">
            <a:solidFill>
              <a:srgbClr val="47A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Taa-Seen  (an-Naml)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00708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طسٓ</a:t>
            </a:r>
            <a:endParaRPr lang="ar-SA" sz="64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0399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طَا سِينۡ</a:t>
            </a:r>
            <a:endParaRPr lang="ar-SA" sz="37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562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  Seeen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405759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Taa 2 · Seen 6</a:t>
            </a:r>
            <a:endParaRPr lang="en-US" sz="2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Yaa-Seen  (Ya-Sin)</a:t>
            </a:r>
            <a:endParaRPr lang="en-US" sz="18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46456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يسٓ</a:t>
            </a:r>
            <a:endParaRPr lang="ar-SA" sz="79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486224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يَا سِينۡ</a:t>
            </a:r>
            <a:endParaRPr lang="ar-SA" sz="39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9562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  Seeen</a:t>
            </a:r>
            <a:endParaRPr lang="en-US" sz="30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82264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Yaa 2  ·  Seen 6   (Hafs: the n is said clearly before wal-Qur'aan)</a:t>
            </a:r>
            <a:endParaRPr lang="en-US" sz="1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Saad  (Sad)</a:t>
            </a:r>
            <a:endParaRPr lang="en-US" sz="18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49260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صٓ</a:t>
            </a:r>
            <a:endParaRPr lang="ar-SA" sz="76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52323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صَآدۡ</a:t>
            </a:r>
            <a:endParaRPr lang="ar-SA" sz="38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9753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Saaad</a:t>
            </a:r>
            <a:endParaRPr lang="en-US" sz="30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40715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Saad 6</a:t>
            </a:r>
            <a:endParaRPr lang="en-US" sz="2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Haa-Meem  (7 surahs)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445628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حمٓ</a:t>
            </a:r>
            <a:endParaRPr lang="ar-SA" sz="67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42887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 مِيمۡ</a:t>
            </a:r>
            <a:endParaRPr lang="ar-SA" sz="37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181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  Meeem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405759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 2  ·  Meem 6</a:t>
            </a:r>
            <a:endParaRPr lang="en-US" sz="2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0"/>
          </a:solidFill>
          <a:ln w="12700">
            <a:solidFill>
              <a:srgbClr val="ED5E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'Ayn-Seen-Qaaf  (ash-Shura, verse 2)</a:t>
            </a:r>
            <a:endParaRPr lang="en-US" sz="1800" dirty="0"/>
          </a:p>
        </p:txBody>
      </p:sp>
      <p:sp>
        <p:nvSpPr>
          <p:cNvPr id="20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21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mushaf"/>
          <p:cNvSpPr txBox="1"/>
          <p:nvPr/>
        </p:nvSpPr>
        <p:spPr>
          <a:xfrm>
            <a:off x="4892040" y="157429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عٓسٓقٓ</a:t>
            </a:r>
            <a:endParaRPr lang="ar-SA" sz="6400" dirty="0"/>
          </a:p>
        </p:txBody>
      </p:sp>
      <p:sp>
        <p:nvSpPr>
          <p:cNvPr id="23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2 read arabic"/>
          <p:cNvSpPr txBox="1"/>
          <p:nvPr/>
        </p:nvSpPr>
        <p:spPr>
          <a:xfrm>
            <a:off x="365760" y="1532858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عَيۡنۡ سِينۡ قَافۡ</a:t>
            </a:r>
            <a:endParaRPr lang="ar-SA" sz="3300" dirty="0"/>
          </a:p>
        </p:txBody>
      </p:sp>
      <p:sp>
        <p:nvSpPr>
          <p:cNvPr id="25" name="C2 read sounds"/>
          <p:cNvSpPr txBox="1"/>
          <p:nvPr/>
        </p:nvSpPr>
        <p:spPr>
          <a:xfrm>
            <a:off x="457200" y="2464511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'Aaayn  Seeen  Qaaaf</a:t>
            </a:r>
            <a:endParaRPr lang="en-US" sz="2500" dirty="0"/>
          </a:p>
        </p:txBody>
      </p:sp>
      <p:sp>
        <p:nvSpPr>
          <p:cNvPr id="26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7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'Ayn 4/6  ·  Seen 6  ·  Qaaf 6</a:t>
            </a:r>
            <a:endParaRPr lang="en-US" sz="2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5"/>
          </a:solidFill>
          <a:ln w="12700">
            <a:solidFill>
              <a:srgbClr val="DB70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6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Qaaf  (Qaf)</a:t>
            </a:r>
            <a:endParaRPr lang="en-US" sz="1800" dirty="0"/>
          </a:p>
        </p:txBody>
      </p:sp>
      <p:sp>
        <p:nvSpPr>
          <p:cNvPr id="17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8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mushaf"/>
          <p:cNvSpPr txBox="1"/>
          <p:nvPr/>
        </p:nvSpPr>
        <p:spPr>
          <a:xfrm>
            <a:off x="4892040" y="1633919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قٓ</a:t>
            </a:r>
            <a:endParaRPr lang="ar-SA" sz="6300" dirty="0"/>
          </a:p>
        </p:txBody>
      </p:sp>
      <p:sp>
        <p:nvSpPr>
          <p:cNvPr id="20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2 read arabic"/>
          <p:cNvSpPr txBox="1"/>
          <p:nvPr/>
        </p:nvSpPr>
        <p:spPr>
          <a:xfrm>
            <a:off x="365760" y="1549876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قَافۡ</a:t>
            </a:r>
            <a:endParaRPr lang="ar-SA" sz="3500" dirty="0"/>
          </a:p>
        </p:txBody>
      </p:sp>
      <p:sp>
        <p:nvSpPr>
          <p:cNvPr id="22" name="C2 read sounds"/>
          <p:cNvSpPr txBox="1"/>
          <p:nvPr/>
        </p:nvSpPr>
        <p:spPr>
          <a:xfrm>
            <a:off x="457200" y="2469655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Qaaaf</a:t>
            </a:r>
            <a:endParaRPr lang="en-US" sz="2900" dirty="0"/>
          </a:p>
        </p:txBody>
      </p:sp>
      <p:sp>
        <p:nvSpPr>
          <p:cNvPr id="23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24" name="C3 tip"/>
          <p:cNvSpPr txBox="1"/>
          <p:nvPr/>
        </p:nvSpPr>
        <p:spPr>
          <a:xfrm>
            <a:off x="502920" y="3386201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Qaaf 6</a:t>
            </a:r>
            <a:endParaRPr lang="en-US" sz="2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B"/>
          </a:solidFill>
          <a:ln w="12700">
            <a:solidFill>
              <a:srgbClr val="D147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5F3DC4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77824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Noon  (al-Qalam)</a:t>
            </a:r>
            <a:endParaRPr lang="en-US" sz="18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572330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نٓ</a:t>
            </a:r>
            <a:endParaRPr lang="ar-SA" sz="69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14983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نُونۡ</a:t>
            </a:r>
            <a:endParaRPr lang="ar-SA" sz="35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91816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Nooon</a:t>
            </a:r>
            <a:endParaRPr lang="en-US" sz="30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5F3DC4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79216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Noon 6   (Hafs: the n is said clearly before wal-qalam)</a:t>
            </a:r>
            <a:endParaRPr lang="en-US" sz="2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2" name="Title"/>
          <p:cNvSpPr txBox="1"/>
          <p:nvPr/>
        </p:nvSpPr>
        <p:spPr>
          <a:xfrm>
            <a:off x="365760" y="88284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how do we read it?</a:t>
            </a:r>
            <a:endParaRPr lang="en-US" sz="1900" dirty="0"/>
          </a:p>
        </p:txBody>
      </p:sp>
      <p:sp>
        <p:nvSpPr>
          <p:cNvPr id="13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4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mushaf"/>
          <p:cNvSpPr txBox="1"/>
          <p:nvPr/>
        </p:nvSpPr>
        <p:spPr>
          <a:xfrm>
            <a:off x="4892040" y="1445628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حمٓ</a:t>
            </a:r>
            <a:endParaRPr lang="ar-SA" sz="6700" dirty="0"/>
          </a:p>
        </p:txBody>
      </p:sp>
      <p:sp>
        <p:nvSpPr>
          <p:cNvPr id="16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2 read arabic"/>
          <p:cNvSpPr txBox="1"/>
          <p:nvPr/>
        </p:nvSpPr>
        <p:spPr>
          <a:xfrm>
            <a:off x="365760" y="142887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 مِيمۡ</a:t>
            </a:r>
            <a:endParaRPr lang="ar-SA" sz="3700" dirty="0"/>
          </a:p>
        </p:txBody>
      </p:sp>
      <p:sp>
        <p:nvSpPr>
          <p:cNvPr id="18" name="C2 read sounds"/>
          <p:cNvSpPr txBox="1"/>
          <p:nvPr/>
        </p:nvSpPr>
        <p:spPr>
          <a:xfrm>
            <a:off x="457200" y="2462479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 (2)  Meeem (6)</a:t>
            </a:r>
            <a:endParaRPr lang="en-US" sz="2700" dirty="0"/>
          </a:p>
        </p:txBody>
      </p:sp>
      <p:sp>
        <p:nvSpPr>
          <p:cNvPr id="19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0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first, then click.</a:t>
            </a:r>
            <a:endParaRPr lang="en-US" sz="2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3" name="Title"/>
          <p:cNvSpPr txBox="1"/>
          <p:nvPr/>
        </p:nvSpPr>
        <p:spPr>
          <a:xfrm>
            <a:off x="365760" y="88284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how do we read it?</a:t>
            </a:r>
            <a:endParaRPr lang="en-US" sz="1900" dirty="0"/>
          </a:p>
        </p:txBody>
      </p:sp>
      <p:sp>
        <p:nvSpPr>
          <p:cNvPr id="14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5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mushaf"/>
          <p:cNvSpPr txBox="1"/>
          <p:nvPr/>
        </p:nvSpPr>
        <p:spPr>
          <a:xfrm>
            <a:off x="4892040" y="1674336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الٓر</a:t>
            </a:r>
            <a:endParaRPr lang="ar-SA" sz="5500" dirty="0"/>
          </a:p>
        </p:txBody>
      </p:sp>
      <p:sp>
        <p:nvSpPr>
          <p:cNvPr id="17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2 read arabic"/>
          <p:cNvSpPr txBox="1"/>
          <p:nvPr/>
        </p:nvSpPr>
        <p:spPr>
          <a:xfrm>
            <a:off x="365760" y="151786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أَلِفۡ لَآمۡ رَا</a:t>
            </a:r>
            <a:endParaRPr lang="ar-SA" sz="2900" dirty="0"/>
          </a:p>
        </p:txBody>
      </p:sp>
      <p:sp>
        <p:nvSpPr>
          <p:cNvPr id="19" name="C2 read sounds"/>
          <p:cNvSpPr txBox="1"/>
          <p:nvPr/>
        </p:nvSpPr>
        <p:spPr>
          <a:xfrm>
            <a:off x="457200" y="2466543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 Laaam (6)  Raa (2)</a:t>
            </a:r>
            <a:endParaRPr lang="en-US" sz="2300" dirty="0"/>
          </a:p>
        </p:txBody>
      </p:sp>
      <p:sp>
        <p:nvSpPr>
          <p:cNvPr id="20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21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first, then click.</a:t>
            </a:r>
            <a:endParaRPr lang="en-US" sz="2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0B7285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1" name="Title"/>
          <p:cNvSpPr txBox="1"/>
          <p:nvPr/>
        </p:nvSpPr>
        <p:spPr>
          <a:xfrm>
            <a:off x="365760" y="882840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how do we read it?</a:t>
            </a:r>
            <a:endParaRPr lang="en-US" sz="1900" dirty="0"/>
          </a:p>
        </p:txBody>
      </p:sp>
      <p:sp>
        <p:nvSpPr>
          <p:cNvPr id="12" name="Mushaf panel"/>
          <p:cNvSpPr/>
          <p:nvPr/>
        </p:nvSpPr>
        <p:spPr>
          <a:xfrm>
            <a:off x="489204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76200">
            <a:solidFill>
              <a:srgbClr val="2F9E44"/>
            </a:solidFill>
            <a:prstDash val="solid"/>
          </a:ln>
        </p:spPr>
      </p:sp>
      <p:sp>
        <p:nvSpPr>
          <p:cNvPr id="13" name="Read panel"/>
          <p:cNvSpPr/>
          <p:nvPr/>
        </p:nvSpPr>
        <p:spPr>
          <a:xfrm>
            <a:off x="365760" y="1508760"/>
            <a:ext cx="3886200" cy="1691640"/>
          </a:xfrm>
          <a:prstGeom prst="roundRect">
            <a:avLst>
              <a:gd name="adj" fmla="val 13514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mushaf"/>
          <p:cNvSpPr txBox="1"/>
          <p:nvPr/>
        </p:nvSpPr>
        <p:spPr>
          <a:xfrm>
            <a:off x="4892040" y="1656532"/>
            <a:ext cx="3886200" cy="1353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كٓهيعٓصٓ</a:t>
            </a:r>
            <a:endParaRPr lang="ar-SA" sz="5700" dirty="0"/>
          </a:p>
        </p:txBody>
      </p:sp>
      <p:sp>
        <p:nvSpPr>
          <p:cNvPr id="15" name="C2 arrow"/>
          <p:cNvSpPr/>
          <p:nvPr/>
        </p:nvSpPr>
        <p:spPr>
          <a:xfrm>
            <a:off x="4315968" y="2125980"/>
            <a:ext cx="512064" cy="457200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2 read arabic"/>
          <p:cNvSpPr txBox="1"/>
          <p:nvPr/>
        </p:nvSpPr>
        <p:spPr>
          <a:xfrm>
            <a:off x="365760" y="1528477"/>
            <a:ext cx="3886200" cy="9811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كَافۡ هَا يَا عَيۡنۡ صَآدۡ</a:t>
            </a:r>
            <a:endParaRPr lang="ar-SA" sz="2700" dirty="0"/>
          </a:p>
        </p:txBody>
      </p:sp>
      <p:sp>
        <p:nvSpPr>
          <p:cNvPr id="17" name="C2 read sounds"/>
          <p:cNvSpPr txBox="1"/>
          <p:nvPr/>
        </p:nvSpPr>
        <p:spPr>
          <a:xfrm>
            <a:off x="457200" y="2470607"/>
            <a:ext cx="3703320" cy="637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Kaaaf Haa Yaa 'Aaayn Saaad</a:t>
            </a:r>
            <a:endParaRPr lang="en-US" sz="1900" dirty="0"/>
          </a:p>
        </p:txBody>
      </p:sp>
      <p:sp>
        <p:nvSpPr>
          <p:cNvPr id="18" name="C3 tip box"/>
          <p:cNvSpPr/>
          <p:nvPr/>
        </p:nvSpPr>
        <p:spPr>
          <a:xfrm>
            <a:off x="365760" y="3364992"/>
            <a:ext cx="8412480" cy="841248"/>
          </a:xfrm>
          <a:prstGeom prst="roundRect">
            <a:avLst>
              <a:gd name="adj" fmla="val 27174"/>
            </a:avLst>
          </a:prstGeom>
          <a:solidFill>
            <a:srgbClr val="FFFFFF"/>
          </a:solidFill>
          <a:ln w="76200">
            <a:solidFill>
              <a:srgbClr val="0B7285"/>
            </a:solidFill>
            <a:prstDash val="solid"/>
          </a:ln>
        </p:spPr>
      </p:sp>
      <p:sp>
        <p:nvSpPr>
          <p:cNvPr id="19" name="C3 tip"/>
          <p:cNvSpPr txBox="1"/>
          <p:nvPr/>
        </p:nvSpPr>
        <p:spPr>
          <a:xfrm>
            <a:off x="502920" y="3387598"/>
            <a:ext cx="8138160" cy="768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first, then click.</a:t>
            </a:r>
            <a:endParaRPr lang="en-US" sz="2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ED5E"/>
          </a:solidFill>
          <a:ln w="12700">
            <a:solidFill>
              <a:srgbClr val="9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itle box"/>
          <p:cNvSpPr/>
          <p:nvPr/>
        </p:nvSpPr>
        <p:spPr>
          <a:xfrm>
            <a:off x="365760" y="896112"/>
            <a:ext cx="8412480" cy="502920"/>
          </a:xfrm>
          <a:prstGeom prst="roundRect">
            <a:avLst>
              <a:gd name="adj" fmla="val 45455"/>
            </a:avLst>
          </a:prstGeom>
          <a:solidFill>
            <a:srgbClr val="1971C2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19" name="Title"/>
          <p:cNvSpPr txBox="1"/>
          <p:nvPr/>
        </p:nvSpPr>
        <p:spPr>
          <a:xfrm>
            <a:off x="365760" y="875602"/>
            <a:ext cx="841248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900" dirty="0"/>
          </a:p>
        </p:txBody>
      </p:sp>
      <p:sp>
        <p:nvSpPr>
          <p:cNvPr id="20" name="Lines panel"/>
          <p:cNvSpPr/>
          <p:nvPr/>
        </p:nvSpPr>
        <p:spPr>
          <a:xfrm>
            <a:off x="365760" y="1536192"/>
            <a:ext cx="8412480" cy="269748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76200">
            <a:solidFill>
              <a:srgbClr val="1971C2"/>
            </a:solidFill>
            <a:prstDash val="solid"/>
          </a:ln>
        </p:spPr>
      </p:sp>
      <p:sp>
        <p:nvSpPr>
          <p:cNvPr id="21" name="C1 line 1"/>
          <p:cNvSpPr txBox="1"/>
          <p:nvPr/>
        </p:nvSpPr>
        <p:spPr>
          <a:xfrm>
            <a:off x="502920" y="1646301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letter by its NAME.</a:t>
            </a:r>
            <a:endParaRPr lang="en-US" sz="2100" dirty="0"/>
          </a:p>
        </p:txBody>
      </p:sp>
      <p:sp>
        <p:nvSpPr>
          <p:cNvPr id="22" name="C2 line 2"/>
          <p:cNvSpPr txBox="1"/>
          <p:nvPr/>
        </p:nvSpPr>
        <p:spPr>
          <a:xfrm>
            <a:off x="502920" y="2281619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Haa, Yaa, Taa, Haa, Raa  →  2 counts</a:t>
            </a:r>
            <a:endParaRPr lang="en-US" sz="2100" dirty="0"/>
          </a:p>
        </p:txBody>
      </p:sp>
      <p:sp>
        <p:nvSpPr>
          <p:cNvPr id="23" name="C3 line 3"/>
          <p:cNvSpPr txBox="1"/>
          <p:nvPr/>
        </p:nvSpPr>
        <p:spPr>
          <a:xfrm>
            <a:off x="502920" y="2903601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Noon, Qaaf, Saad, 'Ayn, Seen, Laam, Kaaf, Meem  →  6</a:t>
            </a:r>
            <a:endParaRPr lang="en-US" sz="2100" dirty="0"/>
          </a:p>
        </p:txBody>
      </p:sp>
      <p:sp>
        <p:nvSpPr>
          <p:cNvPr id="24" name="C4 line 4"/>
          <p:cNvSpPr txBox="1"/>
          <p:nvPr/>
        </p:nvSpPr>
        <p:spPr>
          <a:xfrm>
            <a:off x="502920" y="3558921"/>
            <a:ext cx="813816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Alif  →  no stretch.   ~ on a letter = 6 counts</a:t>
            </a:r>
            <a:endParaRPr lang="en-US" sz="2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Disjointed Letters</dc:title>
  <dc:subject>PptxGenJS Presentation</dc:subject>
  <dc:creator>PptxGenJS</dc:creator>
  <cp:lastModifiedBy>PptxGenJS</cp:lastModifiedBy>
  <cp:revision>1</cp:revision>
  <dcterms:created xsi:type="dcterms:W3CDTF">2026-10-21T19:34:31Z</dcterms:created>
  <dcterms:modified xsi:type="dcterms:W3CDTF">2026-10-21T19:34:31Z</dcterms:modified>
</cp:coreProperties>
</file>