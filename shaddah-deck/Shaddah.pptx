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little mark that looks like a tiny 'w' is the SHADDAH. It is a secret code: this letter is really TWO letters standing in the same spot. Click through to watch it split. Shaddah = two identical letters. The FIRST one rests with a sukun (shown with the head-of-haa sign) - red stop sign. The SECOND one moves with a harakah (fatha, kasra or damma) - green go arrow. Say them quickly together: the stop-then-go gives the shaddah its strong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Shaddah = two identical letters. The FIRST one rests with a sukun (shown with the head-of-haa sign) - red stop sign. The SECOND one moves with a harakah (fatha, kasra or damma) - green go arrow. Say them quickly together: the stop-then-go gives the shaddah its strong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Shaddah = two identical letters. The FIRST one rests with a sukun (shown with the head-of-haa sign) - red stop sign. The SECOND one moves with a harakah (fatha, kasra or damma) - green go arrow. Say them quickly together: the stop-then-go gives the shaddah its strong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splitting a single doubled letter: stop (sukun), then go (harakah), then squeeze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word in three pieces: the letter before, the resting letter (sukun), and the moving letter (harakah). Then press the arrow to see them join into one word with a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Result panel"/>
          <p:cNvSpPr/>
          <p:nvPr/>
        </p:nvSpPr>
        <p:spPr>
          <a:xfrm>
            <a:off x="5943600" y="1600200"/>
            <a:ext cx="256032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2" name="S01 Result"/>
          <p:cNvSpPr txBox="1"/>
          <p:nvPr/>
        </p:nvSpPr>
        <p:spPr>
          <a:xfrm>
            <a:off x="5943600" y="16002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500" dirty="0"/>
          </a:p>
        </p:txBody>
      </p:sp>
      <p:sp>
        <p:nvSpPr>
          <p:cNvPr id="33" name="S02 Arrow shape"/>
          <p:cNvSpPr/>
          <p:nvPr/>
        </p:nvSpPr>
        <p:spPr>
          <a:xfrm>
            <a:off x="5120640" y="239572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4" name="Circle 1"/>
          <p:cNvSpPr/>
          <p:nvPr/>
        </p:nvSpPr>
        <p:spPr>
          <a:xfrm>
            <a:off x="32918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5" name="Circle 2"/>
          <p:cNvSpPr/>
          <p:nvPr/>
        </p:nvSpPr>
        <p:spPr>
          <a:xfrm>
            <a:off x="12344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6" name="S03 L1 letter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37" name="S04 F1 mark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38" name="S05 Stop sign 1 shape"/>
          <p:cNvSpPr/>
          <p:nvPr/>
        </p:nvSpPr>
        <p:spPr>
          <a:xfrm>
            <a:off x="3877056" y="130759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06 Plus 1 shape"/>
          <p:cNvSpPr/>
          <p:nvPr/>
        </p:nvSpPr>
        <p:spPr>
          <a:xfrm>
            <a:off x="2788920" y="2423160"/>
            <a:ext cx="457200" cy="45720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0" name="S07 L2 letter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41" name="S08 F2 mark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42" name="S09 Go arrow 2 shape"/>
          <p:cNvSpPr/>
          <p:nvPr/>
        </p:nvSpPr>
        <p:spPr>
          <a:xfrm>
            <a:off x="1737360" y="133502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Result panel"/>
          <p:cNvSpPr/>
          <p:nvPr/>
        </p:nvSpPr>
        <p:spPr>
          <a:xfrm>
            <a:off x="5943600" y="1600200"/>
            <a:ext cx="256032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2" name="S01 Result"/>
          <p:cNvSpPr txBox="1"/>
          <p:nvPr/>
        </p:nvSpPr>
        <p:spPr>
          <a:xfrm>
            <a:off x="5943600" y="16002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12500" dirty="0"/>
          </a:p>
        </p:txBody>
      </p:sp>
      <p:sp>
        <p:nvSpPr>
          <p:cNvPr id="33" name="S02 Arrow shape"/>
          <p:cNvSpPr/>
          <p:nvPr/>
        </p:nvSpPr>
        <p:spPr>
          <a:xfrm>
            <a:off x="5120640" y="239572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4" name="Circle 1"/>
          <p:cNvSpPr/>
          <p:nvPr/>
        </p:nvSpPr>
        <p:spPr>
          <a:xfrm>
            <a:off x="32918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5" name="Circle 2"/>
          <p:cNvSpPr/>
          <p:nvPr/>
        </p:nvSpPr>
        <p:spPr>
          <a:xfrm>
            <a:off x="12344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6" name="S03 L1 letter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37" name="S04 F1 mark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38" name="S05 Stop sign 1 shape"/>
          <p:cNvSpPr/>
          <p:nvPr/>
        </p:nvSpPr>
        <p:spPr>
          <a:xfrm>
            <a:off x="3877056" y="130759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06 Plus 1 shape"/>
          <p:cNvSpPr/>
          <p:nvPr/>
        </p:nvSpPr>
        <p:spPr>
          <a:xfrm>
            <a:off x="2788920" y="2423160"/>
            <a:ext cx="457200" cy="45720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0" name="S07 L2 letter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41" name="S08 F2 mark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11250" dirty="0"/>
          </a:p>
        </p:txBody>
      </p:sp>
      <p:sp>
        <p:nvSpPr>
          <p:cNvPr id="42" name="S09 Go arrow 2 shape"/>
          <p:cNvSpPr/>
          <p:nvPr/>
        </p:nvSpPr>
        <p:spPr>
          <a:xfrm>
            <a:off x="1737360" y="133502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Result panel"/>
          <p:cNvSpPr/>
          <p:nvPr/>
        </p:nvSpPr>
        <p:spPr>
          <a:xfrm>
            <a:off x="5943600" y="1600200"/>
            <a:ext cx="2560320" cy="2103120"/>
          </a:xfrm>
          <a:prstGeom prst="roundRect">
            <a:avLst>
              <a:gd name="adj" fmla="val 13043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2" name="S01 Result"/>
          <p:cNvSpPr txBox="1"/>
          <p:nvPr/>
        </p:nvSpPr>
        <p:spPr>
          <a:xfrm>
            <a:off x="5943600" y="1600200"/>
            <a:ext cx="256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12500" dirty="0"/>
          </a:p>
        </p:txBody>
      </p:sp>
      <p:sp>
        <p:nvSpPr>
          <p:cNvPr id="33" name="S02 Arrow shape"/>
          <p:cNvSpPr/>
          <p:nvPr/>
        </p:nvSpPr>
        <p:spPr>
          <a:xfrm>
            <a:off x="5120640" y="239572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4" name="Circle 1"/>
          <p:cNvSpPr/>
          <p:nvPr/>
        </p:nvSpPr>
        <p:spPr>
          <a:xfrm>
            <a:off x="32918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5" name="Circle 2"/>
          <p:cNvSpPr/>
          <p:nvPr/>
        </p:nvSpPr>
        <p:spPr>
          <a:xfrm>
            <a:off x="1234440" y="1874520"/>
            <a:ext cx="1554480" cy="15544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6" name="S03 L1 letter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37" name="S04 F1 mark"/>
          <p:cNvSpPr txBox="1"/>
          <p:nvPr/>
        </p:nvSpPr>
        <p:spPr>
          <a:xfrm>
            <a:off x="32918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38" name="S05 Stop sign 1 shape"/>
          <p:cNvSpPr/>
          <p:nvPr/>
        </p:nvSpPr>
        <p:spPr>
          <a:xfrm>
            <a:off x="3877056" y="130759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S06 Plus 1 shape"/>
          <p:cNvSpPr/>
          <p:nvPr/>
        </p:nvSpPr>
        <p:spPr>
          <a:xfrm>
            <a:off x="2788920" y="2423160"/>
            <a:ext cx="457200" cy="45720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0" name="S07 L2 letter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41" name="S08 F2 mark"/>
          <p:cNvSpPr txBox="1"/>
          <p:nvPr/>
        </p:nvSpPr>
        <p:spPr>
          <a:xfrm>
            <a:off x="1234440" y="18745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11250" dirty="0"/>
          </a:p>
        </p:txBody>
      </p:sp>
      <p:sp>
        <p:nvSpPr>
          <p:cNvPr id="42" name="S09 Go arrow 2 shape"/>
          <p:cNvSpPr/>
          <p:nvPr/>
        </p:nvSpPr>
        <p:spPr>
          <a:xfrm>
            <a:off x="1737360" y="133502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 animBg="1"/>
      <p:bldP spid="36" grpId="0"/>
      <p:bldP spid="37" grpId="0"/>
      <p:bldP spid="38" grpId="0" animBg="1"/>
      <p:bldP spid="39" grpId="0" animBg="1"/>
      <p:bldP spid="40" grpId="0"/>
      <p:bldP spid="41" grpId="0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4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0500" dirty="0"/>
          </a:p>
        </p:txBody>
      </p:sp>
      <p:sp>
        <p:nvSpPr>
          <p:cNvPr id="35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10500" dirty="0"/>
          </a:p>
        </p:txBody>
      </p:sp>
      <p:sp>
        <p:nvSpPr>
          <p:cNvPr id="36" name="S03 Stop sign 1 shape"/>
          <p:cNvSpPr/>
          <p:nvPr/>
        </p:nvSpPr>
        <p:spPr>
          <a:xfrm>
            <a:off x="7397496" y="1124712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S04 Plus 1 shape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10500" dirty="0"/>
          </a:p>
        </p:txBody>
      </p:sp>
      <p:sp>
        <p:nvSpPr>
          <p:cNvPr id="39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10500" dirty="0"/>
          </a:p>
        </p:txBody>
      </p:sp>
      <p:sp>
        <p:nvSpPr>
          <p:cNvPr id="40" name="S07 Go arrow 2 shape"/>
          <p:cNvSpPr/>
          <p:nvPr/>
        </p:nvSpPr>
        <p:spPr>
          <a:xfrm>
            <a:off x="4937760" y="1152144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S08 Arrow shape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2" name="S09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قَّ</a:t>
            </a:r>
            <a:endParaRPr lang="ar-SA" sz="1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مَسَّ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مَرَّ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فَرَّ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كَفَّ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غَشَّ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هَمَّ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جُنَّ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فِرَّ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"/>
          <p:cNvSpPr/>
          <p:nvPr/>
        </p:nvSpPr>
        <p:spPr>
          <a:xfrm>
            <a:off x="-91440" y="4709160"/>
            <a:ext cx="9326880" cy="54864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Deco dome left"/>
          <p:cNvSpPr/>
          <p:nvPr/>
        </p:nvSpPr>
        <p:spPr>
          <a:xfrm>
            <a:off x="914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Deco minaret left"/>
          <p:cNvSpPr/>
          <p:nvPr/>
        </p:nvSpPr>
        <p:spPr>
          <a:xfrm>
            <a:off x="132588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Deco minaret top left"/>
          <p:cNvSpPr/>
          <p:nvPr/>
        </p:nvSpPr>
        <p:spPr>
          <a:xfrm>
            <a:off x="128016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Deco dome right"/>
          <p:cNvSpPr/>
          <p:nvPr/>
        </p:nvSpPr>
        <p:spPr>
          <a:xfrm>
            <a:off x="7863840" y="4206240"/>
            <a:ext cx="1188720" cy="10972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Deco minaret right"/>
          <p:cNvSpPr/>
          <p:nvPr/>
        </p:nvSpPr>
        <p:spPr>
          <a:xfrm>
            <a:off x="7635240" y="3977640"/>
            <a:ext cx="164592" cy="109728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8" name="Deco minaret top right"/>
          <p:cNvSpPr/>
          <p:nvPr/>
        </p:nvSpPr>
        <p:spPr>
          <a:xfrm>
            <a:off x="7589520" y="3749040"/>
            <a:ext cx="256032" cy="274320"/>
          </a:xfrm>
          <a:prstGeom prst="triangl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9" name="Deco moon"/>
          <p:cNvSpPr/>
          <p:nvPr/>
        </p:nvSpPr>
        <p:spPr>
          <a:xfrm>
            <a:off x="365760" y="274320"/>
            <a:ext cx="548640" cy="86868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0" name="Deco star 1"/>
          <p:cNvSpPr/>
          <p:nvPr/>
        </p:nvSpPr>
        <p:spPr>
          <a:xfrm>
            <a:off x="1463040" y="32004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2"/>
          <p:cNvSpPr/>
          <p:nvPr/>
        </p:nvSpPr>
        <p:spPr>
          <a:xfrm>
            <a:off x="2743200" y="73152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3"/>
          <p:cNvSpPr/>
          <p:nvPr/>
        </p:nvSpPr>
        <p:spPr>
          <a:xfrm>
            <a:off x="3840480" y="27432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4"/>
          <p:cNvSpPr/>
          <p:nvPr/>
        </p:nvSpPr>
        <p:spPr>
          <a:xfrm>
            <a:off x="4937760" y="68580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5"/>
          <p:cNvSpPr/>
          <p:nvPr/>
        </p:nvSpPr>
        <p:spPr>
          <a:xfrm>
            <a:off x="5669280" y="2286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6"/>
          <p:cNvSpPr/>
          <p:nvPr/>
        </p:nvSpPr>
        <p:spPr>
          <a:xfrm>
            <a:off x="8412480" y="137160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star 7"/>
          <p:cNvSpPr/>
          <p:nvPr/>
        </p:nvSpPr>
        <p:spPr>
          <a:xfrm>
            <a:off x="411480" y="1463040"/>
            <a:ext cx="146304" cy="146304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Deco star 8"/>
          <p:cNvSpPr/>
          <p:nvPr/>
        </p:nvSpPr>
        <p:spPr>
          <a:xfrm>
            <a:off x="3017520" y="4297680"/>
            <a:ext cx="146304" cy="1463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star 9"/>
          <p:cNvSpPr/>
          <p:nvPr/>
        </p:nvSpPr>
        <p:spPr>
          <a:xfrm>
            <a:off x="5852160" y="4206240"/>
            <a:ext cx="164592" cy="16459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9" name="Deco string 1"/>
          <p:cNvSpPr/>
          <p:nvPr/>
        </p:nvSpPr>
        <p:spPr>
          <a:xfrm>
            <a:off x="684885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Deco lantern top 1"/>
          <p:cNvSpPr/>
          <p:nvPr/>
        </p:nvSpPr>
        <p:spPr>
          <a:xfrm>
            <a:off x="667512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1" name="Deco lantern body 1"/>
          <p:cNvSpPr/>
          <p:nvPr/>
        </p:nvSpPr>
        <p:spPr>
          <a:xfrm>
            <a:off x="667512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2" name="Deco lantern glow 1"/>
          <p:cNvSpPr/>
          <p:nvPr/>
        </p:nvSpPr>
        <p:spPr>
          <a:xfrm>
            <a:off x="678484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3" name="Deco string 2"/>
          <p:cNvSpPr/>
          <p:nvPr/>
        </p:nvSpPr>
        <p:spPr>
          <a:xfrm>
            <a:off x="7854696" y="0"/>
            <a:ext cx="1828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Deco lantern top 2"/>
          <p:cNvSpPr/>
          <p:nvPr/>
        </p:nvSpPr>
        <p:spPr>
          <a:xfrm>
            <a:off x="7680960" y="50292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5" name="Deco lantern body 2"/>
          <p:cNvSpPr/>
          <p:nvPr/>
        </p:nvSpPr>
        <p:spPr>
          <a:xfrm>
            <a:off x="7680960" y="66751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26" name="Deco lantern glow 2"/>
          <p:cNvSpPr/>
          <p:nvPr/>
        </p:nvSpPr>
        <p:spPr>
          <a:xfrm>
            <a:off x="7790688" y="77724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7" name="Deco string 3"/>
          <p:cNvSpPr/>
          <p:nvPr/>
        </p:nvSpPr>
        <p:spPr>
          <a:xfrm>
            <a:off x="8494776" y="0"/>
            <a:ext cx="1828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Deco lantern top 3"/>
          <p:cNvSpPr/>
          <p:nvPr/>
        </p:nvSpPr>
        <p:spPr>
          <a:xfrm>
            <a:off x="8321040" y="320040"/>
            <a:ext cx="365760" cy="164592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29" name="Deco lantern body 3"/>
          <p:cNvSpPr/>
          <p:nvPr/>
        </p:nvSpPr>
        <p:spPr>
          <a:xfrm>
            <a:off x="8321040" y="484632"/>
            <a:ext cx="365760" cy="457200"/>
          </a:xfrm>
          <a:prstGeom prst="roundRect">
            <a:avLst>
              <a:gd name="adj" fmla="val 25000"/>
            </a:avLst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0" name="Deco lantern glow 3"/>
          <p:cNvSpPr/>
          <p:nvPr/>
        </p:nvSpPr>
        <p:spPr>
          <a:xfrm>
            <a:off x="8430768" y="594360"/>
            <a:ext cx="146304" cy="237744"/>
          </a:xfrm>
          <a:prstGeom prst="ellipse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31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32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33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34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35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7500" dirty="0"/>
          </a:p>
        </p:txBody>
      </p:sp>
      <p:sp>
        <p:nvSpPr>
          <p:cNvPr id="36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7500" dirty="0"/>
          </a:p>
        </p:txBody>
      </p:sp>
      <p:sp>
        <p:nvSpPr>
          <p:cNvPr id="37" name="S03 Plus 1 shape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39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7500" dirty="0"/>
          </a:p>
        </p:txBody>
      </p:sp>
      <p:sp>
        <p:nvSpPr>
          <p:cNvPr id="40" name="S06 Stop sign 1 shape"/>
          <p:cNvSpPr/>
          <p:nvPr/>
        </p:nvSpPr>
        <p:spPr>
          <a:xfrm>
            <a:off x="5934456" y="1389888"/>
            <a:ext cx="384048" cy="384048"/>
          </a:xfrm>
          <a:prstGeom prst="octagon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S07 Plus 2 shape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7500" dirty="0"/>
          </a:p>
        </p:txBody>
      </p:sp>
      <p:sp>
        <p:nvSpPr>
          <p:cNvPr id="43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7500" dirty="0"/>
          </a:p>
        </p:txBody>
      </p:sp>
      <p:sp>
        <p:nvSpPr>
          <p:cNvPr id="44" name="S10 Go arrow 2 shape"/>
          <p:cNvSpPr/>
          <p:nvPr/>
        </p:nvSpPr>
        <p:spPr>
          <a:xfrm>
            <a:off x="4069080" y="1417320"/>
            <a:ext cx="548640" cy="329184"/>
          </a:xfrm>
          <a:prstGeom prst="leftArrow">
            <a:avLst/>
          </a:prstGeom>
          <a:solidFill>
            <a:srgbClr val="3DDC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S11 Arrow shape"/>
          <p:cNvSpPr/>
          <p:nvPr/>
        </p:nvSpPr>
        <p:spPr>
          <a:xfrm>
            <a:off x="299466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6" name="S12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جِدَّ</a:t>
            </a:r>
            <a:endParaRPr lang="ar-SA" sz="8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 animBg="1"/>
      <p:bldP spid="38" grpId="0"/>
      <p:bldP spid="39" grpId="0"/>
      <p:bldP spid="40" grpId="0" animBg="1"/>
      <p:bldP spid="41" grpId="0" animBg="1"/>
      <p:bldP spid="42" grpId="0"/>
      <p:bldP spid="43" grpId="0"/>
      <p:bldP spid="44" grpId="0" animBg="1"/>
      <p:bldP spid="45" grpId="0" animBg="1"/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Shaddah: one mark, two letters</dc:title>
  <dc:subject>PptxGenJS Presentation</dc:subject>
  <dc:creator>PptxGenJS</dc:creator>
  <cp:lastModifiedBy>PptxGenJS</cp:lastModifiedBy>
  <cp:revision>1</cp:revision>
  <dcterms:created xsi:type="dcterms:W3CDTF">2026-10-08T05:33:09Z</dcterms:created>
  <dcterms:modified xsi:type="dcterms:W3CDTF">2026-10-08T05:33:09Z</dcterms:modified>
</cp:coreProperties>
</file>