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slideMasters/slideMaster451.xml" ContentType="application/vnd.openxmlformats-officedocument.presentationml.slideMaster+xml"/>
  <Override PartName="/ppt/slides/slide451.xml" ContentType="application/vnd.openxmlformats-officedocument.presentationml.slide+xml"/>
  <Override PartName="/ppt/slideMasters/slideMaster452.xml" ContentType="application/vnd.openxmlformats-officedocument.presentationml.slideMaster+xml"/>
  <Override PartName="/ppt/slides/slide452.xml" ContentType="application/vnd.openxmlformats-officedocument.presentationml.slide+xml"/>
  <Override PartName="/ppt/slideMasters/slideMaster453.xml" ContentType="application/vnd.openxmlformats-officedocument.presentationml.slideMaster+xml"/>
  <Override PartName="/ppt/slides/slide453.xml" ContentType="application/vnd.openxmlformats-officedocument.presentationml.slide+xml"/>
  <Override PartName="/ppt/slideMasters/slideMaster454.xml" ContentType="application/vnd.openxmlformats-officedocument.presentationml.slideMaster+xml"/>
  <Override PartName="/ppt/slides/slide454.xml" ContentType="application/vnd.openxmlformats-officedocument.presentationml.slide+xml"/>
  <Override PartName="/ppt/slideMasters/slideMaster455.xml" ContentType="application/vnd.openxmlformats-officedocument.presentationml.slideMaster+xml"/>
  <Override PartName="/ppt/slides/slide4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ppt/notesSlides/notesSlide451.xml" ContentType="application/vnd.openxmlformats-officedocument.presentationml.notesSlide+xml"/>
  <Override PartName="/ppt/notesSlides/notesSlide452.xml" ContentType="application/vnd.openxmlformats-officedocument.presentationml.notesSlide+xml"/>
  <Override PartName="/ppt/notesSlides/notesSlide453.xml" ContentType="application/vnd.openxmlformats-officedocument.presentationml.notesSlide+xml"/>
  <Override PartName="/ppt/notesSlides/notesSlide454.xml" ContentType="application/vnd.openxmlformats-officedocument.presentationml.notesSlide+xml"/>
  <Override PartName="/ppt/notesSlides/notesSlide4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  <p:sldId id="706" r:id="rId452"/>
    <p:sldId id="707" r:id="rId453"/>
    <p:sldId id="708" r:id="rId454"/>
    <p:sldId id="709" r:id="rId455"/>
    <p:sldId id="710" r:id="rId456"/>
  </p:sldIdLst>
  <p:notesMasterIdLst>
    <p:notesMasterId r:id="rId4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slide" Target="slides/slide451.xml"/><Relationship Id="rId453" Type="http://schemas.openxmlformats.org/officeDocument/2006/relationships/slide" Target="slides/slide452.xml"/><Relationship Id="rId454" Type="http://schemas.openxmlformats.org/officeDocument/2006/relationships/slide" Target="slides/slide453.xml"/><Relationship Id="rId455" Type="http://schemas.openxmlformats.org/officeDocument/2006/relationships/slide" Target="slides/slide454.xml"/><Relationship Id="rId456" Type="http://schemas.openxmlformats.org/officeDocument/2006/relationships/slide" Target="slides/slide455.xml"/><Relationship Id="rId457" Type="http://schemas.openxmlformats.org/officeDocument/2006/relationships/notesMaster" Target="notesMasters/notesMaster1.xml"/><Relationship Id="rId458" Type="http://schemas.openxmlformats.org/officeDocument/2006/relationships/presProps" Target="presProps.xml"/><Relationship Id="rId459" Type="http://schemas.openxmlformats.org/officeDocument/2006/relationships/viewProps" Target="viewProps.xml"/><Relationship Id="rId460" Type="http://schemas.openxmlformats.org/officeDocument/2006/relationships/theme" Target="theme/theme1.xml"/><Relationship Id="rId4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_rels/notesSlide4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1.xml"/>
		</Relationships>
</file>

<file path=ppt/notesSlides/_rels/notesSlide4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2.xml"/>
		</Relationships>
</file>

<file path=ppt/notesSlides/_rels/notesSlide4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3.xml"/>
		</Relationships>
</file>

<file path=ppt/notesSlides/_rels/notesSlide4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4.xml"/>
		</Relationships>
</file>

<file path=ppt/notesSlides/_rels/notesSlide4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التنوين حرفان في الصوت: حركة على الحرف ثم نون ساكنة. علامة تنوين الفتح «ـً» فتحتان: الفتحة الأولى هي حركة الحرف، والثانية تدل على نون ساكنة «نۡ» نسمعها ولا نكتبها.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بفتحته مع نون ساكنة: بَ + نۡ = بَنۡ.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«بًا» ونقرأ «بَنۡ»: النون الساكنة لا تُكتب، لكننا ننطقها. والألف بعد تنوين الفتح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بفتحته مع نون ساكنة: تَ + نۡ = تَنۡ.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«تًا» ونقرأ «تَنۡ»: النون الساكنة لا تُكتب، لكننا ننطقها. والألف بعد تنوين الفتح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الكلمة أيضاً: نكتب «قَمَرًا» ونقرأ «قَمَرَنۡ». التنوين في آخر الكلمة = حركة + نون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«بَنۡ».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«بَنۡ».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الاستثناءات: لا نضيف ألفاً بعد تنوين الفتح في حرفين: التاء المربوطة (ةً) مثل «شَجَرَةً»، والهمزة على الألف (أً) مثل «خَطَأً». ويأتي لاحقاً: الهمزة بعد الألف (سَمَاءً) والألف المقصورة (هُدًى).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Relationship Id="rIdTrSnd" Type="http://schemas.openxmlformats.org/officeDocument/2006/relationships/audio" Target="../media/harp.wav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1.xml"/><Relationship Id="rIdTrSnd" Type="http://schemas.openxmlformats.org/officeDocument/2006/relationships/audio" Target="../media/chime.wav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2.xml"/><Relationship Id="rIdTrSnd" Type="http://schemas.openxmlformats.org/officeDocument/2006/relationships/audio" Target="../media/whoosh.wav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3.xml"/><Relationship Id="rIdTrSnd" Type="http://schemas.openxmlformats.org/officeDocument/2006/relationships/audio" Target="../media/bubbles.wav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4.xml"/><Relationship Id="rIdTrSnd" Type="http://schemas.openxmlformats.org/officeDocument/2006/relationships/audio" Target="../media/sparkle.wav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5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9" name="C1 T1 sign"/>
          <p:cNvSpPr txBox="1"/>
          <p:nvPr/>
        </p:nvSpPr>
        <p:spPr>
          <a:xfrm>
            <a:off x="6492240" y="1165098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ـً</a:t>
            </a:r>
            <a:endParaRPr lang="ar-SA" sz="8900" dirty="0"/>
          </a:p>
        </p:txBody>
      </p:sp>
      <p:sp>
        <p:nvSpPr>
          <p:cNvPr id="20" name="C1 L1 label box"/>
          <p:cNvSpPr/>
          <p:nvPr/>
        </p:nvSpPr>
        <p:spPr>
          <a:xfrm>
            <a:off x="649224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1 L1 label"/>
          <p:cNvSpPr txBox="1"/>
          <p:nvPr/>
        </p:nvSpPr>
        <p:spPr>
          <a:xfrm>
            <a:off x="6492240" y="3123819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تنوين الفتح</a:t>
            </a:r>
            <a:endParaRPr lang="ar-SA" sz="2700" dirty="0"/>
          </a:p>
        </p:txBody>
      </p:sp>
      <p:sp>
        <p:nvSpPr>
          <p:cNvPr id="22" name="Panel 2"/>
          <p:cNvSpPr/>
          <p:nvPr/>
        </p:nvSpPr>
        <p:spPr>
          <a:xfrm>
            <a:off x="342900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3" name="C3 T2 sign"/>
          <p:cNvSpPr txBox="1"/>
          <p:nvPr/>
        </p:nvSpPr>
        <p:spPr>
          <a:xfrm>
            <a:off x="3429000" y="1097280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ـَ</a:t>
            </a:r>
            <a:endParaRPr lang="ar-SA" sz="8900" dirty="0"/>
          </a:p>
        </p:txBody>
      </p:sp>
      <p:sp>
        <p:nvSpPr>
          <p:cNvPr id="24" name="C3 L2 label box"/>
          <p:cNvSpPr/>
          <p:nvPr/>
        </p:nvSpPr>
        <p:spPr>
          <a:xfrm>
            <a:off x="342900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3 L2 label"/>
          <p:cNvSpPr txBox="1"/>
          <p:nvPr/>
        </p:nvSpPr>
        <p:spPr>
          <a:xfrm>
            <a:off x="3429000" y="3187510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فتحة</a:t>
            </a:r>
            <a:endParaRPr lang="ar-SA" sz="3400" dirty="0"/>
          </a:p>
        </p:txBody>
      </p:sp>
      <p:sp>
        <p:nvSpPr>
          <p:cNvPr id="26" name="Panel 3"/>
          <p:cNvSpPr/>
          <p:nvPr/>
        </p:nvSpPr>
        <p:spPr>
          <a:xfrm>
            <a:off x="36576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27" name="C4 T3 sign"/>
          <p:cNvSpPr txBox="1"/>
          <p:nvPr/>
        </p:nvSpPr>
        <p:spPr>
          <a:xfrm>
            <a:off x="365760" y="1057154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900" dirty="0"/>
          </a:p>
        </p:txBody>
      </p:sp>
      <p:sp>
        <p:nvSpPr>
          <p:cNvPr id="28" name="C4 L3 label box"/>
          <p:cNvSpPr/>
          <p:nvPr/>
        </p:nvSpPr>
        <p:spPr>
          <a:xfrm>
            <a:off x="36576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4 L3 label"/>
          <p:cNvSpPr txBox="1"/>
          <p:nvPr/>
        </p:nvSpPr>
        <p:spPr>
          <a:xfrm>
            <a:off x="36576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ساكنة</a:t>
            </a:r>
            <a:endParaRPr lang="ar-SA" sz="3000" dirty="0"/>
          </a:p>
        </p:txBody>
      </p:sp>
      <p:sp>
        <p:nvSpPr>
          <p:cNvPr id="30" name="C2 E equals"/>
          <p:cNvSpPr/>
          <p:nvPr/>
        </p:nvSpPr>
        <p:spPr>
          <a:xfrm>
            <a:off x="5833872" y="1783080"/>
            <a:ext cx="548640" cy="548640"/>
          </a:xfrm>
          <a:prstGeom prst="mathEqual">
            <a:avLst/>
          </a:prstGeom>
          <a:solidFill>
            <a:srgbClr val="D926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3 P plus"/>
          <p:cNvSpPr/>
          <p:nvPr/>
        </p:nvSpPr>
        <p:spPr>
          <a:xfrm>
            <a:off x="2770632" y="1783080"/>
            <a:ext cx="548640" cy="54864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30" grpId="0" animBg="1"/>
      <p:bldP spid="23" grpId="0" animBg="1"/>
      <p:bldP spid="24" grpId="0" animBg="1"/>
      <p:bldP spid="25" grpId="0" animBg="1"/>
      <p:bldP spid="31" grpId="0" animBg="1"/>
      <p:bldP spid="27" grpId="0" animBg="1"/>
      <p:bldP spid="28" grpId="0" animBg="1"/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89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V1 mark"/>
          <p:cNvSpPr txBox="1"/>
          <p:nvPr/>
        </p:nvSpPr>
        <p:spPr>
          <a:xfrm>
            <a:off x="6720840" y="15789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900" dirty="0"/>
          </a:p>
        </p:txBody>
      </p:sp>
      <p:sp>
        <p:nvSpPr>
          <p:cNvPr id="20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22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sound"/>
          <p:cNvSpPr txBox="1"/>
          <p:nvPr/>
        </p:nvSpPr>
        <p:spPr>
          <a:xfrm>
            <a:off x="640080" y="149900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بَنۡ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983056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بًا</a:t>
            </a:r>
            <a:endParaRPr lang="ar-SA" sz="9300" dirty="0"/>
          </a:p>
        </p:txBody>
      </p:sp>
      <p:sp>
        <p:nvSpPr>
          <p:cNvPr id="13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5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9978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بَنۡ</a:t>
            </a:r>
            <a:endParaRPr lang="ar-SA" sz="9300" dirty="0"/>
          </a:p>
        </p:txBody>
      </p:sp>
      <p:sp>
        <p:nvSpPr>
          <p:cNvPr id="17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073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5" name="C2 V1 mark"/>
          <p:cNvSpPr txBox="1"/>
          <p:nvPr/>
        </p:nvSpPr>
        <p:spPr>
          <a:xfrm>
            <a:off x="6720840" y="17073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900" dirty="0"/>
          </a:p>
        </p:txBody>
      </p:sp>
      <p:sp>
        <p:nvSpPr>
          <p:cNvPr id="16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8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sound"/>
          <p:cNvSpPr txBox="1"/>
          <p:nvPr/>
        </p:nvSpPr>
        <p:spPr>
          <a:xfrm>
            <a:off x="640080" y="151104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تَنۡ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20871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تًا</a:t>
            </a:r>
            <a:endParaRPr lang="ar-SA" sz="9200" dirty="0"/>
          </a:p>
        </p:txBody>
      </p:sp>
      <p:sp>
        <p:nvSpPr>
          <p:cNvPr id="15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7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R read"/>
          <p:cNvSpPr txBox="1"/>
          <p:nvPr/>
        </p:nvSpPr>
        <p:spPr>
          <a:xfrm>
            <a:off x="457200" y="1009498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تَنۡ</a:t>
            </a:r>
            <a:endParaRPr lang="ar-SA" sz="9200" dirty="0"/>
          </a:p>
        </p:txBody>
      </p:sp>
      <p:sp>
        <p:nvSpPr>
          <p:cNvPr id="19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065054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قَمَرًا</a:t>
            </a:r>
            <a:endParaRPr lang="ar-SA" sz="8500" dirty="0"/>
          </a:p>
        </p:txBody>
      </p:sp>
      <p:sp>
        <p:nvSpPr>
          <p:cNvPr id="13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5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065054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قَمَرَنۡ</a:t>
            </a:r>
            <a:endParaRPr lang="ar-SA" sz="8500" dirty="0"/>
          </a:p>
        </p:txBody>
      </p:sp>
      <p:sp>
        <p:nvSpPr>
          <p:cNvPr id="17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88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8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484632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C1 E1 ending"/>
          <p:cNvSpPr txBox="1"/>
          <p:nvPr/>
        </p:nvSpPr>
        <p:spPr>
          <a:xfrm>
            <a:off x="484632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ةً</a:t>
            </a:r>
            <a:endParaRPr lang="ar-SA" sz="5700" dirty="0"/>
          </a:p>
        </p:txBody>
      </p:sp>
      <p:sp>
        <p:nvSpPr>
          <p:cNvPr id="14" name="C2 E1 word"/>
          <p:cNvSpPr txBox="1"/>
          <p:nvPr/>
        </p:nvSpPr>
        <p:spPr>
          <a:xfrm>
            <a:off x="484632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3600" dirty="0"/>
          </a:p>
        </p:txBody>
      </p:sp>
      <p:sp>
        <p:nvSpPr>
          <p:cNvPr id="15" name="C3 V tick a"/>
          <p:cNvSpPr/>
          <p:nvPr/>
        </p:nvSpPr>
        <p:spPr>
          <a:xfrm>
            <a:off x="832104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3 V tick b"/>
          <p:cNvSpPr/>
          <p:nvPr/>
        </p:nvSpPr>
        <p:spPr>
          <a:xfrm flipV="1">
            <a:off x="852220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Panel 2"/>
          <p:cNvSpPr/>
          <p:nvPr/>
        </p:nvSpPr>
        <p:spPr>
          <a:xfrm>
            <a:off x="109728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8" name="C4 E2 ending"/>
          <p:cNvSpPr txBox="1"/>
          <p:nvPr/>
        </p:nvSpPr>
        <p:spPr>
          <a:xfrm>
            <a:off x="109728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700" dirty="0"/>
          </a:p>
        </p:txBody>
      </p:sp>
      <p:sp>
        <p:nvSpPr>
          <p:cNvPr id="19" name="C5 E2 word"/>
          <p:cNvSpPr txBox="1"/>
          <p:nvPr/>
        </p:nvSpPr>
        <p:spPr>
          <a:xfrm>
            <a:off x="109728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خَطَأً</a:t>
            </a:r>
            <a:endParaRPr lang="ar-SA" sz="3600" dirty="0"/>
          </a:p>
        </p:txBody>
      </p:sp>
      <p:sp>
        <p:nvSpPr>
          <p:cNvPr id="20" name="C6 V tick a"/>
          <p:cNvSpPr/>
          <p:nvPr/>
        </p:nvSpPr>
        <p:spPr>
          <a:xfrm>
            <a:off x="27432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6 V tick b"/>
          <p:cNvSpPr/>
          <p:nvPr/>
        </p:nvSpPr>
        <p:spPr>
          <a:xfrm flipV="1">
            <a:off x="47548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تَجًا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حَجًا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11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تَحًا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جَحًا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8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10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تَدًا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جَدًا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تَذًا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تَسًا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ذَشًا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رَشًا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زَشًا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تَصًا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A"/>
          </a:solidFill>
          <a:ln w="12700">
            <a:solidFill>
              <a:srgbClr val="D147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5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6CC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تَعًا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جَعًا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C"/>
          </a:solidFill>
          <a:ln w="12700">
            <a:solidFill>
              <a:srgbClr val="ED5E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E47D1"/>
          </a:solidFill>
          <a:ln w="12700">
            <a:solidFill>
              <a:srgbClr val="8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دَغًا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52E0"/>
          </a:solidFill>
          <a:ln w="12700">
            <a:solidFill>
              <a:srgbClr val="7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9"/>
          </a:solidFill>
          <a:ln w="12700">
            <a:solidFill>
              <a:srgbClr val="64D8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3F6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5EED"/>
          </a:solidFill>
          <a:ln w="12700">
            <a:solidFill>
              <a:srgbClr val="B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3A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E052"/>
          </a:solidFill>
          <a:ln w="12700">
            <a:solidFill>
              <a:srgbClr val="7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C3D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6C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4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45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D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6C3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EF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3F6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D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3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C3C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6D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E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C3C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144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E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C3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3F6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45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3E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تَمًا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6C3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شَمًا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6"/>
          </a:solidFill>
          <a:ln w="12700">
            <a:solidFill>
              <a:srgbClr val="5EED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D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قَمًا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كَمًا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C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تَنًا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C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دَنًا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6E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D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C3E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47D1"/>
          </a:solidFill>
          <a:ln w="12700">
            <a:solidFill>
              <a:srgbClr val="9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6E1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7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10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6C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3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C3D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6C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6C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3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33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C3D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D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6C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6D2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E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45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3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C3C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6C3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1A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6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E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3F6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فَيًا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C3C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409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409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3942" y="896112"/>
            <a:ext cx="1777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3942" y="896112"/>
            <a:ext cx="1777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8520" y="2834640"/>
            <a:ext cx="33669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8520" y="2834640"/>
            <a:ext cx="33669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قَمَرًا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E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909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3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909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7718" y="896112"/>
            <a:ext cx="15431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7718" y="896112"/>
            <a:ext cx="15431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05266" y="2834640"/>
            <a:ext cx="27334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05266" y="2834640"/>
            <a:ext cx="27334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عِنَبًا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F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3192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3192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2735" y="896112"/>
            <a:ext cx="14491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2735" y="896112"/>
            <a:ext cx="14491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لَبَنًا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2348" y="2834640"/>
            <a:ext cx="31193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2348" y="2834640"/>
            <a:ext cx="31193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لَبَنًا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75517" y="896112"/>
            <a:ext cx="1896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75517" y="896112"/>
            <a:ext cx="1896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572362" y="896112"/>
            <a:ext cx="17831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72362" y="896112"/>
            <a:ext cx="17831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14839" y="2834640"/>
            <a:ext cx="3314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14839" y="2834640"/>
            <a:ext cx="3314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جَمَلًا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F6C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8744" y="896112"/>
            <a:ext cx="2021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8744" y="896112"/>
            <a:ext cx="2021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53518" y="896112"/>
            <a:ext cx="20951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518" y="896112"/>
            <a:ext cx="20951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حَجَرًا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2363" y="2834640"/>
            <a:ext cx="3799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2363" y="2834640"/>
            <a:ext cx="3799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حَجَرًا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ED5E"/>
          </a:solidFill>
          <a:ln w="12700">
            <a:solidFill>
              <a:srgbClr val="9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3388" y="896112"/>
            <a:ext cx="18920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3388" y="896112"/>
            <a:ext cx="18920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48554" y="896112"/>
            <a:ext cx="16347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48554" y="896112"/>
            <a:ext cx="16347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280" y="2834640"/>
            <a:ext cx="3101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280" y="2834640"/>
            <a:ext cx="3101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جَبَلًا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420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420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2904" y="896112"/>
            <a:ext cx="20212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2904" y="896112"/>
            <a:ext cx="20212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500" y="2834640"/>
            <a:ext cx="33690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500" y="2834640"/>
            <a:ext cx="33690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شَجَرًا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3">
    <p:bg>
      <p:bgPr>
        <a:solidFill>
          <a:srgbClr val="F6D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079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079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7818" y="896112"/>
            <a:ext cx="1625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7818" y="896112"/>
            <a:ext cx="1625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78253" y="2834640"/>
            <a:ext cx="2787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78253" y="2834640"/>
            <a:ext cx="2787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قَلَمًا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397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397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71378" y="896112"/>
            <a:ext cx="21825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1378" y="896112"/>
            <a:ext cx="21825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08" y="2834640"/>
            <a:ext cx="37867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08" y="2834640"/>
            <a:ext cx="37867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شَجَرَةً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1393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1393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07234" y="896112"/>
            <a:ext cx="18241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07234" y="896112"/>
            <a:ext cx="18241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ثَمَرَةً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7511" y="2834640"/>
            <a:ext cx="29889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7511" y="2834640"/>
            <a:ext cx="29889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ثَمَرَةً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455</Slides>
  <Notes>455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455</vt:i4>
      </vt:variant>
    </vt:vector>
  </HeadingPairs>
  <TitlesOfParts>
    <vt:vector size="4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  <vt:lpstr>Slide 451</vt:lpstr>
      <vt:lpstr>Slide 452</vt:lpstr>
      <vt:lpstr>Slide 453</vt:lpstr>
      <vt:lpstr>Slide 454</vt:lpstr>
      <vt:lpstr>Slide 455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Tanween-1-Fathatan</dc:title>
  <dc:subject>PptxGenJS Presentation</dc:subject>
  <dc:creator>PptxGenJS</dc:creator>
  <cp:lastModifiedBy>PptxGenJS</cp:lastModifiedBy>
  <cp:revision>1</cp:revision>
  <dcterms:created xsi:type="dcterms:W3CDTF">2026-10-21T18:18:00Z</dcterms:created>
  <dcterms:modified xsi:type="dcterms:W3CDTF">2026-10-21T18:18:00Z</dcterms:modified>
</cp:coreProperties>
</file>