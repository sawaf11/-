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slideMasters/slideMaster450.xml" ContentType="application/vnd.openxmlformats-officedocument.presentationml.slideMaster+xml"/>
  <Override PartName="/ppt/slides/slide4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ppt/notesSlides/notesSlide4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  <p:sldId id="705" r:id="rId451"/>
  </p:sldIdLst>
  <p:notesMasterIdLst>
    <p:notesMasterId r:id="rId4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slide" Target="slides/slide450.xml"/><Relationship Id="rId452" Type="http://schemas.openxmlformats.org/officeDocument/2006/relationships/notesMaster" Target="notesMasters/notesMaster1.xml"/><Relationship Id="rId453" Type="http://schemas.openxmlformats.org/officeDocument/2006/relationships/presProps" Target="presProps.xml"/><Relationship Id="rId454" Type="http://schemas.openxmlformats.org/officeDocument/2006/relationships/viewProps" Target="viewProps.xml"/><Relationship Id="rId455" Type="http://schemas.openxmlformats.org/officeDocument/2006/relationships/theme" Target="theme/theme1.xml"/><Relationship Id="rId4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_rels/notesSlide4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التنوين حرفان في الصوت: حركة على الحرف ثم نون ساكنة. علامة تنوين الضم «ـٌ» ضمتان: الضمة الأولى هي حركة الحرف، والثانية تدل على نون ساكنة «نۡ» نسمعها ولا نكتبها.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بضمته مع نون ساكنة: بُ + نۡ = بُنۡ.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«بٌ» ونقرأ «بُنۡ»: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بضمته مع نون ساكنة: تُ + نۡ = تُنۡ.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«تٌ» ونقرأ «تُنۡ»: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الكلمة أيضاً: نكتب «وَلَدٌ» ونقرأ «وَلَدُنۡ». التنوين في آخر الكلمة = حركة + نون ساكنة.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Relationship Id="rIdTrSnd" Type="http://schemas.openxmlformats.org/officeDocument/2006/relationships/audio" Target="../media/chime.wav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Relationship Id="rIdTrSnd" Type="http://schemas.openxmlformats.org/officeDocument/2006/relationships/audio" Target="../media/whoosh.wav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Relationship Id="rIdTrSnd" Type="http://schemas.openxmlformats.org/officeDocument/2006/relationships/audio" Target="../media/bubbles.wav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Relationship Id="rIdTrSnd" Type="http://schemas.openxmlformats.org/officeDocument/2006/relationships/audio" Target="../media/sparkle.wav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Relationship Id="rIdTrSnd" Type="http://schemas.openxmlformats.org/officeDocument/2006/relationships/audio" Target="../media/marimba.wav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0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649224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1" name="C1 T1 sign"/>
          <p:cNvSpPr txBox="1"/>
          <p:nvPr/>
        </p:nvSpPr>
        <p:spPr>
          <a:xfrm>
            <a:off x="6492240" y="1193356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ـٌ</a:t>
            </a:r>
            <a:endParaRPr lang="ar-SA" sz="8900" dirty="0"/>
          </a:p>
        </p:txBody>
      </p:sp>
      <p:sp>
        <p:nvSpPr>
          <p:cNvPr id="12" name="C1 L1 label box"/>
          <p:cNvSpPr/>
          <p:nvPr/>
        </p:nvSpPr>
        <p:spPr>
          <a:xfrm>
            <a:off x="649224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C1 L1 label"/>
          <p:cNvSpPr txBox="1"/>
          <p:nvPr/>
        </p:nvSpPr>
        <p:spPr>
          <a:xfrm>
            <a:off x="6492240" y="3123819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تنوين الضم</a:t>
            </a:r>
            <a:endParaRPr lang="ar-SA" sz="2700" dirty="0"/>
          </a:p>
        </p:txBody>
      </p:sp>
      <p:sp>
        <p:nvSpPr>
          <p:cNvPr id="14" name="Panel 2"/>
          <p:cNvSpPr/>
          <p:nvPr/>
        </p:nvSpPr>
        <p:spPr>
          <a:xfrm>
            <a:off x="342900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T2 sign"/>
          <p:cNvSpPr txBox="1"/>
          <p:nvPr/>
        </p:nvSpPr>
        <p:spPr>
          <a:xfrm>
            <a:off x="3429000" y="1193356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ـُ</a:t>
            </a:r>
            <a:endParaRPr lang="ar-SA" sz="8900" dirty="0"/>
          </a:p>
        </p:txBody>
      </p:sp>
      <p:sp>
        <p:nvSpPr>
          <p:cNvPr id="16" name="C3 L2 label box"/>
          <p:cNvSpPr/>
          <p:nvPr/>
        </p:nvSpPr>
        <p:spPr>
          <a:xfrm>
            <a:off x="342900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L2 label"/>
          <p:cNvSpPr txBox="1"/>
          <p:nvPr/>
        </p:nvSpPr>
        <p:spPr>
          <a:xfrm>
            <a:off x="3429000" y="3183192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ضمة</a:t>
            </a:r>
            <a:endParaRPr lang="ar-SA" sz="3400" dirty="0"/>
          </a:p>
        </p:txBody>
      </p:sp>
      <p:sp>
        <p:nvSpPr>
          <p:cNvPr id="18" name="Panel 3"/>
          <p:cNvSpPr/>
          <p:nvPr/>
        </p:nvSpPr>
        <p:spPr>
          <a:xfrm>
            <a:off x="36576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4 T3 sign"/>
          <p:cNvSpPr txBox="1"/>
          <p:nvPr/>
        </p:nvSpPr>
        <p:spPr>
          <a:xfrm>
            <a:off x="365760" y="1057154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900" dirty="0"/>
          </a:p>
        </p:txBody>
      </p:sp>
      <p:sp>
        <p:nvSpPr>
          <p:cNvPr id="20" name="C4 L3 label box"/>
          <p:cNvSpPr/>
          <p:nvPr/>
        </p:nvSpPr>
        <p:spPr>
          <a:xfrm>
            <a:off x="36576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3 label"/>
          <p:cNvSpPr txBox="1"/>
          <p:nvPr/>
        </p:nvSpPr>
        <p:spPr>
          <a:xfrm>
            <a:off x="36576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ساكنة</a:t>
            </a:r>
            <a:endParaRPr lang="ar-SA" sz="3000" dirty="0"/>
          </a:p>
        </p:txBody>
      </p:sp>
      <p:sp>
        <p:nvSpPr>
          <p:cNvPr id="22" name="C2 E equals"/>
          <p:cNvSpPr/>
          <p:nvPr/>
        </p:nvSpPr>
        <p:spPr>
          <a:xfrm>
            <a:off x="5833872" y="1783080"/>
            <a:ext cx="548640" cy="548640"/>
          </a:xfrm>
          <a:prstGeom prst="mathEqual">
            <a:avLst/>
          </a:prstGeom>
          <a:solidFill>
            <a:srgbClr val="8ED9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3 P plus"/>
          <p:cNvSpPr/>
          <p:nvPr/>
        </p:nvSpPr>
        <p:spPr>
          <a:xfrm>
            <a:off x="2770632" y="1783080"/>
            <a:ext cx="548640" cy="54864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22" grpId="0" animBg="1"/>
      <p:bldP spid="15" grpId="0" animBg="1"/>
      <p:bldP spid="16" grpId="0" animBg="1"/>
      <p:bldP spid="17" grpId="0" animBg="1"/>
      <p:bldP spid="23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42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900" dirty="0"/>
          </a:p>
        </p:txBody>
      </p:sp>
      <p:sp>
        <p:nvSpPr>
          <p:cNvPr id="15" name="C2 V1 mark"/>
          <p:cNvSpPr txBox="1"/>
          <p:nvPr/>
        </p:nvSpPr>
        <p:spPr>
          <a:xfrm>
            <a:off x="6720840" y="1642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900" dirty="0"/>
          </a:p>
        </p:txBody>
      </p:sp>
      <p:sp>
        <p:nvSpPr>
          <p:cNvPr id="16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8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sound"/>
          <p:cNvSpPr txBox="1"/>
          <p:nvPr/>
        </p:nvSpPr>
        <p:spPr>
          <a:xfrm>
            <a:off x="640080" y="149900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بُنۡ</a:t>
            </a:r>
            <a:endParaRPr lang="ar-SA" sz="9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97440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9300" dirty="0"/>
          </a:p>
        </p:txBody>
      </p:sp>
      <p:sp>
        <p:nvSpPr>
          <p:cNvPr id="15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7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R read"/>
          <p:cNvSpPr txBox="1"/>
          <p:nvPr/>
        </p:nvSpPr>
        <p:spPr>
          <a:xfrm>
            <a:off x="457200" y="99782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بُنۡ</a:t>
            </a:r>
            <a:endParaRPr lang="ar-SA" sz="9300" dirty="0"/>
          </a:p>
        </p:txBody>
      </p:sp>
      <p:sp>
        <p:nvSpPr>
          <p:cNvPr id="19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448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V1 mark"/>
          <p:cNvSpPr txBox="1"/>
          <p:nvPr/>
        </p:nvSpPr>
        <p:spPr>
          <a:xfrm>
            <a:off x="6720840" y="17448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5900" dirty="0"/>
          </a:p>
        </p:txBody>
      </p:sp>
      <p:sp>
        <p:nvSpPr>
          <p:cNvPr id="15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7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sound"/>
          <p:cNvSpPr txBox="1"/>
          <p:nvPr/>
        </p:nvSpPr>
        <p:spPr>
          <a:xfrm>
            <a:off x="640080" y="157012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تُنۡ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133602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8500" dirty="0"/>
          </a:p>
        </p:txBody>
      </p:sp>
      <p:sp>
        <p:nvSpPr>
          <p:cNvPr id="21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2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3 R read"/>
          <p:cNvSpPr txBox="1"/>
          <p:nvPr/>
        </p:nvSpPr>
        <p:spPr>
          <a:xfrm>
            <a:off x="457200" y="106667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تُنۡ</a:t>
            </a:r>
            <a:endParaRPr lang="ar-SA" sz="8500" dirty="0"/>
          </a:p>
        </p:txBody>
      </p:sp>
      <p:sp>
        <p:nvSpPr>
          <p:cNvPr id="25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07099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وَلَدٌ</a:t>
            </a:r>
            <a:endParaRPr lang="ar-SA" sz="8500" dirty="0"/>
          </a:p>
        </p:txBody>
      </p:sp>
      <p:sp>
        <p:nvSpPr>
          <p:cNvPr id="18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20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R read"/>
          <p:cNvSpPr txBox="1"/>
          <p:nvPr/>
        </p:nvSpPr>
        <p:spPr>
          <a:xfrm>
            <a:off x="457200" y="107099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وَلَدُنۡ</a:t>
            </a:r>
            <a:endParaRPr lang="ar-SA" sz="8500" dirty="0"/>
          </a:p>
        </p:txBody>
      </p:sp>
      <p:sp>
        <p:nvSpPr>
          <p:cNvPr id="22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بَأٌ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تَأٌ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ثَأٌ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جَأٌ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حَأٌ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خَأٌ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دَأٌ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تَبٌ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جَبٌ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حَبٌ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خَبٌ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دَبٌ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بَتٌ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ثَتٌ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جَتٌ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حَتٌ</a:t>
            </a:r>
            <a:endParaRPr lang="ar-SA" sz="10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خَتٌ</a:t>
            </a:r>
            <a:endParaRPr lang="ar-SA" sz="10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دَتٌ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5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11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جَثٌ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حَثٌ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خَثٌ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11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11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11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2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1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970"/>
          </a:solidFill>
          <a:ln w="12700">
            <a:solidFill>
              <a:srgbClr val="DB9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2"/>
          </a:solidFill>
          <a:ln w="12700">
            <a:solidFill>
              <a:srgbClr val="D147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بَدٌ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تَدٌ</a:t>
            </a:r>
            <a:endParaRPr lang="ar-SA" sz="10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ثَدٌ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جَدٌ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حَدٌ</a:t>
            </a:r>
            <a:endParaRPr lang="ar-SA" sz="10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خَدٌ</a:t>
            </a:r>
            <a:endParaRPr lang="ar-SA" sz="10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12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تَذٌ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5EED"/>
          </a:solidFill>
          <a:ln w="12700">
            <a:solidFill>
              <a:srgbClr val="8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ثَذٌ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جَذٌ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حَذٌ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خَذٌ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دَذٌ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13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9"/>
          </a:solidFill>
          <a:ln w="12700">
            <a:solidFill>
              <a:srgbClr val="D147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52E0"/>
          </a:solidFill>
          <a:ln w="12700">
            <a:solidFill>
              <a:srgbClr val="D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747"/>
          </a:solidFill>
          <a:ln w="12700">
            <a:solidFill>
              <a:srgbClr val="D1C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13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8"/>
          </a:solidFill>
          <a:ln w="12700">
            <a:solidFill>
              <a:srgbClr val="ED5E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11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ثَسٌ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D147"/>
          </a:solidFill>
          <a:ln w="12700">
            <a:solidFill>
              <a:srgbClr val="5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10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D147"/>
          </a:solidFill>
          <a:ln w="12700">
            <a:solidFill>
              <a:srgbClr val="B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سَصٌ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شَصٌ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10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بَضٌ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تَضٌ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جَضٌ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حَضٌ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خَضٌ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19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دَضٌ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ذَضٌ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رَضٌ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زَضٌ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سَضٌ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شَضٌ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صَضٌ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6C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5EED"/>
          </a:solidFill>
          <a:ln w="12700">
            <a:solidFill>
              <a:srgbClr val="C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64D8"/>
          </a:solidFill>
          <a:ln w="12700">
            <a:solidFill>
              <a:srgbClr val="7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0D1"/>
          </a:solidFill>
          <a:ln w="12700">
            <a:solidFill>
              <a:srgbClr val="475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1445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4E0"/>
          </a:solidFill>
          <a:ln w="12700">
            <a:solidFill>
              <a:srgbClr val="528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10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45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7D1"/>
          </a:solidFill>
          <a:ln w="12700">
            <a:solidFill>
              <a:srgbClr val="47B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2"/>
          </a:solidFill>
          <a:ln w="12700">
            <a:solidFill>
              <a:srgbClr val="52E0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47D1"/>
          </a:solidFill>
          <a:ln w="12700">
            <a:solidFill>
              <a:srgbClr val="C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6C3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11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ED5E"/>
          </a:solidFill>
          <a:ln w="12700">
            <a:solidFill>
              <a:srgbClr val="A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3F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B52"/>
          </a:solidFill>
          <a:ln w="12700">
            <a:solidFill>
              <a:srgbClr val="E08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70DB"/>
          </a:solidFill>
          <a:ln w="12700">
            <a:solidFill>
              <a:srgbClr val="B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47D1"/>
          </a:solidFill>
          <a:ln w="12700">
            <a:solidFill>
              <a:srgbClr val="6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11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F"/>
          </a:solidFill>
          <a:ln w="12700">
            <a:solidFill>
              <a:srgbClr val="D147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3"/>
          </a:solidFill>
          <a:ln w="12700">
            <a:solidFill>
              <a:srgbClr val="E052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D864"/>
          </a:solidFill>
          <a:ln w="12700">
            <a:solidFill>
              <a:srgbClr val="7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5EED"/>
          </a:solidFill>
          <a:ln w="12700">
            <a:solidFill>
              <a:srgbClr val="8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1D8"/>
          </a:solidFill>
          <a:ln w="12700">
            <a:solidFill>
              <a:srgbClr val="649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6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10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E"/>
          </a:solidFill>
          <a:ln w="12700">
            <a:solidFill>
              <a:srgbClr val="D864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6"/>
          </a:solidFill>
          <a:ln w="12700">
            <a:solidFill>
              <a:srgbClr val="D147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ثَفٌ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جَفٌ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52E0"/>
          </a:solidFill>
          <a:ln w="12700">
            <a:solidFill>
              <a:srgbClr val="D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6E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D864"/>
          </a:solidFill>
          <a:ln w="12700">
            <a:solidFill>
              <a:srgbClr val="C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A47"/>
          </a:solidFill>
          <a:ln w="12700">
            <a:solidFill>
              <a:srgbClr val="D1C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D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صَفٌ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ضَفٌ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12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جَقٌ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6C3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رَقٌ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زَقٌ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صَقٌ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C3F6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ضَقٌ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3D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C3D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غَقٌ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فَقٌ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11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6E0"/>
          </a:solidFill>
          <a:ln w="12700">
            <a:solidFill>
              <a:srgbClr val="52A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6C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3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45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C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D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1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11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6C3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تَلٌ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ثَلٌ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C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شَلٌ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صَلٌ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3D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E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F0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11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6D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E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C3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3C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144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6D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13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C3F6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45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دَنٌ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C3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ذَنٌ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E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6C3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فَنٌ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قَنٌ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1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C3F6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تَهٌ</a:t>
            </a:r>
            <a:endParaRPr lang="ar-SA" sz="9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جَهٌ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خَهٌ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دَهٌ</a:t>
            </a:r>
            <a:endParaRPr lang="ar-SA" sz="10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ذَهٌ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شَهٌ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صَهٌ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ضَهٌ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طَهٌ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6E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ظَهٌ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عَهٌ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غَهٌ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D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فَهٌ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قَهٌ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C3F6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مَهٌ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نَهٌ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13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6C3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ED5E"/>
          </a:solidFill>
          <a:ln w="12700">
            <a:solidFill>
              <a:srgbClr val="E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6C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6E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D2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C3F6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D5EED"/>
          </a:solidFill>
          <a:ln w="12700">
            <a:solidFill>
              <a:srgbClr val="A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70DB"/>
          </a:solidFill>
          <a:ln w="12700">
            <a:solidFill>
              <a:srgbClr val="8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فَوٌ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C3D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قَوٌ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لَوٌ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D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F6C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10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F6C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C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C3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36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3D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D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F6C3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F6C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1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5788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5788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500830" y="896112"/>
            <a:ext cx="20349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0830" y="896112"/>
            <a:ext cx="20349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مَطَرٌ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94668" y="2834640"/>
            <a:ext cx="355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94668" y="2834640"/>
            <a:ext cx="355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مَطَرٌ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45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62476" y="896112"/>
            <a:ext cx="19975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3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62476" y="896112"/>
            <a:ext cx="19975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83998" y="896112"/>
            <a:ext cx="1858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3998" y="896112"/>
            <a:ext cx="1858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6122" y="2834640"/>
            <a:ext cx="35117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6122" y="2834640"/>
            <a:ext cx="35117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قَمَرٌ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C4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5465" y="896112"/>
            <a:ext cx="19287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5465" y="896112"/>
            <a:ext cx="19287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9762" y="896112"/>
            <a:ext cx="21956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5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9762" y="896112"/>
            <a:ext cx="21956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3256" y="2834640"/>
            <a:ext cx="37974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3256" y="2834640"/>
            <a:ext cx="37974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شَجَرٌ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2856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2856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536556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556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2006" y="2834640"/>
            <a:ext cx="3479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2006" y="2834640"/>
            <a:ext cx="3479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وَلَدٌ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2590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B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2590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36641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B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6641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وَوَرَقٌ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51125" y="2834640"/>
            <a:ext cx="32417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51125" y="2834640"/>
            <a:ext cx="32417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 وَوَرَقٌ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C3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3189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3189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949390" y="896112"/>
            <a:ext cx="14837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49390" y="896112"/>
            <a:ext cx="14837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308818" y="2834640"/>
            <a:ext cx="25263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308818" y="2834640"/>
            <a:ext cx="25263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 وَأَخٌ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89739" y="896112"/>
            <a:ext cx="210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89739" y="896112"/>
            <a:ext cx="210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044843" y="896112"/>
            <a:ext cx="2624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44843" y="896112"/>
            <a:ext cx="2624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وَرُطَبٌ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82791" y="2834640"/>
            <a:ext cx="43784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82791" y="2834640"/>
            <a:ext cx="43784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 وَرُطَبٌ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19495" y="896112"/>
            <a:ext cx="2015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19495" y="896112"/>
            <a:ext cx="2015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09238" y="896112"/>
            <a:ext cx="17902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9238" y="896112"/>
            <a:ext cx="17902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وَلَبَنٌ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7023" y="2834640"/>
            <a:ext cx="34499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7023" y="2834640"/>
            <a:ext cx="34499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 وَلَبَنٌ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450</Slides>
  <Notes>450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450</vt:i4>
      </vt:variant>
    </vt:vector>
  </HeadingPairs>
  <TitlesOfParts>
    <vt:vector size="4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  <vt:lpstr>Slide 450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Tanween-3-Dammatan</dc:title>
  <dc:subject>PptxGenJS Presentation</dc:subject>
  <dc:creator>PptxGenJS</dc:creator>
  <cp:lastModifiedBy>PptxGenJS</cp:lastModifiedBy>
  <cp:revision>1</cp:revision>
  <dcterms:created xsi:type="dcterms:W3CDTF">2026-10-21T18:18:01Z</dcterms:created>
  <dcterms:modified xsi:type="dcterms:W3CDTF">2026-10-21T18:18:01Z</dcterms:modified>
</cp:coreProperties>
</file>